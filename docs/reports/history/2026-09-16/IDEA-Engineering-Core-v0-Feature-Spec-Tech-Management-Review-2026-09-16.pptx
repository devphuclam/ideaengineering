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Buổi trình bày này đi theo một chuỗi quyết định: xác định phạm vi, chốt hợp đồng đúng của sản phẩm, rồi mới xem cách Engineering hiện thực.</a:t>
            </a:r>
          </a:p>
          <a:p>
            <a:r>
              <a:t>Feature trả lời cần có năng lực gì, còn Spec quy định năng lực đó phải hành xử đúng ra sao.</a:t>
            </a:r>
          </a:p>
          <a:p>
            <a:r>
              <a:t>Tech chỉ là giải pháp để đáp ứng Feature và Spec, không được tự thay đổi nghiệp vụ.</a:t>
            </a:r>
          </a:p>
          <a:p>
            <a:r>
              <a:t>Ba quyết định hiện vẫn chờ Product Decision Authority xem xét, nên các slide không ngụ ý đã được phê duyệt.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v0 không phải một danh sách màn hình, mà là năm nhóm năng lực tạo thành một vòng đời dữ liệu kỹ thuật có kiểm soát.</a:t>
            </a:r>
          </a:p>
          <a:p>
            <a:r>
              <a:t>Điểm khác file server là sản phẩm quản lý danh tính, lịch sử, quyền giữ sửa, cấu trúc và quyết định phát hành như một hệ thống thống nhất.</a:t>
            </a:r>
          </a:p>
          <a:p>
            <a:r>
              <a:t>Mười bốn nhóm Feature chi tiết nằm bên dưới năm nhóm này, nhưng slide chỉ giữ mức quản lý cần ra quyết định.</a:t>
            </a:r>
          </a:p>
          <a:p>
            <a:r>
              <a:t>Nếu một nhóm lớn không đúng nhu cầu công ty, ta điều chỉnh Feature trước khi bàn sâu hơn về Spec hay Tech.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v0 tập trung vào vòng đời controlled engineering/product data và không mở rộng thành ERP hay MRP.</a:t>
            </a:r>
          </a:p>
          <a:p>
            <a:r>
              <a:t>Các đầu ra phòng ban vẫn có thể được quản lý như tài liệu, cấu trúc hoặc bằng chứng, nhưng những nghiệp vụ như mua hàng và tính chi phí chưa trở thành Feature của Core v0.</a:t>
            </a:r>
          </a:p>
          <a:p>
            <a:r>
              <a:t>Ranh giới này giúp đội nhỏ hoàn thành một vòng nghiệp vụ có giá trị trước khi mở rộng.</a:t>
            </a:r>
          </a:p>
          <a:p>
            <a:r>
              <a:t>Câu hỏi dành cho management là ranh giới này đã phản ánh đúng ưu tiên công ty hay chưa.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Feature </a:t>
            </a:r>
            <a:r>
              <a:rPr dirty="0" err="1"/>
              <a:t>nói</a:t>
            </a:r>
            <a:r>
              <a:rPr dirty="0"/>
              <a:t> </a:t>
            </a:r>
            <a:r>
              <a:rPr dirty="0" err="1"/>
              <a:t>hệ</a:t>
            </a:r>
            <a:r>
              <a:rPr dirty="0"/>
              <a:t> </a:t>
            </a:r>
            <a:r>
              <a:rPr dirty="0" err="1"/>
              <a:t>thống</a:t>
            </a:r>
            <a:r>
              <a:rPr dirty="0"/>
              <a:t> </a:t>
            </a:r>
            <a:r>
              <a:rPr dirty="0" err="1"/>
              <a:t>phải</a:t>
            </a:r>
            <a:r>
              <a:rPr dirty="0"/>
              <a:t> </a:t>
            </a:r>
            <a:r>
              <a:rPr dirty="0" err="1"/>
              <a:t>có</a:t>
            </a:r>
            <a:r>
              <a:rPr dirty="0"/>
              <a:t> capability </a:t>
            </a:r>
            <a:r>
              <a:rPr dirty="0" err="1"/>
              <a:t>nào</a:t>
            </a:r>
            <a:r>
              <a:rPr dirty="0"/>
              <a:t>, </a:t>
            </a:r>
            <a:r>
              <a:rPr dirty="0" err="1"/>
              <a:t>nhưng</a:t>
            </a:r>
            <a:r>
              <a:rPr dirty="0"/>
              <a:t> </a:t>
            </a:r>
            <a:r>
              <a:rPr dirty="0" err="1"/>
              <a:t>chưa</a:t>
            </a:r>
            <a:r>
              <a:rPr dirty="0"/>
              <a:t> </a:t>
            </a:r>
            <a:r>
              <a:rPr dirty="0" err="1"/>
              <a:t>đủ</a:t>
            </a:r>
            <a:r>
              <a:rPr dirty="0"/>
              <a:t> </a:t>
            </a:r>
            <a:r>
              <a:rPr dirty="0" err="1"/>
              <a:t>để</a:t>
            </a:r>
            <a:r>
              <a:rPr dirty="0"/>
              <a:t> developer </a:t>
            </a:r>
            <a:r>
              <a:rPr dirty="0" err="1"/>
              <a:t>biết</a:t>
            </a:r>
            <a:r>
              <a:rPr dirty="0"/>
              <a:t> </a:t>
            </a:r>
            <a:r>
              <a:rPr dirty="0" err="1"/>
              <a:t>mọi</a:t>
            </a:r>
            <a:r>
              <a:rPr dirty="0"/>
              <a:t> </a:t>
            </a:r>
            <a:r>
              <a:rPr dirty="0" err="1"/>
              <a:t>tình</a:t>
            </a:r>
            <a:r>
              <a:rPr dirty="0"/>
              <a:t> </a:t>
            </a:r>
            <a:r>
              <a:rPr dirty="0" err="1"/>
              <a:t>huống</a:t>
            </a:r>
            <a:r>
              <a:rPr dirty="0"/>
              <a:t> </a:t>
            </a:r>
            <a:r>
              <a:rPr dirty="0" err="1"/>
              <a:t>phải</a:t>
            </a:r>
            <a:r>
              <a:rPr dirty="0"/>
              <a:t> </a:t>
            </a:r>
            <a:r>
              <a:rPr dirty="0" err="1"/>
              <a:t>xử</a:t>
            </a:r>
            <a:r>
              <a:rPr dirty="0"/>
              <a:t> </a:t>
            </a:r>
            <a:r>
              <a:rPr dirty="0" err="1"/>
              <a:t>lý</a:t>
            </a:r>
            <a:r>
              <a:rPr dirty="0"/>
              <a:t> </a:t>
            </a:r>
            <a:r>
              <a:rPr dirty="0" err="1"/>
              <a:t>ra</a:t>
            </a:r>
            <a:r>
              <a:rPr dirty="0"/>
              <a:t> </a:t>
            </a:r>
            <a:r>
              <a:rPr dirty="0" err="1"/>
              <a:t>sao</a:t>
            </a:r>
            <a:r>
              <a:rPr dirty="0"/>
              <a:t>.</a:t>
            </a:r>
          </a:p>
          <a:p>
            <a:r>
              <a:rPr dirty="0"/>
              <a:t>Spec </a:t>
            </a:r>
            <a:r>
              <a:rPr dirty="0" err="1"/>
              <a:t>biến</a:t>
            </a:r>
            <a:r>
              <a:rPr dirty="0"/>
              <a:t> capability </a:t>
            </a:r>
            <a:r>
              <a:rPr dirty="0" err="1"/>
              <a:t>thành</a:t>
            </a:r>
            <a:r>
              <a:rPr dirty="0"/>
              <a:t> </a:t>
            </a:r>
            <a:r>
              <a:rPr dirty="0" err="1"/>
              <a:t>hợp</a:t>
            </a:r>
            <a:r>
              <a:rPr dirty="0"/>
              <a:t> </a:t>
            </a:r>
            <a:r>
              <a:rPr dirty="0" err="1"/>
              <a:t>đồng</a:t>
            </a:r>
            <a:r>
              <a:rPr dirty="0"/>
              <a:t> </a:t>
            </a:r>
            <a:r>
              <a:rPr dirty="0" err="1"/>
              <a:t>đúng</a:t>
            </a:r>
            <a:r>
              <a:rPr dirty="0"/>
              <a:t> </a:t>
            </a:r>
            <a:r>
              <a:rPr dirty="0" err="1"/>
              <a:t>gồm</a:t>
            </a:r>
            <a:r>
              <a:rPr dirty="0"/>
              <a:t> </a:t>
            </a:r>
            <a:r>
              <a:rPr dirty="0" err="1"/>
              <a:t>dữ</a:t>
            </a:r>
            <a:r>
              <a:rPr dirty="0"/>
              <a:t> </a:t>
            </a:r>
            <a:r>
              <a:rPr dirty="0" err="1"/>
              <a:t>liệu</a:t>
            </a:r>
            <a:r>
              <a:rPr dirty="0"/>
              <a:t>, </a:t>
            </a:r>
            <a:r>
              <a:rPr dirty="0" err="1"/>
              <a:t>trạng</a:t>
            </a:r>
            <a:r>
              <a:rPr dirty="0"/>
              <a:t> </a:t>
            </a:r>
            <a:r>
              <a:rPr dirty="0" err="1"/>
              <a:t>thái</a:t>
            </a:r>
            <a:r>
              <a:rPr dirty="0"/>
              <a:t>, </a:t>
            </a:r>
            <a:r>
              <a:rPr dirty="0" err="1"/>
              <a:t>quyền</a:t>
            </a:r>
            <a:r>
              <a:rPr dirty="0"/>
              <a:t>, </a:t>
            </a:r>
            <a:r>
              <a:rPr dirty="0" err="1"/>
              <a:t>lỗi</a:t>
            </a:r>
            <a:r>
              <a:rPr dirty="0"/>
              <a:t>, </a:t>
            </a:r>
            <a:r>
              <a:rPr dirty="0" err="1"/>
              <a:t>phục</a:t>
            </a:r>
            <a:r>
              <a:rPr dirty="0"/>
              <a:t> </a:t>
            </a:r>
            <a:r>
              <a:rPr dirty="0" err="1"/>
              <a:t>hồi</a:t>
            </a:r>
            <a:r>
              <a:rPr dirty="0"/>
              <a:t> </a:t>
            </a:r>
            <a:r>
              <a:rPr dirty="0" err="1"/>
              <a:t>và</a:t>
            </a:r>
            <a:r>
              <a:rPr dirty="0"/>
              <a:t> </a:t>
            </a:r>
            <a:r>
              <a:rPr dirty="0" err="1"/>
              <a:t>cách</a:t>
            </a:r>
            <a:r>
              <a:rPr dirty="0"/>
              <a:t> </a:t>
            </a:r>
            <a:r>
              <a:rPr dirty="0" err="1"/>
              <a:t>kiểm</a:t>
            </a:r>
            <a:r>
              <a:rPr dirty="0"/>
              <a:t> </a:t>
            </a:r>
            <a:r>
              <a:rPr dirty="0" err="1"/>
              <a:t>chứng</a:t>
            </a:r>
            <a:r>
              <a:rPr dirty="0"/>
              <a:t>.</a:t>
            </a:r>
          </a:p>
          <a:p>
            <a:r>
              <a:rPr dirty="0" err="1"/>
              <a:t>Ví</a:t>
            </a:r>
            <a:r>
              <a:rPr dirty="0"/>
              <a:t> </a:t>
            </a:r>
            <a:r>
              <a:rPr dirty="0" err="1"/>
              <a:t>dụ</a:t>
            </a:r>
            <a:r>
              <a:rPr dirty="0"/>
              <a:t>, Feature </a:t>
            </a:r>
            <a:r>
              <a:rPr dirty="0" err="1"/>
              <a:t>có</a:t>
            </a:r>
            <a:r>
              <a:rPr dirty="0"/>
              <a:t> Check-in; Spec </a:t>
            </a:r>
            <a:r>
              <a:rPr dirty="0" err="1"/>
              <a:t>mới</a:t>
            </a:r>
            <a:r>
              <a:rPr dirty="0"/>
              <a:t> </a:t>
            </a:r>
            <a:r>
              <a:rPr dirty="0" err="1"/>
              <a:t>quy</a:t>
            </a:r>
            <a:r>
              <a:rPr dirty="0"/>
              <a:t> </a:t>
            </a:r>
            <a:r>
              <a:rPr dirty="0" err="1"/>
              <a:t>định</a:t>
            </a:r>
            <a:r>
              <a:rPr dirty="0"/>
              <a:t> Check-in </a:t>
            </a:r>
            <a:r>
              <a:rPr dirty="0" err="1"/>
              <a:t>phải</a:t>
            </a:r>
            <a:r>
              <a:rPr dirty="0"/>
              <a:t> atomic, </a:t>
            </a:r>
            <a:r>
              <a:rPr dirty="0" err="1"/>
              <a:t>phải</a:t>
            </a:r>
            <a:r>
              <a:rPr dirty="0"/>
              <a:t> </a:t>
            </a:r>
            <a:r>
              <a:rPr dirty="0" err="1"/>
              <a:t>kiểm</a:t>
            </a:r>
            <a:r>
              <a:rPr dirty="0"/>
              <a:t> </a:t>
            </a:r>
            <a:r>
              <a:rPr dirty="0" err="1"/>
              <a:t>tra</a:t>
            </a:r>
            <a:r>
              <a:rPr dirty="0"/>
              <a:t> baseline </a:t>
            </a:r>
            <a:r>
              <a:rPr dirty="0" err="1"/>
              <a:t>và</a:t>
            </a:r>
            <a:r>
              <a:rPr dirty="0"/>
              <a:t> </a:t>
            </a:r>
            <a:r>
              <a:rPr dirty="0" err="1"/>
              <a:t>không</a:t>
            </a:r>
            <a:r>
              <a:rPr dirty="0"/>
              <a:t> </a:t>
            </a:r>
            <a:r>
              <a:rPr dirty="0" err="1"/>
              <a:t>được</a:t>
            </a:r>
            <a:r>
              <a:rPr dirty="0"/>
              <a:t> </a:t>
            </a:r>
            <a:r>
              <a:rPr dirty="0" err="1"/>
              <a:t>làm</a:t>
            </a:r>
            <a:r>
              <a:rPr dirty="0"/>
              <a:t> </a:t>
            </a:r>
            <a:r>
              <a:rPr dirty="0" err="1"/>
              <a:t>mất</a:t>
            </a:r>
            <a:r>
              <a:rPr dirty="0"/>
              <a:t> </a:t>
            </a:r>
            <a:r>
              <a:rPr dirty="0" err="1"/>
              <a:t>công</a:t>
            </a:r>
            <a:r>
              <a:rPr dirty="0"/>
              <a:t> </a:t>
            </a:r>
            <a:r>
              <a:rPr dirty="0" err="1"/>
              <a:t>việc</a:t>
            </a:r>
            <a:r>
              <a:rPr dirty="0"/>
              <a:t> </a:t>
            </a:r>
            <a:r>
              <a:rPr dirty="0" err="1"/>
              <a:t>cục</a:t>
            </a:r>
            <a:r>
              <a:rPr dirty="0"/>
              <a:t> </a:t>
            </a:r>
            <a:r>
              <a:rPr dirty="0" err="1"/>
              <a:t>bộ</a:t>
            </a:r>
            <a:r>
              <a:rPr dirty="0"/>
              <a:t> </a:t>
            </a:r>
            <a:r>
              <a:rPr dirty="0" err="1"/>
              <a:t>khi</a:t>
            </a:r>
            <a:r>
              <a:rPr dirty="0"/>
              <a:t> </a:t>
            </a:r>
            <a:r>
              <a:rPr dirty="0" err="1"/>
              <a:t>xung</a:t>
            </a:r>
            <a:r>
              <a:rPr dirty="0"/>
              <a:t> </a:t>
            </a:r>
            <a:r>
              <a:rPr dirty="0" err="1"/>
              <a:t>đột</a:t>
            </a:r>
            <a:r>
              <a:rPr dirty="0"/>
              <a:t>.</a:t>
            </a:r>
          </a:p>
          <a:p>
            <a:r>
              <a:rPr dirty="0"/>
              <a:t>SRS </a:t>
            </a:r>
            <a:r>
              <a:rPr dirty="0" err="1"/>
              <a:t>hiện</a:t>
            </a:r>
            <a:r>
              <a:rPr dirty="0"/>
              <a:t> </a:t>
            </a:r>
            <a:r>
              <a:rPr dirty="0" err="1"/>
              <a:t>hành</a:t>
            </a:r>
            <a:r>
              <a:rPr dirty="0"/>
              <a:t> </a:t>
            </a:r>
            <a:r>
              <a:rPr dirty="0" err="1"/>
              <a:t>có</a:t>
            </a:r>
            <a:r>
              <a:rPr dirty="0"/>
              <a:t> 87 </a:t>
            </a:r>
            <a:r>
              <a:rPr dirty="0" err="1"/>
              <a:t>yêu</a:t>
            </a:r>
            <a:r>
              <a:rPr dirty="0"/>
              <a:t> </a:t>
            </a:r>
            <a:r>
              <a:rPr dirty="0" err="1"/>
              <a:t>cầu</a:t>
            </a:r>
            <a:r>
              <a:rPr dirty="0"/>
              <a:t>, </a:t>
            </a:r>
            <a:r>
              <a:rPr dirty="0" err="1"/>
              <a:t>nhưng</a:t>
            </a:r>
            <a:r>
              <a:rPr dirty="0"/>
              <a:t> presentation </a:t>
            </a:r>
            <a:r>
              <a:rPr dirty="0" err="1"/>
              <a:t>chỉ</a:t>
            </a:r>
            <a:r>
              <a:rPr dirty="0"/>
              <a:t> </a:t>
            </a:r>
            <a:r>
              <a:rPr dirty="0" err="1"/>
              <a:t>trình</a:t>
            </a:r>
            <a:r>
              <a:rPr dirty="0"/>
              <a:t> </a:t>
            </a:r>
            <a:r>
              <a:rPr dirty="0" err="1"/>
              <a:t>bày</a:t>
            </a:r>
            <a:r>
              <a:rPr dirty="0"/>
              <a:t> </a:t>
            </a:r>
            <a:r>
              <a:rPr dirty="0" err="1"/>
              <a:t>các</a:t>
            </a:r>
            <a:r>
              <a:rPr dirty="0"/>
              <a:t> invariant </a:t>
            </a:r>
            <a:r>
              <a:rPr dirty="0" err="1"/>
              <a:t>quan</a:t>
            </a:r>
            <a:r>
              <a:rPr dirty="0"/>
              <a:t> </a:t>
            </a:r>
            <a:r>
              <a:rPr dirty="0" err="1"/>
              <a:t>trọng</a:t>
            </a:r>
            <a:r>
              <a:rPr dirty="0"/>
              <a:t> </a:t>
            </a:r>
            <a:r>
              <a:rPr dirty="0" err="1"/>
              <a:t>nhất</a:t>
            </a:r>
            <a:r>
              <a:rPr dirty="0"/>
              <a:t> </a:t>
            </a:r>
            <a:r>
              <a:rPr dirty="0" err="1"/>
              <a:t>thay</a:t>
            </a:r>
            <a:r>
              <a:rPr dirty="0"/>
              <a:t> </a:t>
            </a:r>
            <a:r>
              <a:rPr dirty="0" err="1"/>
              <a:t>vì</a:t>
            </a:r>
            <a:r>
              <a:rPr dirty="0"/>
              <a:t> </a:t>
            </a:r>
            <a:r>
              <a:rPr dirty="0" err="1"/>
              <a:t>đọc</a:t>
            </a:r>
            <a:r>
              <a:rPr dirty="0"/>
              <a:t> </a:t>
            </a:r>
            <a:r>
              <a:rPr dirty="0" err="1"/>
              <a:t>danh</a:t>
            </a:r>
            <a:r>
              <a:rPr dirty="0"/>
              <a:t> </a:t>
            </a:r>
            <a:r>
              <a:rPr dirty="0" err="1"/>
              <a:t>sách</a:t>
            </a:r>
            <a:r>
              <a:rPr dirty="0"/>
              <a:t> </a:t>
            </a:r>
            <a:r>
              <a:rPr dirty="0" err="1"/>
              <a:t>yêu</a:t>
            </a:r>
            <a:r>
              <a:rPr dirty="0"/>
              <a:t> </a:t>
            </a:r>
            <a:r>
              <a:rPr dirty="0" err="1"/>
              <a:t>cầu</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Logical Document là danh tính ổn định của tài liệu, nên đổi tên hoặc đổi vị trí không tạo tài liệu mới.</a:t>
            </a:r>
          </a:p>
          <a:p>
            <a:r>
              <a:t>Revision là mốc thay đổi nghiệp vụ được quản lý; Version là thứ tự cập nhật bên trong một Revision.</a:t>
            </a:r>
          </a:p>
          <a:p>
            <a:r>
              <a:t>Mỗi Check-in có thay đổi tạo một Generation bất biến và tăng Version; Check-in không thay đổi nội dung không tạo Generation mới.</a:t>
            </a:r>
          </a:p>
          <a:p>
            <a:r>
              <a:t>Khi mở Revision B, Version bắt đầu lại từ 1, còn Generation vẫn là mã snapshot do hệ thống quản lý.</a:t>
            </a:r>
          </a:p>
          <a:p>
            <a:r>
              <a:t>Cách này cho phép truy lại chính xác nội dung đã review hoặc release ở bất kỳ thời điểm nào.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Checkout tạo quyền giữ sửa gắn với người dùng, Workspace và Generation nền, chứ không chỉ tải file về máy.</a:t>
            </a:r>
          </a:p>
          <a:p>
            <a:r>
              <a:t>Check-in là thao tác gửi thay đổi từ Workspace vào hệ thống, nhưng Server vẫn phải kiểm tra lại quyền, Reservation, baseline, phạm vi và cấu trúc tại lúc commit.</a:t>
            </a:r>
          </a:p>
          <a:p>
            <a:r>
              <a:t>Nếu thành công, mọi tài liệu trong phạm vi được xử lý theo nguyên tắc all-or-none; phần Checkout trong phạm vi được kết thúc cả khi không có nội dung thay đổi.</a:t>
            </a:r>
          </a:p>
          <a:p>
            <a:r>
              <a:t>Nếu stale hoặc sai quyền, hệ thống chặn ghi và giữ công việc cục bộ để người dùng xử lý tiếp.</a:t>
            </a:r>
          </a:p>
          <a:p>
            <a:r>
              <a:t>Reference chỉ phục vụ tham khảo; nó không trao quyền công bố thay đổi vào tài liệu gốc.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Structure không chỉ là cây đang thấy hôm nay; hệ thống phải giữ được cấu trúc chính xác tại từng baseline.</a:t>
            </a:r>
          </a:p>
          <a:p>
            <a:r>
              <a:t>Structure Snapshot S12 ghim đúng Generation của từng thành phần và bản vẽ, cùng quan hệ và occurrence liên quan.</a:t>
            </a:r>
          </a:p>
          <a:p>
            <a:r>
              <a:t>Khi Part B hoặc Part C có Generation mới, S12 vẫn giữ B3 và C9 thay vì tự chạy theo bản mới nhất.</a:t>
            </a:r>
          </a:p>
          <a:p>
            <a:r>
              <a:t>Nhờ vậy Release cũ có thể được tái tạo đúng ngay cả khi các tài liệu thành phần tiếp tục phát triển.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Review </a:t>
            </a:r>
            <a:r>
              <a:rPr dirty="0" err="1"/>
              <a:t>và</a:t>
            </a:r>
            <a:r>
              <a:rPr dirty="0"/>
              <a:t> Approval </a:t>
            </a:r>
            <a:r>
              <a:rPr dirty="0" err="1"/>
              <a:t>luôn</a:t>
            </a:r>
            <a:r>
              <a:rPr dirty="0"/>
              <a:t> </a:t>
            </a:r>
            <a:r>
              <a:rPr dirty="0" err="1"/>
              <a:t>làm</a:t>
            </a:r>
            <a:r>
              <a:rPr dirty="0"/>
              <a:t> </a:t>
            </a:r>
            <a:r>
              <a:rPr dirty="0" err="1"/>
              <a:t>việc</a:t>
            </a:r>
            <a:r>
              <a:rPr dirty="0"/>
              <a:t> </a:t>
            </a:r>
            <a:r>
              <a:rPr dirty="0" err="1"/>
              <a:t>trên</a:t>
            </a:r>
            <a:r>
              <a:rPr dirty="0"/>
              <a:t> </a:t>
            </a:r>
            <a:r>
              <a:rPr dirty="0" err="1"/>
              <a:t>một</a:t>
            </a:r>
            <a:r>
              <a:rPr dirty="0"/>
              <a:t> baseline </a:t>
            </a:r>
            <a:r>
              <a:rPr dirty="0" err="1"/>
              <a:t>cụ</a:t>
            </a:r>
            <a:r>
              <a:rPr dirty="0"/>
              <a:t> </a:t>
            </a:r>
            <a:r>
              <a:rPr dirty="0" err="1"/>
              <a:t>thể</a:t>
            </a:r>
            <a:r>
              <a:rPr dirty="0"/>
              <a:t> </a:t>
            </a:r>
            <a:r>
              <a:rPr dirty="0" err="1"/>
              <a:t>gồm</a:t>
            </a:r>
            <a:r>
              <a:rPr dirty="0"/>
              <a:t> Generation, Structure Snapshot </a:t>
            </a:r>
            <a:r>
              <a:rPr dirty="0" err="1"/>
              <a:t>và</a:t>
            </a:r>
            <a:r>
              <a:rPr dirty="0"/>
              <a:t> </a:t>
            </a:r>
            <a:r>
              <a:rPr dirty="0" err="1"/>
              <a:t>các</a:t>
            </a:r>
            <a:r>
              <a:rPr dirty="0"/>
              <a:t> Representation </a:t>
            </a:r>
            <a:r>
              <a:rPr dirty="0" err="1"/>
              <a:t>bắt</a:t>
            </a:r>
            <a:r>
              <a:rPr dirty="0"/>
              <a:t> </a:t>
            </a:r>
            <a:r>
              <a:rPr dirty="0" err="1"/>
              <a:t>buộc</a:t>
            </a:r>
            <a:r>
              <a:rPr dirty="0"/>
              <a:t>.</a:t>
            </a:r>
          </a:p>
          <a:p>
            <a:r>
              <a:rPr dirty="0"/>
              <a:t>Ngay </a:t>
            </a:r>
            <a:r>
              <a:rPr dirty="0" err="1"/>
              <a:t>trước</a:t>
            </a:r>
            <a:r>
              <a:rPr dirty="0"/>
              <a:t> Release, Server </a:t>
            </a:r>
            <a:r>
              <a:rPr dirty="0" err="1"/>
              <a:t>kiểm</a:t>
            </a:r>
            <a:r>
              <a:rPr dirty="0"/>
              <a:t> </a:t>
            </a:r>
            <a:r>
              <a:rPr dirty="0" err="1"/>
              <a:t>tra</a:t>
            </a:r>
            <a:r>
              <a:rPr dirty="0"/>
              <a:t> </a:t>
            </a:r>
            <a:r>
              <a:rPr dirty="0" err="1"/>
              <a:t>lại</a:t>
            </a:r>
            <a:r>
              <a:rPr dirty="0"/>
              <a:t> </a:t>
            </a:r>
            <a:r>
              <a:rPr dirty="0" err="1"/>
              <a:t>toàn</a:t>
            </a:r>
            <a:r>
              <a:rPr dirty="0"/>
              <a:t> </a:t>
            </a:r>
            <a:r>
              <a:rPr dirty="0" err="1"/>
              <a:t>bộ</a:t>
            </a:r>
            <a:r>
              <a:rPr dirty="0"/>
              <a:t> baseline, approval, </a:t>
            </a:r>
            <a:r>
              <a:rPr dirty="0" err="1"/>
              <a:t>quyền</a:t>
            </a:r>
            <a:r>
              <a:rPr dirty="0"/>
              <a:t> </a:t>
            </a:r>
            <a:r>
              <a:rPr dirty="0" err="1"/>
              <a:t>hiện</a:t>
            </a:r>
            <a:r>
              <a:rPr dirty="0"/>
              <a:t> </a:t>
            </a:r>
            <a:r>
              <a:rPr dirty="0" err="1"/>
              <a:t>hành</a:t>
            </a:r>
            <a:r>
              <a:rPr dirty="0"/>
              <a:t>, </a:t>
            </a:r>
            <a:r>
              <a:rPr dirty="0" err="1"/>
              <a:t>cấu</a:t>
            </a:r>
            <a:r>
              <a:rPr dirty="0"/>
              <a:t> </a:t>
            </a:r>
            <a:r>
              <a:rPr dirty="0" err="1"/>
              <a:t>trúc</a:t>
            </a:r>
            <a:r>
              <a:rPr dirty="0"/>
              <a:t> </a:t>
            </a:r>
            <a:r>
              <a:rPr dirty="0" err="1"/>
              <a:t>và</a:t>
            </a:r>
            <a:r>
              <a:rPr dirty="0"/>
              <a:t> Artifact.</a:t>
            </a:r>
          </a:p>
          <a:p>
            <a:r>
              <a:rPr dirty="0"/>
              <a:t>Release Record </a:t>
            </a:r>
            <a:r>
              <a:rPr dirty="0" err="1"/>
              <a:t>ghi</a:t>
            </a:r>
            <a:r>
              <a:rPr dirty="0"/>
              <a:t> </a:t>
            </a:r>
            <a:r>
              <a:rPr dirty="0" err="1"/>
              <a:t>các</a:t>
            </a:r>
            <a:r>
              <a:rPr dirty="0"/>
              <a:t> pin </a:t>
            </a:r>
            <a:r>
              <a:rPr dirty="0" err="1"/>
              <a:t>chính</a:t>
            </a:r>
            <a:r>
              <a:rPr dirty="0"/>
              <a:t> </a:t>
            </a:r>
            <a:r>
              <a:rPr dirty="0" err="1"/>
              <a:t>xác</a:t>
            </a:r>
            <a:r>
              <a:rPr dirty="0"/>
              <a:t>; </a:t>
            </a:r>
            <a:r>
              <a:rPr dirty="0" err="1"/>
              <a:t>nó</a:t>
            </a:r>
            <a:r>
              <a:rPr dirty="0"/>
              <a:t> </a:t>
            </a:r>
            <a:r>
              <a:rPr dirty="0" err="1"/>
              <a:t>không</a:t>
            </a:r>
            <a:r>
              <a:rPr dirty="0"/>
              <a:t> </a:t>
            </a:r>
            <a:r>
              <a:rPr dirty="0" err="1"/>
              <a:t>dùng</a:t>
            </a:r>
            <a:r>
              <a:rPr dirty="0"/>
              <a:t> </a:t>
            </a:r>
            <a:r>
              <a:rPr dirty="0" err="1"/>
              <a:t>khái</a:t>
            </a:r>
            <a:r>
              <a:rPr dirty="0"/>
              <a:t> </a:t>
            </a:r>
            <a:r>
              <a:rPr dirty="0" err="1"/>
              <a:t>niệm</a:t>
            </a:r>
            <a:r>
              <a:rPr dirty="0"/>
              <a:t> file </a:t>
            </a:r>
            <a:r>
              <a:rPr dirty="0" err="1"/>
              <a:t>mới</a:t>
            </a:r>
            <a:r>
              <a:rPr dirty="0"/>
              <a:t> </a:t>
            </a:r>
            <a:r>
              <a:rPr dirty="0" err="1"/>
              <a:t>nhất</a:t>
            </a:r>
            <a:r>
              <a:rPr dirty="0"/>
              <a:t> </a:t>
            </a:r>
            <a:r>
              <a:rPr dirty="0" err="1"/>
              <a:t>hoặc</a:t>
            </a:r>
            <a:r>
              <a:rPr dirty="0"/>
              <a:t> </a:t>
            </a:r>
            <a:r>
              <a:rPr dirty="0" err="1"/>
              <a:t>cấu</a:t>
            </a:r>
            <a:r>
              <a:rPr dirty="0"/>
              <a:t> </a:t>
            </a:r>
            <a:r>
              <a:rPr dirty="0" err="1"/>
              <a:t>trúc</a:t>
            </a:r>
            <a:r>
              <a:rPr dirty="0"/>
              <a:t> </a:t>
            </a:r>
            <a:r>
              <a:rPr dirty="0" err="1"/>
              <a:t>hiện</a:t>
            </a:r>
            <a:r>
              <a:rPr dirty="0"/>
              <a:t> </a:t>
            </a:r>
            <a:r>
              <a:rPr dirty="0" err="1"/>
              <a:t>tại</a:t>
            </a:r>
            <a:r>
              <a:rPr dirty="0"/>
              <a:t>.</a:t>
            </a:r>
          </a:p>
          <a:p>
            <a:r>
              <a:rPr dirty="0"/>
              <a:t>Khi </a:t>
            </a:r>
            <a:r>
              <a:rPr dirty="0" err="1"/>
              <a:t>lấy</a:t>
            </a:r>
            <a:r>
              <a:rPr dirty="0"/>
              <a:t> </a:t>
            </a:r>
            <a:r>
              <a:rPr dirty="0" err="1"/>
              <a:t>lại</a:t>
            </a:r>
            <a:r>
              <a:rPr dirty="0"/>
              <a:t> R24 </a:t>
            </a:r>
            <a:r>
              <a:rPr dirty="0" err="1"/>
              <a:t>vài</a:t>
            </a:r>
            <a:r>
              <a:rPr dirty="0"/>
              <a:t> </a:t>
            </a:r>
            <a:r>
              <a:rPr dirty="0" err="1"/>
              <a:t>tháng</a:t>
            </a:r>
            <a:r>
              <a:rPr dirty="0"/>
              <a:t> </a:t>
            </a:r>
            <a:r>
              <a:rPr dirty="0" err="1"/>
              <a:t>sau</a:t>
            </a:r>
            <a:r>
              <a:rPr dirty="0"/>
              <a:t>, </a:t>
            </a:r>
            <a:r>
              <a:rPr dirty="0" err="1"/>
              <a:t>hệ</a:t>
            </a:r>
            <a:r>
              <a:rPr dirty="0"/>
              <a:t> </a:t>
            </a:r>
            <a:r>
              <a:rPr dirty="0" err="1"/>
              <a:t>thống</a:t>
            </a:r>
            <a:r>
              <a:rPr dirty="0"/>
              <a:t> </a:t>
            </a:r>
            <a:r>
              <a:rPr dirty="0" err="1"/>
              <a:t>phải</a:t>
            </a:r>
            <a:r>
              <a:rPr dirty="0"/>
              <a:t> </a:t>
            </a:r>
            <a:r>
              <a:rPr dirty="0" err="1"/>
              <a:t>trả</a:t>
            </a:r>
            <a:r>
              <a:rPr dirty="0"/>
              <a:t> </a:t>
            </a:r>
            <a:r>
              <a:rPr dirty="0" err="1"/>
              <a:t>đúng</a:t>
            </a:r>
            <a:r>
              <a:rPr dirty="0"/>
              <a:t> </a:t>
            </a:r>
            <a:r>
              <a:rPr dirty="0" err="1"/>
              <a:t>cùng</a:t>
            </a:r>
            <a:r>
              <a:rPr dirty="0"/>
              <a:t> baseline </a:t>
            </a:r>
            <a:r>
              <a:rPr dirty="0" err="1"/>
              <a:t>đã</a:t>
            </a:r>
            <a:r>
              <a:rPr dirty="0"/>
              <a:t> </a:t>
            </a:r>
            <a:r>
              <a:rPr dirty="0" err="1"/>
              <a:t>phát</a:t>
            </a:r>
            <a:r>
              <a:rPr dirty="0"/>
              <a:t> </a:t>
            </a:r>
            <a:r>
              <a:rPr dirty="0" err="1"/>
              <a:t>hành</a:t>
            </a:r>
            <a:r>
              <a:rPr dirty="0"/>
              <a:t>, </a:t>
            </a:r>
            <a:r>
              <a:rPr dirty="0" err="1"/>
              <a:t>kể</a:t>
            </a:r>
            <a:r>
              <a:rPr dirty="0"/>
              <a:t> </a:t>
            </a:r>
            <a:r>
              <a:rPr dirty="0" err="1"/>
              <a:t>cả</a:t>
            </a:r>
            <a:r>
              <a:rPr dirty="0"/>
              <a:t> </a:t>
            </a:r>
            <a:r>
              <a:rPr dirty="0" err="1"/>
              <a:t>các</a:t>
            </a:r>
            <a:r>
              <a:rPr dirty="0"/>
              <a:t> </a:t>
            </a:r>
            <a:r>
              <a:rPr dirty="0" err="1"/>
              <a:t>tài</a:t>
            </a:r>
            <a:r>
              <a:rPr dirty="0"/>
              <a:t> </a:t>
            </a:r>
            <a:r>
              <a:rPr dirty="0" err="1"/>
              <a:t>liệu</a:t>
            </a:r>
            <a:r>
              <a:rPr dirty="0"/>
              <a:t> </a:t>
            </a:r>
            <a:r>
              <a:rPr dirty="0" err="1"/>
              <a:t>có</a:t>
            </a:r>
            <a:r>
              <a:rPr dirty="0"/>
              <a:t> Generation </a:t>
            </a:r>
            <a:r>
              <a:rPr dirty="0" err="1"/>
              <a:t>mới</a:t>
            </a:r>
            <a:r>
              <a:rPr dirty="0"/>
              <a:t> </a:t>
            </a:r>
            <a:r>
              <a:rPr dirty="0" err="1"/>
              <a:t>hơn</a:t>
            </a:r>
            <a:r>
              <a:rPr dirty="0"/>
              <a:t>.</a:t>
            </a:r>
          </a:p>
          <a:p>
            <a:r>
              <a:rPr dirty="0" err="1"/>
              <a:t>Đó</a:t>
            </a:r>
            <a:r>
              <a:rPr dirty="0"/>
              <a:t> </a:t>
            </a:r>
            <a:r>
              <a:rPr dirty="0" err="1"/>
              <a:t>là</a:t>
            </a:r>
            <a:r>
              <a:rPr dirty="0"/>
              <a:t> </a:t>
            </a:r>
            <a:r>
              <a:rPr dirty="0" err="1"/>
              <a:t>lý</a:t>
            </a:r>
            <a:r>
              <a:rPr dirty="0"/>
              <a:t> do shared drive </a:t>
            </a:r>
            <a:r>
              <a:rPr dirty="0" err="1"/>
              <a:t>không</a:t>
            </a:r>
            <a:r>
              <a:rPr dirty="0"/>
              <a:t> </a:t>
            </a:r>
            <a:r>
              <a:rPr dirty="0" err="1"/>
              <a:t>đủ</a:t>
            </a:r>
            <a:r>
              <a:rPr dirty="0"/>
              <a:t> </a:t>
            </a:r>
            <a:r>
              <a:rPr dirty="0" err="1"/>
              <a:t>để</a:t>
            </a:r>
            <a:r>
              <a:rPr dirty="0"/>
              <a:t> </a:t>
            </a:r>
            <a:r>
              <a:rPr dirty="0" err="1"/>
              <a:t>thay</a:t>
            </a:r>
            <a:r>
              <a:rPr dirty="0"/>
              <a:t> </a:t>
            </a:r>
            <a:r>
              <a:rPr dirty="0" err="1"/>
              <a:t>thế</a:t>
            </a:r>
            <a:r>
              <a:rPr dirty="0"/>
              <a:t> </a:t>
            </a:r>
            <a:r>
              <a:rPr dirty="0" err="1"/>
              <a:t>cơ</a:t>
            </a:r>
            <a:r>
              <a:rPr dirty="0"/>
              <a:t> </a:t>
            </a:r>
            <a:r>
              <a:rPr dirty="0" err="1"/>
              <a:t>chế</a:t>
            </a:r>
            <a:r>
              <a:rPr dirty="0"/>
              <a:t> Release </a:t>
            </a:r>
            <a:r>
              <a:rPr dirty="0" err="1"/>
              <a:t>có</a:t>
            </a:r>
            <a:r>
              <a:rPr dirty="0"/>
              <a:t> </a:t>
            </a:r>
            <a:r>
              <a:rPr dirty="0" err="1"/>
              <a:t>kiểm</a:t>
            </a:r>
            <a:r>
              <a:rPr dirty="0"/>
              <a:t> </a:t>
            </a:r>
            <a:r>
              <a:rPr dirty="0" err="1"/>
              <a:t>soát</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Spec </a:t>
            </a:r>
            <a:r>
              <a:rPr dirty="0" err="1"/>
              <a:t>phải</a:t>
            </a:r>
            <a:r>
              <a:rPr dirty="0"/>
              <a:t> </a:t>
            </a:r>
            <a:r>
              <a:rPr dirty="0" err="1"/>
              <a:t>giữ</a:t>
            </a:r>
            <a:r>
              <a:rPr dirty="0"/>
              <a:t> </a:t>
            </a:r>
            <a:r>
              <a:rPr dirty="0" err="1"/>
              <a:t>đúng</a:t>
            </a:r>
            <a:r>
              <a:rPr dirty="0"/>
              <a:t> </a:t>
            </a:r>
            <a:r>
              <a:rPr dirty="0" err="1"/>
              <a:t>không</a:t>
            </a:r>
            <a:r>
              <a:rPr dirty="0"/>
              <a:t> </a:t>
            </a:r>
            <a:r>
              <a:rPr dirty="0" err="1"/>
              <a:t>chỉ</a:t>
            </a:r>
            <a:r>
              <a:rPr dirty="0"/>
              <a:t> </a:t>
            </a:r>
            <a:r>
              <a:rPr dirty="0" err="1"/>
              <a:t>khi</a:t>
            </a:r>
            <a:r>
              <a:rPr dirty="0"/>
              <a:t> </a:t>
            </a:r>
            <a:r>
              <a:rPr dirty="0" err="1"/>
              <a:t>mọi</a:t>
            </a:r>
            <a:r>
              <a:rPr dirty="0"/>
              <a:t> </a:t>
            </a:r>
            <a:r>
              <a:rPr dirty="0" err="1"/>
              <a:t>thứ</a:t>
            </a:r>
            <a:r>
              <a:rPr dirty="0"/>
              <a:t> </a:t>
            </a:r>
            <a:r>
              <a:rPr dirty="0" err="1"/>
              <a:t>thuận</a:t>
            </a:r>
            <a:r>
              <a:rPr dirty="0"/>
              <a:t> </a:t>
            </a:r>
            <a:r>
              <a:rPr dirty="0" err="1"/>
              <a:t>lợi</a:t>
            </a:r>
            <a:r>
              <a:rPr dirty="0"/>
              <a:t> </a:t>
            </a:r>
            <a:r>
              <a:rPr dirty="0" err="1"/>
              <a:t>mà</a:t>
            </a:r>
            <a:r>
              <a:rPr dirty="0"/>
              <a:t> </a:t>
            </a:r>
            <a:r>
              <a:rPr dirty="0" err="1"/>
              <a:t>cả</a:t>
            </a:r>
            <a:r>
              <a:rPr dirty="0"/>
              <a:t> </a:t>
            </a:r>
            <a:r>
              <a:rPr dirty="0" err="1"/>
              <a:t>khi</a:t>
            </a:r>
            <a:r>
              <a:rPr dirty="0"/>
              <a:t> </a:t>
            </a:r>
            <a:r>
              <a:rPr dirty="0" err="1"/>
              <a:t>sai</a:t>
            </a:r>
            <a:r>
              <a:rPr dirty="0"/>
              <a:t> </a:t>
            </a:r>
            <a:r>
              <a:rPr dirty="0" err="1"/>
              <a:t>quyền</a:t>
            </a:r>
            <a:r>
              <a:rPr dirty="0"/>
              <a:t>, </a:t>
            </a:r>
            <a:r>
              <a:rPr dirty="0" err="1"/>
              <a:t>dữ</a:t>
            </a:r>
            <a:r>
              <a:rPr dirty="0"/>
              <a:t> </a:t>
            </a:r>
            <a:r>
              <a:rPr dirty="0" err="1"/>
              <a:t>liệu</a:t>
            </a:r>
            <a:r>
              <a:rPr dirty="0"/>
              <a:t> </a:t>
            </a:r>
            <a:r>
              <a:rPr dirty="0" err="1"/>
              <a:t>cũ</a:t>
            </a:r>
            <a:r>
              <a:rPr dirty="0"/>
              <a:t>, </a:t>
            </a:r>
            <a:r>
              <a:rPr dirty="0" err="1"/>
              <a:t>mất</a:t>
            </a:r>
            <a:r>
              <a:rPr dirty="0"/>
              <a:t> </a:t>
            </a:r>
            <a:r>
              <a:rPr dirty="0" err="1"/>
              <a:t>mạng</a:t>
            </a:r>
            <a:r>
              <a:rPr dirty="0"/>
              <a:t> </a:t>
            </a:r>
            <a:r>
              <a:rPr dirty="0" err="1"/>
              <a:t>hoặc</a:t>
            </a:r>
            <a:r>
              <a:rPr dirty="0"/>
              <a:t> Worker </a:t>
            </a:r>
            <a:r>
              <a:rPr dirty="0" err="1"/>
              <a:t>lỗi</a:t>
            </a:r>
            <a:r>
              <a:rPr dirty="0"/>
              <a:t>.</a:t>
            </a:r>
          </a:p>
          <a:p>
            <a:r>
              <a:rPr dirty="0"/>
              <a:t>Quyền </a:t>
            </a:r>
            <a:r>
              <a:rPr dirty="0" err="1"/>
              <a:t>được</a:t>
            </a:r>
            <a:r>
              <a:rPr dirty="0"/>
              <a:t> </a:t>
            </a:r>
            <a:r>
              <a:rPr dirty="0" err="1"/>
              <a:t>xác</a:t>
            </a:r>
            <a:r>
              <a:rPr dirty="0"/>
              <a:t> </a:t>
            </a:r>
            <a:r>
              <a:rPr dirty="0" err="1"/>
              <a:t>lập</a:t>
            </a:r>
            <a:r>
              <a:rPr dirty="0"/>
              <a:t> ở Server </a:t>
            </a:r>
            <a:r>
              <a:rPr dirty="0" err="1"/>
              <a:t>từ</a:t>
            </a:r>
            <a:r>
              <a:rPr dirty="0"/>
              <a:t> </a:t>
            </a:r>
            <a:r>
              <a:rPr dirty="0" err="1"/>
              <a:t>ActorContext</a:t>
            </a:r>
            <a:r>
              <a:rPr dirty="0"/>
              <a:t> </a:t>
            </a:r>
            <a:r>
              <a:rPr dirty="0" err="1"/>
              <a:t>và</a:t>
            </a:r>
            <a:r>
              <a:rPr dirty="0"/>
              <a:t> policy; </a:t>
            </a:r>
            <a:r>
              <a:rPr dirty="0" err="1"/>
              <a:t>việc</a:t>
            </a:r>
            <a:r>
              <a:rPr dirty="0"/>
              <a:t> </a:t>
            </a:r>
            <a:r>
              <a:rPr dirty="0" err="1"/>
              <a:t>ẩn</a:t>
            </a:r>
            <a:r>
              <a:rPr dirty="0"/>
              <a:t> </a:t>
            </a:r>
            <a:r>
              <a:rPr dirty="0" err="1"/>
              <a:t>nút</a:t>
            </a:r>
            <a:r>
              <a:rPr dirty="0"/>
              <a:t> </a:t>
            </a:r>
            <a:r>
              <a:rPr dirty="0" err="1"/>
              <a:t>trên</a:t>
            </a:r>
            <a:r>
              <a:rPr dirty="0"/>
              <a:t> </a:t>
            </a:r>
            <a:r>
              <a:rPr dirty="0" err="1"/>
              <a:t>giao</a:t>
            </a:r>
            <a:r>
              <a:rPr dirty="0"/>
              <a:t> </a:t>
            </a:r>
            <a:r>
              <a:rPr dirty="0" err="1"/>
              <a:t>diện</a:t>
            </a:r>
            <a:r>
              <a:rPr dirty="0"/>
              <a:t> </a:t>
            </a:r>
            <a:r>
              <a:rPr dirty="0" err="1"/>
              <a:t>chỉ</a:t>
            </a:r>
            <a:r>
              <a:rPr dirty="0"/>
              <a:t> </a:t>
            </a:r>
            <a:r>
              <a:rPr dirty="0" err="1"/>
              <a:t>là</a:t>
            </a:r>
            <a:r>
              <a:rPr dirty="0"/>
              <a:t> </a:t>
            </a:r>
            <a:r>
              <a:rPr dirty="0" err="1"/>
              <a:t>trải</a:t>
            </a:r>
            <a:r>
              <a:rPr dirty="0"/>
              <a:t> </a:t>
            </a:r>
            <a:r>
              <a:rPr dirty="0" err="1"/>
              <a:t>nghiệm</a:t>
            </a:r>
            <a:r>
              <a:rPr dirty="0"/>
              <a:t>, </a:t>
            </a:r>
            <a:r>
              <a:rPr dirty="0" err="1"/>
              <a:t>không</a:t>
            </a:r>
            <a:r>
              <a:rPr dirty="0"/>
              <a:t> </a:t>
            </a:r>
            <a:r>
              <a:rPr dirty="0" err="1"/>
              <a:t>phải</a:t>
            </a:r>
            <a:r>
              <a:rPr dirty="0"/>
              <a:t> </a:t>
            </a:r>
            <a:r>
              <a:rPr dirty="0" err="1"/>
              <a:t>kiểm</a:t>
            </a:r>
            <a:r>
              <a:rPr dirty="0"/>
              <a:t> </a:t>
            </a:r>
            <a:r>
              <a:rPr dirty="0" err="1"/>
              <a:t>soát</a:t>
            </a:r>
            <a:r>
              <a:rPr dirty="0"/>
              <a:t> </a:t>
            </a:r>
            <a:r>
              <a:rPr dirty="0" err="1"/>
              <a:t>bảo</a:t>
            </a:r>
            <a:r>
              <a:rPr dirty="0"/>
              <a:t> </a:t>
            </a:r>
            <a:r>
              <a:rPr dirty="0" err="1"/>
              <a:t>mật</a:t>
            </a:r>
            <a:r>
              <a:rPr dirty="0"/>
              <a:t>.</a:t>
            </a:r>
          </a:p>
          <a:p>
            <a:r>
              <a:rPr dirty="0"/>
              <a:t>Khi baseline </a:t>
            </a:r>
            <a:r>
              <a:rPr dirty="0" err="1"/>
              <a:t>cục</a:t>
            </a:r>
            <a:r>
              <a:rPr dirty="0"/>
              <a:t> </a:t>
            </a:r>
            <a:r>
              <a:rPr dirty="0" err="1"/>
              <a:t>bộ</a:t>
            </a:r>
            <a:r>
              <a:rPr dirty="0"/>
              <a:t> </a:t>
            </a:r>
            <a:r>
              <a:rPr dirty="0" err="1"/>
              <a:t>cũ</a:t>
            </a:r>
            <a:r>
              <a:rPr dirty="0"/>
              <a:t> </a:t>
            </a:r>
            <a:r>
              <a:rPr dirty="0" err="1"/>
              <a:t>hơn</a:t>
            </a:r>
            <a:r>
              <a:rPr dirty="0"/>
              <a:t> Server, </a:t>
            </a:r>
            <a:r>
              <a:rPr dirty="0" err="1"/>
              <a:t>hệ</a:t>
            </a:r>
            <a:r>
              <a:rPr dirty="0"/>
              <a:t> </a:t>
            </a:r>
            <a:r>
              <a:rPr dirty="0" err="1"/>
              <a:t>thống</a:t>
            </a:r>
            <a:r>
              <a:rPr dirty="0"/>
              <a:t> </a:t>
            </a:r>
            <a:r>
              <a:rPr dirty="0" err="1"/>
              <a:t>chặn</a:t>
            </a:r>
            <a:r>
              <a:rPr dirty="0"/>
              <a:t> </a:t>
            </a:r>
            <a:r>
              <a:rPr dirty="0" err="1"/>
              <a:t>ghi</a:t>
            </a:r>
            <a:r>
              <a:rPr dirty="0"/>
              <a:t> </a:t>
            </a:r>
            <a:r>
              <a:rPr dirty="0" err="1"/>
              <a:t>và</a:t>
            </a:r>
            <a:r>
              <a:rPr dirty="0"/>
              <a:t> </a:t>
            </a:r>
            <a:r>
              <a:rPr dirty="0" err="1"/>
              <a:t>giữ</a:t>
            </a:r>
            <a:r>
              <a:rPr dirty="0"/>
              <a:t> local work </a:t>
            </a:r>
            <a:r>
              <a:rPr dirty="0" err="1"/>
              <a:t>thay</a:t>
            </a:r>
            <a:r>
              <a:rPr dirty="0"/>
              <a:t> </a:t>
            </a:r>
            <a:r>
              <a:rPr dirty="0" err="1"/>
              <a:t>vì</a:t>
            </a:r>
            <a:r>
              <a:rPr dirty="0"/>
              <a:t> </a:t>
            </a:r>
            <a:r>
              <a:rPr dirty="0" err="1"/>
              <a:t>tự</a:t>
            </a:r>
            <a:r>
              <a:rPr dirty="0"/>
              <a:t> merge CAD </a:t>
            </a:r>
            <a:r>
              <a:rPr dirty="0" err="1"/>
              <a:t>hoặc</a:t>
            </a:r>
            <a:r>
              <a:rPr dirty="0"/>
              <a:t> Office.</a:t>
            </a:r>
          </a:p>
          <a:p>
            <a:r>
              <a:rPr dirty="0" err="1"/>
              <a:t>OperationId</a:t>
            </a:r>
            <a:r>
              <a:rPr dirty="0"/>
              <a:t> </a:t>
            </a:r>
            <a:r>
              <a:rPr dirty="0" err="1"/>
              <a:t>giúp</a:t>
            </a:r>
            <a:r>
              <a:rPr dirty="0"/>
              <a:t> retry </a:t>
            </a:r>
            <a:r>
              <a:rPr dirty="0" err="1"/>
              <a:t>không</a:t>
            </a:r>
            <a:r>
              <a:rPr dirty="0"/>
              <a:t> </a:t>
            </a:r>
            <a:r>
              <a:rPr dirty="0" err="1"/>
              <a:t>tạo</a:t>
            </a:r>
            <a:r>
              <a:rPr dirty="0"/>
              <a:t> </a:t>
            </a:r>
            <a:r>
              <a:rPr dirty="0" err="1"/>
              <a:t>thêm</a:t>
            </a:r>
            <a:r>
              <a:rPr dirty="0"/>
              <a:t> Generation hay </a:t>
            </a:r>
            <a:r>
              <a:rPr dirty="0" err="1"/>
              <a:t>quyết</a:t>
            </a:r>
            <a:r>
              <a:rPr dirty="0"/>
              <a:t> </a:t>
            </a:r>
            <a:r>
              <a:rPr dirty="0" err="1"/>
              <a:t>định</a:t>
            </a:r>
            <a:r>
              <a:rPr dirty="0"/>
              <a:t> </a:t>
            </a:r>
            <a:r>
              <a:rPr dirty="0" err="1"/>
              <a:t>nghiệp</a:t>
            </a:r>
            <a:r>
              <a:rPr dirty="0"/>
              <a:t> </a:t>
            </a:r>
            <a:r>
              <a:rPr dirty="0" err="1"/>
              <a:t>vụ</a:t>
            </a:r>
            <a:r>
              <a:rPr dirty="0"/>
              <a:t> </a:t>
            </a:r>
            <a:r>
              <a:rPr dirty="0" err="1"/>
              <a:t>trùng</a:t>
            </a:r>
            <a:r>
              <a:rPr dirty="0"/>
              <a:t> </a:t>
            </a:r>
            <a:r>
              <a:rPr dirty="0" err="1"/>
              <a:t>lặp</a:t>
            </a:r>
            <a:r>
              <a:rPr dirty="0"/>
              <a:t> </a:t>
            </a:r>
            <a:r>
              <a:rPr dirty="0" err="1"/>
              <a:t>khi</a:t>
            </a:r>
            <a:r>
              <a:rPr dirty="0"/>
              <a:t> response </a:t>
            </a:r>
            <a:r>
              <a:rPr dirty="0" err="1"/>
              <a:t>bị</a:t>
            </a:r>
            <a:r>
              <a:rPr dirty="0"/>
              <a:t> </a:t>
            </a:r>
            <a:r>
              <a:rPr dirty="0" err="1"/>
              <a:t>mất</a:t>
            </a:r>
            <a:r>
              <a:rPr dirty="0"/>
              <a:t>.</a:t>
            </a:r>
          </a:p>
          <a:p>
            <a:r>
              <a:rPr dirty="0"/>
              <a:t>Audit </a:t>
            </a:r>
            <a:r>
              <a:rPr dirty="0" err="1"/>
              <a:t>trả</a:t>
            </a:r>
            <a:r>
              <a:rPr dirty="0"/>
              <a:t> </a:t>
            </a:r>
            <a:r>
              <a:rPr dirty="0" err="1"/>
              <a:t>lời</a:t>
            </a:r>
            <a:r>
              <a:rPr dirty="0"/>
              <a:t> ai </a:t>
            </a:r>
            <a:r>
              <a:rPr dirty="0" err="1"/>
              <a:t>làm</a:t>
            </a:r>
            <a:r>
              <a:rPr dirty="0"/>
              <a:t> </a:t>
            </a:r>
            <a:r>
              <a:rPr dirty="0" err="1"/>
              <a:t>gì</a:t>
            </a:r>
            <a:r>
              <a:rPr dirty="0"/>
              <a:t> </a:t>
            </a:r>
            <a:r>
              <a:rPr dirty="0" err="1"/>
              <a:t>trên</a:t>
            </a:r>
            <a:r>
              <a:rPr dirty="0"/>
              <a:t> baseline </a:t>
            </a:r>
            <a:r>
              <a:rPr dirty="0" err="1"/>
              <a:t>nào</a:t>
            </a:r>
            <a:r>
              <a:rPr dirty="0"/>
              <a:t>, </a:t>
            </a:r>
            <a:r>
              <a:rPr dirty="0" err="1"/>
              <a:t>theo</a:t>
            </a:r>
            <a:r>
              <a:rPr dirty="0"/>
              <a:t> policy </a:t>
            </a:r>
            <a:r>
              <a:rPr dirty="0" err="1"/>
              <a:t>nào</a:t>
            </a:r>
            <a:r>
              <a:rPr dirty="0"/>
              <a:t> </a:t>
            </a:r>
            <a:r>
              <a:rPr dirty="0" err="1"/>
              <a:t>và</a:t>
            </a:r>
            <a:r>
              <a:rPr dirty="0"/>
              <a:t> </a:t>
            </a:r>
            <a:r>
              <a:rPr dirty="0" err="1"/>
              <a:t>kết</a:t>
            </a:r>
            <a:r>
              <a:rPr dirty="0"/>
              <a:t> </a:t>
            </a:r>
            <a:r>
              <a:rPr dirty="0" err="1"/>
              <a:t>quả</a:t>
            </a:r>
            <a:r>
              <a:rPr dirty="0"/>
              <a:t> </a:t>
            </a:r>
            <a:r>
              <a:rPr dirty="0" err="1"/>
              <a:t>ra</a:t>
            </a:r>
            <a:r>
              <a:rPr dirty="0"/>
              <a:t> </a:t>
            </a:r>
            <a:r>
              <a:rPr dirty="0" err="1"/>
              <a:t>sao</a:t>
            </a:r>
            <a:r>
              <a:rPr dirty="0"/>
              <a:t> </a:t>
            </a:r>
            <a:r>
              <a:rPr dirty="0" err="1"/>
              <a:t>để</a:t>
            </a:r>
            <a:r>
              <a:rPr dirty="0"/>
              <a:t> </a:t>
            </a:r>
            <a:r>
              <a:rPr dirty="0" err="1"/>
              <a:t>phục</a:t>
            </a:r>
            <a:r>
              <a:rPr dirty="0"/>
              <a:t> </a:t>
            </a:r>
            <a:r>
              <a:rPr dirty="0" err="1"/>
              <a:t>vụ</a:t>
            </a:r>
            <a:r>
              <a:rPr dirty="0"/>
              <a:t> </a:t>
            </a:r>
            <a:r>
              <a:rPr dirty="0" err="1"/>
              <a:t>điều</a:t>
            </a:r>
            <a:r>
              <a:rPr dirty="0"/>
              <a:t> </a:t>
            </a:r>
            <a:r>
              <a:rPr dirty="0" err="1"/>
              <a:t>tra</a:t>
            </a:r>
            <a:r>
              <a:rPr dirty="0"/>
              <a:t> </a:t>
            </a:r>
            <a:r>
              <a:rPr dirty="0" err="1"/>
              <a:t>và</a:t>
            </a:r>
            <a:r>
              <a:rPr dirty="0"/>
              <a:t> </a:t>
            </a:r>
            <a:r>
              <a:rPr dirty="0" err="1"/>
              <a:t>phục</a:t>
            </a:r>
            <a:r>
              <a:rPr dirty="0"/>
              <a:t> </a:t>
            </a:r>
            <a:r>
              <a:rPr dirty="0" err="1"/>
              <a:t>hồi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Một requirement chỉ đủ chất lượng khi có tiêu chí chấp nhận và phương pháp kiểm chứng rõ ràng.</a:t>
            </a:r>
          </a:p>
          <a:p>
            <a:r>
              <a:t>Ví dụ về Release không dừng ở câu phải tái tạo được; acceptance chỉ ra đúng dữ liệu phải trả và verification chỉ ra cách tạo bằng chứng.</a:t>
            </a:r>
          </a:p>
          <a:p>
            <a:r>
              <a:t>Kết quả thực thi sau này phải ghi PASS, FAIL hoặc BLOCKED, không được suy ra từ việc tài liệu đã được viết.</a:t>
            </a:r>
          </a:p>
          <a:p>
            <a:r>
              <a:t>Chuỗi truy vết này giúp management biết điều gì đang được yêu cầu, điều gì đã thiết kế và điều gì thật sự đã được chứng minh.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Kiến trúc tách rõ máy kỹ sư Windows, Server Linux và Windows Format Worker khi cần xử lý theo ứng dụng hoặc license.</a:t>
            </a:r>
          </a:p>
          <a:p>
            <a:r>
              <a:t>React là business UI dùng chung; WPF chỉ bọc Desktop và kết nối tới Workspace .NET chịu trách nhiệm với file cục bộ, journal và CAD/Office.</a:t>
            </a:r>
          </a:p>
          <a:p>
            <a:r>
              <a:t>Server Java giữ product authority, PostgreSQL giữ metadata và state, còn Artifact Store giữ bytes bất biến.</a:t>
            </a:r>
          </a:p>
          <a:p>
            <a:r>
              <a:t>Format Worker boundary đã được chọn cho Core v0, nhưng chỉ triển khai hoặc dùng khi CAD, Office hay license yêu cầu.</a:t>
            </a:r>
          </a:p>
          <a:p>
            <a:r>
              <a:t>Runtime và toolchain chính xác của Worker vẫn qualification-dependent và chưa được tài liệu này tự chọn.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này giải thích vì sao hệ thống có cả Java và .NET mà không phải hai backend cạnh tranh.</a:t>
            </a:r>
          </a:p>
          <a:p>
            <a:r>
              <a:t>Java/Spring đảm nhiệm Core Server, còn .NET nằm ở ranh giới Windows cần làm việc với file cục bộ, CAD, Office và Named Pipes.</a:t>
            </a:r>
          </a:p>
          <a:p>
            <a:r>
              <a:t>React là business UI chung cho Web và Desktop, nên WPF không được phát triển thành một bộ giao diện nghiệp vụ thứ hai.</a:t>
            </a:r>
          </a:p>
          <a:p>
            <a:r>
              <a:t>HTTPS JSON REST và OpenAPI 3.1 là hợp đồng versioned giữa Client, Workspace và Server; Ubuntu 26.04 là platform direction nhưng exact operational build còn Q-14 NOT-RUN.</a:t>
            </a:r>
          </a:p>
          <a:p>
            <a:r>
              <a:t>PostgreSQL giữ metadata và state; Artifact Store giữ binary bất biến để không gắn danh tính sản phẩm vào đường dẫn lưu trữ.</a:t>
            </a:r>
          </a:p>
          <a:p>
            <a:r>
              <a:t>Mỗi công nghệ có một trách nhiệm và một ranh giới rõ, giúp qualification và thay thế sau này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Engineering đã chọn một baseline để tiếp tục qualification, nhưng lựa chọn đó chưa phải Product Decision Authority approval.</a:t>
            </a:r>
          </a:p>
          <a:p>
            <a:r>
              <a:t>Java được chọn hẹp cho Core Server; .NET Server vẫn là alternative nghiêm túc và có trigger mở lại rõ ràng.</a:t>
            </a:r>
          </a:p>
          <a:p>
            <a:r>
              <a:t>Q-15 không chứng minh React thắng Flutter; kết luận vẫn là PARTIAL / NO WINNER và Flutter vẫn là phương án khả thi đã đánh giá.</a:t>
            </a:r>
          </a:p>
          <a:p>
            <a:r>
              <a:t>React/WPF được chọn dựa trên phạm vi Web + Windows hiện tại, mức bằng chứng và opportunity cost, không dựa trên tuyên bố benchmark thắng.</a:t>
            </a:r>
          </a:p>
          <a:p>
            <a:r>
              <a:t>Modular Monolith phù hợp ranh giới giao dịch và khả năng vận hành hiện tại; Microservices chỉ hợp lý khi có evidence đủ bù chi phí phân tán.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744"/>
        </a:solidFill>
        <a:effectLst/>
      </p:bgPr>
    </p:bg>
    <p:spTree>
      <p:nvGrpSpPr>
        <p:cNvPr id="1" name=""/>
        <p:cNvGrpSpPr/>
        <p:nvPr/>
      </p:nvGrpSpPr>
      <p:grpSpPr>
        <a:xfrm>
          <a:off x="0" y="0"/>
          <a:ext cx="0" cy="0"/>
          <a:chOff x="0" y="0"/>
          <a:chExt cx="0" cy="0"/>
        </a:xfrm>
      </p:grpSpPr>
      <p:sp>
        <p:nvSpPr>
          <p:cNvPr id="28" name="box-0-0">
            <a:extLst>
              <a:ext uri="{FF2B5EF4-FFF2-40B4-BE49-F238E27FC236}">
                <a16:creationId xmlns:a16="http://schemas.microsoft.com/office/drawing/2014/main" id="{46ADBA50-CE8C-487A-B12D-8D52C7FE2956}"/>
              </a:ext>
            </a:extLst>
          </p:cNvPr>
          <p:cNvSpPr>
            <a:spLocks noGrp="1"/>
          </p:cNvSpPr>
          <p:nvPr/>
        </p:nvSpPr>
        <p:spPr>
          <a:xfrm>
            <a:off x="0" y="0"/>
            <a:ext cx="12192000" cy="95250"/>
          </a:xfrm>
          <a:prstGeom prst="rect">
            <a:avLst/>
          </a:prstGeom>
          <a:solidFill>
            <a:srgbClr val="2F8FC2"/>
          </a:solidFill>
          <a:ln w="0">
            <a:solidFill>
              <a:srgbClr val="2F8FC2"/>
            </a:solidFill>
            <a:prstDash val="solid"/>
          </a:ln>
        </p:spPr>
        <p:txBody>
          <a:bodyPr/>
          <a:lstStyle/>
          <a:p>
            <a:endParaRPr lang="en-US"/>
          </a:p>
        </p:txBody>
      </p:sp>
      <p:sp>
        <p:nvSpPr>
          <p:cNvPr id="2" name="text-72-38-IDEA">
            <a:extLst>
              <a:ext uri="{FF2B5EF4-FFF2-40B4-BE49-F238E27FC236}">
                <a16:creationId xmlns:a16="http://schemas.microsoft.com/office/drawing/2014/main" id="{D8655250-DB6D-48A8-A510-D795FACF9E38}"/>
              </a:ext>
            </a:extLst>
          </p:cNvPr>
          <p:cNvSpPr>
            <a:spLocks noGrp="1"/>
          </p:cNvSpPr>
          <p:nvPr/>
        </p:nvSpPr>
        <p:spPr>
          <a:xfrm>
            <a:off x="685800" y="361950"/>
            <a:ext cx="1619250" cy="419100"/>
          </a:xfrm>
          <a:prstGeom prst="rect">
            <a:avLst/>
          </a:prstGeom>
          <a:noFill/>
          <a:ln w="0">
            <a:noFill/>
          </a:ln>
        </p:spPr>
        <p:txBody>
          <a:bodyPr>
            <a:noAutofit/>
          </a:bodyPr>
          <a:lstStyle/>
          <a:p>
            <a:pPr algn="l">
              <a:defRPr sz="2250" b="1">
                <a:solidFill>
                  <a:srgbClr val="FFFFFF"/>
                </a:solidFill>
                <a:latin typeface="Arial"/>
                <a:ea typeface="Arial"/>
                <a:cs typeface="Arial"/>
              </a:defRPr>
            </a:pPr>
            <a:r>
              <a:rPr sz="2250" b="1">
                <a:solidFill>
                  <a:srgbClr val="FFFFFF"/>
                </a:solidFill>
                <a:latin typeface="Arial"/>
                <a:ea typeface="Arial"/>
                <a:cs typeface="Arial"/>
              </a:rPr>
              <a:t>IDEA</a:t>
            </a:r>
          </a:p>
        </p:txBody>
      </p:sp>
      <p:sp>
        <p:nvSpPr>
          <p:cNvPr id="3" name="box-49-42">
            <a:extLst>
              <a:ext uri="{FF2B5EF4-FFF2-40B4-BE49-F238E27FC236}">
                <a16:creationId xmlns:a16="http://schemas.microsoft.com/office/drawing/2014/main" id="{9ABD268E-B5A1-436D-8AC4-94630C52AF6A}"/>
              </a:ext>
            </a:extLst>
          </p:cNvPr>
          <p:cNvSpPr>
            <a:spLocks noGrp="1"/>
          </p:cNvSpPr>
          <p:nvPr/>
        </p:nvSpPr>
        <p:spPr>
          <a:xfrm>
            <a:off x="466725" y="400050"/>
            <a:ext cx="133350" cy="133350"/>
          </a:xfrm>
          <a:prstGeom prst="ellipse">
            <a:avLst/>
          </a:prstGeom>
          <a:solidFill>
            <a:srgbClr val="E1262D"/>
          </a:solidFill>
          <a:ln w="0">
            <a:solidFill>
              <a:srgbClr val="E1262D"/>
            </a:solidFill>
            <a:prstDash val="solid"/>
          </a:ln>
        </p:spPr>
        <p:txBody>
          <a:bodyPr/>
          <a:lstStyle/>
          <a:p>
            <a:endParaRPr lang="en-US"/>
          </a:p>
        </p:txBody>
      </p:sp>
      <p:sp>
        <p:nvSpPr>
          <p:cNvPr id="4" name="text-72-128-IDEA Engineering">
            <a:extLst>
              <a:ext uri="{FF2B5EF4-FFF2-40B4-BE49-F238E27FC236}">
                <a16:creationId xmlns:a16="http://schemas.microsoft.com/office/drawing/2014/main" id="{8C48FDA6-D607-4EEF-A459-D9962DBE182C}"/>
              </a:ext>
            </a:extLst>
          </p:cNvPr>
          <p:cNvSpPr>
            <a:spLocks noGrp="1"/>
          </p:cNvSpPr>
          <p:nvPr/>
        </p:nvSpPr>
        <p:spPr>
          <a:xfrm>
            <a:off x="685800" y="1219200"/>
            <a:ext cx="10668000" cy="552450"/>
          </a:xfrm>
          <a:prstGeom prst="rect">
            <a:avLst/>
          </a:prstGeom>
          <a:noFill/>
          <a:ln w="0">
            <a:noFill/>
          </a:ln>
        </p:spPr>
        <p:txBody>
          <a:bodyPr>
            <a:no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IDEA Engineering Core v0</a:t>
            </a:r>
          </a:p>
        </p:txBody>
      </p:sp>
      <p:sp>
        <p:nvSpPr>
          <p:cNvPr id="5" name="text-72-188-Product &amp; Techno">
            <a:extLst>
              <a:ext uri="{FF2B5EF4-FFF2-40B4-BE49-F238E27FC236}">
                <a16:creationId xmlns:a16="http://schemas.microsoft.com/office/drawing/2014/main" id="{78BB36C6-7241-414D-9693-E81C24149CE1}"/>
              </a:ext>
            </a:extLst>
          </p:cNvPr>
          <p:cNvSpPr>
            <a:spLocks noGrp="1"/>
          </p:cNvSpPr>
          <p:nvPr/>
        </p:nvSpPr>
        <p:spPr>
          <a:xfrm>
            <a:off x="685800" y="1790700"/>
            <a:ext cx="10668000" cy="381000"/>
          </a:xfrm>
          <a:prstGeom prst="rect">
            <a:avLst/>
          </a:prstGeom>
          <a:noFill/>
          <a:ln w="0">
            <a:noFill/>
          </a:ln>
        </p:spPr>
        <p:txBody>
          <a:bodyPr>
            <a:noAutofit/>
          </a:bodyPr>
          <a:lstStyle/>
          <a:p>
            <a:pPr algn="l">
              <a:defRPr sz="1950" b="0">
                <a:solidFill>
                  <a:srgbClr val="BFD7EA"/>
                </a:solidFill>
                <a:latin typeface="Arial"/>
                <a:ea typeface="Arial"/>
                <a:cs typeface="Arial"/>
              </a:defRPr>
            </a:pPr>
            <a:r>
              <a:rPr sz="1950" b="0">
                <a:solidFill>
                  <a:srgbClr val="BFD7EA"/>
                </a:solidFill>
                <a:latin typeface="Arial"/>
                <a:ea typeface="Arial"/>
                <a:cs typeface="Arial"/>
              </a:rPr>
              <a:t>Product &amp; Technology Decision Framework</a:t>
            </a:r>
          </a:p>
        </p:txBody>
      </p:sp>
      <p:sp>
        <p:nvSpPr>
          <p:cNvPr id="6" name="box-72-310">
            <a:extLst>
              <a:ext uri="{FF2B5EF4-FFF2-40B4-BE49-F238E27FC236}">
                <a16:creationId xmlns:a16="http://schemas.microsoft.com/office/drawing/2014/main" id="{0FB0829B-42D1-4DED-B58C-DEC9406CD6E6}"/>
              </a:ext>
            </a:extLst>
          </p:cNvPr>
          <p:cNvSpPr>
            <a:spLocks noGrp="1"/>
          </p:cNvSpPr>
          <p:nvPr/>
        </p:nvSpPr>
        <p:spPr>
          <a:xfrm>
            <a:off x="685800" y="2952750"/>
            <a:ext cx="1657350" cy="1371600"/>
          </a:xfrm>
          <a:prstGeom prst="roundRect">
            <a:avLst>
              <a:gd name="adj" fmla="val 5556"/>
            </a:avLst>
          </a:prstGeom>
          <a:solidFill>
            <a:srgbClr val="17385F"/>
          </a:solidFill>
          <a:ln w="19050">
            <a:solidFill>
              <a:srgbClr val="7890A6"/>
            </a:solidFill>
            <a:prstDash val="solid"/>
          </a:ln>
        </p:spPr>
        <p:txBody>
          <a:bodyPr/>
          <a:lstStyle/>
          <a:p>
            <a:endParaRPr lang="en-US"/>
          </a:p>
        </p:txBody>
      </p:sp>
      <p:sp>
        <p:nvSpPr>
          <p:cNvPr id="7" name="text-86-335-Nhu cầu">
            <a:extLst>
              <a:ext uri="{FF2B5EF4-FFF2-40B4-BE49-F238E27FC236}">
                <a16:creationId xmlns:a16="http://schemas.microsoft.com/office/drawing/2014/main" id="{C94954E0-2101-4E1D-A3AA-8C5D94A3781E}"/>
              </a:ext>
            </a:extLst>
          </p:cNvPr>
          <p:cNvSpPr>
            <a:spLocks noGrp="1"/>
          </p:cNvSpPr>
          <p:nvPr/>
        </p:nvSpPr>
        <p:spPr>
          <a:xfrm>
            <a:off x="819150" y="3190875"/>
            <a:ext cx="1390650" cy="323850"/>
          </a:xfrm>
          <a:prstGeom prst="rect">
            <a:avLst/>
          </a:prstGeom>
          <a:noFill/>
          <a:ln w="0">
            <a:noFill/>
          </a:ln>
        </p:spPr>
        <p:txBody>
          <a:bodyP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Nhu cầu</a:t>
            </a:r>
          </a:p>
        </p:txBody>
      </p:sp>
      <p:sp>
        <p:nvSpPr>
          <p:cNvPr id="8" name="text-87-385-Business / Engin">
            <a:extLst>
              <a:ext uri="{FF2B5EF4-FFF2-40B4-BE49-F238E27FC236}">
                <a16:creationId xmlns:a16="http://schemas.microsoft.com/office/drawing/2014/main" id="{0D1AED9F-698B-409F-98D3-83B85098E6F3}"/>
              </a:ext>
            </a:extLst>
          </p:cNvPr>
          <p:cNvSpPr>
            <a:spLocks noGrp="1"/>
          </p:cNvSpPr>
          <p:nvPr/>
        </p:nvSpPr>
        <p:spPr>
          <a:xfrm>
            <a:off x="828675" y="3667125"/>
            <a:ext cx="1371600" cy="419100"/>
          </a:xfrm>
          <a:prstGeom prst="rect">
            <a:avLst/>
          </a:prstGeom>
          <a:noFill/>
          <a:ln w="0">
            <a:noFill/>
          </a:ln>
        </p:spPr>
        <p:txBody>
          <a:bodyPr>
            <a:noAutofit/>
          </a:bodyPr>
          <a:lstStyle/>
          <a:p>
            <a:pPr algn="ctr">
              <a:defRPr sz="1125" b="0">
                <a:solidFill>
                  <a:srgbClr val="CADCEB"/>
                </a:solidFill>
                <a:latin typeface="Arial"/>
                <a:ea typeface="Arial"/>
                <a:cs typeface="Arial"/>
              </a:defRPr>
            </a:pPr>
            <a:r>
              <a:rPr sz="1125" b="0">
                <a:solidFill>
                  <a:srgbClr val="CADCEB"/>
                </a:solidFill>
                <a:latin typeface="Arial"/>
                <a:ea typeface="Arial"/>
                <a:cs typeface="Arial"/>
              </a:rPr>
              <a:t>Business / Engineering</a:t>
            </a:r>
          </a:p>
        </p:txBody>
      </p:sp>
      <p:sp>
        <p:nvSpPr>
          <p:cNvPr id="9" name="text-252-355-→">
            <a:extLst>
              <a:ext uri="{FF2B5EF4-FFF2-40B4-BE49-F238E27FC236}">
                <a16:creationId xmlns:a16="http://schemas.microsoft.com/office/drawing/2014/main" id="{9CA033DE-5A40-4BDC-ACAC-83D6F3939883}"/>
              </a:ext>
            </a:extLst>
          </p:cNvPr>
          <p:cNvSpPr>
            <a:spLocks noGrp="1"/>
          </p:cNvSpPr>
          <p:nvPr/>
        </p:nvSpPr>
        <p:spPr>
          <a:xfrm>
            <a:off x="2400300" y="3381375"/>
            <a:ext cx="438150" cy="476250"/>
          </a:xfrm>
          <a:prstGeom prst="rect">
            <a:avLst/>
          </a:prstGeom>
          <a:noFill/>
          <a:ln w="0">
            <a:noFill/>
          </a:ln>
        </p:spPr>
        <p:txBody>
          <a:bodyPr>
            <a:noAutofit/>
          </a:bodyPr>
          <a:lstStyle/>
          <a:p>
            <a:pPr algn="ctr">
              <a:defRPr sz="2550" b="1">
                <a:solidFill>
                  <a:srgbClr val="8EC7E7"/>
                </a:solidFill>
                <a:latin typeface="Arial"/>
                <a:ea typeface="Arial"/>
                <a:cs typeface="Arial"/>
              </a:defRPr>
            </a:pPr>
            <a:r>
              <a:rPr sz="2550" b="1">
                <a:solidFill>
                  <a:srgbClr val="8EC7E7"/>
                </a:solidFill>
                <a:latin typeface="Arial"/>
                <a:ea typeface="Arial"/>
                <a:cs typeface="Arial"/>
              </a:rPr>
              <a:t>→</a:t>
            </a:r>
          </a:p>
        </p:txBody>
      </p:sp>
      <p:sp>
        <p:nvSpPr>
          <p:cNvPr id="10" name="box-304-310">
            <a:extLst>
              <a:ext uri="{FF2B5EF4-FFF2-40B4-BE49-F238E27FC236}">
                <a16:creationId xmlns:a16="http://schemas.microsoft.com/office/drawing/2014/main" id="{90392869-203F-4CB1-B16E-127B24D4494E}"/>
              </a:ext>
            </a:extLst>
          </p:cNvPr>
          <p:cNvSpPr>
            <a:spLocks noGrp="1"/>
          </p:cNvSpPr>
          <p:nvPr/>
        </p:nvSpPr>
        <p:spPr>
          <a:xfrm>
            <a:off x="2895600" y="2952750"/>
            <a:ext cx="1657350" cy="1371600"/>
          </a:xfrm>
          <a:prstGeom prst="roundRect">
            <a:avLst>
              <a:gd name="adj" fmla="val 5556"/>
            </a:avLst>
          </a:prstGeom>
          <a:solidFill>
            <a:srgbClr val="16314F"/>
          </a:solidFill>
          <a:ln w="19050">
            <a:solidFill>
              <a:srgbClr val="2F8FC2"/>
            </a:solidFill>
            <a:prstDash val="solid"/>
          </a:ln>
        </p:spPr>
        <p:txBody>
          <a:bodyPr/>
          <a:lstStyle/>
          <a:p>
            <a:endParaRPr lang="en-US"/>
          </a:p>
        </p:txBody>
      </p:sp>
      <p:sp>
        <p:nvSpPr>
          <p:cNvPr id="11" name="text-318-335-FEATURE">
            <a:extLst>
              <a:ext uri="{FF2B5EF4-FFF2-40B4-BE49-F238E27FC236}">
                <a16:creationId xmlns:a16="http://schemas.microsoft.com/office/drawing/2014/main" id="{D5924156-21ED-4429-82BB-0B0117A92602}"/>
              </a:ext>
            </a:extLst>
          </p:cNvPr>
          <p:cNvSpPr>
            <a:spLocks noGrp="1"/>
          </p:cNvSpPr>
          <p:nvPr/>
        </p:nvSpPr>
        <p:spPr>
          <a:xfrm>
            <a:off x="3028950" y="3190875"/>
            <a:ext cx="1390650" cy="323850"/>
          </a:xfrm>
          <a:prstGeom prst="rect">
            <a:avLst/>
          </a:prstGeom>
          <a:noFill/>
          <a:ln w="0">
            <a:noFill/>
          </a:ln>
        </p:spPr>
        <p:txBody>
          <a:bodyP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FEATURE</a:t>
            </a:r>
          </a:p>
        </p:txBody>
      </p:sp>
      <p:sp>
        <p:nvSpPr>
          <p:cNvPr id="12" name="text-319-385-Phạm vi cần có">
            <a:extLst>
              <a:ext uri="{FF2B5EF4-FFF2-40B4-BE49-F238E27FC236}">
                <a16:creationId xmlns:a16="http://schemas.microsoft.com/office/drawing/2014/main" id="{AC4B9DFE-2F80-45A8-B358-043D2A3BE468}"/>
              </a:ext>
            </a:extLst>
          </p:cNvPr>
          <p:cNvSpPr>
            <a:spLocks noGrp="1"/>
          </p:cNvSpPr>
          <p:nvPr/>
        </p:nvSpPr>
        <p:spPr>
          <a:xfrm>
            <a:off x="3038475" y="3667125"/>
            <a:ext cx="1371600" cy="419100"/>
          </a:xfrm>
          <a:prstGeom prst="rect">
            <a:avLst/>
          </a:prstGeom>
          <a:noFill/>
          <a:ln w="0">
            <a:noFill/>
          </a:ln>
        </p:spPr>
        <p:txBody>
          <a:bodyPr>
            <a:noAutofit/>
          </a:bodyPr>
          <a:lstStyle/>
          <a:p>
            <a:pPr algn="ctr">
              <a:defRPr sz="1125" b="0">
                <a:solidFill>
                  <a:srgbClr val="CADCEB"/>
                </a:solidFill>
                <a:latin typeface="Arial"/>
                <a:ea typeface="Arial"/>
                <a:cs typeface="Arial"/>
              </a:defRPr>
            </a:pPr>
            <a:r>
              <a:rPr sz="1125" b="0">
                <a:solidFill>
                  <a:srgbClr val="CADCEB"/>
                </a:solidFill>
                <a:latin typeface="Arial"/>
                <a:ea typeface="Arial"/>
                <a:cs typeface="Arial"/>
              </a:rPr>
              <a:t>Phạm vi cần có</a:t>
            </a:r>
          </a:p>
        </p:txBody>
      </p:sp>
      <p:sp>
        <p:nvSpPr>
          <p:cNvPr id="13" name="text-484-355-→">
            <a:extLst>
              <a:ext uri="{FF2B5EF4-FFF2-40B4-BE49-F238E27FC236}">
                <a16:creationId xmlns:a16="http://schemas.microsoft.com/office/drawing/2014/main" id="{38ED9DB0-4250-477E-A8FD-81004C5153C2}"/>
              </a:ext>
            </a:extLst>
          </p:cNvPr>
          <p:cNvSpPr>
            <a:spLocks noGrp="1"/>
          </p:cNvSpPr>
          <p:nvPr/>
        </p:nvSpPr>
        <p:spPr>
          <a:xfrm>
            <a:off x="4610100" y="3381375"/>
            <a:ext cx="438150" cy="476250"/>
          </a:xfrm>
          <a:prstGeom prst="rect">
            <a:avLst/>
          </a:prstGeom>
          <a:noFill/>
          <a:ln w="0">
            <a:noFill/>
          </a:ln>
        </p:spPr>
        <p:txBody>
          <a:bodyPr>
            <a:noAutofit/>
          </a:bodyPr>
          <a:lstStyle/>
          <a:p>
            <a:pPr algn="ctr">
              <a:defRPr sz="2550" b="1">
                <a:solidFill>
                  <a:srgbClr val="8EC7E7"/>
                </a:solidFill>
                <a:latin typeface="Arial"/>
                <a:ea typeface="Arial"/>
                <a:cs typeface="Arial"/>
              </a:defRPr>
            </a:pPr>
            <a:r>
              <a:rPr sz="2550" b="1">
                <a:solidFill>
                  <a:srgbClr val="8EC7E7"/>
                </a:solidFill>
                <a:latin typeface="Arial"/>
                <a:ea typeface="Arial"/>
                <a:cs typeface="Arial"/>
              </a:rPr>
              <a:t>→</a:t>
            </a:r>
          </a:p>
        </p:txBody>
      </p:sp>
      <p:sp>
        <p:nvSpPr>
          <p:cNvPr id="14" name="box-536-310">
            <a:extLst>
              <a:ext uri="{FF2B5EF4-FFF2-40B4-BE49-F238E27FC236}">
                <a16:creationId xmlns:a16="http://schemas.microsoft.com/office/drawing/2014/main" id="{4E3560EF-3EEE-4661-8525-EB59200B9645}"/>
              </a:ext>
            </a:extLst>
          </p:cNvPr>
          <p:cNvSpPr>
            <a:spLocks noGrp="1"/>
          </p:cNvSpPr>
          <p:nvPr/>
        </p:nvSpPr>
        <p:spPr>
          <a:xfrm>
            <a:off x="5105400" y="2952750"/>
            <a:ext cx="1657350" cy="1371600"/>
          </a:xfrm>
          <a:prstGeom prst="roundRect">
            <a:avLst>
              <a:gd name="adj" fmla="val 5556"/>
            </a:avLst>
          </a:prstGeom>
          <a:solidFill>
            <a:srgbClr val="16314F"/>
          </a:solidFill>
          <a:ln w="19050">
            <a:solidFill>
              <a:srgbClr val="5EA5D8"/>
            </a:solidFill>
            <a:prstDash val="solid"/>
          </a:ln>
        </p:spPr>
        <p:txBody>
          <a:bodyPr/>
          <a:lstStyle/>
          <a:p>
            <a:endParaRPr lang="en-US"/>
          </a:p>
        </p:txBody>
      </p:sp>
      <p:sp>
        <p:nvSpPr>
          <p:cNvPr id="15" name="text-550-335-SPEC">
            <a:extLst>
              <a:ext uri="{FF2B5EF4-FFF2-40B4-BE49-F238E27FC236}">
                <a16:creationId xmlns:a16="http://schemas.microsoft.com/office/drawing/2014/main" id="{188DBE88-B7DB-4462-9B02-06DF4A455C41}"/>
              </a:ext>
            </a:extLst>
          </p:cNvPr>
          <p:cNvSpPr>
            <a:spLocks noGrp="1"/>
          </p:cNvSpPr>
          <p:nvPr/>
        </p:nvSpPr>
        <p:spPr>
          <a:xfrm>
            <a:off x="5238750" y="3190875"/>
            <a:ext cx="1390650" cy="323850"/>
          </a:xfrm>
          <a:prstGeom prst="rect">
            <a:avLst/>
          </a:prstGeom>
          <a:noFill/>
          <a:ln w="0">
            <a:noFill/>
          </a:ln>
        </p:spPr>
        <p:txBody>
          <a:bodyP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SPEC</a:t>
            </a:r>
          </a:p>
        </p:txBody>
      </p:sp>
      <p:sp>
        <p:nvSpPr>
          <p:cNvPr id="16" name="text-551-385-Điều gì phải luô">
            <a:extLst>
              <a:ext uri="{FF2B5EF4-FFF2-40B4-BE49-F238E27FC236}">
                <a16:creationId xmlns:a16="http://schemas.microsoft.com/office/drawing/2014/main" id="{5DA731A0-8144-4E8B-A11D-3E8E850650D9}"/>
              </a:ext>
            </a:extLst>
          </p:cNvPr>
          <p:cNvSpPr>
            <a:spLocks noGrp="1"/>
          </p:cNvSpPr>
          <p:nvPr/>
        </p:nvSpPr>
        <p:spPr>
          <a:xfrm>
            <a:off x="5248275" y="3667125"/>
            <a:ext cx="1371600" cy="419100"/>
          </a:xfrm>
          <a:prstGeom prst="rect">
            <a:avLst/>
          </a:prstGeom>
          <a:noFill/>
          <a:ln w="0">
            <a:noFill/>
          </a:ln>
        </p:spPr>
        <p:txBody>
          <a:bodyPr>
            <a:noAutofit/>
          </a:bodyPr>
          <a:lstStyle/>
          <a:p>
            <a:pPr algn="ctr">
              <a:defRPr sz="1125" b="0">
                <a:solidFill>
                  <a:srgbClr val="CADCEB"/>
                </a:solidFill>
                <a:latin typeface="Arial"/>
                <a:ea typeface="Arial"/>
                <a:cs typeface="Arial"/>
              </a:defRPr>
            </a:pPr>
            <a:r>
              <a:rPr sz="1125" b="0">
                <a:solidFill>
                  <a:srgbClr val="CADCEB"/>
                </a:solidFill>
                <a:latin typeface="Arial"/>
                <a:ea typeface="Arial"/>
                <a:cs typeface="Arial"/>
              </a:rPr>
              <a:t>Điều gì phải luôn đúng</a:t>
            </a:r>
          </a:p>
        </p:txBody>
      </p:sp>
      <p:sp>
        <p:nvSpPr>
          <p:cNvPr id="17" name="text-716-355-→">
            <a:extLst>
              <a:ext uri="{FF2B5EF4-FFF2-40B4-BE49-F238E27FC236}">
                <a16:creationId xmlns:a16="http://schemas.microsoft.com/office/drawing/2014/main" id="{DA997A2C-062B-4197-855D-42C45D4071F5}"/>
              </a:ext>
            </a:extLst>
          </p:cNvPr>
          <p:cNvSpPr>
            <a:spLocks noGrp="1"/>
          </p:cNvSpPr>
          <p:nvPr/>
        </p:nvSpPr>
        <p:spPr>
          <a:xfrm>
            <a:off x="6819900" y="3381375"/>
            <a:ext cx="438150" cy="476250"/>
          </a:xfrm>
          <a:prstGeom prst="rect">
            <a:avLst/>
          </a:prstGeom>
          <a:noFill/>
          <a:ln w="0">
            <a:noFill/>
          </a:ln>
        </p:spPr>
        <p:txBody>
          <a:bodyPr>
            <a:noAutofit/>
          </a:bodyPr>
          <a:lstStyle/>
          <a:p>
            <a:pPr algn="ctr">
              <a:defRPr sz="2550" b="1">
                <a:solidFill>
                  <a:srgbClr val="8EC7E7"/>
                </a:solidFill>
                <a:latin typeface="Arial"/>
                <a:ea typeface="Arial"/>
                <a:cs typeface="Arial"/>
              </a:defRPr>
            </a:pPr>
            <a:r>
              <a:rPr sz="2550" b="1">
                <a:solidFill>
                  <a:srgbClr val="8EC7E7"/>
                </a:solidFill>
                <a:latin typeface="Arial"/>
                <a:ea typeface="Arial"/>
                <a:cs typeface="Arial"/>
              </a:rPr>
              <a:t>→</a:t>
            </a:r>
          </a:p>
        </p:txBody>
      </p:sp>
      <p:sp>
        <p:nvSpPr>
          <p:cNvPr id="18" name="box-768-310">
            <a:extLst>
              <a:ext uri="{FF2B5EF4-FFF2-40B4-BE49-F238E27FC236}">
                <a16:creationId xmlns:a16="http://schemas.microsoft.com/office/drawing/2014/main" id="{8C211342-8465-4623-BA4F-844E3926B4E7}"/>
              </a:ext>
            </a:extLst>
          </p:cNvPr>
          <p:cNvSpPr>
            <a:spLocks noGrp="1"/>
          </p:cNvSpPr>
          <p:nvPr/>
        </p:nvSpPr>
        <p:spPr>
          <a:xfrm>
            <a:off x="7315200" y="2952750"/>
            <a:ext cx="1657350" cy="1371600"/>
          </a:xfrm>
          <a:prstGeom prst="roundRect">
            <a:avLst>
              <a:gd name="adj" fmla="val 5556"/>
            </a:avLst>
          </a:prstGeom>
          <a:solidFill>
            <a:srgbClr val="16314F"/>
          </a:solidFill>
          <a:ln w="19050">
            <a:solidFill>
              <a:srgbClr val="A69ADE"/>
            </a:solidFill>
            <a:prstDash val="solid"/>
          </a:ln>
        </p:spPr>
        <p:txBody>
          <a:bodyPr/>
          <a:lstStyle/>
          <a:p>
            <a:endParaRPr lang="en-US"/>
          </a:p>
        </p:txBody>
      </p:sp>
      <p:sp>
        <p:nvSpPr>
          <p:cNvPr id="19" name="text-782-335-TECH">
            <a:extLst>
              <a:ext uri="{FF2B5EF4-FFF2-40B4-BE49-F238E27FC236}">
                <a16:creationId xmlns:a16="http://schemas.microsoft.com/office/drawing/2014/main" id="{959DA7C9-65F1-4AAB-B9EB-5CC680AC2A65}"/>
              </a:ext>
            </a:extLst>
          </p:cNvPr>
          <p:cNvSpPr>
            <a:spLocks noGrp="1"/>
          </p:cNvSpPr>
          <p:nvPr/>
        </p:nvSpPr>
        <p:spPr>
          <a:xfrm>
            <a:off x="7448550" y="3190875"/>
            <a:ext cx="1390650" cy="323850"/>
          </a:xfrm>
          <a:prstGeom prst="rect">
            <a:avLst/>
          </a:prstGeom>
          <a:noFill/>
          <a:ln w="0">
            <a:noFill/>
          </a:ln>
        </p:spPr>
        <p:txBody>
          <a:bodyP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TECH</a:t>
            </a:r>
          </a:p>
        </p:txBody>
      </p:sp>
      <p:sp>
        <p:nvSpPr>
          <p:cNvPr id="20" name="text-783-385-Cách Engineering">
            <a:extLst>
              <a:ext uri="{FF2B5EF4-FFF2-40B4-BE49-F238E27FC236}">
                <a16:creationId xmlns:a16="http://schemas.microsoft.com/office/drawing/2014/main" id="{C8C8A17F-1E7F-4CB4-A05F-F2B2AD6BCF3C}"/>
              </a:ext>
            </a:extLst>
          </p:cNvPr>
          <p:cNvSpPr>
            <a:spLocks noGrp="1"/>
          </p:cNvSpPr>
          <p:nvPr/>
        </p:nvSpPr>
        <p:spPr>
          <a:xfrm>
            <a:off x="7458075" y="3667125"/>
            <a:ext cx="1371600" cy="419100"/>
          </a:xfrm>
          <a:prstGeom prst="rect">
            <a:avLst/>
          </a:prstGeom>
          <a:noFill/>
          <a:ln w="0">
            <a:noFill/>
          </a:ln>
        </p:spPr>
        <p:txBody>
          <a:bodyPr>
            <a:noAutofit/>
          </a:bodyPr>
          <a:lstStyle/>
          <a:p>
            <a:pPr algn="ctr">
              <a:defRPr sz="1125" b="0">
                <a:solidFill>
                  <a:srgbClr val="CADCEB"/>
                </a:solidFill>
                <a:latin typeface="Arial"/>
                <a:ea typeface="Arial"/>
                <a:cs typeface="Arial"/>
              </a:defRPr>
            </a:pPr>
            <a:r>
              <a:rPr sz="1125" b="0">
                <a:solidFill>
                  <a:srgbClr val="CADCEB"/>
                </a:solidFill>
                <a:latin typeface="Arial"/>
                <a:ea typeface="Arial"/>
                <a:cs typeface="Arial"/>
              </a:rPr>
              <a:t>Cách Engineering xây dựng</a:t>
            </a:r>
          </a:p>
        </p:txBody>
      </p:sp>
      <p:sp>
        <p:nvSpPr>
          <p:cNvPr id="21" name="text-948-355-→">
            <a:extLst>
              <a:ext uri="{FF2B5EF4-FFF2-40B4-BE49-F238E27FC236}">
                <a16:creationId xmlns:a16="http://schemas.microsoft.com/office/drawing/2014/main" id="{4EF47932-2C99-4F1F-B779-C9922DEED374}"/>
              </a:ext>
            </a:extLst>
          </p:cNvPr>
          <p:cNvSpPr>
            <a:spLocks noGrp="1"/>
          </p:cNvSpPr>
          <p:nvPr/>
        </p:nvSpPr>
        <p:spPr>
          <a:xfrm>
            <a:off x="9029700" y="3381375"/>
            <a:ext cx="438150" cy="476250"/>
          </a:xfrm>
          <a:prstGeom prst="rect">
            <a:avLst/>
          </a:prstGeom>
          <a:noFill/>
          <a:ln w="0">
            <a:noFill/>
          </a:ln>
        </p:spPr>
        <p:txBody>
          <a:bodyPr>
            <a:noAutofit/>
          </a:bodyPr>
          <a:lstStyle/>
          <a:p>
            <a:pPr algn="ctr">
              <a:defRPr sz="2550" b="1">
                <a:solidFill>
                  <a:srgbClr val="8EC7E7"/>
                </a:solidFill>
                <a:latin typeface="Arial"/>
                <a:ea typeface="Arial"/>
                <a:cs typeface="Arial"/>
              </a:defRPr>
            </a:pPr>
            <a:r>
              <a:rPr sz="2550" b="1">
                <a:solidFill>
                  <a:srgbClr val="8EC7E7"/>
                </a:solidFill>
                <a:latin typeface="Arial"/>
                <a:ea typeface="Arial"/>
                <a:cs typeface="Arial"/>
              </a:rPr>
              <a:t>→</a:t>
            </a:r>
          </a:p>
        </p:txBody>
      </p:sp>
      <p:sp>
        <p:nvSpPr>
          <p:cNvPr id="22" name="box-1000-310">
            <a:extLst>
              <a:ext uri="{FF2B5EF4-FFF2-40B4-BE49-F238E27FC236}">
                <a16:creationId xmlns:a16="http://schemas.microsoft.com/office/drawing/2014/main" id="{A870D8FC-186F-4B9B-84C3-C4C13AA540B4}"/>
              </a:ext>
            </a:extLst>
          </p:cNvPr>
          <p:cNvSpPr>
            <a:spLocks noGrp="1"/>
          </p:cNvSpPr>
          <p:nvPr/>
        </p:nvSpPr>
        <p:spPr>
          <a:xfrm>
            <a:off x="9525000" y="2952750"/>
            <a:ext cx="1657350" cy="1371600"/>
          </a:xfrm>
          <a:prstGeom prst="roundRect">
            <a:avLst>
              <a:gd name="adj" fmla="val 5556"/>
            </a:avLst>
          </a:prstGeom>
          <a:solidFill>
            <a:srgbClr val="16314F"/>
          </a:solidFill>
          <a:ln w="19050">
            <a:solidFill>
              <a:srgbClr val="2D8A62"/>
            </a:solidFill>
            <a:prstDash val="solid"/>
          </a:ln>
        </p:spPr>
        <p:txBody>
          <a:bodyPr/>
          <a:lstStyle/>
          <a:p>
            <a:endParaRPr lang="en-US"/>
          </a:p>
        </p:txBody>
      </p:sp>
      <p:sp>
        <p:nvSpPr>
          <p:cNvPr id="23" name="text-1014-335-Thực hiện">
            <a:extLst>
              <a:ext uri="{FF2B5EF4-FFF2-40B4-BE49-F238E27FC236}">
                <a16:creationId xmlns:a16="http://schemas.microsoft.com/office/drawing/2014/main" id="{7FDCBEA5-0960-4BAC-A528-DAED77D8887E}"/>
              </a:ext>
            </a:extLst>
          </p:cNvPr>
          <p:cNvSpPr>
            <a:spLocks noGrp="1"/>
          </p:cNvSpPr>
          <p:nvPr/>
        </p:nvSpPr>
        <p:spPr>
          <a:xfrm>
            <a:off x="9658350" y="3190875"/>
            <a:ext cx="1390650" cy="323850"/>
          </a:xfrm>
          <a:prstGeom prst="rect">
            <a:avLst/>
          </a:prstGeom>
          <a:noFill/>
          <a:ln w="0">
            <a:noFill/>
          </a:ln>
        </p:spPr>
        <p:txBody>
          <a:bodyP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Thực hiện</a:t>
            </a:r>
          </a:p>
        </p:txBody>
      </p:sp>
      <p:sp>
        <p:nvSpPr>
          <p:cNvPr id="24" name="text-1015-385-Qualification + ">
            <a:extLst>
              <a:ext uri="{FF2B5EF4-FFF2-40B4-BE49-F238E27FC236}">
                <a16:creationId xmlns:a16="http://schemas.microsoft.com/office/drawing/2014/main" id="{D5F591E6-4093-4AD8-855C-65A87B18B163}"/>
              </a:ext>
            </a:extLst>
          </p:cNvPr>
          <p:cNvSpPr>
            <a:spLocks noGrp="1"/>
          </p:cNvSpPr>
          <p:nvPr/>
        </p:nvSpPr>
        <p:spPr>
          <a:xfrm>
            <a:off x="9667875" y="3667125"/>
            <a:ext cx="1371600" cy="419100"/>
          </a:xfrm>
          <a:prstGeom prst="rect">
            <a:avLst/>
          </a:prstGeom>
          <a:noFill/>
          <a:ln w="0">
            <a:noFill/>
          </a:ln>
        </p:spPr>
        <p:txBody>
          <a:bodyPr>
            <a:noAutofit/>
          </a:bodyPr>
          <a:lstStyle/>
          <a:p>
            <a:pPr algn="ctr">
              <a:defRPr sz="1125" b="0">
                <a:solidFill>
                  <a:srgbClr val="CADCEB"/>
                </a:solidFill>
                <a:latin typeface="Arial"/>
                <a:ea typeface="Arial"/>
                <a:cs typeface="Arial"/>
              </a:defRPr>
            </a:pPr>
            <a:r>
              <a:rPr sz="1125" b="0">
                <a:solidFill>
                  <a:srgbClr val="CADCEB"/>
                </a:solidFill>
                <a:latin typeface="Arial"/>
                <a:ea typeface="Arial"/>
                <a:cs typeface="Arial"/>
              </a:rPr>
              <a:t>Qualification + Implementation</a:t>
            </a:r>
          </a:p>
        </p:txBody>
      </p:sp>
      <p:sp>
        <p:nvSpPr>
          <p:cNvPr id="25" name="text-72-525-Tách ba tầng để ">
            <a:extLst>
              <a:ext uri="{FF2B5EF4-FFF2-40B4-BE49-F238E27FC236}">
                <a16:creationId xmlns:a16="http://schemas.microsoft.com/office/drawing/2014/main" id="{C8DD8EEC-EB34-4C7D-849E-5A2618A4B9E8}"/>
              </a:ext>
            </a:extLst>
          </p:cNvPr>
          <p:cNvSpPr>
            <a:spLocks noGrp="1"/>
          </p:cNvSpPr>
          <p:nvPr/>
        </p:nvSpPr>
        <p:spPr>
          <a:xfrm>
            <a:off x="685800" y="5000625"/>
            <a:ext cx="10763250" cy="381000"/>
          </a:xfrm>
          <a:prstGeom prst="rect">
            <a:avLst/>
          </a:prstGeom>
          <a:noFill/>
          <a:ln w="0">
            <a:noFill/>
          </a:ln>
        </p:spPr>
        <p:txBody>
          <a:bodyPr>
            <a:noAutofit/>
          </a:bodyPr>
          <a:lstStyle/>
          <a:p>
            <a:pPr algn="ctr">
              <a:defRPr sz="1650" b="0">
                <a:solidFill>
                  <a:srgbClr val="FFFFFF"/>
                </a:solidFill>
                <a:latin typeface="Arial"/>
                <a:ea typeface="Arial"/>
                <a:cs typeface="Arial"/>
              </a:defRPr>
            </a:pPr>
            <a:r>
              <a:rPr sz="1650" b="0">
                <a:solidFill>
                  <a:srgbClr val="FFFFFF"/>
                </a:solidFill>
                <a:latin typeface="Arial"/>
                <a:ea typeface="Arial"/>
                <a:cs typeface="Arial"/>
              </a:rPr>
              <a:t>Tách ba tầng để phạm vi, quy tắc đúng và giải pháp kỹ thuật không lẫn vai trò.</a:t>
            </a:r>
          </a:p>
        </p:txBody>
      </p:sp>
      <p:sp>
        <p:nvSpPr>
          <p:cNvPr id="26" name="text-72-659-Management revie">
            <a:extLst>
              <a:ext uri="{FF2B5EF4-FFF2-40B4-BE49-F238E27FC236}">
                <a16:creationId xmlns:a16="http://schemas.microsoft.com/office/drawing/2014/main" id="{4FF06843-60BB-4D6C-BFBA-78BEF4C06545}"/>
              </a:ext>
            </a:extLst>
          </p:cNvPr>
          <p:cNvSpPr>
            <a:spLocks noGrp="1"/>
          </p:cNvSpPr>
          <p:nvPr/>
        </p:nvSpPr>
        <p:spPr>
          <a:xfrm>
            <a:off x="685800" y="6276975"/>
            <a:ext cx="4000500" cy="209550"/>
          </a:xfrm>
          <a:prstGeom prst="rect">
            <a:avLst/>
          </a:prstGeom>
          <a:noFill/>
          <a:ln w="0">
            <a:noFill/>
          </a:ln>
        </p:spPr>
        <p:txBody>
          <a:bodyPr>
            <a:noAutofit/>
          </a:bodyPr>
          <a:lstStyle/>
          <a:p>
            <a:pPr algn="l">
              <a:defRPr sz="975" b="0">
                <a:solidFill>
                  <a:srgbClr val="9FB8CB"/>
                </a:solidFill>
                <a:latin typeface="Arial"/>
                <a:ea typeface="Arial"/>
                <a:cs typeface="Arial"/>
              </a:defRPr>
            </a:pPr>
            <a:r>
              <a:rPr sz="975" b="0">
                <a:solidFill>
                  <a:srgbClr val="9FB8CB"/>
                </a:solidFill>
                <a:latin typeface="Arial"/>
                <a:ea typeface="Arial"/>
                <a:cs typeface="Arial"/>
              </a:rPr>
              <a:t>Management review · 16/09/2026</a:t>
            </a:r>
          </a:p>
        </p:txBody>
      </p:sp>
      <p:sp>
        <p:nvSpPr>
          <p:cNvPr id="27" name="text-745-659-Source: DOC-01@0">
            <a:extLst>
              <a:ext uri="{FF2B5EF4-FFF2-40B4-BE49-F238E27FC236}">
                <a16:creationId xmlns:a16="http://schemas.microsoft.com/office/drawing/2014/main" id="{F69C014A-D69C-40E2-9939-F3F2FC29C2F2}"/>
              </a:ext>
            </a:extLst>
          </p:cNvPr>
          <p:cNvSpPr>
            <a:spLocks noGrp="1"/>
          </p:cNvSpPr>
          <p:nvPr/>
        </p:nvSpPr>
        <p:spPr>
          <a:xfrm>
            <a:off x="7096125" y="6276975"/>
            <a:ext cx="4410075" cy="209550"/>
          </a:xfrm>
          <a:prstGeom prst="rect">
            <a:avLst/>
          </a:prstGeom>
          <a:noFill/>
          <a:ln w="0">
            <a:noFill/>
          </a:ln>
        </p:spPr>
        <p:txBody>
          <a:bodyPr>
            <a:noAutofit/>
          </a:bodyPr>
          <a:lstStyle/>
          <a:p>
            <a:pPr algn="r">
              <a:defRPr sz="825" b="0">
                <a:solidFill>
                  <a:srgbClr val="9FB8CB"/>
                </a:solidFill>
                <a:latin typeface="Arial"/>
                <a:ea typeface="Arial"/>
                <a:cs typeface="Arial"/>
              </a:defRPr>
            </a:pPr>
            <a:r>
              <a:rPr sz="825" b="0">
                <a:solidFill>
                  <a:srgbClr val="9FB8CB"/>
                </a:solidFill>
                <a:latin typeface="Arial"/>
                <a:ea typeface="Arial"/>
                <a:cs typeface="Arial"/>
              </a:rPr>
              <a:t>Source: DOC-01@0.6 · DOC-04@0.13 · DOC-05@0.20</a:t>
            </a:r>
          </a:p>
        </p:txBody>
      </p:sp>
    </p:spTree>
    <p:extLst>
      <p:ext uri="{BB962C8B-B14F-4D97-AF65-F5344CB8AC3E}">
        <p14:creationId xmlns:p14="http://schemas.microsoft.com/office/powerpoint/2010/main" val="64268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box-0-0">
            <a:extLst>
              <a:ext uri="{FF2B5EF4-FFF2-40B4-BE49-F238E27FC236}">
                <a16:creationId xmlns:a16="http://schemas.microsoft.com/office/drawing/2014/main" id="{899701E0-E671-4F65-B781-863300793B9E}"/>
              </a:ext>
            </a:extLst>
          </p:cNvPr>
          <p:cNvSpPr>
            <a:spLocks noGrp="1"/>
          </p:cNvSpPr>
          <p:nvPr/>
        </p:nvSpPr>
        <p:spPr>
          <a:xfrm>
            <a:off x="0" y="0"/>
            <a:ext cx="133350" cy="6858000"/>
          </a:xfrm>
          <a:prstGeom prst="rect">
            <a:avLst/>
          </a:prstGeom>
          <a:solidFill>
            <a:srgbClr val="2F8FC2"/>
          </a:solidFill>
          <a:ln w="0">
            <a:noFill/>
            <a:prstDash val="solid"/>
          </a:ln>
        </p:spPr>
        <p:txBody>
          <a:bodyPr/>
          <a:lstStyle/>
          <a:p>
            <a:endParaRPr lang="en-US"/>
          </a:p>
        </p:txBody>
      </p:sp>
      <p:sp>
        <p:nvSpPr>
          <p:cNvPr id="2" name="text-54-28-FEATURE">
            <a:extLst>
              <a:ext uri="{FF2B5EF4-FFF2-40B4-BE49-F238E27FC236}">
                <a16:creationId xmlns:a16="http://schemas.microsoft.com/office/drawing/2014/main" id="{29399DD3-BB6A-4D03-982E-59287C9C801E}"/>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2F8FC2"/>
                </a:solidFill>
                <a:latin typeface="Arial"/>
                <a:ea typeface="Arial"/>
                <a:cs typeface="Arial"/>
              </a:defRPr>
            </a:pPr>
            <a:r>
              <a:rPr sz="1050" b="1">
                <a:solidFill>
                  <a:srgbClr val="2F8FC2"/>
                </a:solidFill>
                <a:latin typeface="Arial"/>
                <a:ea typeface="Arial"/>
                <a:cs typeface="Arial"/>
              </a:rPr>
              <a:t>FEATURE</a:t>
            </a:r>
          </a:p>
        </p:txBody>
      </p:sp>
      <p:sp>
        <p:nvSpPr>
          <p:cNvPr id="3" name="text-54-56-Feature — Core v">
            <a:extLst>
              <a:ext uri="{FF2B5EF4-FFF2-40B4-BE49-F238E27FC236}">
                <a16:creationId xmlns:a16="http://schemas.microsoft.com/office/drawing/2014/main" id="{6CF218D8-F72C-476C-8F92-141DB6B3892A}"/>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Feature — Core v0 cung cấp những năng lực gì?</a:t>
            </a:r>
          </a:p>
        </p:txBody>
      </p:sp>
      <p:sp>
        <p:nvSpPr>
          <p:cNvPr id="4" name="line-54-116">
            <a:extLst>
              <a:ext uri="{FF2B5EF4-FFF2-40B4-BE49-F238E27FC236}">
                <a16:creationId xmlns:a16="http://schemas.microsoft.com/office/drawing/2014/main" id="{CFFA7193-F1CC-4C3A-9F12-A2B0D10C8A39}"/>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1@0">
            <a:extLst>
              <a:ext uri="{FF2B5EF4-FFF2-40B4-BE49-F238E27FC236}">
                <a16:creationId xmlns:a16="http://schemas.microsoft.com/office/drawing/2014/main" id="{C7C2A300-29DB-43CA-A2F7-2994AC5519A4}"/>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DOC-01@0.6 · DOC-03@0.7 · FEATURE-001@0.12</a:t>
            </a:r>
          </a:p>
        </p:txBody>
      </p:sp>
      <p:sp>
        <p:nvSpPr>
          <p:cNvPr id="6" name="text-1170-680-02">
            <a:extLst>
              <a:ext uri="{FF2B5EF4-FFF2-40B4-BE49-F238E27FC236}">
                <a16:creationId xmlns:a16="http://schemas.microsoft.com/office/drawing/2014/main" id="{2E363D1A-3777-406C-B8C2-7E493CBCC540}"/>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02</a:t>
            </a:r>
          </a:p>
        </p:txBody>
      </p:sp>
      <p:sp>
        <p:nvSpPr>
          <p:cNvPr id="7" name="box-493-258">
            <a:extLst>
              <a:ext uri="{FF2B5EF4-FFF2-40B4-BE49-F238E27FC236}">
                <a16:creationId xmlns:a16="http://schemas.microsoft.com/office/drawing/2014/main" id="{E8E85B2E-8AFD-4B34-9E3F-857797DAE183}"/>
              </a:ext>
            </a:extLst>
          </p:cNvPr>
          <p:cNvSpPr>
            <a:spLocks noGrp="1"/>
          </p:cNvSpPr>
          <p:nvPr/>
        </p:nvSpPr>
        <p:spPr>
          <a:xfrm>
            <a:off x="4695825" y="2457450"/>
            <a:ext cx="2800350" cy="1562100"/>
          </a:xfrm>
          <a:prstGeom prst="roundRect">
            <a:avLst>
              <a:gd name="adj" fmla="val 4878"/>
            </a:avLst>
          </a:prstGeom>
          <a:solidFill>
            <a:srgbClr val="102744"/>
          </a:solidFill>
          <a:ln w="11430">
            <a:solidFill>
              <a:srgbClr val="102744"/>
            </a:solidFill>
            <a:prstDash val="solid"/>
          </a:ln>
        </p:spPr>
        <p:txBody>
          <a:bodyPr>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IDEA ENGINEERING</a:t>
            </a:r>
          </a:p>
          <a:p>
            <a:pPr algn="ctr">
              <a:defRPr sz="2025" b="1">
                <a:solidFill>
                  <a:srgbClr val="FFFFFF"/>
                </a:solidFill>
                <a:latin typeface="Arial"/>
                <a:ea typeface="Arial"/>
                <a:cs typeface="Arial"/>
              </a:defRPr>
            </a:pPr>
            <a:r>
              <a:rPr sz="2025" b="1">
                <a:solidFill>
                  <a:srgbClr val="FFFFFF"/>
                </a:solidFill>
                <a:latin typeface="Arial"/>
                <a:ea typeface="Arial"/>
                <a:cs typeface="Arial"/>
              </a:rPr>
              <a:t>CORE v0</a:t>
            </a:r>
          </a:p>
        </p:txBody>
      </p:sp>
      <p:sp>
        <p:nvSpPr>
          <p:cNvPr id="8" name="box-74-160">
            <a:extLst>
              <a:ext uri="{FF2B5EF4-FFF2-40B4-BE49-F238E27FC236}">
                <a16:creationId xmlns:a16="http://schemas.microsoft.com/office/drawing/2014/main" id="{7655C39D-232F-4677-AF72-BA690E4A3F69}"/>
              </a:ext>
            </a:extLst>
          </p:cNvPr>
          <p:cNvSpPr>
            <a:spLocks noGrp="1"/>
          </p:cNvSpPr>
          <p:nvPr/>
        </p:nvSpPr>
        <p:spPr>
          <a:xfrm>
            <a:off x="704850" y="1524000"/>
            <a:ext cx="2914650" cy="1219200"/>
          </a:xfrm>
          <a:prstGeom prst="roundRect">
            <a:avLst>
              <a:gd name="adj" fmla="val 6250"/>
            </a:avLst>
          </a:prstGeom>
          <a:solidFill>
            <a:srgbClr val="EAF3F9"/>
          </a:solidFill>
          <a:ln w="14288">
            <a:solidFill>
              <a:srgbClr val="2169A8"/>
            </a:solidFill>
            <a:prstDash val="solid"/>
          </a:ln>
        </p:spPr>
        <p:txBody>
          <a:bodyPr/>
          <a:lstStyle/>
          <a:p>
            <a:endParaRPr lang="en-US"/>
          </a:p>
        </p:txBody>
      </p:sp>
      <p:sp>
        <p:nvSpPr>
          <p:cNvPr id="9" name="text-90-176-Controlled Produ">
            <a:extLst>
              <a:ext uri="{FF2B5EF4-FFF2-40B4-BE49-F238E27FC236}">
                <a16:creationId xmlns:a16="http://schemas.microsoft.com/office/drawing/2014/main" id="{06C1BF21-37A8-4469-830A-191436C111BC}"/>
              </a:ext>
            </a:extLst>
          </p:cNvPr>
          <p:cNvSpPr>
            <a:spLocks noGrp="1"/>
          </p:cNvSpPr>
          <p:nvPr/>
        </p:nvSpPr>
        <p:spPr>
          <a:xfrm>
            <a:off x="857250" y="1676400"/>
            <a:ext cx="2609850" cy="304800"/>
          </a:xfrm>
          <a:prstGeom prst="rect">
            <a:avLst/>
          </a:prstGeom>
          <a:noFill/>
          <a:ln w="0">
            <a:noFill/>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Controlled Product Data</a:t>
            </a:r>
          </a:p>
        </p:txBody>
      </p:sp>
      <p:sp>
        <p:nvSpPr>
          <p:cNvPr id="10" name="text-92-218-Identity · Revis">
            <a:extLst>
              <a:ext uri="{FF2B5EF4-FFF2-40B4-BE49-F238E27FC236}">
                <a16:creationId xmlns:a16="http://schemas.microsoft.com/office/drawing/2014/main" id="{AF5176BD-9B2E-4BC3-AFDC-3EF25F261F7A}"/>
              </a:ext>
            </a:extLst>
          </p:cNvPr>
          <p:cNvSpPr>
            <a:spLocks noGrp="1"/>
          </p:cNvSpPr>
          <p:nvPr/>
        </p:nvSpPr>
        <p:spPr>
          <a:xfrm>
            <a:off x="876300" y="2076450"/>
            <a:ext cx="2571750" cy="514350"/>
          </a:xfrm>
          <a:prstGeom prst="rect">
            <a:avLst/>
          </a:prstGeom>
          <a:noFill/>
          <a:ln w="0">
            <a:noFill/>
          </a:ln>
        </p:spPr>
        <p:txBody>
          <a:bodyPr>
            <a:noAutofit/>
          </a:bodyPr>
          <a:lstStyle/>
          <a:p>
            <a:pPr algn="ctr">
              <a:defRPr sz="1200" b="0">
                <a:solidFill>
                  <a:srgbClr val="4B6075"/>
                </a:solidFill>
                <a:latin typeface="Arial"/>
                <a:ea typeface="Arial"/>
                <a:cs typeface="Arial"/>
              </a:defRPr>
            </a:pPr>
            <a:r>
              <a:rPr sz="1200" b="0">
                <a:solidFill>
                  <a:srgbClr val="4B6075"/>
                </a:solidFill>
                <a:latin typeface="Arial"/>
                <a:ea typeface="Arial"/>
                <a:cs typeface="Arial"/>
              </a:rPr>
              <a:t>Identity · Revision · Version</a:t>
            </a:r>
          </a:p>
          <a:p>
            <a:pPr algn="ctr">
              <a:defRPr sz="1200" b="0">
                <a:solidFill>
                  <a:srgbClr val="4B6075"/>
                </a:solidFill>
                <a:latin typeface="Arial"/>
                <a:ea typeface="Arial"/>
                <a:cs typeface="Arial"/>
              </a:defRPr>
            </a:pPr>
            <a:r>
              <a:rPr sz="1200" b="0">
                <a:solidFill>
                  <a:srgbClr val="4B6075"/>
                </a:solidFill>
                <a:latin typeface="Arial"/>
                <a:ea typeface="Arial"/>
                <a:cs typeface="Arial"/>
              </a:rPr>
              <a:t>Generation · Metadata · History</a:t>
            </a:r>
          </a:p>
        </p:txBody>
      </p:sp>
      <p:sp>
        <p:nvSpPr>
          <p:cNvPr id="11" name="box-74-444">
            <a:extLst>
              <a:ext uri="{FF2B5EF4-FFF2-40B4-BE49-F238E27FC236}">
                <a16:creationId xmlns:a16="http://schemas.microsoft.com/office/drawing/2014/main" id="{4851E92B-2664-40CC-8CA2-5925AFE6DBFF}"/>
              </a:ext>
            </a:extLst>
          </p:cNvPr>
          <p:cNvSpPr>
            <a:spLocks noGrp="1"/>
          </p:cNvSpPr>
          <p:nvPr/>
        </p:nvSpPr>
        <p:spPr>
          <a:xfrm>
            <a:off x="704850" y="4229100"/>
            <a:ext cx="2914650" cy="1219200"/>
          </a:xfrm>
          <a:prstGeom prst="roundRect">
            <a:avLst>
              <a:gd name="adj" fmla="val 6250"/>
            </a:avLst>
          </a:prstGeom>
          <a:solidFill>
            <a:srgbClr val="E8F7F9"/>
          </a:solidFill>
          <a:ln w="14288">
            <a:solidFill>
              <a:srgbClr val="2F8FC2"/>
            </a:solidFill>
            <a:prstDash val="solid"/>
          </a:ln>
        </p:spPr>
        <p:txBody>
          <a:bodyPr/>
          <a:lstStyle/>
          <a:p>
            <a:endParaRPr lang="en-US"/>
          </a:p>
        </p:txBody>
      </p:sp>
      <p:sp>
        <p:nvSpPr>
          <p:cNvPr id="12" name="text-90-460-Engineering Work">
            <a:extLst>
              <a:ext uri="{FF2B5EF4-FFF2-40B4-BE49-F238E27FC236}">
                <a16:creationId xmlns:a16="http://schemas.microsoft.com/office/drawing/2014/main" id="{D9B5DE8A-408D-4267-9B62-5D3143C3F8BB}"/>
              </a:ext>
            </a:extLst>
          </p:cNvPr>
          <p:cNvSpPr>
            <a:spLocks noGrp="1"/>
          </p:cNvSpPr>
          <p:nvPr/>
        </p:nvSpPr>
        <p:spPr>
          <a:xfrm>
            <a:off x="857250" y="4381500"/>
            <a:ext cx="2609850" cy="304800"/>
          </a:xfrm>
          <a:prstGeom prst="rect">
            <a:avLst/>
          </a:prstGeom>
          <a:noFill/>
          <a:ln w="0">
            <a:noFill/>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Engineering Workspace</a:t>
            </a:r>
          </a:p>
        </p:txBody>
      </p:sp>
      <p:sp>
        <p:nvSpPr>
          <p:cNvPr id="13" name="text-92-502-Checkout · Refer">
            <a:extLst>
              <a:ext uri="{FF2B5EF4-FFF2-40B4-BE49-F238E27FC236}">
                <a16:creationId xmlns:a16="http://schemas.microsoft.com/office/drawing/2014/main" id="{93551C96-ABD9-46C8-AF75-FC28F31091F0}"/>
              </a:ext>
            </a:extLst>
          </p:cNvPr>
          <p:cNvSpPr>
            <a:spLocks noGrp="1"/>
          </p:cNvSpPr>
          <p:nvPr/>
        </p:nvSpPr>
        <p:spPr>
          <a:xfrm>
            <a:off x="876300" y="4781550"/>
            <a:ext cx="2571750" cy="514350"/>
          </a:xfrm>
          <a:prstGeom prst="rect">
            <a:avLst/>
          </a:prstGeom>
          <a:noFill/>
          <a:ln w="0">
            <a:noFill/>
          </a:ln>
        </p:spPr>
        <p:txBody>
          <a:bodyPr>
            <a:noAutofit/>
          </a:bodyPr>
          <a:lstStyle/>
          <a:p>
            <a:pPr algn="ctr">
              <a:defRPr sz="1200" b="0">
                <a:solidFill>
                  <a:srgbClr val="4B6075"/>
                </a:solidFill>
                <a:latin typeface="Arial"/>
                <a:ea typeface="Arial"/>
                <a:cs typeface="Arial"/>
              </a:defRPr>
            </a:pPr>
            <a:r>
              <a:rPr sz="1200" b="0">
                <a:solidFill>
                  <a:srgbClr val="4B6075"/>
                </a:solidFill>
                <a:latin typeface="Arial"/>
                <a:ea typeface="Arial"/>
                <a:cs typeface="Arial"/>
              </a:rPr>
              <a:t>Checkout · Reference · Workspace</a:t>
            </a:r>
          </a:p>
          <a:p>
            <a:pPr algn="ctr">
              <a:defRPr sz="1200" b="0">
                <a:solidFill>
                  <a:srgbClr val="4B6075"/>
                </a:solidFill>
                <a:latin typeface="Arial"/>
                <a:ea typeface="Arial"/>
                <a:cs typeface="Arial"/>
              </a:defRPr>
            </a:pPr>
            <a:r>
              <a:rPr sz="1200" b="0">
                <a:solidFill>
                  <a:srgbClr val="4B6075"/>
                </a:solidFill>
                <a:latin typeface="Arial"/>
                <a:ea typeface="Arial"/>
                <a:cs typeface="Arial"/>
              </a:rPr>
              <a:t>Check-in · Conflict recovery</a:t>
            </a:r>
          </a:p>
        </p:txBody>
      </p:sp>
      <p:sp>
        <p:nvSpPr>
          <p:cNvPr id="14" name="box-900-160">
            <a:extLst>
              <a:ext uri="{FF2B5EF4-FFF2-40B4-BE49-F238E27FC236}">
                <a16:creationId xmlns:a16="http://schemas.microsoft.com/office/drawing/2014/main" id="{D557ACF5-7340-4D05-9188-0958F90F1119}"/>
              </a:ext>
            </a:extLst>
          </p:cNvPr>
          <p:cNvSpPr>
            <a:spLocks noGrp="1"/>
          </p:cNvSpPr>
          <p:nvPr/>
        </p:nvSpPr>
        <p:spPr>
          <a:xfrm>
            <a:off x="8572500" y="1524000"/>
            <a:ext cx="2914650" cy="1219200"/>
          </a:xfrm>
          <a:prstGeom prst="roundRect">
            <a:avLst>
              <a:gd name="adj" fmla="val 6250"/>
            </a:avLst>
          </a:prstGeom>
          <a:solidFill>
            <a:srgbClr val="FFF4DD"/>
          </a:solidFill>
          <a:ln w="14288">
            <a:solidFill>
              <a:srgbClr val="C58A1E"/>
            </a:solidFill>
            <a:prstDash val="solid"/>
          </a:ln>
        </p:spPr>
        <p:txBody>
          <a:bodyPr/>
          <a:lstStyle/>
          <a:p>
            <a:endParaRPr lang="en-US"/>
          </a:p>
        </p:txBody>
      </p:sp>
      <p:sp>
        <p:nvSpPr>
          <p:cNvPr id="15" name="text-916-176-Product Structur">
            <a:extLst>
              <a:ext uri="{FF2B5EF4-FFF2-40B4-BE49-F238E27FC236}">
                <a16:creationId xmlns:a16="http://schemas.microsoft.com/office/drawing/2014/main" id="{238F42D5-2A3C-4652-9255-62481B2155CD}"/>
              </a:ext>
            </a:extLst>
          </p:cNvPr>
          <p:cNvSpPr>
            <a:spLocks noGrp="1"/>
          </p:cNvSpPr>
          <p:nvPr/>
        </p:nvSpPr>
        <p:spPr>
          <a:xfrm>
            <a:off x="8724900" y="1676400"/>
            <a:ext cx="2609850" cy="304800"/>
          </a:xfrm>
          <a:prstGeom prst="rect">
            <a:avLst/>
          </a:prstGeom>
          <a:noFill/>
          <a:ln w="0">
            <a:noFill/>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Product Structure</a:t>
            </a:r>
          </a:p>
        </p:txBody>
      </p:sp>
      <p:sp>
        <p:nvSpPr>
          <p:cNvPr id="16" name="text-918-218-Relations · Occu">
            <a:extLst>
              <a:ext uri="{FF2B5EF4-FFF2-40B4-BE49-F238E27FC236}">
                <a16:creationId xmlns:a16="http://schemas.microsoft.com/office/drawing/2014/main" id="{5F43BA7E-F00C-4742-8633-3DF07E4A53CD}"/>
              </a:ext>
            </a:extLst>
          </p:cNvPr>
          <p:cNvSpPr>
            <a:spLocks noGrp="1"/>
          </p:cNvSpPr>
          <p:nvPr/>
        </p:nvSpPr>
        <p:spPr>
          <a:xfrm>
            <a:off x="8743950" y="2076450"/>
            <a:ext cx="2571750" cy="514350"/>
          </a:xfrm>
          <a:prstGeom prst="rect">
            <a:avLst/>
          </a:prstGeom>
          <a:noFill/>
          <a:ln w="0">
            <a:noFill/>
          </a:ln>
        </p:spPr>
        <p:txBody>
          <a:bodyPr>
            <a:noAutofit/>
          </a:bodyPr>
          <a:lstStyle/>
          <a:p>
            <a:pPr algn="ctr">
              <a:defRPr sz="1200" b="0">
                <a:solidFill>
                  <a:srgbClr val="4B6075"/>
                </a:solidFill>
                <a:latin typeface="Arial"/>
                <a:ea typeface="Arial"/>
                <a:cs typeface="Arial"/>
              </a:defRPr>
            </a:pPr>
            <a:r>
              <a:rPr sz="1200" b="0">
                <a:solidFill>
                  <a:srgbClr val="4B6075"/>
                </a:solidFill>
                <a:latin typeface="Arial"/>
                <a:ea typeface="Arial"/>
                <a:cs typeface="Arial"/>
              </a:rPr>
              <a:t>Relations · Occurrences · BOM</a:t>
            </a:r>
          </a:p>
          <a:p>
            <a:pPr algn="ctr">
              <a:defRPr sz="1200" b="0">
                <a:solidFill>
                  <a:srgbClr val="4B6075"/>
                </a:solidFill>
                <a:latin typeface="Arial"/>
                <a:ea typeface="Arial"/>
                <a:cs typeface="Arial"/>
              </a:defRPr>
            </a:pPr>
            <a:r>
              <a:rPr sz="1200" b="0">
                <a:solidFill>
                  <a:srgbClr val="4B6075"/>
                </a:solidFill>
                <a:latin typeface="Arial"/>
                <a:ea typeface="Arial"/>
                <a:cs typeface="Arial"/>
              </a:rPr>
              <a:t>Immutable Structure Snapshot</a:t>
            </a:r>
          </a:p>
        </p:txBody>
      </p:sp>
      <p:sp>
        <p:nvSpPr>
          <p:cNvPr id="17" name="box-900-444">
            <a:extLst>
              <a:ext uri="{FF2B5EF4-FFF2-40B4-BE49-F238E27FC236}">
                <a16:creationId xmlns:a16="http://schemas.microsoft.com/office/drawing/2014/main" id="{C7A27998-6963-4128-8B1F-B1D89638E24B}"/>
              </a:ext>
            </a:extLst>
          </p:cNvPr>
          <p:cNvSpPr>
            <a:spLocks noGrp="1"/>
          </p:cNvSpPr>
          <p:nvPr/>
        </p:nvSpPr>
        <p:spPr>
          <a:xfrm>
            <a:off x="8572500" y="4229100"/>
            <a:ext cx="2914650" cy="1219200"/>
          </a:xfrm>
          <a:prstGeom prst="roundRect">
            <a:avLst>
              <a:gd name="adj" fmla="val 6250"/>
            </a:avLst>
          </a:prstGeom>
          <a:solidFill>
            <a:srgbClr val="E7F5EE"/>
          </a:solidFill>
          <a:ln w="14288">
            <a:solidFill>
              <a:srgbClr val="2D8A62"/>
            </a:solidFill>
            <a:prstDash val="solid"/>
          </a:ln>
        </p:spPr>
        <p:txBody>
          <a:bodyPr/>
          <a:lstStyle/>
          <a:p>
            <a:endParaRPr lang="en-US"/>
          </a:p>
        </p:txBody>
      </p:sp>
      <p:sp>
        <p:nvSpPr>
          <p:cNvPr id="18" name="text-916-460-Governance">
            <a:extLst>
              <a:ext uri="{FF2B5EF4-FFF2-40B4-BE49-F238E27FC236}">
                <a16:creationId xmlns:a16="http://schemas.microsoft.com/office/drawing/2014/main" id="{1867D17E-FED6-49DC-9561-B507856D912D}"/>
              </a:ext>
            </a:extLst>
          </p:cNvPr>
          <p:cNvSpPr>
            <a:spLocks noGrp="1"/>
          </p:cNvSpPr>
          <p:nvPr/>
        </p:nvSpPr>
        <p:spPr>
          <a:xfrm>
            <a:off x="8724900" y="4381500"/>
            <a:ext cx="2609850" cy="304800"/>
          </a:xfrm>
          <a:prstGeom prst="rect">
            <a:avLst/>
          </a:prstGeom>
          <a:noFill/>
          <a:ln w="0">
            <a:noFill/>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Governance</a:t>
            </a:r>
          </a:p>
        </p:txBody>
      </p:sp>
      <p:sp>
        <p:nvSpPr>
          <p:cNvPr id="19" name="text-918-502-Review · Approva">
            <a:extLst>
              <a:ext uri="{FF2B5EF4-FFF2-40B4-BE49-F238E27FC236}">
                <a16:creationId xmlns:a16="http://schemas.microsoft.com/office/drawing/2014/main" id="{DCC245A0-24CC-412E-9C9B-EBA034E49ABB}"/>
              </a:ext>
            </a:extLst>
          </p:cNvPr>
          <p:cNvSpPr>
            <a:spLocks noGrp="1"/>
          </p:cNvSpPr>
          <p:nvPr/>
        </p:nvSpPr>
        <p:spPr>
          <a:xfrm>
            <a:off x="8743950" y="4781550"/>
            <a:ext cx="2571750" cy="514350"/>
          </a:xfrm>
          <a:prstGeom prst="rect">
            <a:avLst/>
          </a:prstGeom>
          <a:noFill/>
          <a:ln w="0">
            <a:noFill/>
          </a:ln>
        </p:spPr>
        <p:txBody>
          <a:bodyPr>
            <a:noAutofit/>
          </a:bodyPr>
          <a:lstStyle/>
          <a:p>
            <a:pPr algn="ctr">
              <a:defRPr sz="1200" b="0">
                <a:solidFill>
                  <a:srgbClr val="4B6075"/>
                </a:solidFill>
                <a:latin typeface="Arial"/>
                <a:ea typeface="Arial"/>
                <a:cs typeface="Arial"/>
              </a:defRPr>
            </a:pPr>
            <a:r>
              <a:rPr sz="1200" b="0">
                <a:solidFill>
                  <a:srgbClr val="4B6075"/>
                </a:solidFill>
                <a:latin typeface="Arial"/>
                <a:ea typeface="Arial"/>
                <a:cs typeface="Arial"/>
              </a:rPr>
              <a:t>Review · Approval · Release</a:t>
            </a:r>
          </a:p>
          <a:p>
            <a:pPr algn="ctr">
              <a:defRPr sz="1200" b="0">
                <a:solidFill>
                  <a:srgbClr val="4B6075"/>
                </a:solidFill>
                <a:latin typeface="Arial"/>
                <a:ea typeface="Arial"/>
                <a:cs typeface="Arial"/>
              </a:defRPr>
            </a:pPr>
            <a:r>
              <a:rPr sz="1200" b="0">
                <a:solidFill>
                  <a:srgbClr val="4B6075"/>
                </a:solidFill>
                <a:latin typeface="Arial"/>
                <a:ea typeface="Arial"/>
                <a:cs typeface="Arial"/>
              </a:rPr>
              <a:t>Authorization · Audit</a:t>
            </a:r>
          </a:p>
        </p:txBody>
      </p:sp>
      <p:sp>
        <p:nvSpPr>
          <p:cNvPr id="20" name="box-424-500">
            <a:extLst>
              <a:ext uri="{FF2B5EF4-FFF2-40B4-BE49-F238E27FC236}">
                <a16:creationId xmlns:a16="http://schemas.microsoft.com/office/drawing/2014/main" id="{891419BD-AC5E-49BF-BAC5-5614A7965EFA}"/>
              </a:ext>
            </a:extLst>
          </p:cNvPr>
          <p:cNvSpPr>
            <a:spLocks noGrp="1"/>
          </p:cNvSpPr>
          <p:nvPr/>
        </p:nvSpPr>
        <p:spPr>
          <a:xfrm>
            <a:off x="4038600" y="4762500"/>
            <a:ext cx="4114800" cy="1219200"/>
          </a:xfrm>
          <a:prstGeom prst="roundRect">
            <a:avLst>
              <a:gd name="adj" fmla="val 6250"/>
            </a:avLst>
          </a:prstGeom>
          <a:solidFill>
            <a:srgbClr val="F0EDFA"/>
          </a:solidFill>
          <a:ln w="14288">
            <a:solidFill>
              <a:srgbClr val="6C5AA8"/>
            </a:solidFill>
            <a:prstDash val="solid"/>
          </a:ln>
        </p:spPr>
        <p:txBody>
          <a:bodyPr/>
          <a:lstStyle/>
          <a:p>
            <a:endParaRPr lang="en-US"/>
          </a:p>
        </p:txBody>
      </p:sp>
      <p:sp>
        <p:nvSpPr>
          <p:cNvPr id="21" name="text-440-516-Integration &amp; Ac">
            <a:extLst>
              <a:ext uri="{FF2B5EF4-FFF2-40B4-BE49-F238E27FC236}">
                <a16:creationId xmlns:a16="http://schemas.microsoft.com/office/drawing/2014/main" id="{081F2B29-B799-4933-AB53-2FCA8C33A567}"/>
              </a:ext>
            </a:extLst>
          </p:cNvPr>
          <p:cNvSpPr>
            <a:spLocks noGrp="1"/>
          </p:cNvSpPr>
          <p:nvPr/>
        </p:nvSpPr>
        <p:spPr>
          <a:xfrm>
            <a:off x="4191000" y="4914900"/>
            <a:ext cx="3810000" cy="304800"/>
          </a:xfrm>
          <a:prstGeom prst="rect">
            <a:avLst/>
          </a:prstGeom>
          <a:noFill/>
          <a:ln w="0">
            <a:noFill/>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Integration &amp; Access</a:t>
            </a:r>
          </a:p>
        </p:txBody>
      </p:sp>
      <p:sp>
        <p:nvSpPr>
          <p:cNvPr id="22" name="text-442-558-IRONCAD / Office">
            <a:extLst>
              <a:ext uri="{FF2B5EF4-FFF2-40B4-BE49-F238E27FC236}">
                <a16:creationId xmlns:a16="http://schemas.microsoft.com/office/drawing/2014/main" id="{EA657265-8608-4721-8CA8-662439E70F6C}"/>
              </a:ext>
            </a:extLst>
          </p:cNvPr>
          <p:cNvSpPr>
            <a:spLocks noGrp="1"/>
          </p:cNvSpPr>
          <p:nvPr/>
        </p:nvSpPr>
        <p:spPr>
          <a:xfrm>
            <a:off x="4210050" y="5314950"/>
            <a:ext cx="3771900" cy="514350"/>
          </a:xfrm>
          <a:prstGeom prst="rect">
            <a:avLst/>
          </a:prstGeom>
          <a:noFill/>
          <a:ln w="0">
            <a:noFill/>
          </a:ln>
        </p:spPr>
        <p:txBody>
          <a:bodyPr>
            <a:noAutofit/>
          </a:bodyPr>
          <a:lstStyle/>
          <a:p>
            <a:pPr algn="ctr">
              <a:defRPr sz="1200" b="0">
                <a:solidFill>
                  <a:srgbClr val="4B6075"/>
                </a:solidFill>
                <a:latin typeface="Arial"/>
                <a:ea typeface="Arial"/>
                <a:cs typeface="Arial"/>
              </a:defRPr>
            </a:pPr>
            <a:r>
              <a:rPr sz="1200" b="0">
                <a:solidFill>
                  <a:srgbClr val="4B6075"/>
                </a:solidFill>
                <a:latin typeface="Arial"/>
                <a:ea typeface="Arial"/>
                <a:cs typeface="Arial"/>
              </a:rPr>
              <a:t>IRONCAD / Office · Search / Browse</a:t>
            </a:r>
          </a:p>
          <a:p>
            <a:pPr algn="ctr">
              <a:defRPr sz="1200" b="0">
                <a:solidFill>
                  <a:srgbClr val="4B6075"/>
                </a:solidFill>
                <a:latin typeface="Arial"/>
                <a:ea typeface="Arial"/>
                <a:cs typeface="Arial"/>
              </a:defRPr>
            </a:pPr>
            <a:r>
              <a:rPr sz="1200" b="0">
                <a:solidFill>
                  <a:srgbClr val="4B6075"/>
                </a:solidFill>
                <a:latin typeface="Arial"/>
                <a:ea typeface="Arial"/>
                <a:cs typeface="Arial"/>
              </a:rPr>
              <a:t>Web / Windows · EN / VI / JA</a:t>
            </a:r>
          </a:p>
        </p:txBody>
      </p:sp>
      <p:sp>
        <p:nvSpPr>
          <p:cNvPr id="23" name="text-405-212-↖">
            <a:extLst>
              <a:ext uri="{FF2B5EF4-FFF2-40B4-BE49-F238E27FC236}">
                <a16:creationId xmlns:a16="http://schemas.microsoft.com/office/drawing/2014/main" id="{1E2A046D-A061-4C6D-94B6-F93930C53182}"/>
              </a:ext>
            </a:extLst>
          </p:cNvPr>
          <p:cNvSpPr>
            <a:spLocks noGrp="1"/>
          </p:cNvSpPr>
          <p:nvPr/>
        </p:nvSpPr>
        <p:spPr>
          <a:xfrm>
            <a:off x="3857625" y="2019300"/>
            <a:ext cx="666750" cy="571500"/>
          </a:xfrm>
          <a:prstGeom prst="rect">
            <a:avLst/>
          </a:prstGeom>
          <a:noFill/>
          <a:ln w="0">
            <a:noFill/>
          </a:ln>
        </p:spPr>
        <p:txBody>
          <a:bodyPr>
            <a:noAutofit/>
          </a:bodyPr>
          <a:lstStyle/>
          <a:p>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24" name="text-405-407-↙">
            <a:extLst>
              <a:ext uri="{FF2B5EF4-FFF2-40B4-BE49-F238E27FC236}">
                <a16:creationId xmlns:a16="http://schemas.microsoft.com/office/drawing/2014/main" id="{763671B7-6C55-4ECF-80CD-5E186DDCF8E2}"/>
              </a:ext>
            </a:extLst>
          </p:cNvPr>
          <p:cNvSpPr>
            <a:spLocks noGrp="1"/>
          </p:cNvSpPr>
          <p:nvPr/>
        </p:nvSpPr>
        <p:spPr>
          <a:xfrm>
            <a:off x="3857625" y="3876675"/>
            <a:ext cx="666750" cy="571500"/>
          </a:xfrm>
          <a:prstGeom prst="rect">
            <a:avLst/>
          </a:prstGeom>
          <a:noFill/>
          <a:ln w="0">
            <a:noFill/>
          </a:ln>
        </p:spPr>
        <p:txBody>
          <a:bodyPr>
            <a:noAutofit/>
          </a:bodyPr>
          <a:lstStyle/>
          <a:p>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25" name="text-803-212-↗">
            <a:extLst>
              <a:ext uri="{FF2B5EF4-FFF2-40B4-BE49-F238E27FC236}">
                <a16:creationId xmlns:a16="http://schemas.microsoft.com/office/drawing/2014/main" id="{DF7169B6-F678-4C8F-B6F7-D315B4F5A804}"/>
              </a:ext>
            </a:extLst>
          </p:cNvPr>
          <p:cNvSpPr>
            <a:spLocks noGrp="1"/>
          </p:cNvSpPr>
          <p:nvPr/>
        </p:nvSpPr>
        <p:spPr>
          <a:xfrm>
            <a:off x="7648575" y="2019300"/>
            <a:ext cx="666750" cy="571500"/>
          </a:xfrm>
          <a:prstGeom prst="rect">
            <a:avLst/>
          </a:prstGeom>
          <a:noFill/>
          <a:ln w="0">
            <a:noFill/>
          </a:ln>
        </p:spPr>
        <p:txBody>
          <a:bodyPr>
            <a:noAutofit/>
          </a:bodyPr>
          <a:lstStyle/>
          <a:p>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26" name="text-803-407-↘">
            <a:extLst>
              <a:ext uri="{FF2B5EF4-FFF2-40B4-BE49-F238E27FC236}">
                <a16:creationId xmlns:a16="http://schemas.microsoft.com/office/drawing/2014/main" id="{082682D5-6350-4176-832D-A961C5F9E1E3}"/>
              </a:ext>
            </a:extLst>
          </p:cNvPr>
          <p:cNvSpPr>
            <a:spLocks noGrp="1"/>
          </p:cNvSpPr>
          <p:nvPr/>
        </p:nvSpPr>
        <p:spPr>
          <a:xfrm>
            <a:off x="7648575" y="3876675"/>
            <a:ext cx="666750" cy="571500"/>
          </a:xfrm>
          <a:prstGeom prst="rect">
            <a:avLst/>
          </a:prstGeom>
          <a:noFill/>
          <a:ln w="0">
            <a:noFill/>
          </a:ln>
        </p:spPr>
        <p:txBody>
          <a:bodyPr>
            <a:noAutofit/>
          </a:bodyPr>
          <a:lstStyle/>
          <a:p>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27" name="text-605-427-↓">
            <a:extLst>
              <a:ext uri="{FF2B5EF4-FFF2-40B4-BE49-F238E27FC236}">
                <a16:creationId xmlns:a16="http://schemas.microsoft.com/office/drawing/2014/main" id="{35833FD9-86F6-42E6-B2F6-66CDFB16B577}"/>
              </a:ext>
            </a:extLst>
          </p:cNvPr>
          <p:cNvSpPr>
            <a:spLocks noGrp="1"/>
          </p:cNvSpPr>
          <p:nvPr/>
        </p:nvSpPr>
        <p:spPr>
          <a:xfrm>
            <a:off x="5762625" y="4067175"/>
            <a:ext cx="666750" cy="476250"/>
          </a:xfrm>
          <a:prstGeom prst="rect">
            <a:avLst/>
          </a:prstGeom>
          <a:noFill/>
          <a:ln w="0">
            <a:noFill/>
          </a:ln>
        </p:spPr>
        <p:txBody>
          <a:bodyPr>
            <a:noAutofit/>
          </a:bodyPr>
          <a:lstStyle/>
          <a:p>
            <a:pPr algn="ctr">
              <a:defRPr sz="2550" b="1">
                <a:solidFill>
                  <a:srgbClr val="7890A6"/>
                </a:solidFill>
                <a:latin typeface="Arial"/>
                <a:ea typeface="Arial"/>
                <a:cs typeface="Arial"/>
              </a:defRPr>
            </a:pPr>
            <a:r>
              <a:rPr sz="2550" b="1">
                <a:solidFill>
                  <a:srgbClr val="7890A6"/>
                </a:solidFill>
                <a:latin typeface="Arial"/>
                <a:ea typeface="Arial"/>
                <a:cs typeface="Arial"/>
              </a:rPr>
              <a:t>↓</a:t>
            </a:r>
          </a:p>
        </p:txBody>
      </p:sp>
      <p:sp>
        <p:nvSpPr>
          <p:cNvPr id="28" name="box-386-136">
            <a:extLst>
              <a:ext uri="{FF2B5EF4-FFF2-40B4-BE49-F238E27FC236}">
                <a16:creationId xmlns:a16="http://schemas.microsoft.com/office/drawing/2014/main" id="{606908F4-BFFE-4EB2-BD84-9769D90DBAAD}"/>
              </a:ext>
            </a:extLst>
          </p:cNvPr>
          <p:cNvSpPr>
            <a:spLocks noGrp="1"/>
          </p:cNvSpPr>
          <p:nvPr/>
        </p:nvSpPr>
        <p:spPr>
          <a:xfrm>
            <a:off x="3676650" y="1295400"/>
            <a:ext cx="4838700" cy="323850"/>
          </a:xfrm>
          <a:prstGeom prst="roundRect">
            <a:avLst>
              <a:gd name="adj" fmla="val 23529"/>
            </a:avLst>
          </a:prstGeom>
          <a:solidFill>
            <a:srgbClr val="F4F7FA"/>
          </a:solidFill>
          <a:ln w="7620">
            <a:solidFill>
              <a:srgbClr val="F4F7FA"/>
            </a:solidFill>
            <a:prstDash val="solid"/>
          </a:ln>
        </p:spPr>
        <p:txBody>
          <a:bodyPr>
            <a:noAutofit/>
          </a:bodyPr>
          <a:lstStyle/>
          <a:p>
            <a:pPr algn="ctr">
              <a:defRPr sz="1125" b="1">
                <a:solidFill>
                  <a:srgbClr val="4B6075"/>
                </a:solidFill>
                <a:latin typeface="Arial"/>
                <a:ea typeface="Arial"/>
                <a:cs typeface="Arial"/>
              </a:defRPr>
            </a:pPr>
            <a:r>
              <a:rPr sz="1125" b="1">
                <a:solidFill>
                  <a:srgbClr val="4B6075"/>
                </a:solidFill>
                <a:latin typeface="Arial"/>
                <a:ea typeface="Arial"/>
                <a:cs typeface="Arial"/>
              </a:rPr>
              <a:t>14 nhóm Feature được kiểm soát dưới bản đồ năng lực này</a:t>
            </a:r>
          </a:p>
        </p:txBody>
      </p:sp>
    </p:spTree>
    <p:extLst>
      <p:ext uri="{BB962C8B-B14F-4D97-AF65-F5344CB8AC3E}">
        <p14:creationId xmlns:p14="http://schemas.microsoft.com/office/powerpoint/2010/main" val="2000750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box-0-0">
            <a:extLst>
              <a:ext uri="{FF2B5EF4-FFF2-40B4-BE49-F238E27FC236}">
                <a16:creationId xmlns:a16="http://schemas.microsoft.com/office/drawing/2014/main" id="{BECE6A52-9A86-4607-96A4-DD133FF54382}"/>
              </a:ext>
            </a:extLst>
          </p:cNvPr>
          <p:cNvSpPr>
            <a:spLocks noGrp="1"/>
          </p:cNvSpPr>
          <p:nvPr/>
        </p:nvSpPr>
        <p:spPr>
          <a:xfrm>
            <a:off x="0" y="0"/>
            <a:ext cx="133350" cy="6858000"/>
          </a:xfrm>
          <a:prstGeom prst="rect">
            <a:avLst/>
          </a:prstGeom>
          <a:solidFill>
            <a:srgbClr val="2F8FC2"/>
          </a:solidFill>
          <a:ln w="0">
            <a:noFill/>
            <a:prstDash val="solid"/>
          </a:ln>
        </p:spPr>
        <p:txBody>
          <a:bodyPr/>
          <a:lstStyle/>
          <a:p>
            <a:endParaRPr lang="en-US"/>
          </a:p>
        </p:txBody>
      </p:sp>
      <p:sp>
        <p:nvSpPr>
          <p:cNvPr id="2" name="text-54-28-FEATURE">
            <a:extLst>
              <a:ext uri="{FF2B5EF4-FFF2-40B4-BE49-F238E27FC236}">
                <a16:creationId xmlns:a16="http://schemas.microsoft.com/office/drawing/2014/main" id="{9D288663-B2DE-41DF-9F09-563398F88B36}"/>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2F8FC2"/>
                </a:solidFill>
                <a:latin typeface="Arial"/>
                <a:ea typeface="Arial"/>
                <a:cs typeface="Arial"/>
              </a:defRPr>
            </a:pPr>
            <a:r>
              <a:rPr sz="1050" b="1">
                <a:solidFill>
                  <a:srgbClr val="2F8FC2"/>
                </a:solidFill>
                <a:latin typeface="Arial"/>
                <a:ea typeface="Arial"/>
                <a:cs typeface="Arial"/>
              </a:rPr>
              <a:t>FEATURE</a:t>
            </a:r>
          </a:p>
        </p:txBody>
      </p:sp>
      <p:sp>
        <p:nvSpPr>
          <p:cNvPr id="3" name="text-54-56-Feature — Core v">
            <a:extLst>
              <a:ext uri="{FF2B5EF4-FFF2-40B4-BE49-F238E27FC236}">
                <a16:creationId xmlns:a16="http://schemas.microsoft.com/office/drawing/2014/main" id="{E15DDC70-871C-4F88-A736-0BC62944FFBC}"/>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Feature — Core v0 làm gì và không làm gì?</a:t>
            </a:r>
          </a:p>
        </p:txBody>
      </p:sp>
      <p:sp>
        <p:nvSpPr>
          <p:cNvPr id="4" name="line-54-116">
            <a:extLst>
              <a:ext uri="{FF2B5EF4-FFF2-40B4-BE49-F238E27FC236}">
                <a16:creationId xmlns:a16="http://schemas.microsoft.com/office/drawing/2014/main" id="{11A66F5B-BB14-47FD-8DFE-698FAA52FB96}"/>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1@0">
            <a:extLst>
              <a:ext uri="{FF2B5EF4-FFF2-40B4-BE49-F238E27FC236}">
                <a16:creationId xmlns:a16="http://schemas.microsoft.com/office/drawing/2014/main" id="{F2D8173F-6486-4FBC-A07E-B0A3D765C0D2}"/>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DOC-01@0.6 · DOC-04@0.13</a:t>
            </a:r>
          </a:p>
        </p:txBody>
      </p:sp>
      <p:sp>
        <p:nvSpPr>
          <p:cNvPr id="6" name="text-1170-680-03">
            <a:extLst>
              <a:ext uri="{FF2B5EF4-FFF2-40B4-BE49-F238E27FC236}">
                <a16:creationId xmlns:a16="http://schemas.microsoft.com/office/drawing/2014/main" id="{E51B2805-5211-4487-BF27-4E00EDFD56AA}"/>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03</a:t>
            </a:r>
          </a:p>
        </p:txBody>
      </p:sp>
      <p:sp>
        <p:nvSpPr>
          <p:cNvPr id="7" name="box-62-148">
            <a:extLst>
              <a:ext uri="{FF2B5EF4-FFF2-40B4-BE49-F238E27FC236}">
                <a16:creationId xmlns:a16="http://schemas.microsoft.com/office/drawing/2014/main" id="{D774E88D-799F-4D20-894C-904CA557D62A}"/>
              </a:ext>
            </a:extLst>
          </p:cNvPr>
          <p:cNvSpPr>
            <a:spLocks noGrp="1"/>
          </p:cNvSpPr>
          <p:nvPr/>
        </p:nvSpPr>
        <p:spPr>
          <a:xfrm>
            <a:off x="590550" y="1409700"/>
            <a:ext cx="5276850" cy="4171950"/>
          </a:xfrm>
          <a:prstGeom prst="roundRect">
            <a:avLst>
              <a:gd name="adj" fmla="val 1826"/>
            </a:avLst>
          </a:prstGeom>
          <a:solidFill>
            <a:srgbClr val="EAF3F9"/>
          </a:solidFill>
          <a:ln w="14288">
            <a:solidFill>
              <a:srgbClr val="2169A8"/>
            </a:solidFill>
            <a:prstDash val="solid"/>
          </a:ln>
        </p:spPr>
        <p:txBody>
          <a:bodyPr/>
          <a:lstStyle/>
          <a:p>
            <a:endParaRPr lang="en-US"/>
          </a:p>
        </p:txBody>
      </p:sp>
      <p:sp>
        <p:nvSpPr>
          <p:cNvPr id="8" name="box-664-148">
            <a:extLst>
              <a:ext uri="{FF2B5EF4-FFF2-40B4-BE49-F238E27FC236}">
                <a16:creationId xmlns:a16="http://schemas.microsoft.com/office/drawing/2014/main" id="{E355C3C8-4EE4-433C-AE09-32364087D008}"/>
              </a:ext>
            </a:extLst>
          </p:cNvPr>
          <p:cNvSpPr>
            <a:spLocks noGrp="1"/>
          </p:cNvSpPr>
          <p:nvPr/>
        </p:nvSpPr>
        <p:spPr>
          <a:xfrm>
            <a:off x="6324600" y="1409700"/>
            <a:ext cx="5276850" cy="4171950"/>
          </a:xfrm>
          <a:prstGeom prst="roundRect">
            <a:avLst>
              <a:gd name="adj" fmla="val 1826"/>
            </a:avLst>
          </a:prstGeom>
          <a:solidFill>
            <a:srgbClr val="F4F7FA"/>
          </a:solidFill>
          <a:ln w="14288">
            <a:solidFill>
              <a:srgbClr val="7890A6"/>
            </a:solidFill>
            <a:prstDash val="solid"/>
          </a:ln>
        </p:spPr>
        <p:txBody>
          <a:bodyPr/>
          <a:lstStyle/>
          <a:p>
            <a:endParaRPr lang="en-US" dirty="0"/>
          </a:p>
        </p:txBody>
      </p:sp>
      <p:sp>
        <p:nvSpPr>
          <p:cNvPr id="9" name="box-84-170">
            <a:extLst>
              <a:ext uri="{FF2B5EF4-FFF2-40B4-BE49-F238E27FC236}">
                <a16:creationId xmlns:a16="http://schemas.microsoft.com/office/drawing/2014/main" id="{E91DBCD4-283F-481D-B608-C561F9CFE6ED}"/>
              </a:ext>
            </a:extLst>
          </p:cNvPr>
          <p:cNvSpPr>
            <a:spLocks noGrp="1"/>
          </p:cNvSpPr>
          <p:nvPr/>
        </p:nvSpPr>
        <p:spPr>
          <a:xfrm>
            <a:off x="800100" y="1619250"/>
            <a:ext cx="1809750" cy="323850"/>
          </a:xfrm>
          <a:prstGeom prst="roundRect">
            <a:avLst>
              <a:gd name="adj" fmla="val 23529"/>
            </a:avLst>
          </a:prstGeom>
          <a:solidFill>
            <a:srgbClr val="2169A8"/>
          </a:solidFill>
          <a:ln w="7620">
            <a:solidFill>
              <a:srgbClr val="2169A8"/>
            </a:solidFill>
            <a:prstDash val="solid"/>
          </a:ln>
        </p:spPr>
        <p:txBody>
          <a:bodyPr>
            <a:no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TRONG CORE v0</a:t>
            </a:r>
          </a:p>
        </p:txBody>
      </p:sp>
      <p:sp>
        <p:nvSpPr>
          <p:cNvPr id="10" name="box-686-170">
            <a:extLst>
              <a:ext uri="{FF2B5EF4-FFF2-40B4-BE49-F238E27FC236}">
                <a16:creationId xmlns:a16="http://schemas.microsoft.com/office/drawing/2014/main" id="{75D096F0-E981-4FAF-98E3-E2D4C0A8D8B2}"/>
              </a:ext>
            </a:extLst>
          </p:cNvPr>
          <p:cNvSpPr>
            <a:spLocks noGrp="1"/>
          </p:cNvSpPr>
          <p:nvPr/>
        </p:nvSpPr>
        <p:spPr>
          <a:xfrm>
            <a:off x="6534150" y="1619250"/>
            <a:ext cx="2438400" cy="323850"/>
          </a:xfrm>
          <a:prstGeom prst="roundRect">
            <a:avLst>
              <a:gd name="adj" fmla="val 23529"/>
            </a:avLst>
          </a:prstGeom>
          <a:solidFill>
            <a:srgbClr val="7890A6"/>
          </a:solidFill>
          <a:ln w="7620">
            <a:solidFill>
              <a:srgbClr val="7890A6"/>
            </a:solidFill>
            <a:prstDash val="solid"/>
          </a:ln>
        </p:spPr>
        <p:txBody>
          <a:bodyPr>
            <a:no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NGOÀI PHẠM VI / ĐỂ SAU</a:t>
            </a:r>
          </a:p>
        </p:txBody>
      </p:sp>
      <p:sp>
        <p:nvSpPr>
          <p:cNvPr id="11" name="box-92-240">
            <a:extLst>
              <a:ext uri="{FF2B5EF4-FFF2-40B4-BE49-F238E27FC236}">
                <a16:creationId xmlns:a16="http://schemas.microsoft.com/office/drawing/2014/main" id="{3823D796-55FA-4AE2-815E-07E92F0DDB60}"/>
              </a:ext>
            </a:extLst>
          </p:cNvPr>
          <p:cNvSpPr>
            <a:spLocks noGrp="1"/>
          </p:cNvSpPr>
          <p:nvPr/>
        </p:nvSpPr>
        <p:spPr>
          <a:xfrm>
            <a:off x="876300" y="2286000"/>
            <a:ext cx="85725" cy="85725"/>
          </a:xfrm>
          <a:prstGeom prst="ellipse">
            <a:avLst/>
          </a:prstGeom>
          <a:solidFill>
            <a:srgbClr val="2169A8"/>
          </a:solidFill>
          <a:ln w="0">
            <a:solidFill>
              <a:srgbClr val="2169A8"/>
            </a:solidFill>
            <a:prstDash val="solid"/>
          </a:ln>
        </p:spPr>
        <p:txBody>
          <a:bodyPr/>
          <a:lstStyle/>
          <a:p>
            <a:endParaRPr lang="en-US"/>
          </a:p>
        </p:txBody>
      </p:sp>
      <p:sp>
        <p:nvSpPr>
          <p:cNvPr id="12" name="text-112-232-Controlled Produ">
            <a:extLst>
              <a:ext uri="{FF2B5EF4-FFF2-40B4-BE49-F238E27FC236}">
                <a16:creationId xmlns:a16="http://schemas.microsoft.com/office/drawing/2014/main" id="{3F9F68F4-878B-42FA-8EFE-C81DBEB17CB6}"/>
              </a:ext>
            </a:extLst>
          </p:cNvPr>
          <p:cNvSpPr>
            <a:spLocks noGrp="1"/>
          </p:cNvSpPr>
          <p:nvPr/>
        </p:nvSpPr>
        <p:spPr>
          <a:xfrm>
            <a:off x="1066800" y="220980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Controlled Product Data và lịch sử bất biến</a:t>
            </a:r>
          </a:p>
        </p:txBody>
      </p:sp>
      <p:sp>
        <p:nvSpPr>
          <p:cNvPr id="13" name="box-92-298">
            <a:extLst>
              <a:ext uri="{FF2B5EF4-FFF2-40B4-BE49-F238E27FC236}">
                <a16:creationId xmlns:a16="http://schemas.microsoft.com/office/drawing/2014/main" id="{05634ED7-7019-4039-B4A0-72EB1C7F6446}"/>
              </a:ext>
            </a:extLst>
          </p:cNvPr>
          <p:cNvSpPr>
            <a:spLocks noGrp="1"/>
          </p:cNvSpPr>
          <p:nvPr/>
        </p:nvSpPr>
        <p:spPr>
          <a:xfrm>
            <a:off x="876300" y="2838450"/>
            <a:ext cx="85725" cy="85725"/>
          </a:xfrm>
          <a:prstGeom prst="ellipse">
            <a:avLst/>
          </a:prstGeom>
          <a:solidFill>
            <a:srgbClr val="2169A8"/>
          </a:solidFill>
          <a:ln w="0">
            <a:solidFill>
              <a:srgbClr val="2169A8"/>
            </a:solidFill>
            <a:prstDash val="solid"/>
          </a:ln>
        </p:spPr>
        <p:txBody>
          <a:bodyPr/>
          <a:lstStyle/>
          <a:p>
            <a:endParaRPr lang="en-US"/>
          </a:p>
        </p:txBody>
      </p:sp>
      <p:sp>
        <p:nvSpPr>
          <p:cNvPr id="14" name="text-112-290-Workspace, Check">
            <a:extLst>
              <a:ext uri="{FF2B5EF4-FFF2-40B4-BE49-F238E27FC236}">
                <a16:creationId xmlns:a16="http://schemas.microsoft.com/office/drawing/2014/main" id="{57BAD7B4-0880-4EFB-B69D-84C9CCADF634}"/>
              </a:ext>
            </a:extLst>
          </p:cNvPr>
          <p:cNvSpPr>
            <a:spLocks noGrp="1"/>
          </p:cNvSpPr>
          <p:nvPr/>
        </p:nvSpPr>
        <p:spPr>
          <a:xfrm>
            <a:off x="1066800" y="276225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Workspace, Checkout, Reference, Check-in</a:t>
            </a:r>
          </a:p>
        </p:txBody>
      </p:sp>
      <p:sp>
        <p:nvSpPr>
          <p:cNvPr id="15" name="box-92-356">
            <a:extLst>
              <a:ext uri="{FF2B5EF4-FFF2-40B4-BE49-F238E27FC236}">
                <a16:creationId xmlns:a16="http://schemas.microsoft.com/office/drawing/2014/main" id="{A8F3166D-FD84-4234-9386-6A7E7B33A2F9}"/>
              </a:ext>
            </a:extLst>
          </p:cNvPr>
          <p:cNvSpPr>
            <a:spLocks noGrp="1"/>
          </p:cNvSpPr>
          <p:nvPr/>
        </p:nvSpPr>
        <p:spPr>
          <a:xfrm>
            <a:off x="876300" y="3390900"/>
            <a:ext cx="85725" cy="85725"/>
          </a:xfrm>
          <a:prstGeom prst="ellipse">
            <a:avLst/>
          </a:prstGeom>
          <a:solidFill>
            <a:srgbClr val="2169A8"/>
          </a:solidFill>
          <a:ln w="0">
            <a:solidFill>
              <a:srgbClr val="2169A8"/>
            </a:solidFill>
            <a:prstDash val="solid"/>
          </a:ln>
        </p:spPr>
        <p:txBody>
          <a:bodyPr/>
          <a:lstStyle/>
          <a:p>
            <a:endParaRPr lang="en-US"/>
          </a:p>
        </p:txBody>
      </p:sp>
      <p:sp>
        <p:nvSpPr>
          <p:cNvPr id="16" name="text-112-348-Product Structur">
            <a:extLst>
              <a:ext uri="{FF2B5EF4-FFF2-40B4-BE49-F238E27FC236}">
                <a16:creationId xmlns:a16="http://schemas.microsoft.com/office/drawing/2014/main" id="{B49EEF44-E238-4191-B505-38F855AB4B1E}"/>
              </a:ext>
            </a:extLst>
          </p:cNvPr>
          <p:cNvSpPr>
            <a:spLocks noGrp="1"/>
          </p:cNvSpPr>
          <p:nvPr/>
        </p:nvSpPr>
        <p:spPr>
          <a:xfrm>
            <a:off x="1066800" y="331470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Product Structure, BOM và Structure Snapshot</a:t>
            </a:r>
          </a:p>
        </p:txBody>
      </p:sp>
      <p:sp>
        <p:nvSpPr>
          <p:cNvPr id="17" name="box-92-414">
            <a:extLst>
              <a:ext uri="{FF2B5EF4-FFF2-40B4-BE49-F238E27FC236}">
                <a16:creationId xmlns:a16="http://schemas.microsoft.com/office/drawing/2014/main" id="{B379EF85-8B42-4857-AD21-4B7AB653381C}"/>
              </a:ext>
            </a:extLst>
          </p:cNvPr>
          <p:cNvSpPr>
            <a:spLocks noGrp="1"/>
          </p:cNvSpPr>
          <p:nvPr/>
        </p:nvSpPr>
        <p:spPr>
          <a:xfrm>
            <a:off x="876300" y="3943350"/>
            <a:ext cx="85725" cy="85725"/>
          </a:xfrm>
          <a:prstGeom prst="ellipse">
            <a:avLst/>
          </a:prstGeom>
          <a:solidFill>
            <a:srgbClr val="2169A8"/>
          </a:solidFill>
          <a:ln w="0">
            <a:solidFill>
              <a:srgbClr val="2169A8"/>
            </a:solidFill>
            <a:prstDash val="solid"/>
          </a:ln>
        </p:spPr>
        <p:txBody>
          <a:bodyPr/>
          <a:lstStyle/>
          <a:p>
            <a:endParaRPr lang="en-US"/>
          </a:p>
        </p:txBody>
      </p:sp>
      <p:sp>
        <p:nvSpPr>
          <p:cNvPr id="18" name="text-112-406-Review, Approval">
            <a:extLst>
              <a:ext uri="{FF2B5EF4-FFF2-40B4-BE49-F238E27FC236}">
                <a16:creationId xmlns:a16="http://schemas.microsoft.com/office/drawing/2014/main" id="{28BEDEEE-FAEA-440E-A842-EB5FC0274092}"/>
              </a:ext>
            </a:extLst>
          </p:cNvPr>
          <p:cNvSpPr>
            <a:spLocks noGrp="1"/>
          </p:cNvSpPr>
          <p:nvPr/>
        </p:nvSpPr>
        <p:spPr>
          <a:xfrm>
            <a:off x="1066800" y="386715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Review, Approval, Release và lấy lại đúng baseline</a:t>
            </a:r>
          </a:p>
        </p:txBody>
      </p:sp>
      <p:sp>
        <p:nvSpPr>
          <p:cNvPr id="19" name="box-92-472">
            <a:extLst>
              <a:ext uri="{FF2B5EF4-FFF2-40B4-BE49-F238E27FC236}">
                <a16:creationId xmlns:a16="http://schemas.microsoft.com/office/drawing/2014/main" id="{1F47B38A-1645-4DAA-8EC6-49C5D772A912}"/>
              </a:ext>
            </a:extLst>
          </p:cNvPr>
          <p:cNvSpPr>
            <a:spLocks noGrp="1"/>
          </p:cNvSpPr>
          <p:nvPr/>
        </p:nvSpPr>
        <p:spPr>
          <a:xfrm>
            <a:off x="876300" y="4495800"/>
            <a:ext cx="85725" cy="85725"/>
          </a:xfrm>
          <a:prstGeom prst="ellipse">
            <a:avLst/>
          </a:prstGeom>
          <a:solidFill>
            <a:srgbClr val="2169A8"/>
          </a:solidFill>
          <a:ln w="0">
            <a:solidFill>
              <a:srgbClr val="2169A8"/>
            </a:solidFill>
            <a:prstDash val="solid"/>
          </a:ln>
        </p:spPr>
        <p:txBody>
          <a:bodyPr/>
          <a:lstStyle/>
          <a:p>
            <a:endParaRPr lang="en-US"/>
          </a:p>
        </p:txBody>
      </p:sp>
      <p:sp>
        <p:nvSpPr>
          <p:cNvPr id="20" name="text-112-464-Authorization, A">
            <a:extLst>
              <a:ext uri="{FF2B5EF4-FFF2-40B4-BE49-F238E27FC236}">
                <a16:creationId xmlns:a16="http://schemas.microsoft.com/office/drawing/2014/main" id="{60493932-1FFE-4A94-9E5B-72C3A80A08E3}"/>
              </a:ext>
            </a:extLst>
          </p:cNvPr>
          <p:cNvSpPr>
            <a:spLocks noGrp="1"/>
          </p:cNvSpPr>
          <p:nvPr/>
        </p:nvSpPr>
        <p:spPr>
          <a:xfrm>
            <a:off x="1066800" y="441960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Authorization, Audit, Search, CAD/Office và 3 ngôn ngữ</a:t>
            </a:r>
          </a:p>
        </p:txBody>
      </p:sp>
      <p:sp>
        <p:nvSpPr>
          <p:cNvPr id="22" name="text-714-232-ERP / MRP và tíc">
            <a:extLst>
              <a:ext uri="{FF2B5EF4-FFF2-40B4-BE49-F238E27FC236}">
                <a16:creationId xmlns:a16="http://schemas.microsoft.com/office/drawing/2014/main" id="{282BCF76-18D4-42C3-AFC6-493939305F0B}"/>
              </a:ext>
            </a:extLst>
          </p:cNvPr>
          <p:cNvSpPr>
            <a:spLocks noGrp="1"/>
          </p:cNvSpPr>
          <p:nvPr/>
        </p:nvSpPr>
        <p:spPr>
          <a:xfrm>
            <a:off x="6800850" y="220980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endParaRPr lang="en-US" sz="1350" b="0" dirty="0">
              <a:solidFill>
                <a:srgbClr val="162638"/>
              </a:solidFill>
              <a:latin typeface="Arial"/>
              <a:ea typeface="Arial"/>
              <a:cs typeface="Arial"/>
            </a:endParaRPr>
          </a:p>
        </p:txBody>
      </p:sp>
      <p:sp>
        <p:nvSpPr>
          <p:cNvPr id="23" name="box-694-298">
            <a:extLst>
              <a:ext uri="{FF2B5EF4-FFF2-40B4-BE49-F238E27FC236}">
                <a16:creationId xmlns:a16="http://schemas.microsoft.com/office/drawing/2014/main" id="{030AA3B7-8060-4C85-BF2D-CA40E2F75EF6}"/>
              </a:ext>
            </a:extLst>
          </p:cNvPr>
          <p:cNvSpPr>
            <a:spLocks noGrp="1"/>
          </p:cNvSpPr>
          <p:nvPr/>
        </p:nvSpPr>
        <p:spPr>
          <a:xfrm>
            <a:off x="6610350" y="2838450"/>
            <a:ext cx="85725" cy="85725"/>
          </a:xfrm>
          <a:prstGeom prst="ellipse">
            <a:avLst/>
          </a:prstGeom>
          <a:solidFill>
            <a:srgbClr val="7890A6"/>
          </a:solidFill>
          <a:ln w="0">
            <a:solidFill>
              <a:srgbClr val="7890A6"/>
            </a:solidFill>
            <a:prstDash val="solid"/>
          </a:ln>
        </p:spPr>
        <p:txBody>
          <a:bodyPr/>
          <a:lstStyle/>
          <a:p>
            <a:endParaRPr lang="en-US"/>
          </a:p>
        </p:txBody>
      </p:sp>
      <p:sp>
        <p:nvSpPr>
          <p:cNvPr id="24" name="text-714-290-Mua hàng, chấm c">
            <a:extLst>
              <a:ext uri="{FF2B5EF4-FFF2-40B4-BE49-F238E27FC236}">
                <a16:creationId xmlns:a16="http://schemas.microsoft.com/office/drawing/2014/main" id="{8F5AF196-BB39-4FC3-8DC7-146FBC5475AD}"/>
              </a:ext>
            </a:extLst>
          </p:cNvPr>
          <p:cNvSpPr>
            <a:spLocks noGrp="1"/>
          </p:cNvSpPr>
          <p:nvPr/>
        </p:nvSpPr>
        <p:spPr>
          <a:xfrm>
            <a:off x="6800850" y="276225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Mua hàng, chấm công, tính chi phí, điều hành sản xuất</a:t>
            </a:r>
          </a:p>
        </p:txBody>
      </p:sp>
      <p:sp>
        <p:nvSpPr>
          <p:cNvPr id="25" name="box-694-356">
            <a:extLst>
              <a:ext uri="{FF2B5EF4-FFF2-40B4-BE49-F238E27FC236}">
                <a16:creationId xmlns:a16="http://schemas.microsoft.com/office/drawing/2014/main" id="{9157A6D5-509D-43F6-8CAA-6B8790822F8A}"/>
              </a:ext>
            </a:extLst>
          </p:cNvPr>
          <p:cNvSpPr>
            <a:spLocks noGrp="1"/>
          </p:cNvSpPr>
          <p:nvPr/>
        </p:nvSpPr>
        <p:spPr>
          <a:xfrm>
            <a:off x="6610350" y="3390900"/>
            <a:ext cx="85725" cy="85725"/>
          </a:xfrm>
          <a:prstGeom prst="ellipse">
            <a:avLst/>
          </a:prstGeom>
          <a:solidFill>
            <a:srgbClr val="7890A6"/>
          </a:solidFill>
          <a:ln w="0">
            <a:solidFill>
              <a:srgbClr val="7890A6"/>
            </a:solidFill>
            <a:prstDash val="solid"/>
          </a:ln>
        </p:spPr>
        <p:txBody>
          <a:bodyPr/>
          <a:lstStyle/>
          <a:p>
            <a:endParaRPr lang="en-US"/>
          </a:p>
        </p:txBody>
      </p:sp>
      <p:sp>
        <p:nvSpPr>
          <p:cNvPr id="26" name="text-714-348-Quản lý tiến độ ">
            <a:extLst>
              <a:ext uri="{FF2B5EF4-FFF2-40B4-BE49-F238E27FC236}">
                <a16:creationId xmlns:a16="http://schemas.microsoft.com/office/drawing/2014/main" id="{85FA33CE-10E9-4E04-805C-1412D9463067}"/>
              </a:ext>
            </a:extLst>
          </p:cNvPr>
          <p:cNvSpPr>
            <a:spLocks noGrp="1"/>
          </p:cNvSpPr>
          <p:nvPr/>
        </p:nvSpPr>
        <p:spPr>
          <a:xfrm>
            <a:off x="6800850" y="331470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Quản lý tiến độ dự án đầy đủ và ECR/ECO hoàn chỉnh</a:t>
            </a:r>
          </a:p>
        </p:txBody>
      </p:sp>
      <p:sp>
        <p:nvSpPr>
          <p:cNvPr id="27" name="box-694-414">
            <a:extLst>
              <a:ext uri="{FF2B5EF4-FFF2-40B4-BE49-F238E27FC236}">
                <a16:creationId xmlns:a16="http://schemas.microsoft.com/office/drawing/2014/main" id="{75891ADC-B10B-4581-B05B-C63130E82E06}"/>
              </a:ext>
            </a:extLst>
          </p:cNvPr>
          <p:cNvSpPr>
            <a:spLocks noGrp="1"/>
          </p:cNvSpPr>
          <p:nvPr/>
        </p:nvSpPr>
        <p:spPr>
          <a:xfrm>
            <a:off x="6610350" y="3943350"/>
            <a:ext cx="85725" cy="85725"/>
          </a:xfrm>
          <a:prstGeom prst="ellipse">
            <a:avLst/>
          </a:prstGeom>
          <a:solidFill>
            <a:srgbClr val="7890A6"/>
          </a:solidFill>
          <a:ln w="0">
            <a:solidFill>
              <a:srgbClr val="7890A6"/>
            </a:solidFill>
            <a:prstDash val="solid"/>
          </a:ln>
        </p:spPr>
        <p:txBody>
          <a:bodyPr/>
          <a:lstStyle/>
          <a:p>
            <a:endParaRPr lang="en-US"/>
          </a:p>
        </p:txBody>
      </p:sp>
      <p:sp>
        <p:nvSpPr>
          <p:cNvPr id="28" name="text-714-406-Multi-site, bulk">
            <a:extLst>
              <a:ext uri="{FF2B5EF4-FFF2-40B4-BE49-F238E27FC236}">
                <a16:creationId xmlns:a16="http://schemas.microsoft.com/office/drawing/2014/main" id="{8DFB7873-8FF1-4FC5-ABFB-FCBFDB1C81B8}"/>
              </a:ext>
            </a:extLst>
          </p:cNvPr>
          <p:cNvSpPr>
            <a:spLocks noGrp="1"/>
          </p:cNvSpPr>
          <p:nvPr/>
        </p:nvSpPr>
        <p:spPr>
          <a:xfrm>
            <a:off x="6800850" y="386715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Multi-site, bulk migration và bộ Purge tự động</a:t>
            </a:r>
          </a:p>
        </p:txBody>
      </p:sp>
      <p:sp>
        <p:nvSpPr>
          <p:cNvPr id="29" name="box-694-472">
            <a:extLst>
              <a:ext uri="{FF2B5EF4-FFF2-40B4-BE49-F238E27FC236}">
                <a16:creationId xmlns:a16="http://schemas.microsoft.com/office/drawing/2014/main" id="{AB775B7B-95CC-41BF-BDC4-DD42D5678F32}"/>
              </a:ext>
            </a:extLst>
          </p:cNvPr>
          <p:cNvSpPr>
            <a:spLocks noGrp="1"/>
          </p:cNvSpPr>
          <p:nvPr/>
        </p:nvSpPr>
        <p:spPr>
          <a:xfrm>
            <a:off x="6610350" y="4495800"/>
            <a:ext cx="85725" cy="85725"/>
          </a:xfrm>
          <a:prstGeom prst="ellipse">
            <a:avLst/>
          </a:prstGeom>
          <a:solidFill>
            <a:srgbClr val="7890A6"/>
          </a:solidFill>
          <a:ln w="0">
            <a:solidFill>
              <a:srgbClr val="7890A6"/>
            </a:solidFill>
            <a:prstDash val="solid"/>
          </a:ln>
        </p:spPr>
        <p:txBody>
          <a:bodyPr/>
          <a:lstStyle/>
          <a:p>
            <a:endParaRPr lang="en-US"/>
          </a:p>
        </p:txBody>
      </p:sp>
      <p:sp>
        <p:nvSpPr>
          <p:cNvPr id="30" name="text-714-464-Trình thiết kế w">
            <a:extLst>
              <a:ext uri="{FF2B5EF4-FFF2-40B4-BE49-F238E27FC236}">
                <a16:creationId xmlns:a16="http://schemas.microsoft.com/office/drawing/2014/main" id="{16FFC8A4-FFCF-46B3-9E70-0E723E8A6C60}"/>
              </a:ext>
            </a:extLst>
          </p:cNvPr>
          <p:cNvSpPr>
            <a:spLocks noGrp="1"/>
          </p:cNvSpPr>
          <p:nvPr/>
        </p:nvSpPr>
        <p:spPr>
          <a:xfrm>
            <a:off x="6800850" y="4419600"/>
            <a:ext cx="4476750" cy="45720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dirty="0" err="1">
                <a:solidFill>
                  <a:srgbClr val="162638"/>
                </a:solidFill>
                <a:latin typeface="Arial"/>
                <a:ea typeface="Arial"/>
                <a:cs typeface="Arial"/>
              </a:rPr>
              <a:t>Trình</a:t>
            </a:r>
            <a:r>
              <a:rPr sz="1350" b="0" dirty="0">
                <a:solidFill>
                  <a:srgbClr val="162638"/>
                </a:solidFill>
                <a:latin typeface="Arial"/>
                <a:ea typeface="Arial"/>
                <a:cs typeface="Arial"/>
              </a:rPr>
              <a:t> </a:t>
            </a:r>
            <a:r>
              <a:rPr sz="1350" b="0" dirty="0" err="1">
                <a:solidFill>
                  <a:srgbClr val="162638"/>
                </a:solidFill>
                <a:latin typeface="Arial"/>
                <a:ea typeface="Arial"/>
                <a:cs typeface="Arial"/>
              </a:rPr>
              <a:t>thiết</a:t>
            </a:r>
            <a:r>
              <a:rPr sz="1350" b="0" dirty="0">
                <a:solidFill>
                  <a:srgbClr val="162638"/>
                </a:solidFill>
                <a:latin typeface="Arial"/>
                <a:ea typeface="Arial"/>
                <a:cs typeface="Arial"/>
              </a:rPr>
              <a:t> </a:t>
            </a:r>
            <a:r>
              <a:rPr sz="1350" b="0" dirty="0" err="1">
                <a:solidFill>
                  <a:srgbClr val="162638"/>
                </a:solidFill>
                <a:latin typeface="Arial"/>
                <a:ea typeface="Arial"/>
                <a:cs typeface="Arial"/>
              </a:rPr>
              <a:t>kế</a:t>
            </a:r>
            <a:r>
              <a:rPr sz="1350" b="0" dirty="0">
                <a:solidFill>
                  <a:srgbClr val="162638"/>
                </a:solidFill>
                <a:latin typeface="Arial"/>
                <a:ea typeface="Arial"/>
                <a:cs typeface="Arial"/>
              </a:rPr>
              <a:t> workflow </a:t>
            </a:r>
            <a:r>
              <a:rPr sz="1350" b="0" dirty="0" err="1">
                <a:solidFill>
                  <a:srgbClr val="162638"/>
                </a:solidFill>
                <a:latin typeface="Arial"/>
                <a:ea typeface="Arial"/>
                <a:cs typeface="Arial"/>
              </a:rPr>
              <a:t>kéo-thả</a:t>
            </a:r>
            <a:r>
              <a:rPr sz="1350" b="0" dirty="0">
                <a:solidFill>
                  <a:srgbClr val="162638"/>
                </a:solidFill>
                <a:latin typeface="Arial"/>
                <a:ea typeface="Arial"/>
                <a:cs typeface="Arial"/>
              </a:rPr>
              <a:t> </a:t>
            </a:r>
            <a:r>
              <a:rPr sz="1350" b="0" dirty="0" err="1">
                <a:solidFill>
                  <a:srgbClr val="162638"/>
                </a:solidFill>
                <a:latin typeface="Arial"/>
                <a:ea typeface="Arial"/>
                <a:cs typeface="Arial"/>
              </a:rPr>
              <a:t>và</a:t>
            </a:r>
            <a:r>
              <a:rPr sz="1350" b="0" dirty="0">
                <a:solidFill>
                  <a:srgbClr val="162638"/>
                </a:solidFill>
                <a:latin typeface="Arial"/>
                <a:ea typeface="Arial"/>
                <a:cs typeface="Arial"/>
              </a:rPr>
              <a:t> </a:t>
            </a:r>
            <a:r>
              <a:rPr sz="1350" b="0" dirty="0" err="1">
                <a:solidFill>
                  <a:srgbClr val="162638"/>
                </a:solidFill>
                <a:latin typeface="Arial"/>
                <a:ea typeface="Arial"/>
                <a:cs typeface="Arial"/>
              </a:rPr>
              <a:t>thêm</a:t>
            </a:r>
            <a:r>
              <a:rPr sz="1350" b="0" dirty="0">
                <a:solidFill>
                  <a:srgbClr val="162638"/>
                </a:solidFill>
                <a:latin typeface="Arial"/>
                <a:ea typeface="Arial"/>
                <a:cs typeface="Arial"/>
              </a:rPr>
              <a:t> </a:t>
            </a:r>
            <a:r>
              <a:rPr sz="1350" b="0" dirty="0" err="1">
                <a:solidFill>
                  <a:srgbClr val="162638"/>
                </a:solidFill>
                <a:latin typeface="Arial"/>
                <a:ea typeface="Arial"/>
                <a:cs typeface="Arial"/>
              </a:rPr>
              <a:t>mọi</a:t>
            </a:r>
            <a:r>
              <a:rPr sz="1350" b="0" dirty="0">
                <a:solidFill>
                  <a:srgbClr val="162638"/>
                </a:solidFill>
                <a:latin typeface="Arial"/>
                <a:ea typeface="Arial"/>
                <a:cs typeface="Arial"/>
              </a:rPr>
              <a:t> CAD profile</a:t>
            </a:r>
          </a:p>
        </p:txBody>
      </p:sp>
      <p:sp>
        <p:nvSpPr>
          <p:cNvPr id="31" name="box-62-610">
            <a:extLst>
              <a:ext uri="{FF2B5EF4-FFF2-40B4-BE49-F238E27FC236}">
                <a16:creationId xmlns:a16="http://schemas.microsoft.com/office/drawing/2014/main" id="{A01A0551-ECEB-4AE7-AD23-640EDB13F492}"/>
              </a:ext>
            </a:extLst>
          </p:cNvPr>
          <p:cNvSpPr>
            <a:spLocks noGrp="1"/>
          </p:cNvSpPr>
          <p:nvPr/>
        </p:nvSpPr>
        <p:spPr>
          <a:xfrm>
            <a:off x="590550" y="5810250"/>
            <a:ext cx="11010900" cy="476250"/>
          </a:xfrm>
          <a:prstGeom prst="roundRect">
            <a:avLst>
              <a:gd name="adj" fmla="val 16000"/>
            </a:avLst>
          </a:prstGeom>
          <a:solidFill>
            <a:srgbClr val="102744"/>
          </a:solidFill>
          <a:ln w="11430">
            <a:solidFill>
              <a:srgbClr val="102744"/>
            </a:solidFill>
            <a:prstDash val="solid"/>
          </a:ln>
        </p:spPr>
        <p:txBody>
          <a:bodyPr>
            <a:no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Quyết định cần chốt: Đây có đúng là ranh giới năng lực Core v0 cần giải quyết trước không?</a:t>
            </a:r>
          </a:p>
        </p:txBody>
      </p:sp>
    </p:spTree>
    <p:extLst>
      <p:ext uri="{BB962C8B-B14F-4D97-AF65-F5344CB8AC3E}">
        <p14:creationId xmlns:p14="http://schemas.microsoft.com/office/powerpoint/2010/main" val="1158245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box-0-0">
            <a:extLst>
              <a:ext uri="{FF2B5EF4-FFF2-40B4-BE49-F238E27FC236}">
                <a16:creationId xmlns:a16="http://schemas.microsoft.com/office/drawing/2014/main" id="{F55ED4B6-A995-481B-8E99-3D0A66043263}"/>
              </a:ext>
            </a:extLst>
          </p:cNvPr>
          <p:cNvSpPr>
            <a:spLocks noGrp="1"/>
          </p:cNvSpPr>
          <p:nvPr/>
        </p:nvSpPr>
        <p:spPr>
          <a:xfrm>
            <a:off x="0" y="0"/>
            <a:ext cx="133350" cy="6858000"/>
          </a:xfrm>
          <a:prstGeom prst="rect">
            <a:avLst/>
          </a:prstGeom>
          <a:solidFill>
            <a:srgbClr val="2169A8"/>
          </a:solidFill>
          <a:ln w="0">
            <a:noFill/>
            <a:prstDash val="solid"/>
          </a:ln>
        </p:spPr>
        <p:txBody>
          <a:bodyPr/>
          <a:lstStyle/>
          <a:p>
            <a:endParaRPr lang="en-US"/>
          </a:p>
        </p:txBody>
      </p:sp>
      <p:sp>
        <p:nvSpPr>
          <p:cNvPr id="2" name="text-54-28-SPEC">
            <a:extLst>
              <a:ext uri="{FF2B5EF4-FFF2-40B4-BE49-F238E27FC236}">
                <a16:creationId xmlns:a16="http://schemas.microsoft.com/office/drawing/2014/main" id="{7B6EF49C-4B65-40DF-BE6C-513CE8040000}"/>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Hệ thống ">
            <a:extLst>
              <a:ext uri="{FF2B5EF4-FFF2-40B4-BE49-F238E27FC236}">
                <a16:creationId xmlns:a16="http://schemas.microsoft.com/office/drawing/2014/main" id="{F6D2AB87-E0B3-4609-A3AD-1036A1930C3A}"/>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Spec — Hệ thống bắt buộc phải vận hành đúng như thế nào?</a:t>
            </a:r>
          </a:p>
        </p:txBody>
      </p:sp>
      <p:sp>
        <p:nvSpPr>
          <p:cNvPr id="4" name="line-54-116">
            <a:extLst>
              <a:ext uri="{FF2B5EF4-FFF2-40B4-BE49-F238E27FC236}">
                <a16:creationId xmlns:a16="http://schemas.microsoft.com/office/drawing/2014/main" id="{9AA09679-90C2-40FF-BBD0-6687A6FBA960}"/>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4@0">
            <a:extLst>
              <a:ext uri="{FF2B5EF4-FFF2-40B4-BE49-F238E27FC236}">
                <a16:creationId xmlns:a16="http://schemas.microsoft.com/office/drawing/2014/main" id="{E780A7AE-4D68-44F2-9CC3-FED12FE7E888}"/>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DOC-04@0.13 · VVP@0.16</a:t>
            </a:r>
          </a:p>
        </p:txBody>
      </p:sp>
      <p:sp>
        <p:nvSpPr>
          <p:cNvPr id="6" name="text-1170-680-04">
            <a:extLst>
              <a:ext uri="{FF2B5EF4-FFF2-40B4-BE49-F238E27FC236}">
                <a16:creationId xmlns:a16="http://schemas.microsoft.com/office/drawing/2014/main" id="{CA285EFC-D0EF-4F4B-AC7B-50B55B9BAD0D}"/>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04</a:t>
            </a:r>
          </a:p>
        </p:txBody>
      </p:sp>
      <p:sp>
        <p:nvSpPr>
          <p:cNvPr id="7" name="box-64-210">
            <a:extLst>
              <a:ext uri="{FF2B5EF4-FFF2-40B4-BE49-F238E27FC236}">
                <a16:creationId xmlns:a16="http://schemas.microsoft.com/office/drawing/2014/main" id="{A1533E6D-4448-40BE-8170-9168EFCEA5A2}"/>
              </a:ext>
            </a:extLst>
          </p:cNvPr>
          <p:cNvSpPr>
            <a:spLocks noGrp="1"/>
          </p:cNvSpPr>
          <p:nvPr/>
        </p:nvSpPr>
        <p:spPr>
          <a:xfrm>
            <a:off x="609600" y="2000250"/>
            <a:ext cx="2495550" cy="1371600"/>
          </a:xfrm>
          <a:prstGeom prst="roundRect">
            <a:avLst>
              <a:gd name="adj" fmla="val 5556"/>
            </a:avLst>
          </a:prstGeom>
          <a:solidFill>
            <a:srgbClr val="E8F7F9"/>
          </a:solidFill>
          <a:ln w="14288">
            <a:solidFill>
              <a:srgbClr val="2F8FC2"/>
            </a:solidFill>
            <a:prstDash val="solid"/>
          </a:ln>
        </p:spPr>
        <p:txBody>
          <a:bodyPr/>
          <a:lstStyle/>
          <a:p>
            <a:endParaRPr lang="en-US"/>
          </a:p>
        </p:txBody>
      </p:sp>
      <p:sp>
        <p:nvSpPr>
          <p:cNvPr id="8" name="box-80-226">
            <a:extLst>
              <a:ext uri="{FF2B5EF4-FFF2-40B4-BE49-F238E27FC236}">
                <a16:creationId xmlns:a16="http://schemas.microsoft.com/office/drawing/2014/main" id="{EE767E5C-6DBA-4CEA-A1E3-86FC659C82A0}"/>
              </a:ext>
            </a:extLst>
          </p:cNvPr>
          <p:cNvSpPr>
            <a:spLocks noGrp="1"/>
          </p:cNvSpPr>
          <p:nvPr/>
        </p:nvSpPr>
        <p:spPr>
          <a:xfrm>
            <a:off x="762000" y="2152650"/>
            <a:ext cx="361950" cy="361950"/>
          </a:xfrm>
          <a:prstGeom prst="ellipse">
            <a:avLst/>
          </a:prstGeom>
          <a:solidFill>
            <a:srgbClr val="2F8FC2"/>
          </a:solidFill>
          <a:ln w="11430">
            <a:solidFill>
              <a:srgbClr val="2F8FC2"/>
            </a:solidFill>
            <a:prstDash val="solid"/>
          </a:ln>
        </p:spPr>
        <p:txBody>
          <a:bodyPr>
            <a:no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9" name="text-132-225-FEATURE">
            <a:extLst>
              <a:ext uri="{FF2B5EF4-FFF2-40B4-BE49-F238E27FC236}">
                <a16:creationId xmlns:a16="http://schemas.microsoft.com/office/drawing/2014/main" id="{80DB00F7-B9A9-418D-AE58-B0975601A548}"/>
              </a:ext>
            </a:extLst>
          </p:cNvPr>
          <p:cNvSpPr>
            <a:spLocks noGrp="1"/>
          </p:cNvSpPr>
          <p:nvPr/>
        </p:nvSpPr>
        <p:spPr>
          <a:xfrm>
            <a:off x="1257300" y="2143125"/>
            <a:ext cx="1695450" cy="323850"/>
          </a:xfrm>
          <a:prstGeom prst="rect">
            <a:avLst/>
          </a:prstGeom>
          <a:noFill/>
          <a:ln w="0">
            <a:noFill/>
          </a:ln>
        </p:spPr>
        <p:txBody>
          <a:bodyPr>
            <a:noAutofit/>
          </a:bodyPr>
          <a:lstStyle/>
          <a:p>
            <a:pPr algn="l">
              <a:defRPr sz="1800" b="1">
                <a:solidFill>
                  <a:srgbClr val="102744"/>
                </a:solidFill>
                <a:latin typeface="Arial"/>
                <a:ea typeface="Arial"/>
                <a:cs typeface="Arial"/>
              </a:defRPr>
            </a:pPr>
            <a:r>
              <a:rPr sz="1800" b="1">
                <a:solidFill>
                  <a:srgbClr val="102744"/>
                </a:solidFill>
                <a:latin typeface="Arial"/>
                <a:ea typeface="Arial"/>
                <a:cs typeface="Arial"/>
              </a:rPr>
              <a:t>FEATURE</a:t>
            </a:r>
          </a:p>
        </p:txBody>
      </p:sp>
      <p:sp>
        <p:nvSpPr>
          <p:cNvPr id="10" name="text-84-276-Capability tồn t">
            <a:extLst>
              <a:ext uri="{FF2B5EF4-FFF2-40B4-BE49-F238E27FC236}">
                <a16:creationId xmlns:a16="http://schemas.microsoft.com/office/drawing/2014/main" id="{CF741A84-4368-4665-8A00-4C495785251B}"/>
              </a:ext>
            </a:extLst>
          </p:cNvPr>
          <p:cNvSpPr>
            <a:spLocks noGrp="1"/>
          </p:cNvSpPr>
          <p:nvPr/>
        </p:nvSpPr>
        <p:spPr>
          <a:xfrm>
            <a:off x="800100" y="2628900"/>
            <a:ext cx="2114550" cy="552450"/>
          </a:xfrm>
          <a:prstGeom prst="rect">
            <a:avLst/>
          </a:prstGeom>
          <a:noFill/>
          <a:ln w="0">
            <a:noFill/>
          </a:ln>
        </p:spPr>
        <p:txBody>
          <a:bodyPr>
            <a:noAutofit/>
          </a:bodyPr>
          <a:lstStyle/>
          <a:p>
            <a:pPr algn="ctr">
              <a:defRPr sz="1275" b="0">
                <a:solidFill>
                  <a:srgbClr val="4B6075"/>
                </a:solidFill>
                <a:latin typeface="Arial"/>
                <a:ea typeface="Arial"/>
                <a:cs typeface="Arial"/>
              </a:defRPr>
            </a:pPr>
            <a:r>
              <a:rPr sz="1275" b="0">
                <a:solidFill>
                  <a:srgbClr val="4B6075"/>
                </a:solidFill>
                <a:latin typeface="Arial"/>
                <a:ea typeface="Arial"/>
                <a:cs typeface="Arial"/>
              </a:rPr>
              <a:t>Capability tồn tại và phạm vi được phép</a:t>
            </a:r>
          </a:p>
        </p:txBody>
      </p:sp>
      <p:sp>
        <p:nvSpPr>
          <p:cNvPr id="11" name="text-334-248-→">
            <a:extLst>
              <a:ext uri="{FF2B5EF4-FFF2-40B4-BE49-F238E27FC236}">
                <a16:creationId xmlns:a16="http://schemas.microsoft.com/office/drawing/2014/main" id="{DD25CA0D-E211-4FD6-A771-10BCAC8D99E0}"/>
              </a:ext>
            </a:extLst>
          </p:cNvPr>
          <p:cNvSpPr>
            <a:spLocks noGrp="1"/>
          </p:cNvSpPr>
          <p:nvPr/>
        </p:nvSpPr>
        <p:spPr>
          <a:xfrm>
            <a:off x="3181350" y="2362200"/>
            <a:ext cx="514350" cy="476250"/>
          </a:xfrm>
          <a:prstGeom prst="rect">
            <a:avLst/>
          </a:prstGeom>
          <a:noFill/>
          <a:ln w="0">
            <a:noFill/>
          </a:ln>
        </p:spPr>
        <p:txBody>
          <a:bodyPr>
            <a:noAutofit/>
          </a:bodyPr>
          <a:lstStyle/>
          <a:p>
            <a:pPr algn="ctr">
              <a:defRPr sz="2550" b="1">
                <a:solidFill>
                  <a:srgbClr val="2169A8"/>
                </a:solidFill>
                <a:latin typeface="Arial"/>
                <a:ea typeface="Arial"/>
                <a:cs typeface="Arial"/>
              </a:defRPr>
            </a:pPr>
            <a:r>
              <a:rPr sz="2550" b="1">
                <a:solidFill>
                  <a:srgbClr val="2169A8"/>
                </a:solidFill>
                <a:latin typeface="Arial"/>
                <a:ea typeface="Arial"/>
                <a:cs typeface="Arial"/>
              </a:rPr>
              <a:t>→</a:t>
            </a:r>
          </a:p>
        </p:txBody>
      </p:sp>
      <p:sp>
        <p:nvSpPr>
          <p:cNvPr id="12" name="box-396-150">
            <a:extLst>
              <a:ext uri="{FF2B5EF4-FFF2-40B4-BE49-F238E27FC236}">
                <a16:creationId xmlns:a16="http://schemas.microsoft.com/office/drawing/2014/main" id="{112474BB-910D-454E-89C0-C5F4C0127296}"/>
              </a:ext>
            </a:extLst>
          </p:cNvPr>
          <p:cNvSpPr>
            <a:spLocks noGrp="1"/>
          </p:cNvSpPr>
          <p:nvPr/>
        </p:nvSpPr>
        <p:spPr>
          <a:xfrm>
            <a:off x="3771900" y="1428750"/>
            <a:ext cx="4648200" cy="3714750"/>
          </a:xfrm>
          <a:prstGeom prst="roundRect">
            <a:avLst>
              <a:gd name="adj" fmla="val 2051"/>
            </a:avLst>
          </a:prstGeom>
          <a:solidFill>
            <a:srgbClr val="EAF3F9"/>
          </a:solidFill>
          <a:ln w="19050">
            <a:solidFill>
              <a:srgbClr val="2169A8"/>
            </a:solidFill>
            <a:prstDash val="solid"/>
          </a:ln>
        </p:spPr>
        <p:txBody>
          <a:bodyPr/>
          <a:lstStyle/>
          <a:p>
            <a:endParaRPr lang="en-US"/>
          </a:p>
        </p:txBody>
      </p:sp>
      <p:sp>
        <p:nvSpPr>
          <p:cNvPr id="13" name="box-454-170">
            <a:extLst>
              <a:ext uri="{FF2B5EF4-FFF2-40B4-BE49-F238E27FC236}">
                <a16:creationId xmlns:a16="http://schemas.microsoft.com/office/drawing/2014/main" id="{12187CF5-B3F5-4FBB-BB42-DAB9C9267909}"/>
              </a:ext>
            </a:extLst>
          </p:cNvPr>
          <p:cNvSpPr>
            <a:spLocks noGrp="1"/>
          </p:cNvSpPr>
          <p:nvPr/>
        </p:nvSpPr>
        <p:spPr>
          <a:xfrm>
            <a:off x="4324350" y="1619250"/>
            <a:ext cx="3543300" cy="323850"/>
          </a:xfrm>
          <a:prstGeom prst="roundRect">
            <a:avLst>
              <a:gd name="adj" fmla="val 23529"/>
            </a:avLst>
          </a:prstGeom>
          <a:solidFill>
            <a:srgbClr val="2169A8"/>
          </a:solidFill>
          <a:ln w="7620">
            <a:solidFill>
              <a:srgbClr val="2169A8"/>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SPEC = HỢP ĐỒNG ĐÚNG CỦA SẢN PHẨM</a:t>
            </a:r>
          </a:p>
        </p:txBody>
      </p:sp>
      <p:sp>
        <p:nvSpPr>
          <p:cNvPr id="14" name="box-426-232">
            <a:extLst>
              <a:ext uri="{FF2B5EF4-FFF2-40B4-BE49-F238E27FC236}">
                <a16:creationId xmlns:a16="http://schemas.microsoft.com/office/drawing/2014/main" id="{370CF488-8D10-4E18-B440-83B7A0D16C97}"/>
              </a:ext>
            </a:extLst>
          </p:cNvPr>
          <p:cNvSpPr>
            <a:spLocks noGrp="1"/>
          </p:cNvSpPr>
          <p:nvPr/>
        </p:nvSpPr>
        <p:spPr>
          <a:xfrm>
            <a:off x="4057650" y="2209800"/>
            <a:ext cx="1885950" cy="428625"/>
          </a:xfrm>
          <a:prstGeom prst="roundRect">
            <a:avLst>
              <a:gd name="adj" fmla="val 17778"/>
            </a:avLst>
          </a:prstGeom>
          <a:solidFill>
            <a:srgbClr val="FFFFFF"/>
          </a:solidFill>
          <a:ln w="11430">
            <a:solidFill>
              <a:srgbClr val="CBD8E3"/>
            </a:solidFill>
            <a:prstDash val="solid"/>
          </a:ln>
        </p:spPr>
        <p:txBody>
          <a:bodyPr>
            <a:noAutofit/>
          </a:bodyPr>
          <a:lstStyle/>
          <a:p>
            <a:pPr algn="ctr">
              <a:defRPr sz="1275" b="0">
                <a:solidFill>
                  <a:srgbClr val="162638"/>
                </a:solidFill>
                <a:latin typeface="Arial"/>
                <a:ea typeface="Arial"/>
                <a:cs typeface="Arial"/>
              </a:defRPr>
            </a:pPr>
            <a:r>
              <a:rPr sz="1275" b="0">
                <a:solidFill>
                  <a:srgbClr val="162638"/>
                </a:solidFill>
                <a:latin typeface="Arial"/>
                <a:ea typeface="Arial"/>
                <a:cs typeface="Arial"/>
              </a:rPr>
              <a:t>Ngữ nghĩa thông tin</a:t>
            </a:r>
          </a:p>
        </p:txBody>
      </p:sp>
      <p:sp>
        <p:nvSpPr>
          <p:cNvPr id="15" name="box-646-232">
            <a:extLst>
              <a:ext uri="{FF2B5EF4-FFF2-40B4-BE49-F238E27FC236}">
                <a16:creationId xmlns:a16="http://schemas.microsoft.com/office/drawing/2014/main" id="{87F7ADA2-70BE-47D8-BEEC-A83160572DBD}"/>
              </a:ext>
            </a:extLst>
          </p:cNvPr>
          <p:cNvSpPr>
            <a:spLocks noGrp="1"/>
          </p:cNvSpPr>
          <p:nvPr/>
        </p:nvSpPr>
        <p:spPr>
          <a:xfrm>
            <a:off x="6153150" y="2209800"/>
            <a:ext cx="1885950" cy="428625"/>
          </a:xfrm>
          <a:prstGeom prst="roundRect">
            <a:avLst>
              <a:gd name="adj" fmla="val 17778"/>
            </a:avLst>
          </a:prstGeom>
          <a:solidFill>
            <a:srgbClr val="FFFFFF"/>
          </a:solidFill>
          <a:ln w="11430">
            <a:solidFill>
              <a:srgbClr val="CBD8E3"/>
            </a:solidFill>
            <a:prstDash val="solid"/>
          </a:ln>
        </p:spPr>
        <p:txBody>
          <a:bodyPr>
            <a:noAutofit/>
          </a:bodyPr>
          <a:lstStyle/>
          <a:p>
            <a:pPr algn="ctr">
              <a:defRPr sz="1275" b="0">
                <a:solidFill>
                  <a:srgbClr val="162638"/>
                </a:solidFill>
                <a:latin typeface="Arial"/>
                <a:ea typeface="Arial"/>
                <a:cs typeface="Arial"/>
              </a:defRPr>
            </a:pPr>
            <a:r>
              <a:rPr sz="1275" b="0">
                <a:solidFill>
                  <a:srgbClr val="162638"/>
                </a:solidFill>
                <a:latin typeface="Arial"/>
                <a:ea typeface="Arial"/>
                <a:cs typeface="Arial"/>
              </a:rPr>
              <a:t>Chuyển trạng thái</a:t>
            </a:r>
          </a:p>
        </p:txBody>
      </p:sp>
      <p:sp>
        <p:nvSpPr>
          <p:cNvPr id="16" name="box-426-297">
            <a:extLst>
              <a:ext uri="{FF2B5EF4-FFF2-40B4-BE49-F238E27FC236}">
                <a16:creationId xmlns:a16="http://schemas.microsoft.com/office/drawing/2014/main" id="{4A273695-F1D2-479A-80D3-4D23F2605282}"/>
              </a:ext>
            </a:extLst>
          </p:cNvPr>
          <p:cNvSpPr>
            <a:spLocks noGrp="1"/>
          </p:cNvSpPr>
          <p:nvPr/>
        </p:nvSpPr>
        <p:spPr>
          <a:xfrm>
            <a:off x="4057650" y="2828925"/>
            <a:ext cx="1885950" cy="428625"/>
          </a:xfrm>
          <a:prstGeom prst="roundRect">
            <a:avLst>
              <a:gd name="adj" fmla="val 17778"/>
            </a:avLst>
          </a:prstGeom>
          <a:solidFill>
            <a:srgbClr val="FFFFFF"/>
          </a:solidFill>
          <a:ln w="11430">
            <a:solidFill>
              <a:srgbClr val="CBD8E3"/>
            </a:solidFill>
            <a:prstDash val="solid"/>
          </a:ln>
        </p:spPr>
        <p:txBody>
          <a:bodyPr>
            <a:noAutofit/>
          </a:bodyPr>
          <a:lstStyle/>
          <a:p>
            <a:pPr algn="ctr">
              <a:defRPr sz="1275" b="0">
                <a:solidFill>
                  <a:srgbClr val="162638"/>
                </a:solidFill>
                <a:latin typeface="Arial"/>
                <a:ea typeface="Arial"/>
                <a:cs typeface="Arial"/>
              </a:defRPr>
            </a:pPr>
            <a:r>
              <a:rPr sz="1275" b="0">
                <a:solidFill>
                  <a:srgbClr val="162638"/>
                </a:solidFill>
                <a:latin typeface="Arial"/>
                <a:ea typeface="Arial"/>
                <a:cs typeface="Arial"/>
              </a:rPr>
              <a:t>Quy tắc nghiệp vụ</a:t>
            </a:r>
          </a:p>
        </p:txBody>
      </p:sp>
      <p:sp>
        <p:nvSpPr>
          <p:cNvPr id="17" name="box-646-297">
            <a:extLst>
              <a:ext uri="{FF2B5EF4-FFF2-40B4-BE49-F238E27FC236}">
                <a16:creationId xmlns:a16="http://schemas.microsoft.com/office/drawing/2014/main" id="{EFF62580-5379-484A-B8E5-7ED5A1B6941D}"/>
              </a:ext>
            </a:extLst>
          </p:cNvPr>
          <p:cNvSpPr>
            <a:spLocks noGrp="1"/>
          </p:cNvSpPr>
          <p:nvPr/>
        </p:nvSpPr>
        <p:spPr>
          <a:xfrm>
            <a:off x="6153150" y="2828925"/>
            <a:ext cx="1885950" cy="428625"/>
          </a:xfrm>
          <a:prstGeom prst="roundRect">
            <a:avLst>
              <a:gd name="adj" fmla="val 17778"/>
            </a:avLst>
          </a:prstGeom>
          <a:solidFill>
            <a:srgbClr val="FFFFFF"/>
          </a:solidFill>
          <a:ln w="11430">
            <a:solidFill>
              <a:srgbClr val="CBD8E3"/>
            </a:solidFill>
            <a:prstDash val="solid"/>
          </a:ln>
        </p:spPr>
        <p:txBody>
          <a:bodyPr>
            <a:noAutofit/>
          </a:bodyPr>
          <a:lstStyle/>
          <a:p>
            <a:pPr algn="ctr">
              <a:defRPr sz="1275" b="0">
                <a:solidFill>
                  <a:srgbClr val="162638"/>
                </a:solidFill>
                <a:latin typeface="Arial"/>
                <a:ea typeface="Arial"/>
                <a:cs typeface="Arial"/>
              </a:defRPr>
            </a:pPr>
            <a:r>
              <a:rPr sz="1275" b="0">
                <a:solidFill>
                  <a:srgbClr val="162638"/>
                </a:solidFill>
                <a:latin typeface="Arial"/>
                <a:ea typeface="Arial"/>
                <a:cs typeface="Arial"/>
              </a:rPr>
              <a:t>Quyền và policy</a:t>
            </a:r>
          </a:p>
        </p:txBody>
      </p:sp>
      <p:sp>
        <p:nvSpPr>
          <p:cNvPr id="18" name="box-426-362">
            <a:extLst>
              <a:ext uri="{FF2B5EF4-FFF2-40B4-BE49-F238E27FC236}">
                <a16:creationId xmlns:a16="http://schemas.microsoft.com/office/drawing/2014/main" id="{4BF81B33-01F8-4AD1-BCA9-2336769AA1D5}"/>
              </a:ext>
            </a:extLst>
          </p:cNvPr>
          <p:cNvSpPr>
            <a:spLocks noGrp="1"/>
          </p:cNvSpPr>
          <p:nvPr/>
        </p:nvSpPr>
        <p:spPr>
          <a:xfrm>
            <a:off x="4057650" y="3448050"/>
            <a:ext cx="1885950" cy="428625"/>
          </a:xfrm>
          <a:prstGeom prst="roundRect">
            <a:avLst>
              <a:gd name="adj" fmla="val 17778"/>
            </a:avLst>
          </a:prstGeom>
          <a:solidFill>
            <a:srgbClr val="FFFFFF"/>
          </a:solidFill>
          <a:ln w="11430">
            <a:solidFill>
              <a:srgbClr val="CBD8E3"/>
            </a:solidFill>
            <a:prstDash val="solid"/>
          </a:ln>
        </p:spPr>
        <p:txBody>
          <a:bodyPr>
            <a:noAutofit/>
          </a:bodyPr>
          <a:lstStyle/>
          <a:p>
            <a:pPr algn="ctr">
              <a:defRPr sz="1275" b="0">
                <a:solidFill>
                  <a:srgbClr val="162638"/>
                </a:solidFill>
                <a:latin typeface="Arial"/>
                <a:ea typeface="Arial"/>
                <a:cs typeface="Arial"/>
              </a:defRPr>
            </a:pPr>
            <a:r>
              <a:rPr sz="1275" b="0">
                <a:solidFill>
                  <a:srgbClr val="162638"/>
                </a:solidFill>
                <a:latin typeface="Arial"/>
                <a:ea typeface="Arial"/>
                <a:cs typeface="Arial"/>
              </a:rPr>
              <a:t>Hành vi khi lỗi</a:t>
            </a:r>
          </a:p>
        </p:txBody>
      </p:sp>
      <p:sp>
        <p:nvSpPr>
          <p:cNvPr id="19" name="box-646-362">
            <a:extLst>
              <a:ext uri="{FF2B5EF4-FFF2-40B4-BE49-F238E27FC236}">
                <a16:creationId xmlns:a16="http://schemas.microsoft.com/office/drawing/2014/main" id="{705B81CA-9F10-440D-A224-E13BDB10A7D1}"/>
              </a:ext>
            </a:extLst>
          </p:cNvPr>
          <p:cNvSpPr>
            <a:spLocks noGrp="1"/>
          </p:cNvSpPr>
          <p:nvPr/>
        </p:nvSpPr>
        <p:spPr>
          <a:xfrm>
            <a:off x="6153150" y="3448050"/>
            <a:ext cx="1885950" cy="428625"/>
          </a:xfrm>
          <a:prstGeom prst="roundRect">
            <a:avLst>
              <a:gd name="adj" fmla="val 17778"/>
            </a:avLst>
          </a:prstGeom>
          <a:solidFill>
            <a:srgbClr val="FFFFFF"/>
          </a:solidFill>
          <a:ln w="11430">
            <a:solidFill>
              <a:srgbClr val="CBD8E3"/>
            </a:solidFill>
            <a:prstDash val="solid"/>
          </a:ln>
        </p:spPr>
        <p:txBody>
          <a:bodyPr>
            <a:noAutofit/>
          </a:bodyPr>
          <a:lstStyle/>
          <a:p>
            <a:pPr algn="ctr">
              <a:defRPr sz="1275" b="0">
                <a:solidFill>
                  <a:srgbClr val="162638"/>
                </a:solidFill>
                <a:latin typeface="Arial"/>
                <a:ea typeface="Arial"/>
                <a:cs typeface="Arial"/>
              </a:defRPr>
            </a:pPr>
            <a:r>
              <a:rPr sz="1275" b="0">
                <a:solidFill>
                  <a:srgbClr val="162638"/>
                </a:solidFill>
                <a:latin typeface="Arial"/>
                <a:ea typeface="Arial"/>
                <a:cs typeface="Arial"/>
              </a:rPr>
              <a:t>Phục hồi và retry</a:t>
            </a:r>
          </a:p>
        </p:txBody>
      </p:sp>
      <p:sp>
        <p:nvSpPr>
          <p:cNvPr id="20" name="box-426-427">
            <a:extLst>
              <a:ext uri="{FF2B5EF4-FFF2-40B4-BE49-F238E27FC236}">
                <a16:creationId xmlns:a16="http://schemas.microsoft.com/office/drawing/2014/main" id="{05AA741B-CD31-4C26-81A9-661C7A8556A7}"/>
              </a:ext>
            </a:extLst>
          </p:cNvPr>
          <p:cNvSpPr>
            <a:spLocks noGrp="1"/>
          </p:cNvSpPr>
          <p:nvPr/>
        </p:nvSpPr>
        <p:spPr>
          <a:xfrm>
            <a:off x="4057650" y="4067175"/>
            <a:ext cx="4076700" cy="428625"/>
          </a:xfrm>
          <a:prstGeom prst="roundRect">
            <a:avLst>
              <a:gd name="adj" fmla="val 17778"/>
            </a:avLst>
          </a:prstGeom>
          <a:solidFill>
            <a:srgbClr val="FFFFFF"/>
          </a:solidFill>
          <a:ln w="11430">
            <a:solidFill>
              <a:srgbClr val="CBD8E3"/>
            </a:solidFill>
            <a:prstDash val="solid"/>
          </a:ln>
        </p:spPr>
        <p:txBody>
          <a:bodyPr>
            <a:noAutofit/>
          </a:bodyPr>
          <a:lstStyle/>
          <a:p>
            <a:pPr algn="ctr">
              <a:defRPr sz="1275" b="1">
                <a:solidFill>
                  <a:srgbClr val="162638"/>
                </a:solidFill>
                <a:latin typeface="Arial"/>
                <a:ea typeface="Arial"/>
                <a:cs typeface="Arial"/>
              </a:defRPr>
            </a:pPr>
            <a:r>
              <a:rPr sz="1275" b="1">
                <a:solidFill>
                  <a:srgbClr val="162638"/>
                </a:solidFill>
                <a:latin typeface="Arial"/>
                <a:ea typeface="Arial"/>
                <a:cs typeface="Arial"/>
              </a:rPr>
              <a:t>Acceptance + Verification</a:t>
            </a:r>
          </a:p>
        </p:txBody>
      </p:sp>
      <p:sp>
        <p:nvSpPr>
          <p:cNvPr id="21" name="text-894-248-→">
            <a:extLst>
              <a:ext uri="{FF2B5EF4-FFF2-40B4-BE49-F238E27FC236}">
                <a16:creationId xmlns:a16="http://schemas.microsoft.com/office/drawing/2014/main" id="{FD517F86-E299-4D7A-A0F0-2D1E523FA918}"/>
              </a:ext>
            </a:extLst>
          </p:cNvPr>
          <p:cNvSpPr>
            <a:spLocks noGrp="1"/>
          </p:cNvSpPr>
          <p:nvPr/>
        </p:nvSpPr>
        <p:spPr>
          <a:xfrm>
            <a:off x="8515350" y="2362200"/>
            <a:ext cx="514350" cy="476250"/>
          </a:xfrm>
          <a:prstGeom prst="rect">
            <a:avLst/>
          </a:prstGeom>
          <a:noFill/>
          <a:ln w="0">
            <a:noFill/>
          </a:ln>
        </p:spPr>
        <p:txBody>
          <a:bodyPr>
            <a:noAutofit/>
          </a:bodyPr>
          <a:lstStyle/>
          <a:p>
            <a:pPr algn="ctr">
              <a:defRPr sz="2550" b="1">
                <a:solidFill>
                  <a:srgbClr val="6C5AA8"/>
                </a:solidFill>
                <a:latin typeface="Arial"/>
                <a:ea typeface="Arial"/>
                <a:cs typeface="Arial"/>
              </a:defRPr>
            </a:pPr>
            <a:r>
              <a:rPr sz="2550" b="1">
                <a:solidFill>
                  <a:srgbClr val="6C5AA8"/>
                </a:solidFill>
                <a:latin typeface="Arial"/>
                <a:ea typeface="Arial"/>
                <a:cs typeface="Arial"/>
              </a:rPr>
              <a:t>→</a:t>
            </a:r>
          </a:p>
        </p:txBody>
      </p:sp>
      <p:sp>
        <p:nvSpPr>
          <p:cNvPr id="22" name="box-956-210">
            <a:extLst>
              <a:ext uri="{FF2B5EF4-FFF2-40B4-BE49-F238E27FC236}">
                <a16:creationId xmlns:a16="http://schemas.microsoft.com/office/drawing/2014/main" id="{3FCE3940-432C-4A94-AF01-EC565139428C}"/>
              </a:ext>
            </a:extLst>
          </p:cNvPr>
          <p:cNvSpPr>
            <a:spLocks noGrp="1"/>
          </p:cNvSpPr>
          <p:nvPr/>
        </p:nvSpPr>
        <p:spPr>
          <a:xfrm>
            <a:off x="9105900" y="2000250"/>
            <a:ext cx="2495550" cy="1371600"/>
          </a:xfrm>
          <a:prstGeom prst="roundRect">
            <a:avLst>
              <a:gd name="adj" fmla="val 5556"/>
            </a:avLst>
          </a:prstGeom>
          <a:solidFill>
            <a:srgbClr val="F0EDFA"/>
          </a:solidFill>
          <a:ln w="14288">
            <a:solidFill>
              <a:srgbClr val="6C5AA8"/>
            </a:solidFill>
            <a:prstDash val="solid"/>
          </a:ln>
        </p:spPr>
        <p:txBody>
          <a:bodyPr/>
          <a:lstStyle/>
          <a:p>
            <a:endParaRPr lang="en-US"/>
          </a:p>
        </p:txBody>
      </p:sp>
      <p:sp>
        <p:nvSpPr>
          <p:cNvPr id="23" name="box-972-226">
            <a:extLst>
              <a:ext uri="{FF2B5EF4-FFF2-40B4-BE49-F238E27FC236}">
                <a16:creationId xmlns:a16="http://schemas.microsoft.com/office/drawing/2014/main" id="{95C07D24-4590-422A-A64B-420545712A32}"/>
              </a:ext>
            </a:extLst>
          </p:cNvPr>
          <p:cNvSpPr>
            <a:spLocks noGrp="1"/>
          </p:cNvSpPr>
          <p:nvPr/>
        </p:nvSpPr>
        <p:spPr>
          <a:xfrm>
            <a:off x="9258300" y="2152650"/>
            <a:ext cx="361950" cy="361950"/>
          </a:xfrm>
          <a:prstGeom prst="ellipse">
            <a:avLst/>
          </a:prstGeom>
          <a:solidFill>
            <a:srgbClr val="6C5AA8"/>
          </a:solidFill>
          <a:ln w="11430">
            <a:solidFill>
              <a:srgbClr val="6C5AA8"/>
            </a:solidFill>
            <a:prstDash val="solid"/>
          </a:ln>
        </p:spPr>
        <p:txBody>
          <a:bodyPr>
            <a:no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24" name="text-1024-225-TECH">
            <a:extLst>
              <a:ext uri="{FF2B5EF4-FFF2-40B4-BE49-F238E27FC236}">
                <a16:creationId xmlns:a16="http://schemas.microsoft.com/office/drawing/2014/main" id="{FFA25336-2EE1-4D23-AE9A-685D971C417E}"/>
              </a:ext>
            </a:extLst>
          </p:cNvPr>
          <p:cNvSpPr>
            <a:spLocks noGrp="1"/>
          </p:cNvSpPr>
          <p:nvPr/>
        </p:nvSpPr>
        <p:spPr>
          <a:xfrm>
            <a:off x="9753600" y="2143125"/>
            <a:ext cx="1695450" cy="323850"/>
          </a:xfrm>
          <a:prstGeom prst="rect">
            <a:avLst/>
          </a:prstGeom>
          <a:noFill/>
          <a:ln w="0">
            <a:noFill/>
          </a:ln>
        </p:spPr>
        <p:txBody>
          <a:bodyPr>
            <a:noAutofit/>
          </a:bodyPr>
          <a:lstStyle/>
          <a:p>
            <a:pPr algn="l">
              <a:defRPr sz="1800" b="1">
                <a:solidFill>
                  <a:srgbClr val="102744"/>
                </a:solidFill>
                <a:latin typeface="Arial"/>
                <a:ea typeface="Arial"/>
                <a:cs typeface="Arial"/>
              </a:defRPr>
            </a:pPr>
            <a:r>
              <a:rPr sz="1800" b="1">
                <a:solidFill>
                  <a:srgbClr val="102744"/>
                </a:solidFill>
                <a:latin typeface="Arial"/>
                <a:ea typeface="Arial"/>
                <a:cs typeface="Arial"/>
              </a:rPr>
              <a:t>TECH</a:t>
            </a:r>
          </a:p>
        </p:txBody>
      </p:sp>
      <p:sp>
        <p:nvSpPr>
          <p:cNvPr id="25" name="text-976-276-Kiến trúc và côn">
            <a:extLst>
              <a:ext uri="{FF2B5EF4-FFF2-40B4-BE49-F238E27FC236}">
                <a16:creationId xmlns:a16="http://schemas.microsoft.com/office/drawing/2014/main" id="{7D189124-2257-4AFC-B17F-40F1213DC1E3}"/>
              </a:ext>
            </a:extLst>
          </p:cNvPr>
          <p:cNvSpPr>
            <a:spLocks noGrp="1"/>
          </p:cNvSpPr>
          <p:nvPr/>
        </p:nvSpPr>
        <p:spPr>
          <a:xfrm>
            <a:off x="9296400" y="2628900"/>
            <a:ext cx="2114550" cy="552450"/>
          </a:xfrm>
          <a:prstGeom prst="rect">
            <a:avLst/>
          </a:prstGeom>
          <a:noFill/>
          <a:ln w="0">
            <a:noFill/>
          </a:ln>
        </p:spPr>
        <p:txBody>
          <a:bodyPr>
            <a:noAutofit/>
          </a:bodyPr>
          <a:lstStyle/>
          <a:p>
            <a:pPr algn="ctr">
              <a:defRPr sz="1275" b="0">
                <a:solidFill>
                  <a:srgbClr val="4B6075"/>
                </a:solidFill>
                <a:latin typeface="Arial"/>
                <a:ea typeface="Arial"/>
                <a:cs typeface="Arial"/>
              </a:defRPr>
            </a:pPr>
            <a:r>
              <a:rPr sz="1275" b="0">
                <a:solidFill>
                  <a:srgbClr val="4B6075"/>
                </a:solidFill>
                <a:latin typeface="Arial"/>
                <a:ea typeface="Arial"/>
                <a:cs typeface="Arial"/>
              </a:rPr>
              <a:t>Kiến trúc và công nghệ đáp ứng contract</a:t>
            </a:r>
          </a:p>
        </p:txBody>
      </p:sp>
      <p:sp>
        <p:nvSpPr>
          <p:cNvPr id="26" name="box-410-568">
            <a:extLst>
              <a:ext uri="{FF2B5EF4-FFF2-40B4-BE49-F238E27FC236}">
                <a16:creationId xmlns:a16="http://schemas.microsoft.com/office/drawing/2014/main" id="{C263E12B-0729-4034-B3DC-2894D7C2A509}"/>
              </a:ext>
            </a:extLst>
          </p:cNvPr>
          <p:cNvSpPr>
            <a:spLocks noGrp="1"/>
          </p:cNvSpPr>
          <p:nvPr/>
        </p:nvSpPr>
        <p:spPr>
          <a:xfrm>
            <a:off x="3905250" y="5410200"/>
            <a:ext cx="4381500" cy="400050"/>
          </a:xfrm>
          <a:prstGeom prst="roundRect">
            <a:avLst>
              <a:gd name="adj" fmla="val 19048"/>
            </a:avLst>
          </a:prstGeom>
          <a:solidFill>
            <a:srgbClr val="102744"/>
          </a:solidFill>
          <a:ln w="7620">
            <a:solidFill>
              <a:srgbClr val="102744"/>
            </a:solidFill>
            <a:prstDash val="solid"/>
          </a:ln>
        </p:spPr>
        <p:txBody>
          <a:bodyPr>
            <a:noAutofit/>
          </a:bodyPr>
          <a:lstStyle/>
          <a:p>
            <a:pPr algn="ctr">
              <a:defRPr sz="1275" b="1">
                <a:solidFill>
                  <a:srgbClr val="FFFFFF"/>
                </a:solidFill>
                <a:latin typeface="Arial"/>
                <a:ea typeface="Arial"/>
                <a:cs typeface="Arial"/>
              </a:defRPr>
            </a:pPr>
            <a:r>
              <a:rPr sz="1275" b="1" dirty="0">
                <a:solidFill>
                  <a:srgbClr val="FFFFFF"/>
                </a:solidFill>
                <a:latin typeface="Arial"/>
                <a:ea typeface="Arial"/>
                <a:cs typeface="Arial"/>
              </a:rPr>
              <a:t>87 </a:t>
            </a:r>
            <a:r>
              <a:rPr sz="1275" b="1" dirty="0" err="1">
                <a:solidFill>
                  <a:srgbClr val="FFFFFF"/>
                </a:solidFill>
                <a:latin typeface="Arial"/>
                <a:ea typeface="Arial"/>
                <a:cs typeface="Arial"/>
              </a:rPr>
              <a:t>yêu</a:t>
            </a:r>
            <a:r>
              <a:rPr sz="1275" b="1" dirty="0">
                <a:solidFill>
                  <a:srgbClr val="FFFFFF"/>
                </a:solidFill>
                <a:latin typeface="Arial"/>
                <a:ea typeface="Arial"/>
                <a:cs typeface="Arial"/>
              </a:rPr>
              <a:t> </a:t>
            </a:r>
            <a:r>
              <a:rPr sz="1275" b="1" dirty="0" err="1">
                <a:solidFill>
                  <a:srgbClr val="FFFFFF"/>
                </a:solidFill>
                <a:latin typeface="Arial"/>
                <a:ea typeface="Arial"/>
                <a:cs typeface="Arial"/>
              </a:rPr>
              <a:t>cầu</a:t>
            </a:r>
            <a:r>
              <a:rPr sz="1275" b="1" dirty="0">
                <a:solidFill>
                  <a:srgbClr val="FFFFFF"/>
                </a:solidFill>
                <a:latin typeface="Arial"/>
                <a:ea typeface="Arial"/>
                <a:cs typeface="Arial"/>
              </a:rPr>
              <a:t> </a:t>
            </a:r>
            <a:r>
              <a:rPr sz="1275" b="1" dirty="0" err="1">
                <a:solidFill>
                  <a:srgbClr val="FFFFFF"/>
                </a:solidFill>
                <a:latin typeface="Arial"/>
                <a:ea typeface="Arial"/>
                <a:cs typeface="Arial"/>
              </a:rPr>
              <a:t>có</a:t>
            </a:r>
            <a:r>
              <a:rPr sz="1275" b="1" dirty="0">
                <a:solidFill>
                  <a:srgbClr val="FFFFFF"/>
                </a:solidFill>
                <a:latin typeface="Arial"/>
                <a:ea typeface="Arial"/>
                <a:cs typeface="Arial"/>
              </a:rPr>
              <a:t> </a:t>
            </a:r>
            <a:r>
              <a:rPr sz="1275" b="1" dirty="0" err="1">
                <a:solidFill>
                  <a:srgbClr val="FFFFFF"/>
                </a:solidFill>
                <a:latin typeface="Arial"/>
                <a:ea typeface="Arial"/>
                <a:cs typeface="Arial"/>
              </a:rPr>
              <a:t>thể</a:t>
            </a:r>
            <a:r>
              <a:rPr sz="1275" b="1" dirty="0">
                <a:solidFill>
                  <a:srgbClr val="FFFFFF"/>
                </a:solidFill>
                <a:latin typeface="Arial"/>
                <a:ea typeface="Arial"/>
                <a:cs typeface="Arial"/>
              </a:rPr>
              <a:t> </a:t>
            </a:r>
            <a:r>
              <a:rPr sz="1275" b="1" dirty="0" err="1">
                <a:solidFill>
                  <a:srgbClr val="FFFFFF"/>
                </a:solidFill>
                <a:latin typeface="Arial"/>
                <a:ea typeface="Arial"/>
                <a:cs typeface="Arial"/>
              </a:rPr>
              <a:t>truy</a:t>
            </a:r>
            <a:r>
              <a:rPr sz="1275" b="1" dirty="0">
                <a:solidFill>
                  <a:srgbClr val="FFFFFF"/>
                </a:solidFill>
                <a:latin typeface="Arial"/>
                <a:ea typeface="Arial"/>
                <a:cs typeface="Arial"/>
              </a:rPr>
              <a:t> </a:t>
            </a:r>
            <a:r>
              <a:rPr sz="1275" b="1" dirty="0" err="1">
                <a:solidFill>
                  <a:srgbClr val="FFFFFF"/>
                </a:solidFill>
                <a:latin typeface="Arial"/>
                <a:ea typeface="Arial"/>
                <a:cs typeface="Arial"/>
              </a:rPr>
              <a:t>vết</a:t>
            </a:r>
            <a:r>
              <a:rPr sz="1275" b="1" dirty="0">
                <a:solidFill>
                  <a:srgbClr val="FFFFFF"/>
                </a:solidFill>
                <a:latin typeface="Arial"/>
                <a:ea typeface="Arial"/>
                <a:cs typeface="Arial"/>
              </a:rPr>
              <a:t> </a:t>
            </a:r>
            <a:r>
              <a:rPr sz="1275" b="1" dirty="0" err="1">
                <a:solidFill>
                  <a:srgbClr val="FFFFFF"/>
                </a:solidFill>
                <a:latin typeface="Arial"/>
                <a:ea typeface="Arial"/>
                <a:cs typeface="Arial"/>
              </a:rPr>
              <a:t>trong</a:t>
            </a:r>
            <a:r>
              <a:rPr sz="1275" b="1" dirty="0">
                <a:solidFill>
                  <a:srgbClr val="FFFFFF"/>
                </a:solidFill>
                <a:latin typeface="Arial"/>
                <a:ea typeface="Arial"/>
                <a:cs typeface="Arial"/>
              </a:rPr>
              <a:t> SRS </a:t>
            </a:r>
            <a:r>
              <a:rPr sz="1275" b="1" dirty="0" err="1">
                <a:solidFill>
                  <a:srgbClr val="FFFFFF"/>
                </a:solidFill>
                <a:latin typeface="Arial"/>
                <a:ea typeface="Arial"/>
                <a:cs typeface="Arial"/>
              </a:rPr>
              <a:t>hiện</a:t>
            </a:r>
            <a:r>
              <a:rPr sz="1275" b="1" dirty="0">
                <a:solidFill>
                  <a:srgbClr val="FFFFFF"/>
                </a:solidFill>
                <a:latin typeface="Arial"/>
                <a:ea typeface="Arial"/>
                <a:cs typeface="Arial"/>
              </a:rPr>
              <a:t> </a:t>
            </a:r>
            <a:r>
              <a:rPr sz="1275" b="1" dirty="0" err="1">
                <a:solidFill>
                  <a:srgbClr val="FFFFFF"/>
                </a:solidFill>
                <a:latin typeface="Arial"/>
                <a:ea typeface="Arial"/>
                <a:cs typeface="Arial"/>
              </a:rPr>
              <a:t>hành</a:t>
            </a:r>
            <a:endParaRPr sz="1275" b="1" dirty="0">
              <a:solidFill>
                <a:srgbClr val="FFFFFF"/>
              </a:solidFill>
              <a:latin typeface="Arial"/>
              <a:ea typeface="Arial"/>
              <a:cs typeface="Arial"/>
            </a:endParaRPr>
          </a:p>
        </p:txBody>
      </p:sp>
    </p:spTree>
    <p:extLst>
      <p:ext uri="{BB962C8B-B14F-4D97-AF65-F5344CB8AC3E}">
        <p14:creationId xmlns:p14="http://schemas.microsoft.com/office/powerpoint/2010/main" val="1907348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box-0-0">
            <a:extLst>
              <a:ext uri="{FF2B5EF4-FFF2-40B4-BE49-F238E27FC236}">
                <a16:creationId xmlns:a16="http://schemas.microsoft.com/office/drawing/2014/main" id="{6D51F969-0699-4F7A-BC3D-168EA435AB63}"/>
              </a:ext>
            </a:extLst>
          </p:cNvPr>
          <p:cNvSpPr>
            <a:spLocks noGrp="1"/>
          </p:cNvSpPr>
          <p:nvPr/>
        </p:nvSpPr>
        <p:spPr>
          <a:xfrm>
            <a:off x="0" y="0"/>
            <a:ext cx="133350" cy="6858000"/>
          </a:xfrm>
          <a:prstGeom prst="rect">
            <a:avLst/>
          </a:prstGeom>
          <a:solidFill>
            <a:srgbClr val="2169A8"/>
          </a:solidFill>
          <a:ln w="0">
            <a:noFill/>
            <a:prstDash val="solid"/>
          </a:ln>
        </p:spPr>
        <p:txBody>
          <a:bodyPr/>
          <a:lstStyle/>
          <a:p>
            <a:endParaRPr lang="en-US"/>
          </a:p>
        </p:txBody>
      </p:sp>
      <p:sp>
        <p:nvSpPr>
          <p:cNvPr id="2" name="text-54-28-SPEC">
            <a:extLst>
              <a:ext uri="{FF2B5EF4-FFF2-40B4-BE49-F238E27FC236}">
                <a16:creationId xmlns:a16="http://schemas.microsoft.com/office/drawing/2014/main" id="{FC50D732-272B-4AD0-A6A8-058F1A51E1A0}"/>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Danh tính">
            <a:extLst>
              <a:ext uri="{FF2B5EF4-FFF2-40B4-BE49-F238E27FC236}">
                <a16:creationId xmlns:a16="http://schemas.microsoft.com/office/drawing/2014/main" id="{9746272C-4394-4C29-95EF-AEB922F7540C}"/>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Spec — Danh tính và lịch sử dữ liệu</a:t>
            </a:r>
          </a:p>
        </p:txBody>
      </p:sp>
      <p:sp>
        <p:nvSpPr>
          <p:cNvPr id="4" name="line-54-116">
            <a:extLst>
              <a:ext uri="{FF2B5EF4-FFF2-40B4-BE49-F238E27FC236}">
                <a16:creationId xmlns:a16="http://schemas.microsoft.com/office/drawing/2014/main" id="{EC2197B5-FA22-4573-A396-FAFCE975C37D}"/>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4@0">
            <a:extLst>
              <a:ext uri="{FF2B5EF4-FFF2-40B4-BE49-F238E27FC236}">
                <a16:creationId xmlns:a16="http://schemas.microsoft.com/office/drawing/2014/main" id="{AFF8117E-83E2-47D6-8BCE-25FF9C4F311B}"/>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DOC-06@0.16</a:t>
            </a:r>
          </a:p>
        </p:txBody>
      </p:sp>
      <p:sp>
        <p:nvSpPr>
          <p:cNvPr id="6" name="text-1170-680-05">
            <a:extLst>
              <a:ext uri="{FF2B5EF4-FFF2-40B4-BE49-F238E27FC236}">
                <a16:creationId xmlns:a16="http://schemas.microsoft.com/office/drawing/2014/main" id="{D0C5DA51-8CCB-4C9C-A8D0-252AC9704FEE}"/>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05</a:t>
            </a:r>
          </a:p>
        </p:txBody>
      </p:sp>
      <p:sp>
        <p:nvSpPr>
          <p:cNvPr id="7" name="box-64-154">
            <a:extLst>
              <a:ext uri="{FF2B5EF4-FFF2-40B4-BE49-F238E27FC236}">
                <a16:creationId xmlns:a16="http://schemas.microsoft.com/office/drawing/2014/main" id="{FDA8072D-A345-4BDC-8C81-7B0AC058799C}"/>
              </a:ext>
            </a:extLst>
          </p:cNvPr>
          <p:cNvSpPr>
            <a:spLocks noGrp="1"/>
          </p:cNvSpPr>
          <p:nvPr/>
        </p:nvSpPr>
        <p:spPr>
          <a:xfrm>
            <a:off x="609600" y="1466850"/>
            <a:ext cx="2857500" cy="4381500"/>
          </a:xfrm>
          <a:prstGeom prst="roundRect">
            <a:avLst>
              <a:gd name="adj" fmla="val 2667"/>
            </a:avLst>
          </a:prstGeom>
          <a:solidFill>
            <a:srgbClr val="102744"/>
          </a:solidFill>
          <a:ln w="11430">
            <a:solidFill>
              <a:srgbClr val="102744"/>
            </a:solidFill>
            <a:prstDash val="solid"/>
          </a:ln>
        </p:spPr>
        <p:txBody>
          <a:bodyPr/>
          <a:lstStyle/>
          <a:p>
            <a:endParaRPr lang="en-US"/>
          </a:p>
        </p:txBody>
      </p:sp>
      <p:sp>
        <p:nvSpPr>
          <p:cNvPr id="8" name="text-102-196-LOGICAL&#10;DOCUMENT">
            <a:extLst>
              <a:ext uri="{FF2B5EF4-FFF2-40B4-BE49-F238E27FC236}">
                <a16:creationId xmlns:a16="http://schemas.microsoft.com/office/drawing/2014/main" id="{1A0BD3A5-8A10-462B-9F14-CB947EF788D1}"/>
              </a:ext>
            </a:extLst>
          </p:cNvPr>
          <p:cNvSpPr>
            <a:spLocks noGrp="1"/>
          </p:cNvSpPr>
          <p:nvPr/>
        </p:nvSpPr>
        <p:spPr>
          <a:xfrm>
            <a:off x="971550" y="1866900"/>
            <a:ext cx="2133600" cy="800100"/>
          </a:xfrm>
          <a:prstGeom prst="rect">
            <a:avLst/>
          </a:prstGeom>
          <a:noFill/>
          <a:ln w="0">
            <a:noFill/>
          </a:ln>
        </p:spPr>
        <p:txBody>
          <a:bodyPr>
            <a:noAutofit/>
          </a:bodyPr>
          <a:lstStyle/>
          <a:p>
            <a:pPr algn="ctr">
              <a:defRPr sz="2250" b="1">
                <a:solidFill>
                  <a:srgbClr val="FFFFFF"/>
                </a:solidFill>
                <a:latin typeface="Arial"/>
                <a:ea typeface="Arial"/>
                <a:cs typeface="Arial"/>
              </a:defRPr>
            </a:pPr>
            <a:r>
              <a:rPr sz="2250" b="1">
                <a:solidFill>
                  <a:srgbClr val="FFFFFF"/>
                </a:solidFill>
                <a:latin typeface="Arial"/>
                <a:ea typeface="Arial"/>
                <a:cs typeface="Arial"/>
              </a:rPr>
              <a:t>LOGICAL</a:t>
            </a:r>
          </a:p>
          <a:p>
            <a:pPr algn="ctr">
              <a:defRPr sz="2250" b="1">
                <a:solidFill>
                  <a:srgbClr val="FFFFFF"/>
                </a:solidFill>
                <a:latin typeface="Arial"/>
                <a:ea typeface="Arial"/>
                <a:cs typeface="Arial"/>
              </a:defRPr>
            </a:pPr>
            <a:r>
              <a:rPr sz="2250" b="1">
                <a:solidFill>
                  <a:srgbClr val="FFFFFF"/>
                </a:solidFill>
                <a:latin typeface="Arial"/>
                <a:ea typeface="Arial"/>
                <a:cs typeface="Arial"/>
              </a:rPr>
              <a:t>DOCUMENT</a:t>
            </a:r>
          </a:p>
        </p:txBody>
      </p:sp>
      <p:sp>
        <p:nvSpPr>
          <p:cNvPr id="9" name="text-94-307-Danh tính ổn địn">
            <a:extLst>
              <a:ext uri="{FF2B5EF4-FFF2-40B4-BE49-F238E27FC236}">
                <a16:creationId xmlns:a16="http://schemas.microsoft.com/office/drawing/2014/main" id="{AAFC9158-86FD-4225-99D9-7D9E0487B5F2}"/>
              </a:ext>
            </a:extLst>
          </p:cNvPr>
          <p:cNvSpPr>
            <a:spLocks noGrp="1"/>
          </p:cNvSpPr>
          <p:nvPr/>
        </p:nvSpPr>
        <p:spPr>
          <a:xfrm>
            <a:off x="895350" y="2924175"/>
            <a:ext cx="2286000" cy="685800"/>
          </a:xfrm>
          <a:prstGeom prst="rect">
            <a:avLst/>
          </a:prstGeom>
          <a:noFill/>
          <a:ln w="0">
            <a:noFill/>
          </a:ln>
        </p:spPr>
        <p:txBody>
          <a:bodyPr>
            <a:noAutofit/>
          </a:bodyPr>
          <a:lstStyle/>
          <a:p>
            <a:pPr algn="ctr">
              <a:defRPr sz="1425" b="0">
                <a:solidFill>
                  <a:srgbClr val="C9DBEA"/>
                </a:solidFill>
                <a:latin typeface="Arial"/>
                <a:ea typeface="Arial"/>
                <a:cs typeface="Arial"/>
              </a:defRPr>
            </a:pPr>
            <a:r>
              <a:rPr sz="1425" b="0">
                <a:solidFill>
                  <a:srgbClr val="C9DBEA"/>
                </a:solidFill>
                <a:latin typeface="Arial"/>
                <a:ea typeface="Arial"/>
                <a:cs typeface="Arial"/>
              </a:rPr>
              <a:t>Danh tính ổn định</a:t>
            </a:r>
          </a:p>
          <a:p>
            <a:pPr algn="ctr">
              <a:defRPr sz="1425" b="0">
                <a:solidFill>
                  <a:srgbClr val="C9DBEA"/>
                </a:solidFill>
                <a:latin typeface="Arial"/>
                <a:ea typeface="Arial"/>
                <a:cs typeface="Arial"/>
              </a:defRPr>
            </a:pPr>
            <a:r>
              <a:rPr sz="1425" b="0">
                <a:solidFill>
                  <a:srgbClr val="C9DBEA"/>
                </a:solidFill>
                <a:latin typeface="Arial"/>
                <a:ea typeface="Arial"/>
                <a:cs typeface="Arial"/>
              </a:rPr>
              <a:t>qua toàn bộ lịch sử</a:t>
            </a:r>
          </a:p>
        </p:txBody>
      </p:sp>
      <p:sp>
        <p:nvSpPr>
          <p:cNvPr id="10" name="box-100-420">
            <a:extLst>
              <a:ext uri="{FF2B5EF4-FFF2-40B4-BE49-F238E27FC236}">
                <a16:creationId xmlns:a16="http://schemas.microsoft.com/office/drawing/2014/main" id="{50F06B51-07A2-4626-9773-EB731266AF82}"/>
              </a:ext>
            </a:extLst>
          </p:cNvPr>
          <p:cNvSpPr>
            <a:spLocks noGrp="1"/>
          </p:cNvSpPr>
          <p:nvPr/>
        </p:nvSpPr>
        <p:spPr>
          <a:xfrm>
            <a:off x="952500" y="4000500"/>
            <a:ext cx="2171700" cy="323850"/>
          </a:xfrm>
          <a:prstGeom prst="roundRect">
            <a:avLst>
              <a:gd name="adj" fmla="val 23529"/>
            </a:avLst>
          </a:prstGeom>
          <a:solidFill>
            <a:srgbClr val="26496E"/>
          </a:solidFill>
          <a:ln w="7620">
            <a:solidFill>
              <a:srgbClr val="26496E"/>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Đổi tên ≠ tài liệu mới</a:t>
            </a:r>
          </a:p>
        </p:txBody>
      </p:sp>
      <p:sp>
        <p:nvSpPr>
          <p:cNvPr id="11" name="box-82-474">
            <a:extLst>
              <a:ext uri="{FF2B5EF4-FFF2-40B4-BE49-F238E27FC236}">
                <a16:creationId xmlns:a16="http://schemas.microsoft.com/office/drawing/2014/main" id="{718FFEEB-BFB1-4FA9-BCBE-90C06E8E4583}"/>
              </a:ext>
            </a:extLst>
          </p:cNvPr>
          <p:cNvSpPr>
            <a:spLocks noGrp="1"/>
          </p:cNvSpPr>
          <p:nvPr/>
        </p:nvSpPr>
        <p:spPr>
          <a:xfrm>
            <a:off x="781050" y="4514850"/>
            <a:ext cx="2514600" cy="323850"/>
          </a:xfrm>
          <a:prstGeom prst="roundRect">
            <a:avLst>
              <a:gd name="adj" fmla="val 23529"/>
            </a:avLst>
          </a:prstGeom>
          <a:solidFill>
            <a:srgbClr val="26496E"/>
          </a:solidFill>
          <a:ln w="7620">
            <a:solidFill>
              <a:srgbClr val="26496E"/>
            </a:solidFill>
            <a:prstDash val="solid"/>
          </a:ln>
        </p:spPr>
        <p:txBody>
          <a:bodyPr>
            <a:noAutofit/>
          </a:body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Published Generation bất biến</a:t>
            </a:r>
          </a:p>
        </p:txBody>
      </p:sp>
      <p:sp>
        <p:nvSpPr>
          <p:cNvPr id="12" name="text-370-330-→">
            <a:extLst>
              <a:ext uri="{FF2B5EF4-FFF2-40B4-BE49-F238E27FC236}">
                <a16:creationId xmlns:a16="http://schemas.microsoft.com/office/drawing/2014/main" id="{7B044408-CD05-45A7-A6DB-6A6BCB0B2CF5}"/>
              </a:ext>
            </a:extLst>
          </p:cNvPr>
          <p:cNvSpPr>
            <a:spLocks noGrp="1"/>
          </p:cNvSpPr>
          <p:nvPr/>
        </p:nvSpPr>
        <p:spPr>
          <a:xfrm>
            <a:off x="3524250" y="3143250"/>
            <a:ext cx="514350" cy="476250"/>
          </a:xfrm>
          <a:prstGeom prst="rect">
            <a:avLst/>
          </a:prstGeom>
          <a:noFill/>
          <a:ln w="0">
            <a:noFill/>
          </a:ln>
        </p:spPr>
        <p:txBody>
          <a:bodyPr>
            <a:noAutofit/>
          </a:bodyPr>
          <a:lstStyle/>
          <a:p>
            <a:pPr algn="ctr">
              <a:defRPr sz="2700" b="1">
                <a:solidFill>
                  <a:srgbClr val="2169A8"/>
                </a:solidFill>
                <a:latin typeface="Arial"/>
                <a:ea typeface="Arial"/>
                <a:cs typeface="Arial"/>
              </a:defRPr>
            </a:pPr>
            <a:r>
              <a:rPr sz="2700" b="1">
                <a:solidFill>
                  <a:srgbClr val="2169A8"/>
                </a:solidFill>
                <a:latin typeface="Arial"/>
                <a:ea typeface="Arial"/>
                <a:cs typeface="Arial"/>
              </a:rPr>
              <a:t>→</a:t>
            </a:r>
          </a:p>
        </p:txBody>
      </p:sp>
      <p:sp>
        <p:nvSpPr>
          <p:cNvPr id="13" name="box-430-150">
            <a:extLst>
              <a:ext uri="{FF2B5EF4-FFF2-40B4-BE49-F238E27FC236}">
                <a16:creationId xmlns:a16="http://schemas.microsoft.com/office/drawing/2014/main" id="{FFF601DE-5A67-4DA7-9B06-49D95EE48E83}"/>
              </a:ext>
            </a:extLst>
          </p:cNvPr>
          <p:cNvSpPr>
            <a:spLocks noGrp="1"/>
          </p:cNvSpPr>
          <p:nvPr/>
        </p:nvSpPr>
        <p:spPr>
          <a:xfrm>
            <a:off x="4095750" y="1428750"/>
            <a:ext cx="3333750" cy="4419600"/>
          </a:xfrm>
          <a:prstGeom prst="roundRect">
            <a:avLst>
              <a:gd name="adj" fmla="val 2286"/>
            </a:avLst>
          </a:prstGeom>
          <a:solidFill>
            <a:srgbClr val="EAF3F9"/>
          </a:solidFill>
          <a:ln w="14288">
            <a:solidFill>
              <a:srgbClr val="2169A8"/>
            </a:solidFill>
            <a:prstDash val="solid"/>
          </a:ln>
        </p:spPr>
        <p:txBody>
          <a:bodyPr/>
          <a:lstStyle/>
          <a:p>
            <a:endParaRPr lang="en-US"/>
          </a:p>
        </p:txBody>
      </p:sp>
      <p:sp>
        <p:nvSpPr>
          <p:cNvPr id="14" name="box-454-170">
            <a:extLst>
              <a:ext uri="{FF2B5EF4-FFF2-40B4-BE49-F238E27FC236}">
                <a16:creationId xmlns:a16="http://schemas.microsoft.com/office/drawing/2014/main" id="{84CF30BF-7221-4A1F-91D5-9F3D161EBCC2}"/>
              </a:ext>
            </a:extLst>
          </p:cNvPr>
          <p:cNvSpPr>
            <a:spLocks noGrp="1"/>
          </p:cNvSpPr>
          <p:nvPr/>
        </p:nvSpPr>
        <p:spPr>
          <a:xfrm>
            <a:off x="4324350" y="1619250"/>
            <a:ext cx="2876550" cy="323850"/>
          </a:xfrm>
          <a:prstGeom prst="roundRect">
            <a:avLst>
              <a:gd name="adj" fmla="val 23529"/>
            </a:avLst>
          </a:prstGeom>
          <a:solidFill>
            <a:srgbClr val="2169A8"/>
          </a:solidFill>
          <a:ln w="7620">
            <a:solidFill>
              <a:srgbClr val="2169A8"/>
            </a:solidFill>
            <a:prstDash val="solid"/>
          </a:ln>
        </p:spPr>
        <p:txBody>
          <a:bodyPr>
            <a:no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BUSINESS REVISION A</a:t>
            </a:r>
          </a:p>
        </p:txBody>
      </p:sp>
      <p:sp>
        <p:nvSpPr>
          <p:cNvPr id="15" name="box-468-242">
            <a:extLst>
              <a:ext uri="{FF2B5EF4-FFF2-40B4-BE49-F238E27FC236}">
                <a16:creationId xmlns:a16="http://schemas.microsoft.com/office/drawing/2014/main" id="{3CF0C6E1-51F0-47DB-915C-A406E0E69820}"/>
              </a:ext>
            </a:extLst>
          </p:cNvPr>
          <p:cNvSpPr>
            <a:spLocks noGrp="1"/>
          </p:cNvSpPr>
          <p:nvPr/>
        </p:nvSpPr>
        <p:spPr>
          <a:xfrm>
            <a:off x="4457700" y="2305050"/>
            <a:ext cx="12192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425" b="1">
                <a:solidFill>
                  <a:srgbClr val="162638"/>
                </a:solidFill>
                <a:latin typeface="Arial"/>
                <a:ea typeface="Arial"/>
                <a:cs typeface="Arial"/>
              </a:defRPr>
            </a:pPr>
            <a:r>
              <a:rPr sz="1425" b="1">
                <a:solidFill>
                  <a:srgbClr val="162638"/>
                </a:solidFill>
                <a:latin typeface="Arial"/>
                <a:ea typeface="Arial"/>
                <a:cs typeface="Arial"/>
              </a:rPr>
              <a:t>Version 1</a:t>
            </a:r>
          </a:p>
        </p:txBody>
      </p:sp>
      <p:sp>
        <p:nvSpPr>
          <p:cNvPr id="16" name="text-600-248-→">
            <a:extLst>
              <a:ext uri="{FF2B5EF4-FFF2-40B4-BE49-F238E27FC236}">
                <a16:creationId xmlns:a16="http://schemas.microsoft.com/office/drawing/2014/main" id="{B1DAA3C3-BB28-4DF1-9005-65C8544A051E}"/>
              </a:ext>
            </a:extLst>
          </p:cNvPr>
          <p:cNvSpPr>
            <a:spLocks noGrp="1"/>
          </p:cNvSpPr>
          <p:nvPr/>
        </p:nvSpPr>
        <p:spPr>
          <a:xfrm>
            <a:off x="5715000" y="2362200"/>
            <a:ext cx="457200" cy="419100"/>
          </a:xfrm>
          <a:prstGeom prst="rect">
            <a:avLst/>
          </a:prstGeom>
          <a:noFill/>
          <a:ln w="0">
            <a:noFill/>
          </a:ln>
        </p:spPr>
        <p:txBody>
          <a:bodyPr>
            <a:noAutofit/>
          </a:bodyPr>
          <a:lstStyle/>
          <a:p>
            <a:pPr algn="ctr">
              <a:defRPr sz="2100" b="1">
                <a:solidFill>
                  <a:srgbClr val="7890A6"/>
                </a:solidFill>
                <a:latin typeface="Arial"/>
                <a:ea typeface="Arial"/>
                <a:cs typeface="Arial"/>
              </a:defRPr>
            </a:pPr>
            <a:r>
              <a:rPr sz="2100" b="1">
                <a:solidFill>
                  <a:srgbClr val="7890A6"/>
                </a:solidFill>
                <a:latin typeface="Arial"/>
                <a:ea typeface="Arial"/>
                <a:cs typeface="Arial"/>
              </a:rPr>
              <a:t>→</a:t>
            </a:r>
          </a:p>
        </p:txBody>
      </p:sp>
      <p:sp>
        <p:nvSpPr>
          <p:cNvPr id="17" name="box-650-242">
            <a:extLst>
              <a:ext uri="{FF2B5EF4-FFF2-40B4-BE49-F238E27FC236}">
                <a16:creationId xmlns:a16="http://schemas.microsoft.com/office/drawing/2014/main" id="{E950B510-49EA-4894-B51D-6790DF43D5D9}"/>
              </a:ext>
            </a:extLst>
          </p:cNvPr>
          <p:cNvSpPr>
            <a:spLocks noGrp="1"/>
          </p:cNvSpPr>
          <p:nvPr/>
        </p:nvSpPr>
        <p:spPr>
          <a:xfrm>
            <a:off x="6191250" y="2305050"/>
            <a:ext cx="895350" cy="590550"/>
          </a:xfrm>
          <a:prstGeom prst="roundRect">
            <a:avLst>
              <a:gd name="adj" fmla="val 12903"/>
            </a:avLst>
          </a:prstGeom>
          <a:solidFill>
            <a:srgbClr val="E7F5EE"/>
          </a:solidFill>
          <a:ln w="11430">
            <a:solidFill>
              <a:srgbClr val="2D8A62"/>
            </a:solidFill>
            <a:prstDash val="solid"/>
          </a:ln>
        </p:spPr>
        <p:txBody>
          <a:bodyPr>
            <a:noAutofit/>
          </a:bodyPr>
          <a:lstStyle/>
          <a:p>
            <a:pPr algn="ctr">
              <a:defRPr sz="1425" b="1">
                <a:solidFill>
                  <a:srgbClr val="2D8A62"/>
                </a:solidFill>
                <a:latin typeface="Arial"/>
                <a:ea typeface="Arial"/>
                <a:cs typeface="Arial"/>
              </a:defRPr>
            </a:pPr>
            <a:r>
              <a:rPr sz="1425" b="1">
                <a:solidFill>
                  <a:srgbClr val="2D8A62"/>
                </a:solidFill>
                <a:latin typeface="Arial"/>
                <a:ea typeface="Arial"/>
                <a:cs typeface="Arial"/>
              </a:rPr>
              <a:t>G001</a:t>
            </a:r>
          </a:p>
        </p:txBody>
      </p:sp>
      <p:sp>
        <p:nvSpPr>
          <p:cNvPr id="18" name="box-468-346">
            <a:extLst>
              <a:ext uri="{FF2B5EF4-FFF2-40B4-BE49-F238E27FC236}">
                <a16:creationId xmlns:a16="http://schemas.microsoft.com/office/drawing/2014/main" id="{074D01F0-1ACF-45DA-ACA0-7F3880E966D0}"/>
              </a:ext>
            </a:extLst>
          </p:cNvPr>
          <p:cNvSpPr>
            <a:spLocks noGrp="1"/>
          </p:cNvSpPr>
          <p:nvPr/>
        </p:nvSpPr>
        <p:spPr>
          <a:xfrm>
            <a:off x="4457700" y="3295650"/>
            <a:ext cx="12192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425" b="1">
                <a:solidFill>
                  <a:srgbClr val="162638"/>
                </a:solidFill>
                <a:latin typeface="Arial"/>
                <a:ea typeface="Arial"/>
                <a:cs typeface="Arial"/>
              </a:defRPr>
            </a:pPr>
            <a:r>
              <a:rPr sz="1425" b="1">
                <a:solidFill>
                  <a:srgbClr val="162638"/>
                </a:solidFill>
                <a:latin typeface="Arial"/>
                <a:ea typeface="Arial"/>
                <a:cs typeface="Arial"/>
              </a:rPr>
              <a:t>Version 2</a:t>
            </a:r>
          </a:p>
        </p:txBody>
      </p:sp>
      <p:sp>
        <p:nvSpPr>
          <p:cNvPr id="19" name="text-600-352-→">
            <a:extLst>
              <a:ext uri="{FF2B5EF4-FFF2-40B4-BE49-F238E27FC236}">
                <a16:creationId xmlns:a16="http://schemas.microsoft.com/office/drawing/2014/main" id="{7F349485-630F-4DBE-AB72-A546AF658788}"/>
              </a:ext>
            </a:extLst>
          </p:cNvPr>
          <p:cNvSpPr>
            <a:spLocks noGrp="1"/>
          </p:cNvSpPr>
          <p:nvPr/>
        </p:nvSpPr>
        <p:spPr>
          <a:xfrm>
            <a:off x="5715000" y="3352800"/>
            <a:ext cx="457200" cy="419100"/>
          </a:xfrm>
          <a:prstGeom prst="rect">
            <a:avLst/>
          </a:prstGeom>
          <a:noFill/>
          <a:ln w="0">
            <a:noFill/>
          </a:ln>
        </p:spPr>
        <p:txBody>
          <a:bodyPr>
            <a:noAutofit/>
          </a:bodyPr>
          <a:lstStyle/>
          <a:p>
            <a:pPr algn="ctr">
              <a:defRPr sz="2100" b="1">
                <a:solidFill>
                  <a:srgbClr val="7890A6"/>
                </a:solidFill>
                <a:latin typeface="Arial"/>
                <a:ea typeface="Arial"/>
                <a:cs typeface="Arial"/>
              </a:defRPr>
            </a:pPr>
            <a:r>
              <a:rPr sz="2100" b="1">
                <a:solidFill>
                  <a:srgbClr val="7890A6"/>
                </a:solidFill>
                <a:latin typeface="Arial"/>
                <a:ea typeface="Arial"/>
                <a:cs typeface="Arial"/>
              </a:rPr>
              <a:t>→</a:t>
            </a:r>
          </a:p>
        </p:txBody>
      </p:sp>
      <p:sp>
        <p:nvSpPr>
          <p:cNvPr id="20" name="box-650-346">
            <a:extLst>
              <a:ext uri="{FF2B5EF4-FFF2-40B4-BE49-F238E27FC236}">
                <a16:creationId xmlns:a16="http://schemas.microsoft.com/office/drawing/2014/main" id="{A9A39155-904D-49CE-808A-38FCB4DA35B1}"/>
              </a:ext>
            </a:extLst>
          </p:cNvPr>
          <p:cNvSpPr>
            <a:spLocks noGrp="1"/>
          </p:cNvSpPr>
          <p:nvPr/>
        </p:nvSpPr>
        <p:spPr>
          <a:xfrm>
            <a:off x="6191250" y="3295650"/>
            <a:ext cx="895350" cy="590550"/>
          </a:xfrm>
          <a:prstGeom prst="roundRect">
            <a:avLst>
              <a:gd name="adj" fmla="val 12903"/>
            </a:avLst>
          </a:prstGeom>
          <a:solidFill>
            <a:srgbClr val="E7F5EE"/>
          </a:solidFill>
          <a:ln w="11430">
            <a:solidFill>
              <a:srgbClr val="2D8A62"/>
            </a:solidFill>
            <a:prstDash val="solid"/>
          </a:ln>
        </p:spPr>
        <p:txBody>
          <a:bodyPr>
            <a:noAutofit/>
          </a:bodyPr>
          <a:lstStyle/>
          <a:p>
            <a:pPr algn="ctr">
              <a:defRPr sz="1425" b="1">
                <a:solidFill>
                  <a:srgbClr val="2D8A62"/>
                </a:solidFill>
                <a:latin typeface="Arial"/>
                <a:ea typeface="Arial"/>
                <a:cs typeface="Arial"/>
              </a:defRPr>
            </a:pPr>
            <a:r>
              <a:rPr sz="1425" b="1">
                <a:solidFill>
                  <a:srgbClr val="2D8A62"/>
                </a:solidFill>
                <a:latin typeface="Arial"/>
                <a:ea typeface="Arial"/>
                <a:cs typeface="Arial"/>
              </a:rPr>
              <a:t>G002</a:t>
            </a:r>
          </a:p>
        </p:txBody>
      </p:sp>
      <p:sp>
        <p:nvSpPr>
          <p:cNvPr id="21" name="box-468-450">
            <a:extLst>
              <a:ext uri="{FF2B5EF4-FFF2-40B4-BE49-F238E27FC236}">
                <a16:creationId xmlns:a16="http://schemas.microsoft.com/office/drawing/2014/main" id="{6ABB5AD8-DF2D-4355-B320-38EB637CCA0A}"/>
              </a:ext>
            </a:extLst>
          </p:cNvPr>
          <p:cNvSpPr>
            <a:spLocks noGrp="1"/>
          </p:cNvSpPr>
          <p:nvPr/>
        </p:nvSpPr>
        <p:spPr>
          <a:xfrm>
            <a:off x="4457700" y="4286250"/>
            <a:ext cx="12192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425" b="1">
                <a:solidFill>
                  <a:srgbClr val="162638"/>
                </a:solidFill>
                <a:latin typeface="Arial"/>
                <a:ea typeface="Arial"/>
                <a:cs typeface="Arial"/>
              </a:defRPr>
            </a:pPr>
            <a:r>
              <a:rPr sz="1425" b="1">
                <a:solidFill>
                  <a:srgbClr val="162638"/>
                </a:solidFill>
                <a:latin typeface="Arial"/>
                <a:ea typeface="Arial"/>
                <a:cs typeface="Arial"/>
              </a:rPr>
              <a:t>Version 3</a:t>
            </a:r>
          </a:p>
        </p:txBody>
      </p:sp>
      <p:sp>
        <p:nvSpPr>
          <p:cNvPr id="22" name="text-600-456-→">
            <a:extLst>
              <a:ext uri="{FF2B5EF4-FFF2-40B4-BE49-F238E27FC236}">
                <a16:creationId xmlns:a16="http://schemas.microsoft.com/office/drawing/2014/main" id="{54CB945B-D522-4DEB-9C08-2A1E07EBFD14}"/>
              </a:ext>
            </a:extLst>
          </p:cNvPr>
          <p:cNvSpPr>
            <a:spLocks noGrp="1"/>
          </p:cNvSpPr>
          <p:nvPr/>
        </p:nvSpPr>
        <p:spPr>
          <a:xfrm>
            <a:off x="5715000" y="4343400"/>
            <a:ext cx="457200" cy="419100"/>
          </a:xfrm>
          <a:prstGeom prst="rect">
            <a:avLst/>
          </a:prstGeom>
          <a:noFill/>
          <a:ln w="0">
            <a:noFill/>
          </a:ln>
        </p:spPr>
        <p:txBody>
          <a:bodyPr>
            <a:noAutofit/>
          </a:bodyPr>
          <a:lstStyle/>
          <a:p>
            <a:pPr algn="ctr">
              <a:defRPr sz="2100" b="1">
                <a:solidFill>
                  <a:srgbClr val="7890A6"/>
                </a:solidFill>
                <a:latin typeface="Arial"/>
                <a:ea typeface="Arial"/>
                <a:cs typeface="Arial"/>
              </a:defRPr>
            </a:pPr>
            <a:r>
              <a:rPr sz="2100" b="1">
                <a:solidFill>
                  <a:srgbClr val="7890A6"/>
                </a:solidFill>
                <a:latin typeface="Arial"/>
                <a:ea typeface="Arial"/>
                <a:cs typeface="Arial"/>
              </a:rPr>
              <a:t>→</a:t>
            </a:r>
          </a:p>
        </p:txBody>
      </p:sp>
      <p:sp>
        <p:nvSpPr>
          <p:cNvPr id="23" name="box-650-450">
            <a:extLst>
              <a:ext uri="{FF2B5EF4-FFF2-40B4-BE49-F238E27FC236}">
                <a16:creationId xmlns:a16="http://schemas.microsoft.com/office/drawing/2014/main" id="{8934B240-C108-4B39-B93D-416635859C33}"/>
              </a:ext>
            </a:extLst>
          </p:cNvPr>
          <p:cNvSpPr>
            <a:spLocks noGrp="1"/>
          </p:cNvSpPr>
          <p:nvPr/>
        </p:nvSpPr>
        <p:spPr>
          <a:xfrm>
            <a:off x="6191250" y="4286250"/>
            <a:ext cx="895350" cy="590550"/>
          </a:xfrm>
          <a:prstGeom prst="roundRect">
            <a:avLst>
              <a:gd name="adj" fmla="val 12903"/>
            </a:avLst>
          </a:prstGeom>
          <a:solidFill>
            <a:srgbClr val="E7F5EE"/>
          </a:solidFill>
          <a:ln w="11430">
            <a:solidFill>
              <a:srgbClr val="2D8A62"/>
            </a:solidFill>
            <a:prstDash val="solid"/>
          </a:ln>
        </p:spPr>
        <p:txBody>
          <a:bodyPr>
            <a:noAutofit/>
          </a:bodyPr>
          <a:lstStyle/>
          <a:p>
            <a:pPr algn="ctr">
              <a:defRPr sz="1425" b="1">
                <a:solidFill>
                  <a:srgbClr val="2D8A62"/>
                </a:solidFill>
                <a:latin typeface="Arial"/>
                <a:ea typeface="Arial"/>
                <a:cs typeface="Arial"/>
              </a:defRPr>
            </a:pPr>
            <a:r>
              <a:rPr sz="1425" b="1">
                <a:solidFill>
                  <a:srgbClr val="2D8A62"/>
                </a:solidFill>
                <a:latin typeface="Arial"/>
                <a:ea typeface="Arial"/>
                <a:cs typeface="Arial"/>
              </a:rPr>
              <a:t>G003</a:t>
            </a:r>
          </a:p>
        </p:txBody>
      </p:sp>
      <p:sp>
        <p:nvSpPr>
          <p:cNvPr id="24" name="text-474-558-Version tăng tro">
            <a:extLst>
              <a:ext uri="{FF2B5EF4-FFF2-40B4-BE49-F238E27FC236}">
                <a16:creationId xmlns:a16="http://schemas.microsoft.com/office/drawing/2014/main" id="{15A5CBA4-D412-4CF9-84DC-3FEF3F75027F}"/>
              </a:ext>
            </a:extLst>
          </p:cNvPr>
          <p:cNvSpPr>
            <a:spLocks noGrp="1"/>
          </p:cNvSpPr>
          <p:nvPr/>
        </p:nvSpPr>
        <p:spPr>
          <a:xfrm>
            <a:off x="4514850" y="5314950"/>
            <a:ext cx="2762250" cy="285750"/>
          </a:xfrm>
          <a:prstGeom prst="rect">
            <a:avLst/>
          </a:prstGeom>
          <a:noFill/>
          <a:ln w="0">
            <a:noFill/>
          </a:ln>
        </p:spPr>
        <p:txBody>
          <a:bodyPr>
            <a:noAutofit/>
          </a:bodyPr>
          <a:lstStyle/>
          <a:p>
            <a:pPr algn="ctr">
              <a:defRPr sz="1125" b="0">
                <a:solidFill>
                  <a:srgbClr val="4B6075"/>
                </a:solidFill>
                <a:latin typeface="Arial"/>
                <a:ea typeface="Arial"/>
                <a:cs typeface="Arial"/>
              </a:defRPr>
            </a:pPr>
            <a:r>
              <a:rPr sz="1125" b="0">
                <a:solidFill>
                  <a:srgbClr val="4B6075"/>
                </a:solidFill>
                <a:latin typeface="Arial"/>
                <a:ea typeface="Arial"/>
                <a:cs typeface="Arial"/>
              </a:rPr>
              <a:t>Version tăng trong cùng Revision</a:t>
            </a:r>
          </a:p>
        </p:txBody>
      </p:sp>
      <p:sp>
        <p:nvSpPr>
          <p:cNvPr id="25" name="text-788-330-→">
            <a:extLst>
              <a:ext uri="{FF2B5EF4-FFF2-40B4-BE49-F238E27FC236}">
                <a16:creationId xmlns:a16="http://schemas.microsoft.com/office/drawing/2014/main" id="{24B022A5-C1FD-4597-BA22-2A30C55F4572}"/>
              </a:ext>
            </a:extLst>
          </p:cNvPr>
          <p:cNvSpPr>
            <a:spLocks noGrp="1"/>
          </p:cNvSpPr>
          <p:nvPr/>
        </p:nvSpPr>
        <p:spPr>
          <a:xfrm>
            <a:off x="7505700" y="3143250"/>
            <a:ext cx="514350" cy="476250"/>
          </a:xfrm>
          <a:prstGeom prst="rect">
            <a:avLst/>
          </a:prstGeom>
          <a:noFill/>
          <a:ln w="0">
            <a:noFill/>
          </a:ln>
        </p:spPr>
        <p:txBody>
          <a:bodyPr>
            <a:noAutofit/>
          </a:bodyPr>
          <a:lstStyle/>
          <a:p>
            <a:pPr algn="ctr">
              <a:defRPr sz="2700" b="1">
                <a:solidFill>
                  <a:srgbClr val="2169A8"/>
                </a:solidFill>
                <a:latin typeface="Arial"/>
                <a:ea typeface="Arial"/>
                <a:cs typeface="Arial"/>
              </a:defRPr>
            </a:pPr>
            <a:r>
              <a:rPr sz="2700" b="1">
                <a:solidFill>
                  <a:srgbClr val="2169A8"/>
                </a:solidFill>
                <a:latin typeface="Arial"/>
                <a:ea typeface="Arial"/>
                <a:cs typeface="Arial"/>
              </a:rPr>
              <a:t>→</a:t>
            </a:r>
          </a:p>
        </p:txBody>
      </p:sp>
      <p:sp>
        <p:nvSpPr>
          <p:cNvPr id="26" name="box-848-150">
            <a:extLst>
              <a:ext uri="{FF2B5EF4-FFF2-40B4-BE49-F238E27FC236}">
                <a16:creationId xmlns:a16="http://schemas.microsoft.com/office/drawing/2014/main" id="{CC9B2B37-5063-4B23-B51C-BE3195D73911}"/>
              </a:ext>
            </a:extLst>
          </p:cNvPr>
          <p:cNvSpPr>
            <a:spLocks noGrp="1"/>
          </p:cNvSpPr>
          <p:nvPr/>
        </p:nvSpPr>
        <p:spPr>
          <a:xfrm>
            <a:off x="8077200" y="1428750"/>
            <a:ext cx="3524250" cy="4419600"/>
          </a:xfrm>
          <a:prstGeom prst="roundRect">
            <a:avLst>
              <a:gd name="adj" fmla="val 2162"/>
            </a:avLst>
          </a:prstGeom>
          <a:solidFill>
            <a:srgbClr val="FFF4DD"/>
          </a:solidFill>
          <a:ln w="14288">
            <a:solidFill>
              <a:srgbClr val="C58A1E"/>
            </a:solidFill>
            <a:prstDash val="solid"/>
          </a:ln>
        </p:spPr>
        <p:txBody>
          <a:bodyPr/>
          <a:lstStyle/>
          <a:p>
            <a:endParaRPr lang="en-US"/>
          </a:p>
        </p:txBody>
      </p:sp>
      <p:sp>
        <p:nvSpPr>
          <p:cNvPr id="27" name="box-872-170">
            <a:extLst>
              <a:ext uri="{FF2B5EF4-FFF2-40B4-BE49-F238E27FC236}">
                <a16:creationId xmlns:a16="http://schemas.microsoft.com/office/drawing/2014/main" id="{30E0BF32-F89A-4322-9540-B415D82D524C}"/>
              </a:ext>
            </a:extLst>
          </p:cNvPr>
          <p:cNvSpPr>
            <a:spLocks noGrp="1"/>
          </p:cNvSpPr>
          <p:nvPr/>
        </p:nvSpPr>
        <p:spPr>
          <a:xfrm>
            <a:off x="8305800" y="1619250"/>
            <a:ext cx="3067050" cy="323850"/>
          </a:xfrm>
          <a:prstGeom prst="roundRect">
            <a:avLst>
              <a:gd name="adj" fmla="val 23529"/>
            </a:avLst>
          </a:prstGeom>
          <a:solidFill>
            <a:srgbClr val="C58A1E"/>
          </a:solidFill>
          <a:ln w="7620">
            <a:solidFill>
              <a:srgbClr val="C58A1E"/>
            </a:solidFill>
            <a:prstDash val="solid"/>
          </a:ln>
        </p:spPr>
        <p:txBody>
          <a:bodyPr>
            <a:no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BUSINESS REVISION B</a:t>
            </a:r>
          </a:p>
        </p:txBody>
      </p:sp>
      <p:sp>
        <p:nvSpPr>
          <p:cNvPr id="28" name="box-912-292">
            <a:extLst>
              <a:ext uri="{FF2B5EF4-FFF2-40B4-BE49-F238E27FC236}">
                <a16:creationId xmlns:a16="http://schemas.microsoft.com/office/drawing/2014/main" id="{6944C0A6-4B9D-40E3-8109-AB8279ED4A8D}"/>
              </a:ext>
            </a:extLst>
          </p:cNvPr>
          <p:cNvSpPr>
            <a:spLocks noGrp="1"/>
          </p:cNvSpPr>
          <p:nvPr/>
        </p:nvSpPr>
        <p:spPr>
          <a:xfrm>
            <a:off x="8686800" y="2781300"/>
            <a:ext cx="1219200" cy="647700"/>
          </a:xfrm>
          <a:prstGeom prst="roundRect">
            <a:avLst>
              <a:gd name="adj" fmla="val 11765"/>
            </a:avLst>
          </a:prstGeom>
          <a:solidFill>
            <a:srgbClr val="FFFFFF"/>
          </a:solidFill>
          <a:ln w="11430">
            <a:solidFill>
              <a:srgbClr val="CBD8E3"/>
            </a:solidFill>
            <a:prstDash val="solid"/>
          </a:ln>
        </p:spPr>
        <p:txBody>
          <a:bodyPr>
            <a:noAutofit/>
          </a:bodyPr>
          <a:lstStyle/>
          <a:p>
            <a:pPr algn="ctr">
              <a:defRPr sz="1425" b="1">
                <a:solidFill>
                  <a:srgbClr val="162638"/>
                </a:solidFill>
                <a:latin typeface="Arial"/>
                <a:ea typeface="Arial"/>
                <a:cs typeface="Arial"/>
              </a:defRPr>
            </a:pPr>
            <a:r>
              <a:rPr sz="1425" b="1">
                <a:solidFill>
                  <a:srgbClr val="162638"/>
                </a:solidFill>
                <a:latin typeface="Arial"/>
                <a:ea typeface="Arial"/>
                <a:cs typeface="Arial"/>
              </a:rPr>
              <a:t>Version 1</a:t>
            </a:r>
          </a:p>
        </p:txBody>
      </p:sp>
      <p:sp>
        <p:nvSpPr>
          <p:cNvPr id="29" name="text-1046-301-→">
            <a:extLst>
              <a:ext uri="{FF2B5EF4-FFF2-40B4-BE49-F238E27FC236}">
                <a16:creationId xmlns:a16="http://schemas.microsoft.com/office/drawing/2014/main" id="{08575C80-D76D-4F12-B492-D5EF47D2393D}"/>
              </a:ext>
            </a:extLst>
          </p:cNvPr>
          <p:cNvSpPr>
            <a:spLocks noGrp="1"/>
          </p:cNvSpPr>
          <p:nvPr/>
        </p:nvSpPr>
        <p:spPr>
          <a:xfrm>
            <a:off x="9963150" y="2867025"/>
            <a:ext cx="457200" cy="419100"/>
          </a:xfrm>
          <a:prstGeom prst="rect">
            <a:avLst/>
          </a:prstGeom>
          <a:noFill/>
          <a:ln w="0">
            <a:noFill/>
          </a:ln>
        </p:spPr>
        <p:txBody>
          <a:bodyPr>
            <a:noAutofit/>
          </a:bodyPr>
          <a:lstStyle/>
          <a:p>
            <a:pPr algn="ctr">
              <a:defRPr sz="2100" b="1">
                <a:solidFill>
                  <a:srgbClr val="7890A6"/>
                </a:solidFill>
                <a:latin typeface="Arial"/>
                <a:ea typeface="Arial"/>
                <a:cs typeface="Arial"/>
              </a:defRPr>
            </a:pPr>
            <a:r>
              <a:rPr sz="2100" b="1">
                <a:solidFill>
                  <a:srgbClr val="7890A6"/>
                </a:solidFill>
                <a:latin typeface="Arial"/>
                <a:ea typeface="Arial"/>
                <a:cs typeface="Arial"/>
              </a:rPr>
              <a:t>→</a:t>
            </a:r>
          </a:p>
        </p:txBody>
      </p:sp>
      <p:sp>
        <p:nvSpPr>
          <p:cNvPr id="30" name="box-1096-292">
            <a:extLst>
              <a:ext uri="{FF2B5EF4-FFF2-40B4-BE49-F238E27FC236}">
                <a16:creationId xmlns:a16="http://schemas.microsoft.com/office/drawing/2014/main" id="{1F3890EC-9013-4346-816E-57101F622190}"/>
              </a:ext>
            </a:extLst>
          </p:cNvPr>
          <p:cNvSpPr>
            <a:spLocks noGrp="1"/>
          </p:cNvSpPr>
          <p:nvPr/>
        </p:nvSpPr>
        <p:spPr>
          <a:xfrm>
            <a:off x="10439400" y="2781300"/>
            <a:ext cx="895350" cy="647700"/>
          </a:xfrm>
          <a:prstGeom prst="roundRect">
            <a:avLst>
              <a:gd name="adj" fmla="val 11765"/>
            </a:avLst>
          </a:prstGeom>
          <a:solidFill>
            <a:srgbClr val="E7F5EE"/>
          </a:solidFill>
          <a:ln w="11430">
            <a:solidFill>
              <a:srgbClr val="2D8A62"/>
            </a:solidFill>
            <a:prstDash val="solid"/>
          </a:ln>
        </p:spPr>
        <p:txBody>
          <a:bodyPr>
            <a:noAutofit/>
          </a:bodyPr>
          <a:lstStyle/>
          <a:p>
            <a:pPr algn="ctr">
              <a:defRPr sz="1425" b="1">
                <a:solidFill>
                  <a:srgbClr val="2D8A62"/>
                </a:solidFill>
                <a:latin typeface="Arial"/>
                <a:ea typeface="Arial"/>
                <a:cs typeface="Arial"/>
              </a:defRPr>
            </a:pPr>
            <a:r>
              <a:rPr sz="1425" b="1">
                <a:solidFill>
                  <a:srgbClr val="2D8A62"/>
                </a:solidFill>
                <a:latin typeface="Arial"/>
                <a:ea typeface="Arial"/>
                <a:cs typeface="Arial"/>
              </a:rPr>
              <a:t>G004</a:t>
            </a:r>
          </a:p>
        </p:txBody>
      </p:sp>
      <p:sp>
        <p:nvSpPr>
          <p:cNvPr id="31" name="text-884-405-Revision mới bắt">
            <a:extLst>
              <a:ext uri="{FF2B5EF4-FFF2-40B4-BE49-F238E27FC236}">
                <a16:creationId xmlns:a16="http://schemas.microsoft.com/office/drawing/2014/main" id="{4550E007-FF37-46B6-BE86-40534EB3E187}"/>
              </a:ext>
            </a:extLst>
          </p:cNvPr>
          <p:cNvSpPr>
            <a:spLocks noGrp="1"/>
          </p:cNvSpPr>
          <p:nvPr/>
        </p:nvSpPr>
        <p:spPr>
          <a:xfrm>
            <a:off x="8420100" y="3857625"/>
            <a:ext cx="2876550" cy="552450"/>
          </a:xfrm>
          <a:prstGeom prst="rect">
            <a:avLst/>
          </a:prstGeom>
          <a:noFill/>
          <a:ln w="0">
            <a:noFill/>
          </a:ln>
        </p:spPr>
        <p:txBody>
          <a:bodyPr>
            <a:noAutofit/>
          </a:bodyPr>
          <a:lstStyle/>
          <a:p>
            <a:pPr algn="ctr">
              <a:defRPr sz="1350" b="0">
                <a:solidFill>
                  <a:srgbClr val="4B6075"/>
                </a:solidFill>
                <a:latin typeface="Arial"/>
                <a:ea typeface="Arial"/>
                <a:cs typeface="Arial"/>
              </a:defRPr>
            </a:pPr>
            <a:r>
              <a:rPr sz="1350" b="0">
                <a:solidFill>
                  <a:srgbClr val="4B6075"/>
                </a:solidFill>
                <a:latin typeface="Arial"/>
                <a:ea typeface="Arial"/>
                <a:cs typeface="Arial"/>
              </a:rPr>
              <a:t>Revision mới bắt đầu lại từ Version 1</a:t>
            </a:r>
          </a:p>
        </p:txBody>
      </p:sp>
      <p:sp>
        <p:nvSpPr>
          <p:cNvPr id="32" name="box-872-494">
            <a:extLst>
              <a:ext uri="{FF2B5EF4-FFF2-40B4-BE49-F238E27FC236}">
                <a16:creationId xmlns:a16="http://schemas.microsoft.com/office/drawing/2014/main" id="{4FB7C9DD-7553-475D-841B-37C7E316EB2E}"/>
              </a:ext>
            </a:extLst>
          </p:cNvPr>
          <p:cNvSpPr>
            <a:spLocks noGrp="1"/>
          </p:cNvSpPr>
          <p:nvPr/>
        </p:nvSpPr>
        <p:spPr>
          <a:xfrm>
            <a:off x="8305800" y="4705350"/>
            <a:ext cx="3067050" cy="685800"/>
          </a:xfrm>
          <a:prstGeom prst="roundRect">
            <a:avLst>
              <a:gd name="adj" fmla="val 11111"/>
            </a:avLst>
          </a:prstGeom>
          <a:solidFill>
            <a:srgbClr val="FFFFFF"/>
          </a:solidFill>
          <a:ln w="11430">
            <a:solidFill>
              <a:srgbClr val="C58A1E"/>
            </a:solidFill>
            <a:prstDash val="solid"/>
          </a:ln>
        </p:spPr>
        <p:txBody>
          <a:bodyPr>
            <a:noAutofit/>
          </a:bodyPr>
          <a:lstStyle/>
          <a:p>
            <a:pPr algn="ctr">
              <a:defRPr sz="1275" b="1">
                <a:solidFill>
                  <a:srgbClr val="162638"/>
                </a:solidFill>
                <a:latin typeface="Arial"/>
                <a:ea typeface="Arial"/>
                <a:cs typeface="Arial"/>
              </a:defRPr>
            </a:pPr>
            <a:r>
              <a:rPr sz="1275" b="1">
                <a:solidFill>
                  <a:srgbClr val="162638"/>
                </a:solidFill>
                <a:latin typeface="Arial"/>
                <a:ea typeface="Arial"/>
                <a:cs typeface="Arial"/>
              </a:rPr>
              <a:t>Generation = snapshot nội dung</a:t>
            </a:r>
          </a:p>
          <a:p>
            <a:pPr algn="ctr">
              <a:defRPr sz="1275" b="1">
                <a:solidFill>
                  <a:srgbClr val="162638"/>
                </a:solidFill>
                <a:latin typeface="Arial"/>
                <a:ea typeface="Arial"/>
                <a:cs typeface="Arial"/>
              </a:defRPr>
            </a:pPr>
            <a:r>
              <a:rPr sz="1275" b="1">
                <a:solidFill>
                  <a:srgbClr val="162638"/>
                </a:solidFill>
                <a:latin typeface="Arial"/>
                <a:ea typeface="Arial"/>
                <a:cs typeface="Arial"/>
              </a:rPr>
              <a:t>bất biến do hệ thống ghi nhận</a:t>
            </a:r>
          </a:p>
        </p:txBody>
      </p:sp>
      <p:sp>
        <p:nvSpPr>
          <p:cNvPr id="33" name="text-410-635-Hệ thống quản lý">
            <a:extLst>
              <a:ext uri="{FF2B5EF4-FFF2-40B4-BE49-F238E27FC236}">
                <a16:creationId xmlns:a16="http://schemas.microsoft.com/office/drawing/2014/main" id="{69E2BF54-39D5-40EA-BD3A-C5BFE228F167}"/>
              </a:ext>
            </a:extLst>
          </p:cNvPr>
          <p:cNvSpPr>
            <a:spLocks noGrp="1"/>
          </p:cNvSpPr>
          <p:nvPr/>
        </p:nvSpPr>
        <p:spPr>
          <a:xfrm>
            <a:off x="3905250" y="6048375"/>
            <a:ext cx="7943850" cy="285750"/>
          </a:xfrm>
          <a:prstGeom prst="rect">
            <a:avLst/>
          </a:prstGeom>
          <a:noFill/>
          <a:ln w="0">
            <a:noFill/>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Hệ thống quản lý lịch sử kỹ thuật, không chỉ quản lý file.</a:t>
            </a:r>
          </a:p>
        </p:txBody>
      </p:sp>
    </p:spTree>
    <p:extLst>
      <p:ext uri="{BB962C8B-B14F-4D97-AF65-F5344CB8AC3E}">
        <p14:creationId xmlns:p14="http://schemas.microsoft.com/office/powerpoint/2010/main" val="864822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box-0-0">
            <a:extLst>
              <a:ext uri="{FF2B5EF4-FFF2-40B4-BE49-F238E27FC236}">
                <a16:creationId xmlns:a16="http://schemas.microsoft.com/office/drawing/2014/main" id="{5B1E29EF-D280-41F5-AB6A-14FCB41A67C4}"/>
              </a:ext>
            </a:extLst>
          </p:cNvPr>
          <p:cNvSpPr>
            <a:spLocks noGrp="1"/>
          </p:cNvSpPr>
          <p:nvPr/>
        </p:nvSpPr>
        <p:spPr>
          <a:xfrm>
            <a:off x="0" y="0"/>
            <a:ext cx="133350" cy="6858000"/>
          </a:xfrm>
          <a:prstGeom prst="rect">
            <a:avLst/>
          </a:prstGeom>
          <a:solidFill>
            <a:srgbClr val="2169A8"/>
          </a:solidFill>
          <a:ln w="0">
            <a:noFill/>
            <a:prstDash val="solid"/>
          </a:ln>
        </p:spPr>
        <p:txBody>
          <a:bodyPr/>
          <a:lstStyle/>
          <a:p>
            <a:endParaRPr lang="en-US"/>
          </a:p>
        </p:txBody>
      </p:sp>
      <p:sp>
        <p:nvSpPr>
          <p:cNvPr id="2" name="text-54-28-SPEC">
            <a:extLst>
              <a:ext uri="{FF2B5EF4-FFF2-40B4-BE49-F238E27FC236}">
                <a16:creationId xmlns:a16="http://schemas.microsoft.com/office/drawing/2014/main" id="{6C4A43AE-A7BC-4E3E-B592-6B64074453C0}"/>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Chỉnh sửa">
            <a:extLst>
              <a:ext uri="{FF2B5EF4-FFF2-40B4-BE49-F238E27FC236}">
                <a16:creationId xmlns:a16="http://schemas.microsoft.com/office/drawing/2014/main" id="{6E86FB35-1D49-4046-ADA6-4877DC91BC96}"/>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Spec — Chỉnh sửa tài liệu mà không phá lịch sử</a:t>
            </a:r>
          </a:p>
        </p:txBody>
      </p:sp>
      <p:sp>
        <p:nvSpPr>
          <p:cNvPr id="4" name="line-54-116">
            <a:extLst>
              <a:ext uri="{FF2B5EF4-FFF2-40B4-BE49-F238E27FC236}">
                <a16:creationId xmlns:a16="http://schemas.microsoft.com/office/drawing/2014/main" id="{3D42BDF1-75E3-4AED-8BB4-BD254113A338}"/>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4@0">
            <a:extLst>
              <a:ext uri="{FF2B5EF4-FFF2-40B4-BE49-F238E27FC236}">
                <a16:creationId xmlns:a16="http://schemas.microsoft.com/office/drawing/2014/main" id="{090DE65E-D4F6-4BAD-9324-6C46FE98BD5B}"/>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DOC-05@0.20 · DOC-06@0.16 · DOC-08@0.12</a:t>
            </a:r>
          </a:p>
        </p:txBody>
      </p:sp>
      <p:sp>
        <p:nvSpPr>
          <p:cNvPr id="6" name="text-1170-680-06">
            <a:extLst>
              <a:ext uri="{FF2B5EF4-FFF2-40B4-BE49-F238E27FC236}">
                <a16:creationId xmlns:a16="http://schemas.microsoft.com/office/drawing/2014/main" id="{ADDCD64C-B8F9-4131-9AFA-4E7C9315DF36}"/>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06</a:t>
            </a:r>
          </a:p>
        </p:txBody>
      </p:sp>
      <p:sp>
        <p:nvSpPr>
          <p:cNvPr id="7" name="box-58-176">
            <a:extLst>
              <a:ext uri="{FF2B5EF4-FFF2-40B4-BE49-F238E27FC236}">
                <a16:creationId xmlns:a16="http://schemas.microsoft.com/office/drawing/2014/main" id="{D0CC7EA8-FECE-42F0-93C3-49CCB195F887}"/>
              </a:ext>
            </a:extLst>
          </p:cNvPr>
          <p:cNvSpPr>
            <a:spLocks noGrp="1"/>
          </p:cNvSpPr>
          <p:nvPr/>
        </p:nvSpPr>
        <p:spPr>
          <a:xfrm>
            <a:off x="552450" y="1676400"/>
            <a:ext cx="1619250" cy="1276350"/>
          </a:xfrm>
          <a:prstGeom prst="roundRect">
            <a:avLst>
              <a:gd name="adj" fmla="val 5970"/>
            </a:avLst>
          </a:prstGeom>
          <a:solidFill>
            <a:srgbClr val="102744"/>
          </a:solidFill>
          <a:ln w="11430">
            <a:solidFill>
              <a:srgbClr val="102744"/>
            </a:solidFill>
            <a:prstDash val="solid"/>
          </a:ln>
        </p:spPr>
        <p:txBody>
          <a:bodyPr>
            <a:noAutofit/>
          </a:bodyP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SERVER</a:t>
            </a:r>
          </a:p>
        </p:txBody>
      </p:sp>
      <p:sp>
        <p:nvSpPr>
          <p:cNvPr id="8" name="text-70-232-Current G005">
            <a:extLst>
              <a:ext uri="{FF2B5EF4-FFF2-40B4-BE49-F238E27FC236}">
                <a16:creationId xmlns:a16="http://schemas.microsoft.com/office/drawing/2014/main" id="{7802214B-C7AA-411C-9477-FB96406C5974}"/>
              </a:ext>
            </a:extLst>
          </p:cNvPr>
          <p:cNvSpPr>
            <a:spLocks noGrp="1"/>
          </p:cNvSpPr>
          <p:nvPr/>
        </p:nvSpPr>
        <p:spPr>
          <a:xfrm>
            <a:off x="666750" y="2209800"/>
            <a:ext cx="1390650" cy="609600"/>
          </a:xfrm>
          <a:prstGeom prst="rect">
            <a:avLst/>
          </a:prstGeom>
          <a:noFill/>
          <a:ln w="0">
            <a:noFill/>
          </a:ln>
        </p:spPr>
        <p:txBody>
          <a:bodyPr>
            <a:noAutofit/>
          </a:bodyPr>
          <a:lstStyle/>
          <a:p>
            <a:pPr algn="ctr">
              <a:defRPr sz="1050" b="0">
                <a:solidFill>
                  <a:srgbClr val="C9DBEA"/>
                </a:solidFill>
                <a:latin typeface="Arial"/>
                <a:ea typeface="Arial"/>
                <a:cs typeface="Arial"/>
              </a:defRPr>
            </a:pPr>
            <a:r>
              <a:rPr sz="1050" b="0">
                <a:solidFill>
                  <a:srgbClr val="C9DBEA"/>
                </a:solidFill>
                <a:latin typeface="Arial"/>
                <a:ea typeface="Arial"/>
                <a:cs typeface="Arial"/>
              </a:rPr>
              <a:t>Current G005</a:t>
            </a:r>
          </a:p>
        </p:txBody>
      </p:sp>
      <p:sp>
        <p:nvSpPr>
          <p:cNvPr id="9" name="text-232-208-→">
            <a:extLst>
              <a:ext uri="{FF2B5EF4-FFF2-40B4-BE49-F238E27FC236}">
                <a16:creationId xmlns:a16="http://schemas.microsoft.com/office/drawing/2014/main" id="{F0684C91-3321-4E3B-8BA1-19A70B08395F}"/>
              </a:ext>
            </a:extLst>
          </p:cNvPr>
          <p:cNvSpPr>
            <a:spLocks noGrp="1"/>
          </p:cNvSpPr>
          <p:nvPr/>
        </p:nvSpPr>
        <p:spPr>
          <a:xfrm>
            <a:off x="2209800" y="1981200"/>
            <a:ext cx="266700" cy="428625"/>
          </a:xfrm>
          <a:prstGeom prst="rect">
            <a:avLst/>
          </a:prstGeom>
          <a:noFill/>
          <a:ln w="0">
            <a:noFill/>
          </a:ln>
        </p:spPr>
        <p:txBody>
          <a:bodyPr>
            <a:noAutofit/>
          </a:bodyPr>
          <a:lstStyle/>
          <a:p>
            <a:pPr algn="ctr">
              <a:defRPr sz="1875" b="1">
                <a:solidFill>
                  <a:srgbClr val="2169A8"/>
                </a:solidFill>
                <a:latin typeface="Arial"/>
                <a:ea typeface="Arial"/>
                <a:cs typeface="Arial"/>
              </a:defRPr>
            </a:pPr>
            <a:r>
              <a:rPr sz="1875" b="1">
                <a:solidFill>
                  <a:srgbClr val="2169A8"/>
                </a:solidFill>
                <a:latin typeface="Arial"/>
                <a:ea typeface="Arial"/>
                <a:cs typeface="Arial"/>
              </a:rPr>
              <a:t>→</a:t>
            </a:r>
          </a:p>
        </p:txBody>
      </p:sp>
      <p:sp>
        <p:nvSpPr>
          <p:cNvPr id="10" name="box-260-176">
            <a:extLst>
              <a:ext uri="{FF2B5EF4-FFF2-40B4-BE49-F238E27FC236}">
                <a16:creationId xmlns:a16="http://schemas.microsoft.com/office/drawing/2014/main" id="{960634BE-90C1-4D5F-B4AF-45C1039CCE85}"/>
              </a:ext>
            </a:extLst>
          </p:cNvPr>
          <p:cNvSpPr>
            <a:spLocks noGrp="1"/>
          </p:cNvSpPr>
          <p:nvPr/>
        </p:nvSpPr>
        <p:spPr>
          <a:xfrm>
            <a:off x="2476500" y="1676400"/>
            <a:ext cx="1619250" cy="1276350"/>
          </a:xfrm>
          <a:prstGeom prst="roundRect">
            <a:avLst>
              <a:gd name="adj" fmla="val 5970"/>
            </a:avLst>
          </a:prstGeom>
          <a:solidFill>
            <a:srgbClr val="EAF3F9"/>
          </a:solidFill>
          <a:ln w="11430">
            <a:solidFill>
              <a:srgbClr val="CBD8E3"/>
            </a:solidFill>
            <a:prstDash val="solid"/>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CHECKOUT</a:t>
            </a:r>
          </a:p>
        </p:txBody>
      </p:sp>
      <p:sp>
        <p:nvSpPr>
          <p:cNvPr id="11" name="text-272-232-Reservation&#10;Acto">
            <a:extLst>
              <a:ext uri="{FF2B5EF4-FFF2-40B4-BE49-F238E27FC236}">
                <a16:creationId xmlns:a16="http://schemas.microsoft.com/office/drawing/2014/main" id="{B12EB3AF-780C-43C7-9201-DD52B3F40D82}"/>
              </a:ext>
            </a:extLst>
          </p:cNvPr>
          <p:cNvSpPr>
            <a:spLocks noGrp="1"/>
          </p:cNvSpPr>
          <p:nvPr/>
        </p:nvSpPr>
        <p:spPr>
          <a:xfrm>
            <a:off x="2590800" y="2209800"/>
            <a:ext cx="1390650" cy="609600"/>
          </a:xfrm>
          <a:prstGeom prst="rect">
            <a:avLst/>
          </a:prstGeom>
          <a:noFill/>
          <a:ln w="0">
            <a:noFill/>
          </a:ln>
        </p:spPr>
        <p:txBody>
          <a:bodyPr>
            <a:noAutofit/>
          </a:bodyPr>
          <a:lstStyle/>
          <a:p>
            <a:pPr algn="ctr">
              <a:defRPr sz="1050" b="0">
                <a:solidFill>
                  <a:srgbClr val="4B6075"/>
                </a:solidFill>
                <a:latin typeface="Arial"/>
                <a:ea typeface="Arial"/>
                <a:cs typeface="Arial"/>
              </a:defRPr>
            </a:pPr>
            <a:r>
              <a:rPr sz="1050" b="0" dirty="0">
                <a:solidFill>
                  <a:srgbClr val="4B6075"/>
                </a:solidFill>
                <a:latin typeface="Arial"/>
                <a:ea typeface="Arial"/>
                <a:cs typeface="Arial"/>
              </a:rPr>
              <a:t>Reservation</a:t>
            </a:r>
          </a:p>
          <a:p>
            <a:pPr algn="ctr">
              <a:defRPr sz="1050" b="0">
                <a:solidFill>
                  <a:srgbClr val="4B6075"/>
                </a:solidFill>
                <a:latin typeface="Arial"/>
                <a:ea typeface="Arial"/>
                <a:cs typeface="Arial"/>
              </a:defRPr>
            </a:pPr>
            <a:r>
              <a:rPr sz="1050" b="0" dirty="0">
                <a:solidFill>
                  <a:srgbClr val="4B6075"/>
                </a:solidFill>
                <a:latin typeface="Arial"/>
                <a:ea typeface="Arial"/>
                <a:cs typeface="Arial"/>
              </a:rPr>
              <a:t>Actor + Workspace + G005</a:t>
            </a:r>
          </a:p>
        </p:txBody>
      </p:sp>
      <p:sp>
        <p:nvSpPr>
          <p:cNvPr id="12" name="text-434-208-→">
            <a:extLst>
              <a:ext uri="{FF2B5EF4-FFF2-40B4-BE49-F238E27FC236}">
                <a16:creationId xmlns:a16="http://schemas.microsoft.com/office/drawing/2014/main" id="{A4716541-8C0C-4627-B13C-286CFBDDF1A5}"/>
              </a:ext>
            </a:extLst>
          </p:cNvPr>
          <p:cNvSpPr>
            <a:spLocks noGrp="1"/>
          </p:cNvSpPr>
          <p:nvPr/>
        </p:nvSpPr>
        <p:spPr>
          <a:xfrm>
            <a:off x="4133850" y="1981200"/>
            <a:ext cx="266700" cy="428625"/>
          </a:xfrm>
          <a:prstGeom prst="rect">
            <a:avLst/>
          </a:prstGeom>
          <a:noFill/>
          <a:ln w="0">
            <a:noFill/>
          </a:ln>
        </p:spPr>
        <p:txBody>
          <a:bodyPr>
            <a:noAutofit/>
          </a:bodyPr>
          <a:lstStyle/>
          <a:p>
            <a:pPr algn="ctr">
              <a:defRPr sz="1875" b="1">
                <a:solidFill>
                  <a:srgbClr val="2169A8"/>
                </a:solidFill>
                <a:latin typeface="Arial"/>
                <a:ea typeface="Arial"/>
                <a:cs typeface="Arial"/>
              </a:defRPr>
            </a:pPr>
            <a:r>
              <a:rPr sz="1875" b="1" dirty="0">
                <a:solidFill>
                  <a:srgbClr val="2169A8"/>
                </a:solidFill>
                <a:latin typeface="Arial"/>
                <a:ea typeface="Arial"/>
                <a:cs typeface="Arial"/>
              </a:rPr>
              <a:t>→</a:t>
            </a:r>
          </a:p>
        </p:txBody>
      </p:sp>
      <p:sp>
        <p:nvSpPr>
          <p:cNvPr id="13" name="box-462-176">
            <a:extLst>
              <a:ext uri="{FF2B5EF4-FFF2-40B4-BE49-F238E27FC236}">
                <a16:creationId xmlns:a16="http://schemas.microsoft.com/office/drawing/2014/main" id="{56A9D016-B160-4497-87BF-4E008FDDFDB3}"/>
              </a:ext>
            </a:extLst>
          </p:cNvPr>
          <p:cNvSpPr>
            <a:spLocks noGrp="1"/>
          </p:cNvSpPr>
          <p:nvPr/>
        </p:nvSpPr>
        <p:spPr>
          <a:xfrm>
            <a:off x="4400550" y="1676400"/>
            <a:ext cx="1619250" cy="1276350"/>
          </a:xfrm>
          <a:prstGeom prst="roundRect">
            <a:avLst>
              <a:gd name="adj" fmla="val 5970"/>
            </a:avLst>
          </a:prstGeom>
          <a:solidFill>
            <a:srgbClr val="E8F7F9"/>
          </a:solidFill>
          <a:ln w="11430">
            <a:solidFill>
              <a:srgbClr val="CBD8E3"/>
            </a:solidFill>
            <a:prstDash val="solid"/>
          </a:ln>
        </p:spPr>
        <p:txBody>
          <a:bodyPr>
            <a:noAutofit/>
          </a:bodyPr>
          <a:lstStyle/>
          <a:p>
            <a:pPr algn="ctr">
              <a:defRPr sz="1575" b="1">
                <a:solidFill>
                  <a:srgbClr val="102744"/>
                </a:solidFill>
                <a:latin typeface="Arial"/>
                <a:ea typeface="Arial"/>
                <a:cs typeface="Arial"/>
              </a:defRPr>
            </a:pPr>
            <a:r>
              <a:rPr sz="1575" b="1" dirty="0">
                <a:solidFill>
                  <a:srgbClr val="102744"/>
                </a:solidFill>
                <a:latin typeface="Arial"/>
                <a:ea typeface="Arial"/>
                <a:cs typeface="Arial"/>
              </a:rPr>
              <a:t>WORKSPACE</a:t>
            </a:r>
          </a:p>
        </p:txBody>
      </p:sp>
      <p:sp>
        <p:nvSpPr>
          <p:cNvPr id="14" name="text-474-232-Chỉnh sửa cục bộ">
            <a:extLst>
              <a:ext uri="{FF2B5EF4-FFF2-40B4-BE49-F238E27FC236}">
                <a16:creationId xmlns:a16="http://schemas.microsoft.com/office/drawing/2014/main" id="{9EB905B2-3B8B-458C-BFC8-F5A7193A9315}"/>
              </a:ext>
            </a:extLst>
          </p:cNvPr>
          <p:cNvSpPr>
            <a:spLocks noGrp="1"/>
          </p:cNvSpPr>
          <p:nvPr/>
        </p:nvSpPr>
        <p:spPr>
          <a:xfrm>
            <a:off x="4514850" y="2209800"/>
            <a:ext cx="1390650" cy="609600"/>
          </a:xfrm>
          <a:prstGeom prst="rect">
            <a:avLst/>
          </a:prstGeom>
          <a:noFill/>
          <a:ln w="0">
            <a:noFill/>
          </a:ln>
        </p:spPr>
        <p:txBody>
          <a:bodyPr>
            <a:noAutofit/>
          </a:bodyPr>
          <a:lstStyle/>
          <a:p>
            <a:pPr algn="ctr">
              <a:defRPr sz="1050" b="0">
                <a:solidFill>
                  <a:srgbClr val="4B6075"/>
                </a:solidFill>
                <a:latin typeface="Arial"/>
                <a:ea typeface="Arial"/>
                <a:cs typeface="Arial"/>
              </a:defRPr>
            </a:pPr>
            <a:r>
              <a:rPr sz="1050" b="0">
                <a:solidFill>
                  <a:srgbClr val="4B6075"/>
                </a:solidFill>
                <a:latin typeface="Arial"/>
                <a:ea typeface="Arial"/>
                <a:cs typeface="Arial"/>
              </a:rPr>
              <a:t>Chỉnh sửa cục bộ</a:t>
            </a:r>
          </a:p>
          <a:p>
            <a:pPr algn="ctr">
              <a:defRPr sz="1050" b="0">
                <a:solidFill>
                  <a:srgbClr val="4B6075"/>
                </a:solidFill>
                <a:latin typeface="Arial"/>
                <a:ea typeface="Arial"/>
                <a:cs typeface="Arial"/>
              </a:defRPr>
            </a:pPr>
            <a:r>
              <a:rPr sz="1050" b="0">
                <a:solidFill>
                  <a:srgbClr val="4B6075"/>
                </a:solidFill>
                <a:latin typeface="Arial"/>
                <a:ea typeface="Arial"/>
                <a:cs typeface="Arial"/>
              </a:rPr>
              <a:t>trong Office / CAD</a:t>
            </a:r>
          </a:p>
        </p:txBody>
      </p:sp>
      <p:sp>
        <p:nvSpPr>
          <p:cNvPr id="15" name="text-636-208-→">
            <a:extLst>
              <a:ext uri="{FF2B5EF4-FFF2-40B4-BE49-F238E27FC236}">
                <a16:creationId xmlns:a16="http://schemas.microsoft.com/office/drawing/2014/main" id="{2405CE9B-6F65-4DE6-B9D7-13B2445C0330}"/>
              </a:ext>
            </a:extLst>
          </p:cNvPr>
          <p:cNvSpPr>
            <a:spLocks noGrp="1"/>
          </p:cNvSpPr>
          <p:nvPr/>
        </p:nvSpPr>
        <p:spPr>
          <a:xfrm>
            <a:off x="6057900" y="1981200"/>
            <a:ext cx="266700" cy="428625"/>
          </a:xfrm>
          <a:prstGeom prst="rect">
            <a:avLst/>
          </a:prstGeom>
          <a:noFill/>
          <a:ln w="0">
            <a:noFill/>
          </a:ln>
        </p:spPr>
        <p:txBody>
          <a:bodyPr>
            <a:noAutofit/>
          </a:bodyPr>
          <a:lstStyle/>
          <a:p>
            <a:pPr algn="ctr">
              <a:defRPr sz="1875" b="1">
                <a:solidFill>
                  <a:srgbClr val="2169A8"/>
                </a:solidFill>
                <a:latin typeface="Arial"/>
                <a:ea typeface="Arial"/>
                <a:cs typeface="Arial"/>
              </a:defRPr>
            </a:pPr>
            <a:r>
              <a:rPr sz="1875" b="1">
                <a:solidFill>
                  <a:srgbClr val="2169A8"/>
                </a:solidFill>
                <a:latin typeface="Arial"/>
                <a:ea typeface="Arial"/>
                <a:cs typeface="Arial"/>
              </a:rPr>
              <a:t>→</a:t>
            </a:r>
          </a:p>
        </p:txBody>
      </p:sp>
      <p:sp>
        <p:nvSpPr>
          <p:cNvPr id="16" name="box-664-176">
            <a:extLst>
              <a:ext uri="{FF2B5EF4-FFF2-40B4-BE49-F238E27FC236}">
                <a16:creationId xmlns:a16="http://schemas.microsoft.com/office/drawing/2014/main" id="{B54C73F9-E125-43A8-A5BC-7336F0FC0583}"/>
              </a:ext>
            </a:extLst>
          </p:cNvPr>
          <p:cNvSpPr>
            <a:spLocks noGrp="1"/>
          </p:cNvSpPr>
          <p:nvPr/>
        </p:nvSpPr>
        <p:spPr>
          <a:xfrm>
            <a:off x="6324600" y="1676400"/>
            <a:ext cx="1619250" cy="1276350"/>
          </a:xfrm>
          <a:prstGeom prst="roundRect">
            <a:avLst>
              <a:gd name="adj" fmla="val 5970"/>
            </a:avLst>
          </a:prstGeom>
          <a:solidFill>
            <a:srgbClr val="F0EDFA"/>
          </a:solidFill>
          <a:ln w="11430">
            <a:solidFill>
              <a:srgbClr val="CBD8E3"/>
            </a:solidFill>
            <a:prstDash val="solid"/>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CHECK-IN</a:t>
            </a:r>
          </a:p>
        </p:txBody>
      </p:sp>
      <p:sp>
        <p:nvSpPr>
          <p:cNvPr id="17" name="text-676-232-Gửi thay đổi +&#10;O">
            <a:extLst>
              <a:ext uri="{FF2B5EF4-FFF2-40B4-BE49-F238E27FC236}">
                <a16:creationId xmlns:a16="http://schemas.microsoft.com/office/drawing/2014/main" id="{B93BC57F-AC53-4AE6-A642-91891F13E227}"/>
              </a:ext>
            </a:extLst>
          </p:cNvPr>
          <p:cNvSpPr>
            <a:spLocks noGrp="1"/>
          </p:cNvSpPr>
          <p:nvPr/>
        </p:nvSpPr>
        <p:spPr>
          <a:xfrm>
            <a:off x="6438900" y="2209800"/>
            <a:ext cx="1390650" cy="609600"/>
          </a:xfrm>
          <a:prstGeom prst="rect">
            <a:avLst/>
          </a:prstGeom>
          <a:noFill/>
          <a:ln w="0">
            <a:noFill/>
          </a:ln>
        </p:spPr>
        <p:txBody>
          <a:bodyPr>
            <a:noAutofit/>
          </a:bodyPr>
          <a:lstStyle/>
          <a:p>
            <a:pPr algn="ctr">
              <a:defRPr sz="1050" b="0">
                <a:solidFill>
                  <a:srgbClr val="4B6075"/>
                </a:solidFill>
                <a:latin typeface="Arial"/>
                <a:ea typeface="Arial"/>
                <a:cs typeface="Arial"/>
              </a:defRPr>
            </a:pPr>
            <a:r>
              <a:rPr sz="1050" b="0">
                <a:solidFill>
                  <a:srgbClr val="4B6075"/>
                </a:solidFill>
                <a:latin typeface="Arial"/>
                <a:ea typeface="Arial"/>
                <a:cs typeface="Arial"/>
              </a:rPr>
              <a:t>Gửi thay đổi +</a:t>
            </a:r>
          </a:p>
          <a:p>
            <a:pPr algn="ctr">
              <a:defRPr sz="1050" b="0">
                <a:solidFill>
                  <a:srgbClr val="4B6075"/>
                </a:solidFill>
                <a:latin typeface="Arial"/>
                <a:ea typeface="Arial"/>
                <a:cs typeface="Arial"/>
              </a:defRPr>
            </a:pPr>
            <a:r>
              <a:rPr sz="1050" b="0">
                <a:solidFill>
                  <a:srgbClr val="4B6075"/>
                </a:solidFill>
                <a:latin typeface="Arial"/>
                <a:ea typeface="Arial"/>
                <a:cs typeface="Arial"/>
              </a:rPr>
              <a:t>OperationId + phạm vi</a:t>
            </a:r>
          </a:p>
        </p:txBody>
      </p:sp>
      <p:sp>
        <p:nvSpPr>
          <p:cNvPr id="18" name="text-838-208-→">
            <a:extLst>
              <a:ext uri="{FF2B5EF4-FFF2-40B4-BE49-F238E27FC236}">
                <a16:creationId xmlns:a16="http://schemas.microsoft.com/office/drawing/2014/main" id="{7DB065E2-0F1E-42BD-A1F4-786E4EFA453F}"/>
              </a:ext>
            </a:extLst>
          </p:cNvPr>
          <p:cNvSpPr>
            <a:spLocks noGrp="1"/>
          </p:cNvSpPr>
          <p:nvPr/>
        </p:nvSpPr>
        <p:spPr>
          <a:xfrm>
            <a:off x="7981950" y="1981200"/>
            <a:ext cx="266700" cy="428625"/>
          </a:xfrm>
          <a:prstGeom prst="rect">
            <a:avLst/>
          </a:prstGeom>
          <a:noFill/>
          <a:ln w="0">
            <a:noFill/>
          </a:ln>
        </p:spPr>
        <p:txBody>
          <a:bodyPr>
            <a:noAutofit/>
          </a:bodyPr>
          <a:lstStyle/>
          <a:p>
            <a:pPr algn="ctr">
              <a:defRPr sz="1875" b="1">
                <a:solidFill>
                  <a:srgbClr val="2169A8"/>
                </a:solidFill>
                <a:latin typeface="Arial"/>
                <a:ea typeface="Arial"/>
                <a:cs typeface="Arial"/>
              </a:defRPr>
            </a:pPr>
            <a:r>
              <a:rPr sz="1875" b="1">
                <a:solidFill>
                  <a:srgbClr val="2169A8"/>
                </a:solidFill>
                <a:latin typeface="Arial"/>
                <a:ea typeface="Arial"/>
                <a:cs typeface="Arial"/>
              </a:rPr>
              <a:t>→</a:t>
            </a:r>
          </a:p>
        </p:txBody>
      </p:sp>
      <p:sp>
        <p:nvSpPr>
          <p:cNvPr id="19" name="box-866-176">
            <a:extLst>
              <a:ext uri="{FF2B5EF4-FFF2-40B4-BE49-F238E27FC236}">
                <a16:creationId xmlns:a16="http://schemas.microsoft.com/office/drawing/2014/main" id="{8CD69438-84CF-4E53-BADA-C2B17C13B772}"/>
              </a:ext>
            </a:extLst>
          </p:cNvPr>
          <p:cNvSpPr>
            <a:spLocks noGrp="1"/>
          </p:cNvSpPr>
          <p:nvPr/>
        </p:nvSpPr>
        <p:spPr>
          <a:xfrm>
            <a:off x="8248650" y="1676400"/>
            <a:ext cx="1619250" cy="1276350"/>
          </a:xfrm>
          <a:prstGeom prst="roundRect">
            <a:avLst>
              <a:gd name="adj" fmla="val 5970"/>
            </a:avLst>
          </a:prstGeom>
          <a:solidFill>
            <a:srgbClr val="FFF4DD"/>
          </a:solidFill>
          <a:ln w="11430">
            <a:solidFill>
              <a:srgbClr val="CBD8E3"/>
            </a:solidFill>
            <a:prstDash val="solid"/>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SERVER</a:t>
            </a:r>
          </a:p>
        </p:txBody>
      </p:sp>
      <p:sp>
        <p:nvSpPr>
          <p:cNvPr id="20" name="text-878-232-Revalidate tại l">
            <a:extLst>
              <a:ext uri="{FF2B5EF4-FFF2-40B4-BE49-F238E27FC236}">
                <a16:creationId xmlns:a16="http://schemas.microsoft.com/office/drawing/2014/main" id="{A53751F5-1A6F-4CCA-9394-DC106BC3DD58}"/>
              </a:ext>
            </a:extLst>
          </p:cNvPr>
          <p:cNvSpPr>
            <a:spLocks noGrp="1"/>
          </p:cNvSpPr>
          <p:nvPr/>
        </p:nvSpPr>
        <p:spPr>
          <a:xfrm>
            <a:off x="8362950" y="2209800"/>
            <a:ext cx="1390650" cy="609600"/>
          </a:xfrm>
          <a:prstGeom prst="rect">
            <a:avLst/>
          </a:prstGeom>
          <a:noFill/>
          <a:ln w="0">
            <a:noFill/>
          </a:ln>
        </p:spPr>
        <p:txBody>
          <a:bodyPr>
            <a:noAutofit/>
          </a:bodyPr>
          <a:lstStyle/>
          <a:p>
            <a:pPr algn="ctr">
              <a:defRPr sz="1050" b="0">
                <a:solidFill>
                  <a:srgbClr val="4B6075"/>
                </a:solidFill>
                <a:latin typeface="Arial"/>
                <a:ea typeface="Arial"/>
                <a:cs typeface="Arial"/>
              </a:defRPr>
            </a:pPr>
            <a:r>
              <a:rPr sz="1050" b="0" dirty="0">
                <a:solidFill>
                  <a:srgbClr val="4B6075"/>
                </a:solidFill>
                <a:latin typeface="Arial"/>
                <a:ea typeface="Arial"/>
                <a:cs typeface="Arial"/>
              </a:rPr>
              <a:t>Revalidate </a:t>
            </a:r>
            <a:r>
              <a:rPr sz="1050" b="0" dirty="0" err="1">
                <a:solidFill>
                  <a:srgbClr val="4B6075"/>
                </a:solidFill>
                <a:latin typeface="Arial"/>
                <a:ea typeface="Arial"/>
                <a:cs typeface="Arial"/>
              </a:rPr>
              <a:t>tại</a:t>
            </a:r>
            <a:r>
              <a:rPr sz="1050" b="0" dirty="0">
                <a:solidFill>
                  <a:srgbClr val="4B6075"/>
                </a:solidFill>
                <a:latin typeface="Arial"/>
                <a:ea typeface="Arial"/>
                <a:cs typeface="Arial"/>
              </a:rPr>
              <a:t> </a:t>
            </a:r>
            <a:r>
              <a:rPr sz="1050" b="0" dirty="0" err="1">
                <a:solidFill>
                  <a:srgbClr val="4B6075"/>
                </a:solidFill>
                <a:latin typeface="Arial"/>
                <a:ea typeface="Arial"/>
                <a:cs typeface="Arial"/>
              </a:rPr>
              <a:t>lúc</a:t>
            </a:r>
            <a:r>
              <a:rPr sz="1050" b="0" dirty="0">
                <a:solidFill>
                  <a:srgbClr val="4B6075"/>
                </a:solidFill>
                <a:latin typeface="Arial"/>
                <a:ea typeface="Arial"/>
                <a:cs typeface="Arial"/>
              </a:rPr>
              <a:t> commit</a:t>
            </a:r>
          </a:p>
        </p:txBody>
      </p:sp>
      <p:sp>
        <p:nvSpPr>
          <p:cNvPr id="21" name="box-1048-151">
            <a:extLst>
              <a:ext uri="{FF2B5EF4-FFF2-40B4-BE49-F238E27FC236}">
                <a16:creationId xmlns:a16="http://schemas.microsoft.com/office/drawing/2014/main" id="{C2A697C7-A3E4-468B-A6AA-8F8EEF1E24AA}"/>
              </a:ext>
            </a:extLst>
          </p:cNvPr>
          <p:cNvSpPr>
            <a:spLocks noGrp="1"/>
          </p:cNvSpPr>
          <p:nvPr/>
        </p:nvSpPr>
        <p:spPr>
          <a:xfrm>
            <a:off x="9982200" y="1438275"/>
            <a:ext cx="1600200" cy="1790700"/>
          </a:xfrm>
          <a:prstGeom prst="roundRect">
            <a:avLst>
              <a:gd name="adj" fmla="val 4762"/>
            </a:avLst>
          </a:prstGeom>
          <a:solidFill>
            <a:srgbClr val="F4F7FA"/>
          </a:solidFill>
          <a:ln w="14288">
            <a:solidFill>
              <a:srgbClr val="C58A1E"/>
            </a:solidFill>
            <a:prstDash val="solid"/>
          </a:ln>
        </p:spPr>
        <p:txBody>
          <a:bodyPr/>
          <a:lstStyle/>
          <a:p>
            <a:endParaRPr lang="en-US"/>
          </a:p>
        </p:txBody>
      </p:sp>
      <p:sp>
        <p:nvSpPr>
          <p:cNvPr id="22" name="text-1062-170-• Đúng quyền?">
            <a:extLst>
              <a:ext uri="{FF2B5EF4-FFF2-40B4-BE49-F238E27FC236}">
                <a16:creationId xmlns:a16="http://schemas.microsoft.com/office/drawing/2014/main" id="{CAA74859-25B9-4005-AB33-03D9E0EFE1F3}"/>
              </a:ext>
            </a:extLst>
          </p:cNvPr>
          <p:cNvSpPr>
            <a:spLocks noGrp="1"/>
          </p:cNvSpPr>
          <p:nvPr/>
        </p:nvSpPr>
        <p:spPr>
          <a:xfrm>
            <a:off x="10115550" y="1619250"/>
            <a:ext cx="1352550" cy="247650"/>
          </a:xfrm>
          <a:prstGeom prst="rect">
            <a:avLst/>
          </a:prstGeom>
          <a:noFill/>
          <a:ln w="0">
            <a:noFill/>
          </a:ln>
        </p:spPr>
        <p:txBody>
          <a:bodyPr>
            <a:noAutofit/>
          </a:bodyPr>
          <a:lstStyle/>
          <a:p>
            <a:pPr algn="l">
              <a:defRPr sz="975" b="0">
                <a:solidFill>
                  <a:srgbClr val="162638"/>
                </a:solidFill>
                <a:latin typeface="Arial"/>
                <a:ea typeface="Arial"/>
                <a:cs typeface="Arial"/>
              </a:defRPr>
            </a:pPr>
            <a:r>
              <a:rPr sz="975" b="0">
                <a:solidFill>
                  <a:srgbClr val="162638"/>
                </a:solidFill>
                <a:latin typeface="Arial"/>
                <a:ea typeface="Arial"/>
                <a:cs typeface="Arial"/>
              </a:rPr>
              <a:t>• Đúng quyền?</a:t>
            </a:r>
          </a:p>
        </p:txBody>
      </p:sp>
      <p:sp>
        <p:nvSpPr>
          <p:cNvPr id="23" name="text-1062-200-• Reservation hợ">
            <a:extLst>
              <a:ext uri="{FF2B5EF4-FFF2-40B4-BE49-F238E27FC236}">
                <a16:creationId xmlns:a16="http://schemas.microsoft.com/office/drawing/2014/main" id="{A156B237-B7AA-4A8A-BE63-41A2B278C6BC}"/>
              </a:ext>
            </a:extLst>
          </p:cNvPr>
          <p:cNvSpPr>
            <a:spLocks noGrp="1"/>
          </p:cNvSpPr>
          <p:nvPr/>
        </p:nvSpPr>
        <p:spPr>
          <a:xfrm>
            <a:off x="10115550" y="1905000"/>
            <a:ext cx="1352550" cy="247650"/>
          </a:xfrm>
          <a:prstGeom prst="rect">
            <a:avLst/>
          </a:prstGeom>
          <a:noFill/>
          <a:ln w="0">
            <a:noFill/>
          </a:ln>
        </p:spPr>
        <p:txBody>
          <a:bodyPr>
            <a:noAutofit/>
          </a:bodyPr>
          <a:lstStyle/>
          <a:p>
            <a:pPr algn="l">
              <a:defRPr sz="975" b="0">
                <a:solidFill>
                  <a:srgbClr val="162638"/>
                </a:solidFill>
                <a:latin typeface="Arial"/>
                <a:ea typeface="Arial"/>
                <a:cs typeface="Arial"/>
              </a:defRPr>
            </a:pPr>
            <a:r>
              <a:rPr sz="975" b="0">
                <a:solidFill>
                  <a:srgbClr val="162638"/>
                </a:solidFill>
                <a:latin typeface="Arial"/>
                <a:ea typeface="Arial"/>
                <a:cs typeface="Arial"/>
              </a:rPr>
              <a:t>• Reservation hợp lệ?</a:t>
            </a:r>
          </a:p>
        </p:txBody>
      </p:sp>
      <p:sp>
        <p:nvSpPr>
          <p:cNvPr id="24" name="text-1062-230-• Baseline hiện ">
            <a:extLst>
              <a:ext uri="{FF2B5EF4-FFF2-40B4-BE49-F238E27FC236}">
                <a16:creationId xmlns:a16="http://schemas.microsoft.com/office/drawing/2014/main" id="{465458F7-F12B-4099-BB36-C509EFF0C874}"/>
              </a:ext>
            </a:extLst>
          </p:cNvPr>
          <p:cNvSpPr>
            <a:spLocks noGrp="1"/>
          </p:cNvSpPr>
          <p:nvPr/>
        </p:nvSpPr>
        <p:spPr>
          <a:xfrm>
            <a:off x="10115550" y="2190750"/>
            <a:ext cx="1352550" cy="247650"/>
          </a:xfrm>
          <a:prstGeom prst="rect">
            <a:avLst/>
          </a:prstGeom>
          <a:noFill/>
          <a:ln w="0">
            <a:noFill/>
          </a:ln>
        </p:spPr>
        <p:txBody>
          <a:bodyPr>
            <a:noAutofit/>
          </a:bodyPr>
          <a:lstStyle/>
          <a:p>
            <a:pPr algn="l">
              <a:defRPr sz="975" b="0">
                <a:solidFill>
                  <a:srgbClr val="162638"/>
                </a:solidFill>
                <a:latin typeface="Arial"/>
                <a:ea typeface="Arial"/>
                <a:cs typeface="Arial"/>
              </a:defRPr>
            </a:pPr>
            <a:r>
              <a:rPr sz="975" b="0">
                <a:solidFill>
                  <a:srgbClr val="162638"/>
                </a:solidFill>
                <a:latin typeface="Arial"/>
                <a:ea typeface="Arial"/>
                <a:cs typeface="Arial"/>
              </a:rPr>
              <a:t>• Baseline hiện hành?</a:t>
            </a:r>
          </a:p>
        </p:txBody>
      </p:sp>
      <p:sp>
        <p:nvSpPr>
          <p:cNvPr id="25" name="text-1062-260-• Scope nhất quá">
            <a:extLst>
              <a:ext uri="{FF2B5EF4-FFF2-40B4-BE49-F238E27FC236}">
                <a16:creationId xmlns:a16="http://schemas.microsoft.com/office/drawing/2014/main" id="{66F9B97B-54A2-4F57-AF60-D0C306CCF89F}"/>
              </a:ext>
            </a:extLst>
          </p:cNvPr>
          <p:cNvSpPr>
            <a:spLocks noGrp="1"/>
          </p:cNvSpPr>
          <p:nvPr/>
        </p:nvSpPr>
        <p:spPr>
          <a:xfrm>
            <a:off x="10115550" y="2476500"/>
            <a:ext cx="1352550" cy="247650"/>
          </a:xfrm>
          <a:prstGeom prst="rect">
            <a:avLst/>
          </a:prstGeom>
          <a:noFill/>
          <a:ln w="0">
            <a:noFill/>
          </a:ln>
        </p:spPr>
        <p:txBody>
          <a:bodyPr>
            <a:noAutofit/>
          </a:bodyPr>
          <a:lstStyle/>
          <a:p>
            <a:pPr algn="l">
              <a:defRPr sz="975" b="0">
                <a:solidFill>
                  <a:srgbClr val="162638"/>
                </a:solidFill>
                <a:latin typeface="Arial"/>
                <a:ea typeface="Arial"/>
                <a:cs typeface="Arial"/>
              </a:defRPr>
            </a:pPr>
            <a:r>
              <a:rPr sz="975" b="0">
                <a:solidFill>
                  <a:srgbClr val="162638"/>
                </a:solidFill>
                <a:latin typeface="Arial"/>
                <a:ea typeface="Arial"/>
                <a:cs typeface="Arial"/>
              </a:rPr>
              <a:t>• Scope nhất quán?</a:t>
            </a:r>
          </a:p>
        </p:txBody>
      </p:sp>
      <p:sp>
        <p:nvSpPr>
          <p:cNvPr id="26" name="text-1062-290-• Structure hợp ">
            <a:extLst>
              <a:ext uri="{FF2B5EF4-FFF2-40B4-BE49-F238E27FC236}">
                <a16:creationId xmlns:a16="http://schemas.microsoft.com/office/drawing/2014/main" id="{4CB39F85-0799-4085-9D80-4B1D89697F14}"/>
              </a:ext>
            </a:extLst>
          </p:cNvPr>
          <p:cNvSpPr>
            <a:spLocks noGrp="1"/>
          </p:cNvSpPr>
          <p:nvPr/>
        </p:nvSpPr>
        <p:spPr>
          <a:xfrm>
            <a:off x="10115550" y="2762250"/>
            <a:ext cx="1352550" cy="247650"/>
          </a:xfrm>
          <a:prstGeom prst="rect">
            <a:avLst/>
          </a:prstGeom>
          <a:noFill/>
          <a:ln w="0">
            <a:noFill/>
          </a:ln>
        </p:spPr>
        <p:txBody>
          <a:bodyPr>
            <a:noAutofit/>
          </a:bodyPr>
          <a:lstStyle/>
          <a:p>
            <a:pPr algn="l">
              <a:defRPr sz="975" b="0">
                <a:solidFill>
                  <a:srgbClr val="162638"/>
                </a:solidFill>
                <a:latin typeface="Arial"/>
                <a:ea typeface="Arial"/>
                <a:cs typeface="Arial"/>
              </a:defRPr>
            </a:pPr>
            <a:r>
              <a:rPr sz="975" b="0">
                <a:solidFill>
                  <a:srgbClr val="162638"/>
                </a:solidFill>
                <a:latin typeface="Arial"/>
                <a:ea typeface="Arial"/>
                <a:cs typeface="Arial"/>
              </a:rPr>
              <a:t>• Structure hợp lệ?</a:t>
            </a:r>
          </a:p>
        </p:txBody>
      </p:sp>
      <p:sp>
        <p:nvSpPr>
          <p:cNvPr id="27" name="box-742-388">
            <a:extLst>
              <a:ext uri="{FF2B5EF4-FFF2-40B4-BE49-F238E27FC236}">
                <a16:creationId xmlns:a16="http://schemas.microsoft.com/office/drawing/2014/main" id="{05BDA513-7169-44D4-843A-3EACF35896A4}"/>
              </a:ext>
            </a:extLst>
          </p:cNvPr>
          <p:cNvSpPr>
            <a:spLocks noGrp="1"/>
          </p:cNvSpPr>
          <p:nvPr/>
        </p:nvSpPr>
        <p:spPr>
          <a:xfrm>
            <a:off x="7067550" y="3695700"/>
            <a:ext cx="2095500" cy="1257300"/>
          </a:xfrm>
          <a:prstGeom prst="roundRect">
            <a:avLst>
              <a:gd name="adj" fmla="val 6061"/>
            </a:avLst>
          </a:prstGeom>
          <a:solidFill>
            <a:srgbClr val="E7F5EE"/>
          </a:solidFill>
          <a:ln w="15240">
            <a:solidFill>
              <a:srgbClr val="2D8A62"/>
            </a:solidFill>
            <a:prstDash val="solid"/>
          </a:ln>
        </p:spPr>
        <p:txBody>
          <a:bodyPr/>
          <a:lstStyle/>
          <a:p>
            <a:endParaRPr lang="en-US"/>
          </a:p>
        </p:txBody>
      </p:sp>
      <p:sp>
        <p:nvSpPr>
          <p:cNvPr id="28" name="text-760-402-PASS">
            <a:extLst>
              <a:ext uri="{FF2B5EF4-FFF2-40B4-BE49-F238E27FC236}">
                <a16:creationId xmlns:a16="http://schemas.microsoft.com/office/drawing/2014/main" id="{637921C9-32C7-4D07-9B4B-26FEA0B2783E}"/>
              </a:ext>
            </a:extLst>
          </p:cNvPr>
          <p:cNvSpPr>
            <a:spLocks noGrp="1"/>
          </p:cNvSpPr>
          <p:nvPr/>
        </p:nvSpPr>
        <p:spPr>
          <a:xfrm>
            <a:off x="7239000" y="3829050"/>
            <a:ext cx="1752600" cy="266700"/>
          </a:xfrm>
          <a:prstGeom prst="rect">
            <a:avLst/>
          </a:prstGeom>
          <a:noFill/>
          <a:ln w="0">
            <a:noFill/>
          </a:ln>
        </p:spPr>
        <p:txBody>
          <a:bodyPr>
            <a:noAutofit/>
          </a:bodyPr>
          <a:lstStyle/>
          <a:p>
            <a:pPr algn="ctr">
              <a:defRPr sz="1575" b="1">
                <a:solidFill>
                  <a:srgbClr val="2D8A62"/>
                </a:solidFill>
                <a:latin typeface="Arial"/>
                <a:ea typeface="Arial"/>
                <a:cs typeface="Arial"/>
              </a:defRPr>
            </a:pPr>
            <a:r>
              <a:rPr sz="1575" b="1">
                <a:solidFill>
                  <a:srgbClr val="2D8A62"/>
                </a:solidFill>
                <a:latin typeface="Arial"/>
                <a:ea typeface="Arial"/>
                <a:cs typeface="Arial"/>
              </a:rPr>
              <a:t>PASS</a:t>
            </a:r>
          </a:p>
        </p:txBody>
      </p:sp>
      <p:sp>
        <p:nvSpPr>
          <p:cNvPr id="29" name="text-756-442-Tạo G006 cho nội">
            <a:extLst>
              <a:ext uri="{FF2B5EF4-FFF2-40B4-BE49-F238E27FC236}">
                <a16:creationId xmlns:a16="http://schemas.microsoft.com/office/drawing/2014/main" id="{1AA1BB2F-BB83-40DB-8AC1-5C404D591BD6}"/>
              </a:ext>
            </a:extLst>
          </p:cNvPr>
          <p:cNvSpPr>
            <a:spLocks noGrp="1"/>
          </p:cNvSpPr>
          <p:nvPr/>
        </p:nvSpPr>
        <p:spPr>
          <a:xfrm>
            <a:off x="7200900" y="4210050"/>
            <a:ext cx="1828800" cy="590550"/>
          </a:xfrm>
          <a:prstGeom prst="rect">
            <a:avLst/>
          </a:prstGeom>
          <a:noFill/>
          <a:ln w="0">
            <a:noFill/>
          </a:ln>
        </p:spPr>
        <p:txBody>
          <a:bodyPr>
            <a:noAutofit/>
          </a:bodyPr>
          <a:lstStyle/>
          <a:p>
            <a:pPr algn="ctr">
              <a:defRPr sz="1013" b="0">
                <a:solidFill>
                  <a:srgbClr val="4B6075"/>
                </a:solidFill>
                <a:latin typeface="Arial"/>
                <a:ea typeface="Arial"/>
                <a:cs typeface="Arial"/>
              </a:defRPr>
            </a:pPr>
            <a:r>
              <a:rPr sz="1013" b="0">
                <a:solidFill>
                  <a:srgbClr val="4B6075"/>
                </a:solidFill>
                <a:latin typeface="Arial"/>
                <a:ea typeface="Arial"/>
                <a:cs typeface="Arial"/>
              </a:rPr>
              <a:t>Tạo G006 cho nội dung đổi</a:t>
            </a:r>
          </a:p>
          <a:p>
            <a:pPr algn="ctr">
              <a:defRPr sz="1013" b="0">
                <a:solidFill>
                  <a:srgbClr val="4B6075"/>
                </a:solidFill>
                <a:latin typeface="Arial"/>
                <a:ea typeface="Arial"/>
                <a:cs typeface="Arial"/>
              </a:defRPr>
            </a:pPr>
            <a:r>
              <a:rPr sz="1013" b="0">
                <a:solidFill>
                  <a:srgbClr val="4B6075"/>
                </a:solidFill>
                <a:latin typeface="Arial"/>
                <a:ea typeface="Arial"/>
                <a:cs typeface="Arial"/>
              </a:rPr>
              <a:t>Kết thúc Checkout trong phạm vi</a:t>
            </a:r>
          </a:p>
        </p:txBody>
      </p:sp>
      <p:sp>
        <p:nvSpPr>
          <p:cNvPr id="30" name="box-1000-388">
            <a:extLst>
              <a:ext uri="{FF2B5EF4-FFF2-40B4-BE49-F238E27FC236}">
                <a16:creationId xmlns:a16="http://schemas.microsoft.com/office/drawing/2014/main" id="{1AC09554-8F4E-4963-A96D-723FF7DBE70C}"/>
              </a:ext>
            </a:extLst>
          </p:cNvPr>
          <p:cNvSpPr>
            <a:spLocks noGrp="1"/>
          </p:cNvSpPr>
          <p:nvPr/>
        </p:nvSpPr>
        <p:spPr>
          <a:xfrm>
            <a:off x="9525000" y="3695700"/>
            <a:ext cx="2095500" cy="1257300"/>
          </a:xfrm>
          <a:prstGeom prst="roundRect">
            <a:avLst>
              <a:gd name="adj" fmla="val 6061"/>
            </a:avLst>
          </a:prstGeom>
          <a:solidFill>
            <a:srgbClr val="FBEAEC"/>
          </a:solidFill>
          <a:ln w="15240">
            <a:solidFill>
              <a:srgbClr val="B94A55"/>
            </a:solidFill>
            <a:prstDash val="solid"/>
          </a:ln>
        </p:spPr>
        <p:txBody>
          <a:bodyPr/>
          <a:lstStyle/>
          <a:p>
            <a:endParaRPr lang="en-US"/>
          </a:p>
        </p:txBody>
      </p:sp>
      <p:sp>
        <p:nvSpPr>
          <p:cNvPr id="31" name="text-1018-402-FAIL">
            <a:extLst>
              <a:ext uri="{FF2B5EF4-FFF2-40B4-BE49-F238E27FC236}">
                <a16:creationId xmlns:a16="http://schemas.microsoft.com/office/drawing/2014/main" id="{6A9904A1-0E81-4B56-B70F-2E0CE7522496}"/>
              </a:ext>
            </a:extLst>
          </p:cNvPr>
          <p:cNvSpPr>
            <a:spLocks noGrp="1"/>
          </p:cNvSpPr>
          <p:nvPr/>
        </p:nvSpPr>
        <p:spPr>
          <a:xfrm>
            <a:off x="9696450" y="3829050"/>
            <a:ext cx="1752600" cy="266700"/>
          </a:xfrm>
          <a:prstGeom prst="rect">
            <a:avLst/>
          </a:prstGeom>
          <a:noFill/>
          <a:ln w="0">
            <a:noFill/>
          </a:ln>
        </p:spPr>
        <p:txBody>
          <a:bodyPr>
            <a:noAutofit/>
          </a:bodyPr>
          <a:lstStyle/>
          <a:p>
            <a:pPr algn="ctr">
              <a:defRPr sz="1575" b="1">
                <a:solidFill>
                  <a:srgbClr val="B94A55"/>
                </a:solidFill>
                <a:latin typeface="Arial"/>
                <a:ea typeface="Arial"/>
                <a:cs typeface="Arial"/>
              </a:defRPr>
            </a:pPr>
            <a:r>
              <a:rPr sz="1575" b="1">
                <a:solidFill>
                  <a:srgbClr val="B94A55"/>
                </a:solidFill>
                <a:latin typeface="Arial"/>
                <a:ea typeface="Arial"/>
                <a:cs typeface="Arial"/>
              </a:rPr>
              <a:t>FAIL</a:t>
            </a:r>
          </a:p>
        </p:txBody>
      </p:sp>
      <p:sp>
        <p:nvSpPr>
          <p:cNvPr id="32" name="text-1014-442-Chặn ghi không a">
            <a:extLst>
              <a:ext uri="{FF2B5EF4-FFF2-40B4-BE49-F238E27FC236}">
                <a16:creationId xmlns:a16="http://schemas.microsoft.com/office/drawing/2014/main" id="{06D4B9CC-4EB8-406F-B8F6-D14F4CEC542F}"/>
              </a:ext>
            </a:extLst>
          </p:cNvPr>
          <p:cNvSpPr>
            <a:spLocks noGrp="1"/>
          </p:cNvSpPr>
          <p:nvPr/>
        </p:nvSpPr>
        <p:spPr>
          <a:xfrm>
            <a:off x="9658350" y="4210050"/>
            <a:ext cx="1828800" cy="590550"/>
          </a:xfrm>
          <a:prstGeom prst="rect">
            <a:avLst/>
          </a:prstGeom>
          <a:noFill/>
          <a:ln w="0">
            <a:noFill/>
          </a:ln>
        </p:spPr>
        <p:txBody>
          <a:bodyPr>
            <a:noAutofit/>
          </a:bodyPr>
          <a:lstStyle/>
          <a:p>
            <a:pPr algn="ctr">
              <a:defRPr sz="1013" b="0">
                <a:solidFill>
                  <a:srgbClr val="4B6075"/>
                </a:solidFill>
                <a:latin typeface="Arial"/>
                <a:ea typeface="Arial"/>
                <a:cs typeface="Arial"/>
              </a:defRPr>
            </a:pPr>
            <a:r>
              <a:rPr sz="1013" b="0">
                <a:solidFill>
                  <a:srgbClr val="4B6075"/>
                </a:solidFill>
                <a:latin typeface="Arial"/>
                <a:ea typeface="Arial"/>
                <a:cs typeface="Arial"/>
              </a:rPr>
              <a:t>Chặn ghi không an toàn</a:t>
            </a:r>
          </a:p>
          <a:p>
            <a:pPr algn="ctr">
              <a:defRPr sz="1013" b="0">
                <a:solidFill>
                  <a:srgbClr val="4B6075"/>
                </a:solidFill>
                <a:latin typeface="Arial"/>
                <a:ea typeface="Arial"/>
                <a:cs typeface="Arial"/>
              </a:defRPr>
            </a:pPr>
            <a:r>
              <a:rPr sz="1013" b="0">
                <a:solidFill>
                  <a:srgbClr val="4B6075"/>
                </a:solidFill>
                <a:latin typeface="Arial"/>
                <a:ea typeface="Arial"/>
                <a:cs typeface="Arial"/>
              </a:rPr>
              <a:t>Giữ local work + giải thích</a:t>
            </a:r>
          </a:p>
        </p:txBody>
      </p:sp>
      <p:sp>
        <p:nvSpPr>
          <p:cNvPr id="33" name="text-890-338-↙">
            <a:extLst>
              <a:ext uri="{FF2B5EF4-FFF2-40B4-BE49-F238E27FC236}">
                <a16:creationId xmlns:a16="http://schemas.microsoft.com/office/drawing/2014/main" id="{D7B6A329-6D81-4F7C-BE01-87846CCE94BF}"/>
              </a:ext>
            </a:extLst>
          </p:cNvPr>
          <p:cNvSpPr>
            <a:spLocks noGrp="1"/>
          </p:cNvSpPr>
          <p:nvPr/>
        </p:nvSpPr>
        <p:spPr>
          <a:xfrm>
            <a:off x="8477250" y="3219450"/>
            <a:ext cx="514350" cy="438150"/>
          </a:xfrm>
          <a:prstGeom prst="rect">
            <a:avLst/>
          </a:prstGeom>
          <a:noFill/>
          <a:ln w="0">
            <a:noFill/>
          </a:ln>
        </p:spPr>
        <p:txBody>
          <a:bodyPr>
            <a:noAutofit/>
          </a:bodyPr>
          <a:lstStyle/>
          <a:p>
            <a:pPr algn="ctr">
              <a:defRPr sz="2100" b="1">
                <a:solidFill>
                  <a:srgbClr val="2D8A62"/>
                </a:solidFill>
                <a:latin typeface="Arial"/>
                <a:ea typeface="Arial"/>
                <a:cs typeface="Arial"/>
              </a:defRPr>
            </a:pPr>
            <a:r>
              <a:rPr sz="2100" b="1">
                <a:solidFill>
                  <a:srgbClr val="2D8A62"/>
                </a:solidFill>
                <a:latin typeface="Arial"/>
                <a:ea typeface="Arial"/>
                <a:cs typeface="Arial"/>
              </a:rPr>
              <a:t>↙</a:t>
            </a:r>
          </a:p>
        </p:txBody>
      </p:sp>
      <p:sp>
        <p:nvSpPr>
          <p:cNvPr id="34" name="text-1090-338-↘">
            <a:extLst>
              <a:ext uri="{FF2B5EF4-FFF2-40B4-BE49-F238E27FC236}">
                <a16:creationId xmlns:a16="http://schemas.microsoft.com/office/drawing/2014/main" id="{E8DFE544-B81F-45A8-B330-4EF29253A12B}"/>
              </a:ext>
            </a:extLst>
          </p:cNvPr>
          <p:cNvSpPr>
            <a:spLocks noGrp="1"/>
          </p:cNvSpPr>
          <p:nvPr/>
        </p:nvSpPr>
        <p:spPr>
          <a:xfrm>
            <a:off x="10382250" y="3219450"/>
            <a:ext cx="514350" cy="438150"/>
          </a:xfrm>
          <a:prstGeom prst="rect">
            <a:avLst/>
          </a:prstGeom>
          <a:noFill/>
          <a:ln w="0">
            <a:noFill/>
          </a:ln>
        </p:spPr>
        <p:txBody>
          <a:bodyPr>
            <a:noAutofit/>
          </a:bodyPr>
          <a:lstStyle/>
          <a:p>
            <a:pPr algn="ctr">
              <a:defRPr sz="2100" b="1">
                <a:solidFill>
                  <a:srgbClr val="B94A55"/>
                </a:solidFill>
                <a:latin typeface="Arial"/>
                <a:ea typeface="Arial"/>
                <a:cs typeface="Arial"/>
              </a:defRPr>
            </a:pPr>
            <a:r>
              <a:rPr sz="2100" b="1">
                <a:solidFill>
                  <a:srgbClr val="B94A55"/>
                </a:solidFill>
                <a:latin typeface="Arial"/>
                <a:ea typeface="Arial"/>
                <a:cs typeface="Arial"/>
              </a:rPr>
              <a:t>↘</a:t>
            </a:r>
          </a:p>
        </p:txBody>
      </p:sp>
      <p:sp>
        <p:nvSpPr>
          <p:cNvPr id="35" name="box-58-374">
            <a:extLst>
              <a:ext uri="{FF2B5EF4-FFF2-40B4-BE49-F238E27FC236}">
                <a16:creationId xmlns:a16="http://schemas.microsoft.com/office/drawing/2014/main" id="{3C3FC285-9C75-4BA9-9E21-3888020F0BEC}"/>
              </a:ext>
            </a:extLst>
          </p:cNvPr>
          <p:cNvSpPr>
            <a:spLocks noGrp="1"/>
          </p:cNvSpPr>
          <p:nvPr/>
        </p:nvSpPr>
        <p:spPr>
          <a:xfrm>
            <a:off x="552450" y="3562350"/>
            <a:ext cx="5619750" cy="1943100"/>
          </a:xfrm>
          <a:prstGeom prst="roundRect">
            <a:avLst>
              <a:gd name="adj" fmla="val 3922"/>
            </a:avLst>
          </a:prstGeom>
          <a:solidFill>
            <a:srgbClr val="F4F7FA"/>
          </a:solidFill>
          <a:ln w="11430">
            <a:solidFill>
              <a:srgbClr val="CBD8E3"/>
            </a:solidFill>
            <a:prstDash val="solid"/>
          </a:ln>
        </p:spPr>
        <p:txBody>
          <a:bodyPr/>
          <a:lstStyle/>
          <a:p>
            <a:endParaRPr lang="en-US"/>
          </a:p>
        </p:txBody>
      </p:sp>
      <p:sp>
        <p:nvSpPr>
          <p:cNvPr id="36" name="box-82-394">
            <a:extLst>
              <a:ext uri="{FF2B5EF4-FFF2-40B4-BE49-F238E27FC236}">
                <a16:creationId xmlns:a16="http://schemas.microsoft.com/office/drawing/2014/main" id="{154CC40A-6B3B-4471-822B-8DE0A6F15755}"/>
              </a:ext>
            </a:extLst>
          </p:cNvPr>
          <p:cNvSpPr>
            <a:spLocks noGrp="1"/>
          </p:cNvSpPr>
          <p:nvPr/>
        </p:nvSpPr>
        <p:spPr>
          <a:xfrm>
            <a:off x="781050" y="3752850"/>
            <a:ext cx="1295400" cy="323850"/>
          </a:xfrm>
          <a:prstGeom prst="roundRect">
            <a:avLst>
              <a:gd name="adj" fmla="val 23529"/>
            </a:avLst>
          </a:prstGeom>
          <a:solidFill>
            <a:srgbClr val="7890A6"/>
          </a:solidFill>
          <a:ln w="7620">
            <a:solidFill>
              <a:srgbClr val="7890A6"/>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REFERENCE</a:t>
            </a:r>
          </a:p>
        </p:txBody>
      </p:sp>
      <p:sp>
        <p:nvSpPr>
          <p:cNvPr id="37" name="text-82-444-Mở bản tham khảo">
            <a:extLst>
              <a:ext uri="{FF2B5EF4-FFF2-40B4-BE49-F238E27FC236}">
                <a16:creationId xmlns:a16="http://schemas.microsoft.com/office/drawing/2014/main" id="{DA507BC6-72DA-4D5B-B3C6-E80DB7879094}"/>
              </a:ext>
            </a:extLst>
          </p:cNvPr>
          <p:cNvSpPr>
            <a:spLocks noGrp="1"/>
          </p:cNvSpPr>
          <p:nvPr/>
        </p:nvSpPr>
        <p:spPr>
          <a:xfrm>
            <a:off x="781050" y="4229100"/>
            <a:ext cx="5029200" cy="47625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Mở bản tham khảo theo đúng Generation nhưng không nhận quyền công bố vào tài liệu gốc.</a:t>
            </a:r>
          </a:p>
        </p:txBody>
      </p:sp>
      <p:sp>
        <p:nvSpPr>
          <p:cNvPr id="38" name="text-82-510-Nếu bản Referenc">
            <a:extLst>
              <a:ext uri="{FF2B5EF4-FFF2-40B4-BE49-F238E27FC236}">
                <a16:creationId xmlns:a16="http://schemas.microsoft.com/office/drawing/2014/main" id="{2C441190-6E43-492A-A4EA-314757CABBA3}"/>
              </a:ext>
            </a:extLst>
          </p:cNvPr>
          <p:cNvSpPr>
            <a:spLocks noGrp="1"/>
          </p:cNvSpPr>
          <p:nvPr/>
        </p:nvSpPr>
        <p:spPr>
          <a:xfrm>
            <a:off x="781050" y="4857750"/>
            <a:ext cx="5029200" cy="476250"/>
          </a:xfrm>
          <a:prstGeom prst="rect">
            <a:avLst/>
          </a:prstGeom>
          <a:noFill/>
          <a:ln w="0">
            <a:noFill/>
          </a:ln>
        </p:spPr>
        <p:txBody>
          <a:bodyPr>
            <a:noAutofit/>
          </a:bodyPr>
          <a:lstStyle/>
          <a:p>
            <a:pPr algn="l">
              <a:defRPr sz="1200" b="0">
                <a:solidFill>
                  <a:srgbClr val="4B6075"/>
                </a:solidFill>
                <a:latin typeface="Arial"/>
                <a:ea typeface="Arial"/>
                <a:cs typeface="Arial"/>
              </a:defRPr>
            </a:pPr>
            <a:r>
              <a:rPr sz="1200" b="0">
                <a:solidFill>
                  <a:srgbClr val="4B6075"/>
                </a:solidFill>
                <a:latin typeface="Arial"/>
                <a:ea typeface="Arial"/>
                <a:cs typeface="Arial"/>
              </a:rPr>
              <a:t>Nếu bản Reference bị sửa, UI phải đưa ra lựa chọn an toàn; không Check-in trực tiếp lên bản gốc.</a:t>
            </a:r>
          </a:p>
        </p:txBody>
      </p:sp>
      <p:sp>
        <p:nvSpPr>
          <p:cNvPr id="39" name="box-684-542">
            <a:extLst>
              <a:ext uri="{FF2B5EF4-FFF2-40B4-BE49-F238E27FC236}">
                <a16:creationId xmlns:a16="http://schemas.microsoft.com/office/drawing/2014/main" id="{D4CB44D1-85BC-4476-8F69-1C5019C4472A}"/>
              </a:ext>
            </a:extLst>
          </p:cNvPr>
          <p:cNvSpPr>
            <a:spLocks noGrp="1"/>
          </p:cNvSpPr>
          <p:nvPr/>
        </p:nvSpPr>
        <p:spPr>
          <a:xfrm>
            <a:off x="6515100" y="5162550"/>
            <a:ext cx="5105400" cy="685800"/>
          </a:xfrm>
          <a:prstGeom prst="roundRect">
            <a:avLst>
              <a:gd name="adj" fmla="val 11111"/>
            </a:avLst>
          </a:prstGeom>
          <a:solidFill>
            <a:srgbClr val="102744"/>
          </a:solidFill>
          <a:ln w="11430">
            <a:solidFill>
              <a:srgbClr val="102744"/>
            </a:solidFill>
            <a:prstDash val="solid"/>
          </a:ln>
        </p:spPr>
        <p:txBody>
          <a:bodyPr>
            <a:no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Checkout không chỉ là download. Check-in không chỉ là upload.</a:t>
            </a:r>
          </a:p>
        </p:txBody>
      </p:sp>
    </p:spTree>
    <p:extLst>
      <p:ext uri="{BB962C8B-B14F-4D97-AF65-F5344CB8AC3E}">
        <p14:creationId xmlns:p14="http://schemas.microsoft.com/office/powerpoint/2010/main" val="1934096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box-0-0">
            <a:extLst>
              <a:ext uri="{FF2B5EF4-FFF2-40B4-BE49-F238E27FC236}">
                <a16:creationId xmlns:a16="http://schemas.microsoft.com/office/drawing/2014/main" id="{C117F192-8566-4C88-BB08-451796AC58B8}"/>
              </a:ext>
            </a:extLst>
          </p:cNvPr>
          <p:cNvSpPr>
            <a:spLocks noGrp="1"/>
          </p:cNvSpPr>
          <p:nvPr/>
        </p:nvSpPr>
        <p:spPr>
          <a:xfrm>
            <a:off x="0" y="0"/>
            <a:ext cx="133350" cy="6858000"/>
          </a:xfrm>
          <a:prstGeom prst="rect">
            <a:avLst/>
          </a:prstGeom>
          <a:solidFill>
            <a:srgbClr val="2169A8"/>
          </a:solidFill>
          <a:ln w="0">
            <a:noFill/>
            <a:prstDash val="solid"/>
          </a:ln>
        </p:spPr>
        <p:txBody>
          <a:bodyPr/>
          <a:lstStyle/>
          <a:p>
            <a:endParaRPr lang="en-US"/>
          </a:p>
        </p:txBody>
      </p:sp>
      <p:sp>
        <p:nvSpPr>
          <p:cNvPr id="2" name="text-54-28-SPEC">
            <a:extLst>
              <a:ext uri="{FF2B5EF4-FFF2-40B4-BE49-F238E27FC236}">
                <a16:creationId xmlns:a16="http://schemas.microsoft.com/office/drawing/2014/main" id="{09DAD929-B6D4-4A2E-9087-0AF1AC141E81}"/>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Product S">
            <a:extLst>
              <a:ext uri="{FF2B5EF4-FFF2-40B4-BE49-F238E27FC236}">
                <a16:creationId xmlns:a16="http://schemas.microsoft.com/office/drawing/2014/main" id="{25A7F948-9BC5-48FC-956C-8B317F1EE41C}"/>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Spec — Product Structure phải tái tạo được lịch sử</a:t>
            </a:r>
          </a:p>
        </p:txBody>
      </p:sp>
      <p:sp>
        <p:nvSpPr>
          <p:cNvPr id="4" name="line-54-116">
            <a:extLst>
              <a:ext uri="{FF2B5EF4-FFF2-40B4-BE49-F238E27FC236}">
                <a16:creationId xmlns:a16="http://schemas.microsoft.com/office/drawing/2014/main" id="{02EB319B-146F-421C-A2AE-516BD034E499}"/>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4@0">
            <a:extLst>
              <a:ext uri="{FF2B5EF4-FFF2-40B4-BE49-F238E27FC236}">
                <a16:creationId xmlns:a16="http://schemas.microsoft.com/office/drawing/2014/main" id="{8653EE8D-8505-4D18-8B12-29E416E7FB32}"/>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DOC-05@0.20 · DOC-06@0.16</a:t>
            </a:r>
          </a:p>
        </p:txBody>
      </p:sp>
      <p:sp>
        <p:nvSpPr>
          <p:cNvPr id="6" name="text-1170-680-07">
            <a:extLst>
              <a:ext uri="{FF2B5EF4-FFF2-40B4-BE49-F238E27FC236}">
                <a16:creationId xmlns:a16="http://schemas.microsoft.com/office/drawing/2014/main" id="{52F8BBDD-8775-42CE-9348-D4294036ADD0}"/>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07</a:t>
            </a:r>
          </a:p>
        </p:txBody>
      </p:sp>
      <p:sp>
        <p:nvSpPr>
          <p:cNvPr id="7" name="box-64-154">
            <a:extLst>
              <a:ext uri="{FF2B5EF4-FFF2-40B4-BE49-F238E27FC236}">
                <a16:creationId xmlns:a16="http://schemas.microsoft.com/office/drawing/2014/main" id="{C0C1F3E7-9B16-4CDB-8DD7-D8AF49575F5C}"/>
              </a:ext>
            </a:extLst>
          </p:cNvPr>
          <p:cNvSpPr>
            <a:spLocks noGrp="1"/>
          </p:cNvSpPr>
          <p:nvPr/>
        </p:nvSpPr>
        <p:spPr>
          <a:xfrm>
            <a:off x="609600" y="1466850"/>
            <a:ext cx="3333750" cy="4248150"/>
          </a:xfrm>
          <a:prstGeom prst="roundRect">
            <a:avLst>
              <a:gd name="adj" fmla="val 2286"/>
            </a:avLst>
          </a:prstGeom>
          <a:solidFill>
            <a:srgbClr val="F4F7FA"/>
          </a:solidFill>
          <a:ln w="11430">
            <a:solidFill>
              <a:srgbClr val="CBD8E3"/>
            </a:solidFill>
            <a:prstDash val="solid"/>
          </a:ln>
        </p:spPr>
        <p:txBody>
          <a:bodyPr/>
          <a:lstStyle/>
          <a:p>
            <a:endParaRPr lang="en-US"/>
          </a:p>
        </p:txBody>
      </p:sp>
      <p:sp>
        <p:nvSpPr>
          <p:cNvPr id="8" name="box-90-178">
            <a:extLst>
              <a:ext uri="{FF2B5EF4-FFF2-40B4-BE49-F238E27FC236}">
                <a16:creationId xmlns:a16="http://schemas.microsoft.com/office/drawing/2014/main" id="{33280F7B-112E-410F-8A91-2F0516AACE33}"/>
              </a:ext>
            </a:extLst>
          </p:cNvPr>
          <p:cNvSpPr>
            <a:spLocks noGrp="1"/>
          </p:cNvSpPr>
          <p:nvPr/>
        </p:nvSpPr>
        <p:spPr>
          <a:xfrm>
            <a:off x="857250" y="1695450"/>
            <a:ext cx="2838450" cy="323850"/>
          </a:xfrm>
          <a:prstGeom prst="roundRect">
            <a:avLst>
              <a:gd name="adj" fmla="val 23529"/>
            </a:avLst>
          </a:prstGeom>
          <a:solidFill>
            <a:srgbClr val="102744"/>
          </a:solidFill>
          <a:ln w="7620">
            <a:solidFill>
              <a:srgbClr val="102744"/>
            </a:solidFill>
            <a:prstDash val="solid"/>
          </a:ln>
        </p:spPr>
        <p:txBody>
          <a:bodyPr>
            <a:noAutofit/>
          </a:bodyPr>
          <a:lstStyle/>
          <a:p>
            <a:pPr algn="ctr">
              <a:defRPr sz="1050" b="1">
                <a:solidFill>
                  <a:srgbClr val="FFFFFF"/>
                </a:solidFill>
                <a:latin typeface="Arial"/>
                <a:ea typeface="Arial"/>
                <a:cs typeface="Arial"/>
              </a:defRPr>
            </a:pPr>
            <a:r>
              <a:rPr sz="1050" b="1">
                <a:solidFill>
                  <a:srgbClr val="FFFFFF"/>
                </a:solidFill>
                <a:latin typeface="Arial"/>
                <a:ea typeface="Arial"/>
                <a:cs typeface="Arial"/>
              </a:rPr>
              <a:t>CẤU TRÚC TẠI THỜI ĐIỂM RELEASE</a:t>
            </a:r>
          </a:p>
        </p:txBody>
      </p:sp>
      <p:sp>
        <p:nvSpPr>
          <p:cNvPr id="9" name="box-136-242">
            <a:extLst>
              <a:ext uri="{FF2B5EF4-FFF2-40B4-BE49-F238E27FC236}">
                <a16:creationId xmlns:a16="http://schemas.microsoft.com/office/drawing/2014/main" id="{C4AAB523-C4DD-40F8-845A-498AD853A132}"/>
              </a:ext>
            </a:extLst>
          </p:cNvPr>
          <p:cNvSpPr>
            <a:spLocks noGrp="1"/>
          </p:cNvSpPr>
          <p:nvPr/>
        </p:nvSpPr>
        <p:spPr>
          <a:xfrm>
            <a:off x="1295400" y="2305050"/>
            <a:ext cx="1981200" cy="666750"/>
          </a:xfrm>
          <a:prstGeom prst="roundRect">
            <a:avLst>
              <a:gd name="adj" fmla="val 11429"/>
            </a:avLst>
          </a:prstGeom>
          <a:solidFill>
            <a:srgbClr val="EAF3F9"/>
          </a:solidFill>
          <a:ln w="11430">
            <a:solidFill>
              <a:srgbClr val="2169A8"/>
            </a:solidFill>
            <a:prstDash val="solid"/>
          </a:ln>
        </p:spPr>
        <p:txBody>
          <a:bodyPr>
            <a:noAutofit/>
          </a:bodyPr>
          <a:lstStyle/>
          <a:p>
            <a:pPr algn="ctr">
              <a:defRPr sz="1725" b="1">
                <a:solidFill>
                  <a:srgbClr val="162638"/>
                </a:solidFill>
                <a:latin typeface="Arial"/>
                <a:ea typeface="Arial"/>
                <a:cs typeface="Arial"/>
              </a:defRPr>
            </a:pPr>
            <a:r>
              <a:rPr sz="1725" b="1">
                <a:solidFill>
                  <a:srgbClr val="162638"/>
                </a:solidFill>
                <a:latin typeface="Arial"/>
                <a:ea typeface="Arial"/>
                <a:cs typeface="Arial"/>
              </a:rPr>
              <a:t>Assembly A</a:t>
            </a:r>
          </a:p>
        </p:txBody>
      </p:sp>
      <p:sp>
        <p:nvSpPr>
          <p:cNvPr id="10" name="line-238-312">
            <a:extLst>
              <a:ext uri="{FF2B5EF4-FFF2-40B4-BE49-F238E27FC236}">
                <a16:creationId xmlns:a16="http://schemas.microsoft.com/office/drawing/2014/main" id="{B3B62D36-B86F-4C6E-A318-834D4744DBFF}"/>
              </a:ext>
            </a:extLst>
          </p:cNvPr>
          <p:cNvSpPr>
            <a:spLocks noGrp="1"/>
          </p:cNvSpPr>
          <p:nvPr/>
        </p:nvSpPr>
        <p:spPr>
          <a:xfrm>
            <a:off x="2266950" y="2971800"/>
            <a:ext cx="28575" cy="609600"/>
          </a:xfrm>
          <a:prstGeom prst="rect">
            <a:avLst/>
          </a:prstGeom>
          <a:solidFill>
            <a:srgbClr val="7890A6"/>
          </a:solidFill>
          <a:ln w="0">
            <a:solidFill>
              <a:srgbClr val="7890A6"/>
            </a:solidFill>
            <a:prstDash val="solid"/>
          </a:ln>
        </p:spPr>
        <p:txBody>
          <a:bodyPr/>
          <a:lstStyle/>
          <a:p>
            <a:endParaRPr lang="en-US"/>
          </a:p>
        </p:txBody>
      </p:sp>
      <p:sp>
        <p:nvSpPr>
          <p:cNvPr id="11" name="line-146-374">
            <a:extLst>
              <a:ext uri="{FF2B5EF4-FFF2-40B4-BE49-F238E27FC236}">
                <a16:creationId xmlns:a16="http://schemas.microsoft.com/office/drawing/2014/main" id="{171C2AE8-DF65-4932-B4D3-EFBCA79B4207}"/>
              </a:ext>
            </a:extLst>
          </p:cNvPr>
          <p:cNvSpPr>
            <a:spLocks noGrp="1"/>
          </p:cNvSpPr>
          <p:nvPr/>
        </p:nvSpPr>
        <p:spPr>
          <a:xfrm>
            <a:off x="1390650" y="3562350"/>
            <a:ext cx="1790700" cy="28575"/>
          </a:xfrm>
          <a:prstGeom prst="rect">
            <a:avLst/>
          </a:prstGeom>
          <a:solidFill>
            <a:srgbClr val="7890A6"/>
          </a:solidFill>
          <a:ln w="0">
            <a:solidFill>
              <a:srgbClr val="7890A6"/>
            </a:solidFill>
            <a:prstDash val="solid"/>
          </a:ln>
        </p:spPr>
        <p:txBody>
          <a:bodyPr/>
          <a:lstStyle/>
          <a:p>
            <a:endParaRPr lang="en-US"/>
          </a:p>
        </p:txBody>
      </p:sp>
      <p:sp>
        <p:nvSpPr>
          <p:cNvPr id="12" name="line-134-374">
            <a:extLst>
              <a:ext uri="{FF2B5EF4-FFF2-40B4-BE49-F238E27FC236}">
                <a16:creationId xmlns:a16="http://schemas.microsoft.com/office/drawing/2014/main" id="{378F2FEE-9922-4E85-994F-51CCEF99350B}"/>
              </a:ext>
            </a:extLst>
          </p:cNvPr>
          <p:cNvSpPr>
            <a:spLocks noGrp="1"/>
          </p:cNvSpPr>
          <p:nvPr/>
        </p:nvSpPr>
        <p:spPr>
          <a:xfrm>
            <a:off x="1276350" y="3562350"/>
            <a:ext cx="28575" cy="266700"/>
          </a:xfrm>
          <a:prstGeom prst="rect">
            <a:avLst/>
          </a:prstGeom>
          <a:solidFill>
            <a:srgbClr val="7890A6"/>
          </a:solidFill>
          <a:ln w="0">
            <a:solidFill>
              <a:srgbClr val="7890A6"/>
            </a:solidFill>
            <a:prstDash val="solid"/>
          </a:ln>
        </p:spPr>
        <p:txBody>
          <a:bodyPr/>
          <a:lstStyle/>
          <a:p>
            <a:endParaRPr lang="en-US"/>
          </a:p>
        </p:txBody>
      </p:sp>
      <p:sp>
        <p:nvSpPr>
          <p:cNvPr id="13" name="box-78-402">
            <a:extLst>
              <a:ext uri="{FF2B5EF4-FFF2-40B4-BE49-F238E27FC236}">
                <a16:creationId xmlns:a16="http://schemas.microsoft.com/office/drawing/2014/main" id="{FB7847AD-4E36-4E05-9971-FCE8C4130682}"/>
              </a:ext>
            </a:extLst>
          </p:cNvPr>
          <p:cNvSpPr>
            <a:spLocks noGrp="1"/>
          </p:cNvSpPr>
          <p:nvPr/>
        </p:nvSpPr>
        <p:spPr>
          <a:xfrm>
            <a:off x="742950" y="3829050"/>
            <a:ext cx="990600" cy="685800"/>
          </a:xfrm>
          <a:prstGeom prst="roundRect">
            <a:avLst>
              <a:gd name="adj" fmla="val 11111"/>
            </a:avLst>
          </a:prstGeom>
          <a:solidFill>
            <a:srgbClr val="FFFFFF"/>
          </a:solidFill>
          <a:ln w="11430">
            <a:solidFill>
              <a:srgbClr val="CBD8E3"/>
            </a:solidFill>
            <a:prstDash val="solid"/>
          </a:ln>
        </p:spPr>
        <p:txBody>
          <a:bodyPr>
            <a:noAutofit/>
          </a:bodyPr>
          <a:lstStyle/>
          <a:p>
            <a:pPr algn="ctr">
              <a:defRPr sz="1200" b="1">
                <a:solidFill>
                  <a:srgbClr val="162638"/>
                </a:solidFill>
                <a:latin typeface="Arial"/>
                <a:ea typeface="Arial"/>
                <a:cs typeface="Arial"/>
              </a:defRPr>
            </a:pPr>
            <a:r>
              <a:rPr sz="1200" b="1">
                <a:solidFill>
                  <a:srgbClr val="162638"/>
                </a:solidFill>
                <a:latin typeface="Arial"/>
                <a:ea typeface="Arial"/>
                <a:cs typeface="Arial"/>
              </a:rPr>
              <a:t>Part B</a:t>
            </a:r>
          </a:p>
          <a:p>
            <a:pPr algn="ctr">
              <a:defRPr sz="1200" b="1">
                <a:solidFill>
                  <a:srgbClr val="162638"/>
                </a:solidFill>
                <a:latin typeface="Arial"/>
                <a:ea typeface="Arial"/>
                <a:cs typeface="Arial"/>
              </a:defRPr>
            </a:pPr>
            <a:r>
              <a:rPr sz="1200" b="1">
                <a:solidFill>
                  <a:srgbClr val="162638"/>
                </a:solidFill>
                <a:latin typeface="Arial"/>
                <a:ea typeface="Arial"/>
                <a:cs typeface="Arial"/>
              </a:rPr>
              <a:t>B3</a:t>
            </a:r>
          </a:p>
        </p:txBody>
      </p:sp>
      <p:sp>
        <p:nvSpPr>
          <p:cNvPr id="14" name="line-246-374">
            <a:extLst>
              <a:ext uri="{FF2B5EF4-FFF2-40B4-BE49-F238E27FC236}">
                <a16:creationId xmlns:a16="http://schemas.microsoft.com/office/drawing/2014/main" id="{41961368-B149-4814-8A23-47A06BDA4F13}"/>
              </a:ext>
            </a:extLst>
          </p:cNvPr>
          <p:cNvSpPr>
            <a:spLocks noGrp="1"/>
          </p:cNvSpPr>
          <p:nvPr/>
        </p:nvSpPr>
        <p:spPr>
          <a:xfrm>
            <a:off x="2343150" y="3562350"/>
            <a:ext cx="28575" cy="266700"/>
          </a:xfrm>
          <a:prstGeom prst="rect">
            <a:avLst/>
          </a:prstGeom>
          <a:solidFill>
            <a:srgbClr val="7890A6"/>
          </a:solidFill>
          <a:ln w="0">
            <a:solidFill>
              <a:srgbClr val="7890A6"/>
            </a:solidFill>
            <a:prstDash val="solid"/>
          </a:ln>
        </p:spPr>
        <p:txBody>
          <a:bodyPr/>
          <a:lstStyle/>
          <a:p>
            <a:endParaRPr lang="en-US"/>
          </a:p>
        </p:txBody>
      </p:sp>
      <p:sp>
        <p:nvSpPr>
          <p:cNvPr id="15" name="box-190-402">
            <a:extLst>
              <a:ext uri="{FF2B5EF4-FFF2-40B4-BE49-F238E27FC236}">
                <a16:creationId xmlns:a16="http://schemas.microsoft.com/office/drawing/2014/main" id="{1933B4AA-2852-4BC6-A2A7-2FBCD39AD2D4}"/>
              </a:ext>
            </a:extLst>
          </p:cNvPr>
          <p:cNvSpPr>
            <a:spLocks noGrp="1"/>
          </p:cNvSpPr>
          <p:nvPr/>
        </p:nvSpPr>
        <p:spPr>
          <a:xfrm>
            <a:off x="1809750" y="3829050"/>
            <a:ext cx="990600" cy="685800"/>
          </a:xfrm>
          <a:prstGeom prst="roundRect">
            <a:avLst>
              <a:gd name="adj" fmla="val 11111"/>
            </a:avLst>
          </a:prstGeom>
          <a:solidFill>
            <a:srgbClr val="FFFFFF"/>
          </a:solidFill>
          <a:ln w="11430">
            <a:solidFill>
              <a:srgbClr val="CBD8E3"/>
            </a:solidFill>
            <a:prstDash val="solid"/>
          </a:ln>
        </p:spPr>
        <p:txBody>
          <a:bodyPr>
            <a:noAutofit/>
          </a:bodyPr>
          <a:lstStyle/>
          <a:p>
            <a:pPr algn="ctr">
              <a:defRPr sz="1200" b="1">
                <a:solidFill>
                  <a:srgbClr val="162638"/>
                </a:solidFill>
                <a:latin typeface="Arial"/>
                <a:ea typeface="Arial"/>
                <a:cs typeface="Arial"/>
              </a:defRPr>
            </a:pPr>
            <a:r>
              <a:rPr sz="1200" b="1">
                <a:solidFill>
                  <a:srgbClr val="162638"/>
                </a:solidFill>
                <a:latin typeface="Arial"/>
                <a:ea typeface="Arial"/>
                <a:cs typeface="Arial"/>
              </a:rPr>
              <a:t>Part C</a:t>
            </a:r>
          </a:p>
          <a:p>
            <a:pPr algn="ctr">
              <a:defRPr sz="1200" b="1">
                <a:solidFill>
                  <a:srgbClr val="162638"/>
                </a:solidFill>
                <a:latin typeface="Arial"/>
                <a:ea typeface="Arial"/>
                <a:cs typeface="Arial"/>
              </a:defRPr>
            </a:pPr>
            <a:r>
              <a:rPr sz="1200" b="1">
                <a:solidFill>
                  <a:srgbClr val="162638"/>
                </a:solidFill>
                <a:latin typeface="Arial"/>
                <a:ea typeface="Arial"/>
                <a:cs typeface="Arial"/>
              </a:rPr>
              <a:t>C9</a:t>
            </a:r>
          </a:p>
        </p:txBody>
      </p:sp>
      <p:sp>
        <p:nvSpPr>
          <p:cNvPr id="16" name="line-358-374">
            <a:extLst>
              <a:ext uri="{FF2B5EF4-FFF2-40B4-BE49-F238E27FC236}">
                <a16:creationId xmlns:a16="http://schemas.microsoft.com/office/drawing/2014/main" id="{62A69A3A-0BDD-45ED-B0B6-CB6BB90ED0F1}"/>
              </a:ext>
            </a:extLst>
          </p:cNvPr>
          <p:cNvSpPr>
            <a:spLocks noGrp="1"/>
          </p:cNvSpPr>
          <p:nvPr/>
        </p:nvSpPr>
        <p:spPr>
          <a:xfrm>
            <a:off x="3409950" y="3562350"/>
            <a:ext cx="28575" cy="266700"/>
          </a:xfrm>
          <a:prstGeom prst="rect">
            <a:avLst/>
          </a:prstGeom>
          <a:solidFill>
            <a:srgbClr val="7890A6"/>
          </a:solidFill>
          <a:ln w="0">
            <a:solidFill>
              <a:srgbClr val="7890A6"/>
            </a:solidFill>
            <a:prstDash val="solid"/>
          </a:ln>
        </p:spPr>
        <p:txBody>
          <a:bodyPr/>
          <a:lstStyle/>
          <a:p>
            <a:endParaRPr lang="en-US"/>
          </a:p>
        </p:txBody>
      </p:sp>
      <p:sp>
        <p:nvSpPr>
          <p:cNvPr id="17" name="box-302-402">
            <a:extLst>
              <a:ext uri="{FF2B5EF4-FFF2-40B4-BE49-F238E27FC236}">
                <a16:creationId xmlns:a16="http://schemas.microsoft.com/office/drawing/2014/main" id="{D6F2DD2F-F28F-457B-9BC6-BA2BAF36E8B8}"/>
              </a:ext>
            </a:extLst>
          </p:cNvPr>
          <p:cNvSpPr>
            <a:spLocks noGrp="1"/>
          </p:cNvSpPr>
          <p:nvPr/>
        </p:nvSpPr>
        <p:spPr>
          <a:xfrm>
            <a:off x="2876550" y="3829050"/>
            <a:ext cx="990600" cy="685800"/>
          </a:xfrm>
          <a:prstGeom prst="roundRect">
            <a:avLst>
              <a:gd name="adj" fmla="val 11111"/>
            </a:avLst>
          </a:prstGeom>
          <a:solidFill>
            <a:srgbClr val="FFFFFF"/>
          </a:solidFill>
          <a:ln w="11430">
            <a:solidFill>
              <a:srgbClr val="CBD8E3"/>
            </a:solidFill>
            <a:prstDash val="solid"/>
          </a:ln>
        </p:spPr>
        <p:txBody>
          <a:bodyPr>
            <a:noAutofit/>
          </a:bodyPr>
          <a:lstStyle/>
          <a:p>
            <a:pPr algn="ctr">
              <a:defRPr sz="1200" b="1">
                <a:solidFill>
                  <a:srgbClr val="162638"/>
                </a:solidFill>
                <a:latin typeface="Arial"/>
                <a:ea typeface="Arial"/>
                <a:cs typeface="Arial"/>
              </a:defRPr>
            </a:pPr>
            <a:r>
              <a:rPr sz="1200" b="1">
                <a:solidFill>
                  <a:srgbClr val="162638"/>
                </a:solidFill>
                <a:latin typeface="Arial"/>
                <a:ea typeface="Arial"/>
                <a:cs typeface="Arial"/>
              </a:rPr>
              <a:t>Drawing D</a:t>
            </a:r>
          </a:p>
          <a:p>
            <a:pPr algn="ctr">
              <a:defRPr sz="1200" b="1">
                <a:solidFill>
                  <a:srgbClr val="162638"/>
                </a:solidFill>
                <a:latin typeface="Arial"/>
                <a:ea typeface="Arial"/>
                <a:cs typeface="Arial"/>
              </a:defRPr>
            </a:pPr>
            <a:r>
              <a:rPr sz="1200" b="1">
                <a:solidFill>
                  <a:srgbClr val="162638"/>
                </a:solidFill>
                <a:latin typeface="Arial"/>
                <a:ea typeface="Arial"/>
                <a:cs typeface="Arial"/>
              </a:rPr>
              <a:t>D2</a:t>
            </a:r>
          </a:p>
        </p:txBody>
      </p:sp>
      <p:sp>
        <p:nvSpPr>
          <p:cNvPr id="18" name="text-98-510-Quan hệ + occurr">
            <a:extLst>
              <a:ext uri="{FF2B5EF4-FFF2-40B4-BE49-F238E27FC236}">
                <a16:creationId xmlns:a16="http://schemas.microsoft.com/office/drawing/2014/main" id="{B70BCEFA-7D1B-4703-A785-0CA2A0615D02}"/>
              </a:ext>
            </a:extLst>
          </p:cNvPr>
          <p:cNvSpPr>
            <a:spLocks noGrp="1"/>
          </p:cNvSpPr>
          <p:nvPr/>
        </p:nvSpPr>
        <p:spPr>
          <a:xfrm>
            <a:off x="933450" y="4857750"/>
            <a:ext cx="2686050" cy="552450"/>
          </a:xfrm>
          <a:prstGeom prst="rect">
            <a:avLst/>
          </a:prstGeom>
          <a:noFill/>
          <a:ln w="0">
            <a:noFill/>
          </a:ln>
        </p:spPr>
        <p:txBody>
          <a:bodyPr>
            <a:noAutofit/>
          </a:bodyPr>
          <a:lstStyle/>
          <a:p>
            <a:pPr algn="ctr">
              <a:defRPr sz="1200" b="0">
                <a:solidFill>
                  <a:srgbClr val="4B6075"/>
                </a:solidFill>
                <a:latin typeface="Arial"/>
                <a:ea typeface="Arial"/>
                <a:cs typeface="Arial"/>
              </a:defRPr>
            </a:pPr>
            <a:r>
              <a:rPr sz="1200" b="0">
                <a:solidFill>
                  <a:srgbClr val="4B6075"/>
                </a:solidFill>
                <a:latin typeface="Arial"/>
                <a:ea typeface="Arial"/>
                <a:cs typeface="Arial"/>
              </a:rPr>
              <a:t>Quan hệ + occurrence + số lượng</a:t>
            </a:r>
          </a:p>
          <a:p>
            <a:pPr algn="ctr">
              <a:defRPr sz="1200" b="0">
                <a:solidFill>
                  <a:srgbClr val="4B6075"/>
                </a:solidFill>
                <a:latin typeface="Arial"/>
                <a:ea typeface="Arial"/>
                <a:cs typeface="Arial"/>
              </a:defRPr>
            </a:pPr>
            <a:r>
              <a:rPr sz="1200" b="0">
                <a:solidFill>
                  <a:srgbClr val="4B6075"/>
                </a:solidFill>
                <a:latin typeface="Arial"/>
                <a:ea typeface="Arial"/>
                <a:cs typeface="Arial"/>
              </a:rPr>
              <a:t>được ghi nhận cùng baseline</a:t>
            </a:r>
          </a:p>
        </p:txBody>
      </p:sp>
      <p:sp>
        <p:nvSpPr>
          <p:cNvPr id="19" name="text-430-330-→">
            <a:extLst>
              <a:ext uri="{FF2B5EF4-FFF2-40B4-BE49-F238E27FC236}">
                <a16:creationId xmlns:a16="http://schemas.microsoft.com/office/drawing/2014/main" id="{8C8A1E0D-46E8-42B9-AEEB-C98695EB346A}"/>
              </a:ext>
            </a:extLst>
          </p:cNvPr>
          <p:cNvSpPr>
            <a:spLocks noGrp="1"/>
          </p:cNvSpPr>
          <p:nvPr/>
        </p:nvSpPr>
        <p:spPr>
          <a:xfrm>
            <a:off x="4095750" y="3143250"/>
            <a:ext cx="552450" cy="476250"/>
          </a:xfrm>
          <a:prstGeom prst="rect">
            <a:avLst/>
          </a:prstGeom>
          <a:noFill/>
          <a:ln w="0">
            <a:noFill/>
          </a:ln>
        </p:spPr>
        <p:txBody>
          <a:bodyPr>
            <a:noAutofit/>
          </a:bodyPr>
          <a:lstStyle/>
          <a:p>
            <a:pPr algn="ctr">
              <a:defRPr sz="2700" b="1">
                <a:solidFill>
                  <a:srgbClr val="2169A8"/>
                </a:solidFill>
                <a:latin typeface="Arial"/>
                <a:ea typeface="Arial"/>
                <a:cs typeface="Arial"/>
              </a:defRPr>
            </a:pPr>
            <a:r>
              <a:rPr sz="2700" b="1">
                <a:solidFill>
                  <a:srgbClr val="2169A8"/>
                </a:solidFill>
                <a:latin typeface="Arial"/>
                <a:ea typeface="Arial"/>
                <a:cs typeface="Arial"/>
              </a:rPr>
              <a:t>→</a:t>
            </a:r>
          </a:p>
        </p:txBody>
      </p:sp>
      <p:sp>
        <p:nvSpPr>
          <p:cNvPr id="20" name="box-500-150">
            <a:extLst>
              <a:ext uri="{FF2B5EF4-FFF2-40B4-BE49-F238E27FC236}">
                <a16:creationId xmlns:a16="http://schemas.microsoft.com/office/drawing/2014/main" id="{E6A4C551-7FAD-4314-9006-0CC5FB573470}"/>
              </a:ext>
            </a:extLst>
          </p:cNvPr>
          <p:cNvSpPr>
            <a:spLocks noGrp="1"/>
          </p:cNvSpPr>
          <p:nvPr/>
        </p:nvSpPr>
        <p:spPr>
          <a:xfrm>
            <a:off x="4762500" y="1428750"/>
            <a:ext cx="3219450" cy="4286250"/>
          </a:xfrm>
          <a:prstGeom prst="roundRect">
            <a:avLst>
              <a:gd name="adj" fmla="val 2367"/>
            </a:avLst>
          </a:prstGeom>
          <a:solidFill>
            <a:srgbClr val="E7F5EE"/>
          </a:solidFill>
          <a:ln w="19050">
            <a:solidFill>
              <a:srgbClr val="2D8A62"/>
            </a:solidFill>
            <a:prstDash val="solid"/>
          </a:ln>
        </p:spPr>
        <p:txBody>
          <a:bodyPr/>
          <a:lstStyle/>
          <a:p>
            <a:endParaRPr lang="en-US"/>
          </a:p>
        </p:txBody>
      </p:sp>
      <p:sp>
        <p:nvSpPr>
          <p:cNvPr id="21" name="box-530-176">
            <a:extLst>
              <a:ext uri="{FF2B5EF4-FFF2-40B4-BE49-F238E27FC236}">
                <a16:creationId xmlns:a16="http://schemas.microsoft.com/office/drawing/2014/main" id="{7BC8EABF-39EA-4A82-819E-396060F28478}"/>
              </a:ext>
            </a:extLst>
          </p:cNvPr>
          <p:cNvSpPr>
            <a:spLocks noGrp="1"/>
          </p:cNvSpPr>
          <p:nvPr/>
        </p:nvSpPr>
        <p:spPr>
          <a:xfrm>
            <a:off x="5048250" y="1676400"/>
            <a:ext cx="2647950" cy="323850"/>
          </a:xfrm>
          <a:prstGeom prst="roundRect">
            <a:avLst>
              <a:gd name="adj" fmla="val 23529"/>
            </a:avLst>
          </a:prstGeom>
          <a:solidFill>
            <a:srgbClr val="2D8A62"/>
          </a:solidFill>
          <a:ln w="7620">
            <a:solidFill>
              <a:srgbClr val="2D8A62"/>
            </a:solidFill>
            <a:prstDash val="solid"/>
          </a:ln>
        </p:spPr>
        <p:txBody>
          <a:bodyPr>
            <a:noAutofit/>
          </a:bodyPr>
          <a:lstStyle/>
          <a:p>
            <a:pPr algn="ctr">
              <a:defRPr sz="1275" b="1">
                <a:solidFill>
                  <a:srgbClr val="FFFFFF"/>
                </a:solidFill>
                <a:latin typeface="Arial"/>
                <a:ea typeface="Arial"/>
                <a:cs typeface="Arial"/>
              </a:defRPr>
            </a:pPr>
            <a:r>
              <a:rPr sz="1275" b="1">
                <a:solidFill>
                  <a:srgbClr val="FFFFFF"/>
                </a:solidFill>
                <a:latin typeface="Arial"/>
                <a:ea typeface="Arial"/>
                <a:cs typeface="Arial"/>
              </a:rPr>
              <a:t>STRUCTURE SNAPSHOT S12</a:t>
            </a:r>
          </a:p>
        </p:txBody>
      </p:sp>
      <p:sp>
        <p:nvSpPr>
          <p:cNvPr id="22" name="text-542-228-Exact immutable ">
            <a:extLst>
              <a:ext uri="{FF2B5EF4-FFF2-40B4-BE49-F238E27FC236}">
                <a16:creationId xmlns:a16="http://schemas.microsoft.com/office/drawing/2014/main" id="{20F3ABE0-A6A2-4EA7-A55D-32B9D37DD1D9}"/>
              </a:ext>
            </a:extLst>
          </p:cNvPr>
          <p:cNvSpPr>
            <a:spLocks noGrp="1"/>
          </p:cNvSpPr>
          <p:nvPr/>
        </p:nvSpPr>
        <p:spPr>
          <a:xfrm>
            <a:off x="5162550" y="2171700"/>
            <a:ext cx="2419350" cy="304800"/>
          </a:xfrm>
          <a:prstGeom prst="rect">
            <a:avLst/>
          </a:prstGeom>
          <a:noFill/>
          <a:ln w="0">
            <a:noFill/>
          </a:ln>
        </p:spPr>
        <p:txBody>
          <a:bodyPr>
            <a:noAutofit/>
          </a:bodyPr>
          <a:lstStyle/>
          <a:p>
            <a:pPr algn="ctr">
              <a:defRPr sz="1500" b="1">
                <a:solidFill>
                  <a:srgbClr val="2D8A62"/>
                </a:solidFill>
                <a:latin typeface="Arial"/>
                <a:ea typeface="Arial"/>
                <a:cs typeface="Arial"/>
              </a:defRPr>
            </a:pPr>
            <a:r>
              <a:rPr sz="1500" b="1">
                <a:solidFill>
                  <a:srgbClr val="2D8A62"/>
                </a:solidFill>
                <a:latin typeface="Arial"/>
                <a:ea typeface="Arial"/>
                <a:cs typeface="Arial"/>
              </a:rPr>
              <a:t>Exact immutable pins</a:t>
            </a:r>
          </a:p>
        </p:txBody>
      </p:sp>
      <p:sp>
        <p:nvSpPr>
          <p:cNvPr id="23" name="box-546-286">
            <a:extLst>
              <a:ext uri="{FF2B5EF4-FFF2-40B4-BE49-F238E27FC236}">
                <a16:creationId xmlns:a16="http://schemas.microsoft.com/office/drawing/2014/main" id="{4C030E83-C832-452A-AEF4-9A83DAB02621}"/>
              </a:ext>
            </a:extLst>
          </p:cNvPr>
          <p:cNvSpPr>
            <a:spLocks noGrp="1"/>
          </p:cNvSpPr>
          <p:nvPr/>
        </p:nvSpPr>
        <p:spPr>
          <a:xfrm>
            <a:off x="5200650" y="2724150"/>
            <a:ext cx="2343150" cy="438150"/>
          </a:xfrm>
          <a:prstGeom prst="roundRect">
            <a:avLst>
              <a:gd name="adj" fmla="val 17391"/>
            </a:avLst>
          </a:prstGeom>
          <a:solidFill>
            <a:srgbClr val="FFFFFF"/>
          </a:solidFill>
          <a:ln w="11430">
            <a:solidFill>
              <a:srgbClr val="CBD8E3"/>
            </a:solidFill>
            <a:prstDash val="solid"/>
          </a:ln>
        </p:spPr>
        <p:txBody>
          <a:bodyPr>
            <a:noAutofit/>
          </a:bodyPr>
          <a:lstStyle/>
          <a:p>
            <a:pPr algn="ctr">
              <a:defRPr sz="1200" b="0">
                <a:solidFill>
                  <a:srgbClr val="162638"/>
                </a:solidFill>
                <a:latin typeface="Arial"/>
                <a:ea typeface="Arial"/>
                <a:cs typeface="Arial"/>
              </a:defRPr>
            </a:pPr>
            <a:r>
              <a:rPr sz="1200" b="0">
                <a:solidFill>
                  <a:srgbClr val="162638"/>
                </a:solidFill>
                <a:latin typeface="Arial"/>
                <a:ea typeface="Arial"/>
                <a:cs typeface="Arial"/>
              </a:rPr>
              <a:t>Assembly A  →  Generation hiện hành</a:t>
            </a:r>
          </a:p>
        </p:txBody>
      </p:sp>
      <p:sp>
        <p:nvSpPr>
          <p:cNvPr id="24" name="box-546-348">
            <a:extLst>
              <a:ext uri="{FF2B5EF4-FFF2-40B4-BE49-F238E27FC236}">
                <a16:creationId xmlns:a16="http://schemas.microsoft.com/office/drawing/2014/main" id="{FD32ACF2-35E3-4265-9E3C-2E783BC50051}"/>
              </a:ext>
            </a:extLst>
          </p:cNvPr>
          <p:cNvSpPr>
            <a:spLocks noGrp="1"/>
          </p:cNvSpPr>
          <p:nvPr/>
        </p:nvSpPr>
        <p:spPr>
          <a:xfrm>
            <a:off x="5200650" y="3314700"/>
            <a:ext cx="2343150" cy="438150"/>
          </a:xfrm>
          <a:prstGeom prst="roundRect">
            <a:avLst>
              <a:gd name="adj" fmla="val 17391"/>
            </a:avLst>
          </a:prstGeom>
          <a:solidFill>
            <a:srgbClr val="FFFFFF"/>
          </a:solidFill>
          <a:ln w="11430">
            <a:solidFill>
              <a:srgbClr val="CBD8E3"/>
            </a:solidFill>
            <a:prstDash val="solid"/>
          </a:ln>
        </p:spPr>
        <p:txBody>
          <a:bodyPr>
            <a:noAutofit/>
          </a:bodyPr>
          <a:lstStyle/>
          <a:p>
            <a:pPr algn="ctr">
              <a:defRPr sz="1200" b="1">
                <a:solidFill>
                  <a:srgbClr val="162638"/>
                </a:solidFill>
                <a:latin typeface="Arial"/>
                <a:ea typeface="Arial"/>
                <a:cs typeface="Arial"/>
              </a:defRPr>
            </a:pPr>
            <a:r>
              <a:rPr sz="1200" b="1">
                <a:solidFill>
                  <a:srgbClr val="162638"/>
                </a:solidFill>
                <a:latin typeface="Arial"/>
                <a:ea typeface="Arial"/>
                <a:cs typeface="Arial"/>
              </a:rPr>
              <a:t>Part B  →  B3</a:t>
            </a:r>
          </a:p>
        </p:txBody>
      </p:sp>
      <p:sp>
        <p:nvSpPr>
          <p:cNvPr id="25" name="box-546-410">
            <a:extLst>
              <a:ext uri="{FF2B5EF4-FFF2-40B4-BE49-F238E27FC236}">
                <a16:creationId xmlns:a16="http://schemas.microsoft.com/office/drawing/2014/main" id="{DCED2C90-8FCF-45F4-97E8-290D2EF43356}"/>
              </a:ext>
            </a:extLst>
          </p:cNvPr>
          <p:cNvSpPr>
            <a:spLocks noGrp="1"/>
          </p:cNvSpPr>
          <p:nvPr/>
        </p:nvSpPr>
        <p:spPr>
          <a:xfrm>
            <a:off x="5200650" y="3905250"/>
            <a:ext cx="2343150" cy="438150"/>
          </a:xfrm>
          <a:prstGeom prst="roundRect">
            <a:avLst>
              <a:gd name="adj" fmla="val 17391"/>
            </a:avLst>
          </a:prstGeom>
          <a:solidFill>
            <a:srgbClr val="FFFFFF"/>
          </a:solidFill>
          <a:ln w="11430">
            <a:solidFill>
              <a:srgbClr val="CBD8E3"/>
            </a:solidFill>
            <a:prstDash val="solid"/>
          </a:ln>
        </p:spPr>
        <p:txBody>
          <a:bodyPr>
            <a:noAutofit/>
          </a:bodyPr>
          <a:lstStyle/>
          <a:p>
            <a:pPr algn="ctr">
              <a:defRPr sz="1200" b="1">
                <a:solidFill>
                  <a:srgbClr val="162638"/>
                </a:solidFill>
                <a:latin typeface="Arial"/>
                <a:ea typeface="Arial"/>
                <a:cs typeface="Arial"/>
              </a:defRPr>
            </a:pPr>
            <a:r>
              <a:rPr sz="1200" b="1">
                <a:solidFill>
                  <a:srgbClr val="162638"/>
                </a:solidFill>
                <a:latin typeface="Arial"/>
                <a:ea typeface="Arial"/>
                <a:cs typeface="Arial"/>
              </a:rPr>
              <a:t>Part C  →  C9</a:t>
            </a:r>
          </a:p>
        </p:txBody>
      </p:sp>
      <p:sp>
        <p:nvSpPr>
          <p:cNvPr id="26" name="box-546-472">
            <a:extLst>
              <a:ext uri="{FF2B5EF4-FFF2-40B4-BE49-F238E27FC236}">
                <a16:creationId xmlns:a16="http://schemas.microsoft.com/office/drawing/2014/main" id="{DA79C73A-213D-4DF4-98C2-6E75A194978F}"/>
              </a:ext>
            </a:extLst>
          </p:cNvPr>
          <p:cNvSpPr>
            <a:spLocks noGrp="1"/>
          </p:cNvSpPr>
          <p:nvPr/>
        </p:nvSpPr>
        <p:spPr>
          <a:xfrm>
            <a:off x="5200650" y="4495800"/>
            <a:ext cx="2343150" cy="438150"/>
          </a:xfrm>
          <a:prstGeom prst="roundRect">
            <a:avLst>
              <a:gd name="adj" fmla="val 17391"/>
            </a:avLst>
          </a:prstGeom>
          <a:solidFill>
            <a:srgbClr val="FFFFFF"/>
          </a:solidFill>
          <a:ln w="11430">
            <a:solidFill>
              <a:srgbClr val="CBD8E3"/>
            </a:solidFill>
            <a:prstDash val="solid"/>
          </a:ln>
        </p:spPr>
        <p:txBody>
          <a:bodyPr>
            <a:noAutofit/>
          </a:bodyPr>
          <a:lstStyle/>
          <a:p>
            <a:pPr algn="ctr">
              <a:defRPr sz="1200" b="1">
                <a:solidFill>
                  <a:srgbClr val="162638"/>
                </a:solidFill>
                <a:latin typeface="Arial"/>
                <a:ea typeface="Arial"/>
                <a:cs typeface="Arial"/>
              </a:defRPr>
            </a:pPr>
            <a:r>
              <a:rPr sz="1200" b="1">
                <a:solidFill>
                  <a:srgbClr val="162638"/>
                </a:solidFill>
                <a:latin typeface="Arial"/>
                <a:ea typeface="Arial"/>
                <a:cs typeface="Arial"/>
              </a:rPr>
              <a:t>Drawing D  →  D2</a:t>
            </a:r>
          </a:p>
        </p:txBody>
      </p:sp>
      <p:sp>
        <p:nvSpPr>
          <p:cNvPr id="27" name="text-544-548-Snapshot không t">
            <a:extLst>
              <a:ext uri="{FF2B5EF4-FFF2-40B4-BE49-F238E27FC236}">
                <a16:creationId xmlns:a16="http://schemas.microsoft.com/office/drawing/2014/main" id="{7651F61E-0DAB-4CBE-BDA0-ADD4886C1473}"/>
              </a:ext>
            </a:extLst>
          </p:cNvPr>
          <p:cNvSpPr>
            <a:spLocks noGrp="1"/>
          </p:cNvSpPr>
          <p:nvPr/>
        </p:nvSpPr>
        <p:spPr>
          <a:xfrm>
            <a:off x="5181600" y="5219700"/>
            <a:ext cx="2381250" cy="266700"/>
          </a:xfrm>
          <a:prstGeom prst="rect">
            <a:avLst/>
          </a:prstGeom>
          <a:noFill/>
          <a:ln w="0">
            <a:noFill/>
          </a:ln>
        </p:spPr>
        <p:txBody>
          <a:bodyPr>
            <a:noAutofit/>
          </a:bodyPr>
          <a:lstStyle/>
          <a:p>
            <a:pPr algn="ctr">
              <a:defRPr sz="1200" b="1">
                <a:solidFill>
                  <a:srgbClr val="B94A55"/>
                </a:solidFill>
                <a:latin typeface="Arial"/>
                <a:ea typeface="Arial"/>
                <a:cs typeface="Arial"/>
              </a:defRPr>
            </a:pPr>
            <a:r>
              <a:rPr sz="1200" b="1">
                <a:solidFill>
                  <a:srgbClr val="B94A55"/>
                </a:solidFill>
                <a:latin typeface="Arial"/>
                <a:ea typeface="Arial"/>
                <a:cs typeface="Arial"/>
              </a:rPr>
              <a:t>Snapshot không trỏ tới “latest”</a:t>
            </a:r>
          </a:p>
        </p:txBody>
      </p:sp>
      <p:sp>
        <p:nvSpPr>
          <p:cNvPr id="28" name="text-850-330-→">
            <a:extLst>
              <a:ext uri="{FF2B5EF4-FFF2-40B4-BE49-F238E27FC236}">
                <a16:creationId xmlns:a16="http://schemas.microsoft.com/office/drawing/2014/main" id="{C9C8D87E-02FE-4EC5-8F85-121CE2111E08}"/>
              </a:ext>
            </a:extLst>
          </p:cNvPr>
          <p:cNvSpPr>
            <a:spLocks noGrp="1"/>
          </p:cNvSpPr>
          <p:nvPr/>
        </p:nvSpPr>
        <p:spPr>
          <a:xfrm>
            <a:off x="8096250" y="3143250"/>
            <a:ext cx="552450" cy="476250"/>
          </a:xfrm>
          <a:prstGeom prst="rect">
            <a:avLst/>
          </a:prstGeom>
          <a:noFill/>
          <a:ln w="0">
            <a:noFill/>
          </a:ln>
        </p:spPr>
        <p:txBody>
          <a:bodyPr>
            <a:noAutofit/>
          </a:bodyPr>
          <a:lstStyle/>
          <a:p>
            <a:pPr algn="ctr">
              <a:defRPr sz="2700" b="1">
                <a:solidFill>
                  <a:srgbClr val="2169A8"/>
                </a:solidFill>
                <a:latin typeface="Arial"/>
                <a:ea typeface="Arial"/>
                <a:cs typeface="Arial"/>
              </a:defRPr>
            </a:pPr>
            <a:r>
              <a:rPr sz="2700" b="1">
                <a:solidFill>
                  <a:srgbClr val="2169A8"/>
                </a:solidFill>
                <a:latin typeface="Arial"/>
                <a:ea typeface="Arial"/>
                <a:cs typeface="Arial"/>
              </a:rPr>
              <a:t>→</a:t>
            </a:r>
          </a:p>
        </p:txBody>
      </p:sp>
      <p:sp>
        <p:nvSpPr>
          <p:cNvPr id="29" name="box-920-154">
            <a:extLst>
              <a:ext uri="{FF2B5EF4-FFF2-40B4-BE49-F238E27FC236}">
                <a16:creationId xmlns:a16="http://schemas.microsoft.com/office/drawing/2014/main" id="{EAE31187-4624-4D8C-A5CE-75724E19A78E}"/>
              </a:ext>
            </a:extLst>
          </p:cNvPr>
          <p:cNvSpPr>
            <a:spLocks noGrp="1"/>
          </p:cNvSpPr>
          <p:nvPr/>
        </p:nvSpPr>
        <p:spPr>
          <a:xfrm>
            <a:off x="8763000" y="1466850"/>
            <a:ext cx="2838450" cy="4248150"/>
          </a:xfrm>
          <a:prstGeom prst="roundRect">
            <a:avLst>
              <a:gd name="adj" fmla="val 2685"/>
            </a:avLst>
          </a:prstGeom>
          <a:solidFill>
            <a:srgbClr val="FFF4DD"/>
          </a:solidFill>
          <a:ln w="14288">
            <a:solidFill>
              <a:srgbClr val="C58A1E"/>
            </a:solidFill>
            <a:prstDash val="solid"/>
          </a:ln>
        </p:spPr>
        <p:txBody>
          <a:bodyPr/>
          <a:lstStyle/>
          <a:p>
            <a:endParaRPr lang="en-US"/>
          </a:p>
        </p:txBody>
      </p:sp>
      <p:sp>
        <p:nvSpPr>
          <p:cNvPr id="30" name="box-992-178">
            <a:extLst>
              <a:ext uri="{FF2B5EF4-FFF2-40B4-BE49-F238E27FC236}">
                <a16:creationId xmlns:a16="http://schemas.microsoft.com/office/drawing/2014/main" id="{A3234C38-A0A3-4322-A4FF-1C1BA2B5A01A}"/>
              </a:ext>
            </a:extLst>
          </p:cNvPr>
          <p:cNvSpPr>
            <a:spLocks noGrp="1"/>
          </p:cNvSpPr>
          <p:nvPr/>
        </p:nvSpPr>
        <p:spPr>
          <a:xfrm>
            <a:off x="9448800" y="1695450"/>
            <a:ext cx="1466850" cy="323850"/>
          </a:xfrm>
          <a:prstGeom prst="roundRect">
            <a:avLst>
              <a:gd name="adj" fmla="val 23529"/>
            </a:avLst>
          </a:prstGeom>
          <a:solidFill>
            <a:srgbClr val="C58A1E"/>
          </a:solidFill>
          <a:ln w="7620">
            <a:solidFill>
              <a:srgbClr val="C58A1E"/>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SAU NÀY</a:t>
            </a:r>
          </a:p>
        </p:txBody>
      </p:sp>
      <p:sp>
        <p:nvSpPr>
          <p:cNvPr id="31" name="text-964-260-Part B">
            <a:extLst>
              <a:ext uri="{FF2B5EF4-FFF2-40B4-BE49-F238E27FC236}">
                <a16:creationId xmlns:a16="http://schemas.microsoft.com/office/drawing/2014/main" id="{BC5D49C7-B084-4341-94EE-E1B592658986}"/>
              </a:ext>
            </a:extLst>
          </p:cNvPr>
          <p:cNvSpPr>
            <a:spLocks noGrp="1"/>
          </p:cNvSpPr>
          <p:nvPr/>
        </p:nvSpPr>
        <p:spPr>
          <a:xfrm>
            <a:off x="9182100" y="2476500"/>
            <a:ext cx="933450" cy="285750"/>
          </a:xfrm>
          <a:prstGeom prst="rect">
            <a:avLst/>
          </a:prstGeom>
          <a:noFill/>
          <a:ln w="0">
            <a:noFill/>
          </a:ln>
        </p:spPr>
        <p:txBody>
          <a:bodyPr>
            <a:noAutofit/>
          </a:bodyPr>
          <a:lstStyle/>
          <a:p>
            <a:pPr algn="r">
              <a:defRPr sz="1350" b="1">
                <a:solidFill>
                  <a:srgbClr val="162638"/>
                </a:solidFill>
                <a:latin typeface="Arial"/>
                <a:ea typeface="Arial"/>
                <a:cs typeface="Arial"/>
              </a:defRPr>
            </a:pPr>
            <a:r>
              <a:rPr sz="1350" b="1">
                <a:solidFill>
                  <a:srgbClr val="162638"/>
                </a:solidFill>
                <a:latin typeface="Arial"/>
                <a:ea typeface="Arial"/>
                <a:cs typeface="Arial"/>
              </a:rPr>
              <a:t>Part B</a:t>
            </a:r>
          </a:p>
        </p:txBody>
      </p:sp>
      <p:sp>
        <p:nvSpPr>
          <p:cNvPr id="32" name="text-1074-260-B3  →  B4">
            <a:extLst>
              <a:ext uri="{FF2B5EF4-FFF2-40B4-BE49-F238E27FC236}">
                <a16:creationId xmlns:a16="http://schemas.microsoft.com/office/drawing/2014/main" id="{CB0CEFDC-62E3-47D2-9942-8CF536E680B8}"/>
              </a:ext>
            </a:extLst>
          </p:cNvPr>
          <p:cNvSpPr>
            <a:spLocks noGrp="1"/>
          </p:cNvSpPr>
          <p:nvPr/>
        </p:nvSpPr>
        <p:spPr>
          <a:xfrm>
            <a:off x="10229850" y="2476500"/>
            <a:ext cx="1028700" cy="285750"/>
          </a:xfrm>
          <a:prstGeom prst="rect">
            <a:avLst/>
          </a:prstGeom>
          <a:noFill/>
          <a:ln w="0">
            <a:noFill/>
          </a:ln>
        </p:spPr>
        <p:txBody>
          <a:bodyPr>
            <a:noAutofit/>
          </a:bodyPr>
          <a:lstStyle/>
          <a:p>
            <a:pPr algn="l">
              <a:defRPr sz="1350" b="1">
                <a:solidFill>
                  <a:srgbClr val="2169A8"/>
                </a:solidFill>
                <a:latin typeface="Arial"/>
                <a:ea typeface="Arial"/>
                <a:cs typeface="Arial"/>
              </a:defRPr>
            </a:pPr>
            <a:r>
              <a:rPr sz="1350" b="1">
                <a:solidFill>
                  <a:srgbClr val="2169A8"/>
                </a:solidFill>
                <a:latin typeface="Arial"/>
                <a:ea typeface="Arial"/>
                <a:cs typeface="Arial"/>
              </a:rPr>
              <a:t>B3  →  B4</a:t>
            </a:r>
          </a:p>
        </p:txBody>
      </p:sp>
      <p:sp>
        <p:nvSpPr>
          <p:cNvPr id="33" name="text-964-320-Part C">
            <a:extLst>
              <a:ext uri="{FF2B5EF4-FFF2-40B4-BE49-F238E27FC236}">
                <a16:creationId xmlns:a16="http://schemas.microsoft.com/office/drawing/2014/main" id="{86055096-B953-4413-A692-41AB206F2CDA}"/>
              </a:ext>
            </a:extLst>
          </p:cNvPr>
          <p:cNvSpPr>
            <a:spLocks noGrp="1"/>
          </p:cNvSpPr>
          <p:nvPr/>
        </p:nvSpPr>
        <p:spPr>
          <a:xfrm>
            <a:off x="9182100" y="3048000"/>
            <a:ext cx="933450" cy="285750"/>
          </a:xfrm>
          <a:prstGeom prst="rect">
            <a:avLst/>
          </a:prstGeom>
          <a:noFill/>
          <a:ln w="0">
            <a:noFill/>
          </a:ln>
        </p:spPr>
        <p:txBody>
          <a:bodyPr>
            <a:noAutofit/>
          </a:bodyPr>
          <a:lstStyle/>
          <a:p>
            <a:pPr algn="r">
              <a:defRPr sz="1350" b="1">
                <a:solidFill>
                  <a:srgbClr val="162638"/>
                </a:solidFill>
                <a:latin typeface="Arial"/>
                <a:ea typeface="Arial"/>
                <a:cs typeface="Arial"/>
              </a:defRPr>
            </a:pPr>
            <a:r>
              <a:rPr sz="1350" b="1">
                <a:solidFill>
                  <a:srgbClr val="162638"/>
                </a:solidFill>
                <a:latin typeface="Arial"/>
                <a:ea typeface="Arial"/>
                <a:cs typeface="Arial"/>
              </a:rPr>
              <a:t>Part C</a:t>
            </a:r>
          </a:p>
        </p:txBody>
      </p:sp>
      <p:sp>
        <p:nvSpPr>
          <p:cNvPr id="34" name="text-1074-320-C9  →  C10">
            <a:extLst>
              <a:ext uri="{FF2B5EF4-FFF2-40B4-BE49-F238E27FC236}">
                <a16:creationId xmlns:a16="http://schemas.microsoft.com/office/drawing/2014/main" id="{DD7078B4-7764-478C-A092-61BFAA1AB150}"/>
              </a:ext>
            </a:extLst>
          </p:cNvPr>
          <p:cNvSpPr>
            <a:spLocks noGrp="1"/>
          </p:cNvSpPr>
          <p:nvPr/>
        </p:nvSpPr>
        <p:spPr>
          <a:xfrm>
            <a:off x="10229850" y="3048000"/>
            <a:ext cx="1028700" cy="285750"/>
          </a:xfrm>
          <a:prstGeom prst="rect">
            <a:avLst/>
          </a:prstGeom>
          <a:noFill/>
          <a:ln w="0">
            <a:noFill/>
          </a:ln>
        </p:spPr>
        <p:txBody>
          <a:bodyPr>
            <a:noAutofit/>
          </a:bodyPr>
          <a:lstStyle/>
          <a:p>
            <a:pPr algn="l">
              <a:defRPr sz="1350" b="1">
                <a:solidFill>
                  <a:srgbClr val="2169A8"/>
                </a:solidFill>
                <a:latin typeface="Arial"/>
                <a:ea typeface="Arial"/>
                <a:cs typeface="Arial"/>
              </a:defRPr>
            </a:pPr>
            <a:r>
              <a:rPr sz="1350" b="1">
                <a:solidFill>
                  <a:srgbClr val="2169A8"/>
                </a:solidFill>
                <a:latin typeface="Arial"/>
                <a:ea typeface="Arial"/>
                <a:cs typeface="Arial"/>
              </a:rPr>
              <a:t>C9  →  C10</a:t>
            </a:r>
          </a:p>
        </p:txBody>
      </p:sp>
      <p:sp>
        <p:nvSpPr>
          <p:cNvPr id="35" name="box-954-402">
            <a:extLst>
              <a:ext uri="{FF2B5EF4-FFF2-40B4-BE49-F238E27FC236}">
                <a16:creationId xmlns:a16="http://schemas.microsoft.com/office/drawing/2014/main" id="{322FB965-25EE-4F3D-85AE-A2AB8A5F2CB0}"/>
              </a:ext>
            </a:extLst>
          </p:cNvPr>
          <p:cNvSpPr>
            <a:spLocks noGrp="1"/>
          </p:cNvSpPr>
          <p:nvPr/>
        </p:nvSpPr>
        <p:spPr>
          <a:xfrm>
            <a:off x="9086850" y="3829050"/>
            <a:ext cx="2190750" cy="1028700"/>
          </a:xfrm>
          <a:prstGeom prst="roundRect">
            <a:avLst>
              <a:gd name="adj" fmla="val 7407"/>
            </a:avLst>
          </a:prstGeom>
          <a:solidFill>
            <a:srgbClr val="FFFFFF"/>
          </a:solidFill>
          <a:ln w="11430">
            <a:solidFill>
              <a:srgbClr val="C58A1E"/>
            </a:solidFill>
            <a:prstDash val="solid"/>
          </a:ln>
        </p:spPr>
        <p:txBody>
          <a:bodyPr>
            <a:noAutofit/>
          </a:bodyPr>
          <a:lstStyle/>
          <a:p>
            <a:pPr algn="ctr">
              <a:defRPr sz="1725" b="1">
                <a:solidFill>
                  <a:srgbClr val="102744"/>
                </a:solidFill>
                <a:latin typeface="Arial"/>
                <a:ea typeface="Arial"/>
                <a:cs typeface="Arial"/>
              </a:defRPr>
            </a:pPr>
            <a:r>
              <a:rPr sz="1725" b="1">
                <a:solidFill>
                  <a:srgbClr val="102744"/>
                </a:solidFill>
                <a:latin typeface="Arial"/>
                <a:ea typeface="Arial"/>
                <a:cs typeface="Arial"/>
              </a:rPr>
              <a:t>S12 vẫn là</a:t>
            </a:r>
          </a:p>
          <a:p>
            <a:pPr algn="ctr">
              <a:defRPr sz="1725" b="1">
                <a:solidFill>
                  <a:srgbClr val="102744"/>
                </a:solidFill>
                <a:latin typeface="Arial"/>
                <a:ea typeface="Arial"/>
                <a:cs typeface="Arial"/>
              </a:defRPr>
            </a:pPr>
            <a:r>
              <a:rPr sz="1725" b="1">
                <a:solidFill>
                  <a:srgbClr val="102744"/>
                </a:solidFill>
                <a:latin typeface="Arial"/>
                <a:ea typeface="Arial"/>
                <a:cs typeface="Arial"/>
              </a:rPr>
              <a:t>B3 + C9 + D2</a:t>
            </a:r>
          </a:p>
        </p:txBody>
      </p:sp>
      <p:sp>
        <p:nvSpPr>
          <p:cNvPr id="36" name="text-958-530-Lịch sử không tự">
            <a:extLst>
              <a:ext uri="{FF2B5EF4-FFF2-40B4-BE49-F238E27FC236}">
                <a16:creationId xmlns:a16="http://schemas.microsoft.com/office/drawing/2014/main" id="{378E7226-E403-4B91-BA04-092B20B07DA9}"/>
              </a:ext>
            </a:extLst>
          </p:cNvPr>
          <p:cNvSpPr>
            <a:spLocks noGrp="1"/>
          </p:cNvSpPr>
          <p:nvPr/>
        </p:nvSpPr>
        <p:spPr>
          <a:xfrm>
            <a:off x="9124950" y="5048250"/>
            <a:ext cx="2114550" cy="419100"/>
          </a:xfrm>
          <a:prstGeom prst="rect">
            <a:avLst/>
          </a:prstGeom>
          <a:noFill/>
          <a:ln w="0">
            <a:noFill/>
          </a:ln>
        </p:spPr>
        <p:txBody>
          <a:bodyPr>
            <a:noAutofit/>
          </a:bodyPr>
          <a:lstStyle/>
          <a:p>
            <a:pPr algn="ctr">
              <a:defRPr sz="1125" b="0">
                <a:solidFill>
                  <a:srgbClr val="4B6075"/>
                </a:solidFill>
                <a:latin typeface="Arial"/>
                <a:ea typeface="Arial"/>
                <a:cs typeface="Arial"/>
              </a:defRPr>
            </a:pPr>
            <a:r>
              <a:rPr sz="1125" b="0">
                <a:solidFill>
                  <a:srgbClr val="4B6075"/>
                </a:solidFill>
                <a:latin typeface="Arial"/>
                <a:ea typeface="Arial"/>
                <a:cs typeface="Arial"/>
              </a:rPr>
              <a:t>Lịch sử không tự đổi theo head hiện tại</a:t>
            </a:r>
          </a:p>
        </p:txBody>
      </p:sp>
    </p:spTree>
    <p:extLst>
      <p:ext uri="{BB962C8B-B14F-4D97-AF65-F5344CB8AC3E}">
        <p14:creationId xmlns:p14="http://schemas.microsoft.com/office/powerpoint/2010/main" val="1139478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box-0-0">
            <a:extLst>
              <a:ext uri="{FF2B5EF4-FFF2-40B4-BE49-F238E27FC236}">
                <a16:creationId xmlns:a16="http://schemas.microsoft.com/office/drawing/2014/main" id="{874EB1C5-0C94-4DF1-A3FD-DB79C0D47C1A}"/>
              </a:ext>
            </a:extLst>
          </p:cNvPr>
          <p:cNvSpPr>
            <a:spLocks noGrp="1"/>
          </p:cNvSpPr>
          <p:nvPr/>
        </p:nvSpPr>
        <p:spPr>
          <a:xfrm>
            <a:off x="0" y="0"/>
            <a:ext cx="133350" cy="6858000"/>
          </a:xfrm>
          <a:prstGeom prst="rect">
            <a:avLst/>
          </a:prstGeom>
          <a:solidFill>
            <a:srgbClr val="2169A8"/>
          </a:solidFill>
          <a:ln w="0">
            <a:noFill/>
            <a:prstDash val="solid"/>
          </a:ln>
        </p:spPr>
        <p:txBody>
          <a:bodyPr/>
          <a:lstStyle/>
          <a:p>
            <a:endParaRPr lang="en-US"/>
          </a:p>
        </p:txBody>
      </p:sp>
      <p:sp>
        <p:nvSpPr>
          <p:cNvPr id="2" name="text-54-28-SPEC">
            <a:extLst>
              <a:ext uri="{FF2B5EF4-FFF2-40B4-BE49-F238E27FC236}">
                <a16:creationId xmlns:a16="http://schemas.microsoft.com/office/drawing/2014/main" id="{52880BA8-0D07-45C7-8F4E-6004DF84175F}"/>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Release l">
            <a:extLst>
              <a:ext uri="{FF2B5EF4-FFF2-40B4-BE49-F238E27FC236}">
                <a16:creationId xmlns:a16="http://schemas.microsoft.com/office/drawing/2014/main" id="{E7574211-9FAD-4900-9BAC-9AB1CFB529EF}"/>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Spec — Release là một baseline chính xác</a:t>
            </a:r>
          </a:p>
        </p:txBody>
      </p:sp>
      <p:sp>
        <p:nvSpPr>
          <p:cNvPr id="4" name="line-54-116">
            <a:extLst>
              <a:ext uri="{FF2B5EF4-FFF2-40B4-BE49-F238E27FC236}">
                <a16:creationId xmlns:a16="http://schemas.microsoft.com/office/drawing/2014/main" id="{26B5E915-A396-4115-BCC6-BC648BD85A51}"/>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4@0">
            <a:extLst>
              <a:ext uri="{FF2B5EF4-FFF2-40B4-BE49-F238E27FC236}">
                <a16:creationId xmlns:a16="http://schemas.microsoft.com/office/drawing/2014/main" id="{C8961982-2DFE-4543-B58D-972C7EAE760C}"/>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DOC-05@0.20 · DOC-06@0.16</a:t>
            </a:r>
          </a:p>
        </p:txBody>
      </p:sp>
      <p:sp>
        <p:nvSpPr>
          <p:cNvPr id="6" name="text-1170-680-08">
            <a:extLst>
              <a:ext uri="{FF2B5EF4-FFF2-40B4-BE49-F238E27FC236}">
                <a16:creationId xmlns:a16="http://schemas.microsoft.com/office/drawing/2014/main" id="{7A124A13-62BF-436B-8360-5611261D57A2}"/>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08</a:t>
            </a:r>
          </a:p>
        </p:txBody>
      </p:sp>
      <p:sp>
        <p:nvSpPr>
          <p:cNvPr id="7" name="box-54-158">
            <a:extLst>
              <a:ext uri="{FF2B5EF4-FFF2-40B4-BE49-F238E27FC236}">
                <a16:creationId xmlns:a16="http://schemas.microsoft.com/office/drawing/2014/main" id="{12D13847-DA59-40FA-94AA-A6434173EA9C}"/>
              </a:ext>
            </a:extLst>
          </p:cNvPr>
          <p:cNvSpPr>
            <a:spLocks noGrp="1"/>
          </p:cNvSpPr>
          <p:nvPr/>
        </p:nvSpPr>
        <p:spPr>
          <a:xfrm>
            <a:off x="514350" y="1504950"/>
            <a:ext cx="2857500" cy="1676400"/>
          </a:xfrm>
          <a:prstGeom prst="roundRect">
            <a:avLst>
              <a:gd name="adj" fmla="val 4545"/>
            </a:avLst>
          </a:prstGeom>
          <a:solidFill>
            <a:srgbClr val="F4F7FA"/>
          </a:solidFill>
          <a:ln w="11430">
            <a:solidFill>
              <a:srgbClr val="CBD8E3"/>
            </a:solidFill>
            <a:prstDash val="solid"/>
          </a:ln>
        </p:spPr>
        <p:txBody>
          <a:bodyPr/>
          <a:lstStyle/>
          <a:p>
            <a:endParaRPr lang="en-US"/>
          </a:p>
        </p:txBody>
      </p:sp>
      <p:sp>
        <p:nvSpPr>
          <p:cNvPr id="8" name="text-78-176-INPUT BASELINE">
            <a:extLst>
              <a:ext uri="{FF2B5EF4-FFF2-40B4-BE49-F238E27FC236}">
                <a16:creationId xmlns:a16="http://schemas.microsoft.com/office/drawing/2014/main" id="{4C90E83C-A5C5-4710-8143-073D826D8DD2}"/>
              </a:ext>
            </a:extLst>
          </p:cNvPr>
          <p:cNvSpPr>
            <a:spLocks noGrp="1"/>
          </p:cNvSpPr>
          <p:nvPr/>
        </p:nvSpPr>
        <p:spPr>
          <a:xfrm>
            <a:off x="742950" y="1676400"/>
            <a:ext cx="2400300" cy="266700"/>
          </a:xfrm>
          <a:prstGeom prst="rect">
            <a:avLst/>
          </a:prstGeom>
          <a:noFill/>
          <a:ln w="0">
            <a:noFill/>
          </a:ln>
        </p:spPr>
        <p:txBody>
          <a:bodyPr>
            <a:noAutofit/>
          </a:bodyPr>
          <a:lstStyle/>
          <a:p>
            <a:pPr algn="ctr">
              <a:defRPr sz="1275" b="1">
                <a:solidFill>
                  <a:srgbClr val="102744"/>
                </a:solidFill>
                <a:latin typeface="Arial"/>
                <a:ea typeface="Arial"/>
                <a:cs typeface="Arial"/>
              </a:defRPr>
            </a:pPr>
            <a:r>
              <a:rPr sz="1275" b="1">
                <a:solidFill>
                  <a:srgbClr val="102744"/>
                </a:solidFill>
                <a:latin typeface="Arial"/>
                <a:ea typeface="Arial"/>
                <a:cs typeface="Arial"/>
              </a:rPr>
              <a:t>INPUT BASELINE</a:t>
            </a:r>
          </a:p>
        </p:txBody>
      </p:sp>
      <p:sp>
        <p:nvSpPr>
          <p:cNvPr id="9" name="box-90-222">
            <a:extLst>
              <a:ext uri="{FF2B5EF4-FFF2-40B4-BE49-F238E27FC236}">
                <a16:creationId xmlns:a16="http://schemas.microsoft.com/office/drawing/2014/main" id="{F58C3BDB-C470-4620-8042-5D7121A3AA37}"/>
              </a:ext>
            </a:extLst>
          </p:cNvPr>
          <p:cNvSpPr>
            <a:spLocks noGrp="1"/>
          </p:cNvSpPr>
          <p:nvPr/>
        </p:nvSpPr>
        <p:spPr>
          <a:xfrm>
            <a:off x="857250" y="2114550"/>
            <a:ext cx="2171700" cy="295275"/>
          </a:xfrm>
          <a:prstGeom prst="roundRect">
            <a:avLst>
              <a:gd name="adj" fmla="val 25806"/>
            </a:avLst>
          </a:prstGeom>
          <a:solidFill>
            <a:srgbClr val="FFFFFF"/>
          </a:solidFill>
          <a:ln w="7620">
            <a:solidFill>
              <a:srgbClr val="CBD8E3"/>
            </a:solidFill>
            <a:prstDash val="solid"/>
          </a:ln>
        </p:spPr>
        <p:txBody>
          <a:bodyPr>
            <a:noAutofit/>
          </a:bodyPr>
          <a:lstStyle/>
          <a:p>
            <a:pPr algn="ctr">
              <a:defRPr sz="1050" b="1">
                <a:solidFill>
                  <a:srgbClr val="162638"/>
                </a:solidFill>
                <a:latin typeface="Arial"/>
                <a:ea typeface="Arial"/>
                <a:cs typeface="Arial"/>
              </a:defRPr>
            </a:pPr>
            <a:r>
              <a:rPr sz="1050" b="1">
                <a:solidFill>
                  <a:srgbClr val="162638"/>
                </a:solidFill>
                <a:latin typeface="Arial"/>
                <a:ea typeface="Arial"/>
                <a:cs typeface="Arial"/>
              </a:rPr>
              <a:t>Exact Generations</a:t>
            </a:r>
          </a:p>
        </p:txBody>
      </p:sp>
      <p:sp>
        <p:nvSpPr>
          <p:cNvPr id="10" name="box-90-260">
            <a:extLst>
              <a:ext uri="{FF2B5EF4-FFF2-40B4-BE49-F238E27FC236}">
                <a16:creationId xmlns:a16="http://schemas.microsoft.com/office/drawing/2014/main" id="{7C41020B-401C-4F43-8AEA-F53AA2138DED}"/>
              </a:ext>
            </a:extLst>
          </p:cNvPr>
          <p:cNvSpPr>
            <a:spLocks noGrp="1"/>
          </p:cNvSpPr>
          <p:nvPr/>
        </p:nvSpPr>
        <p:spPr>
          <a:xfrm>
            <a:off x="857250" y="2476500"/>
            <a:ext cx="2171700" cy="295275"/>
          </a:xfrm>
          <a:prstGeom prst="roundRect">
            <a:avLst>
              <a:gd name="adj" fmla="val 25806"/>
            </a:avLst>
          </a:prstGeom>
          <a:solidFill>
            <a:srgbClr val="E7F5EE"/>
          </a:solidFill>
          <a:ln w="7620">
            <a:solidFill>
              <a:srgbClr val="CBD8E3"/>
            </a:solidFill>
            <a:prstDash val="solid"/>
          </a:ln>
        </p:spPr>
        <p:txBody>
          <a:bodyPr>
            <a:noAutofit/>
          </a:bodyPr>
          <a:lstStyle/>
          <a:p>
            <a:pPr algn="ctr">
              <a:defRPr sz="1050" b="1">
                <a:solidFill>
                  <a:srgbClr val="162638"/>
                </a:solidFill>
                <a:latin typeface="Arial"/>
                <a:ea typeface="Arial"/>
                <a:cs typeface="Arial"/>
              </a:defRPr>
            </a:pPr>
            <a:r>
              <a:rPr sz="1050" b="1">
                <a:solidFill>
                  <a:srgbClr val="162638"/>
                </a:solidFill>
                <a:latin typeface="Arial"/>
                <a:ea typeface="Arial"/>
                <a:cs typeface="Arial"/>
              </a:rPr>
              <a:t>Structure Snapshot</a:t>
            </a:r>
          </a:p>
        </p:txBody>
      </p:sp>
      <p:sp>
        <p:nvSpPr>
          <p:cNvPr id="11" name="box-90-298">
            <a:extLst>
              <a:ext uri="{FF2B5EF4-FFF2-40B4-BE49-F238E27FC236}">
                <a16:creationId xmlns:a16="http://schemas.microsoft.com/office/drawing/2014/main" id="{3D3862A4-1B5A-44BE-972B-9C6B3C808887}"/>
              </a:ext>
            </a:extLst>
          </p:cNvPr>
          <p:cNvSpPr>
            <a:spLocks noGrp="1"/>
          </p:cNvSpPr>
          <p:nvPr/>
        </p:nvSpPr>
        <p:spPr>
          <a:xfrm>
            <a:off x="857250" y="2838450"/>
            <a:ext cx="2171700" cy="295275"/>
          </a:xfrm>
          <a:prstGeom prst="roundRect">
            <a:avLst>
              <a:gd name="adj" fmla="val 25806"/>
            </a:avLst>
          </a:prstGeom>
          <a:solidFill>
            <a:srgbClr val="FFFFFF"/>
          </a:solidFill>
          <a:ln w="7620">
            <a:solidFill>
              <a:srgbClr val="CBD8E3"/>
            </a:solidFill>
            <a:prstDash val="solid"/>
          </a:ln>
        </p:spPr>
        <p:txBody>
          <a:bodyPr>
            <a:noAutofit/>
          </a:bodyPr>
          <a:lstStyle/>
          <a:p>
            <a:pPr algn="ctr">
              <a:defRPr sz="1050" b="1">
                <a:solidFill>
                  <a:srgbClr val="162638"/>
                </a:solidFill>
                <a:latin typeface="Arial"/>
                <a:ea typeface="Arial"/>
                <a:cs typeface="Arial"/>
              </a:defRPr>
            </a:pPr>
            <a:r>
              <a:rPr sz="1050" b="1">
                <a:solidFill>
                  <a:srgbClr val="162638"/>
                </a:solidFill>
                <a:latin typeface="Arial"/>
                <a:ea typeface="Arial"/>
                <a:cs typeface="Arial"/>
              </a:rPr>
              <a:t>Required Representations</a:t>
            </a:r>
          </a:p>
        </p:txBody>
      </p:sp>
      <p:sp>
        <p:nvSpPr>
          <p:cNvPr id="12" name="text-360-214-→">
            <a:extLst>
              <a:ext uri="{FF2B5EF4-FFF2-40B4-BE49-F238E27FC236}">
                <a16:creationId xmlns:a16="http://schemas.microsoft.com/office/drawing/2014/main" id="{7AA42BAB-3205-41D5-A7A6-0F767E7C929E}"/>
              </a:ext>
            </a:extLst>
          </p:cNvPr>
          <p:cNvSpPr>
            <a:spLocks noGrp="1"/>
          </p:cNvSpPr>
          <p:nvPr/>
        </p:nvSpPr>
        <p:spPr>
          <a:xfrm>
            <a:off x="3429000" y="2038350"/>
            <a:ext cx="457200" cy="438150"/>
          </a:xfrm>
          <a:prstGeom prst="rect">
            <a:avLst/>
          </a:prstGeom>
          <a:noFill/>
          <a:ln w="0">
            <a:noFill/>
          </a:ln>
        </p:spPr>
        <p:txBody>
          <a:bodyPr>
            <a:noAutofit/>
          </a:bodyPr>
          <a:lstStyle/>
          <a:p>
            <a:pPr algn="ctr">
              <a:defRPr sz="2250" b="1">
                <a:solidFill>
                  <a:srgbClr val="2169A8"/>
                </a:solidFill>
                <a:latin typeface="Arial"/>
                <a:ea typeface="Arial"/>
                <a:cs typeface="Arial"/>
              </a:defRPr>
            </a:pPr>
            <a:r>
              <a:rPr sz="2250" b="1">
                <a:solidFill>
                  <a:srgbClr val="2169A8"/>
                </a:solidFill>
                <a:latin typeface="Arial"/>
                <a:ea typeface="Arial"/>
                <a:cs typeface="Arial"/>
              </a:rPr>
              <a:t>→</a:t>
            </a:r>
          </a:p>
        </p:txBody>
      </p:sp>
      <p:sp>
        <p:nvSpPr>
          <p:cNvPr id="13" name="box-416-178">
            <a:extLst>
              <a:ext uri="{FF2B5EF4-FFF2-40B4-BE49-F238E27FC236}">
                <a16:creationId xmlns:a16="http://schemas.microsoft.com/office/drawing/2014/main" id="{C6A71930-4C6C-44F5-AB92-06DE1C5CC7B7}"/>
              </a:ext>
            </a:extLst>
          </p:cNvPr>
          <p:cNvSpPr>
            <a:spLocks noGrp="1"/>
          </p:cNvSpPr>
          <p:nvPr/>
        </p:nvSpPr>
        <p:spPr>
          <a:xfrm>
            <a:off x="3962400" y="1695450"/>
            <a:ext cx="1352550" cy="800100"/>
          </a:xfrm>
          <a:prstGeom prst="roundRect">
            <a:avLst>
              <a:gd name="adj" fmla="val 9524"/>
            </a:avLst>
          </a:prstGeom>
          <a:solidFill>
            <a:srgbClr val="EAF3F9"/>
          </a:solidFill>
          <a:ln w="11430">
            <a:solidFill>
              <a:srgbClr val="2169A8"/>
            </a:solidFill>
            <a:prstDash val="solid"/>
          </a:ln>
        </p:spPr>
        <p:txBody>
          <a:bodyPr>
            <a:noAutofit/>
          </a:bodyPr>
          <a:lstStyle/>
          <a:p>
            <a:pPr algn="ctr">
              <a:defRPr sz="1500" b="1">
                <a:solidFill>
                  <a:srgbClr val="162638"/>
                </a:solidFill>
                <a:latin typeface="Arial"/>
                <a:ea typeface="Arial"/>
                <a:cs typeface="Arial"/>
              </a:defRPr>
            </a:pPr>
            <a:r>
              <a:rPr sz="1500" b="1">
                <a:solidFill>
                  <a:srgbClr val="162638"/>
                </a:solidFill>
                <a:latin typeface="Arial"/>
                <a:ea typeface="Arial"/>
                <a:cs typeface="Arial"/>
              </a:rPr>
              <a:t>REVIEW</a:t>
            </a:r>
          </a:p>
        </p:txBody>
      </p:sp>
      <p:sp>
        <p:nvSpPr>
          <p:cNvPr id="14" name="text-562-198-→">
            <a:extLst>
              <a:ext uri="{FF2B5EF4-FFF2-40B4-BE49-F238E27FC236}">
                <a16:creationId xmlns:a16="http://schemas.microsoft.com/office/drawing/2014/main" id="{8F8A77C8-BD55-4F58-8D54-9A3801DD014B}"/>
              </a:ext>
            </a:extLst>
          </p:cNvPr>
          <p:cNvSpPr>
            <a:spLocks noGrp="1"/>
          </p:cNvSpPr>
          <p:nvPr/>
        </p:nvSpPr>
        <p:spPr>
          <a:xfrm>
            <a:off x="5353050" y="1885950"/>
            <a:ext cx="400050" cy="419100"/>
          </a:xfrm>
          <a:prstGeom prst="rect">
            <a:avLst/>
          </a:prstGeom>
          <a:noFill/>
          <a:ln w="0">
            <a:noFill/>
          </a:ln>
        </p:spPr>
        <p:txBody>
          <a:bodyPr>
            <a:noAutofit/>
          </a:bodyPr>
          <a:lstStyle/>
          <a:p>
            <a:pPr algn="ctr">
              <a:defRPr sz="1950" b="1">
                <a:solidFill>
                  <a:srgbClr val="2169A8"/>
                </a:solidFill>
                <a:latin typeface="Arial"/>
                <a:ea typeface="Arial"/>
                <a:cs typeface="Arial"/>
              </a:defRPr>
            </a:pPr>
            <a:r>
              <a:rPr sz="1950" b="1">
                <a:solidFill>
                  <a:srgbClr val="2169A8"/>
                </a:solidFill>
                <a:latin typeface="Arial"/>
                <a:ea typeface="Arial"/>
                <a:cs typeface="Arial"/>
              </a:rPr>
              <a:t>→</a:t>
            </a:r>
          </a:p>
        </p:txBody>
      </p:sp>
      <p:sp>
        <p:nvSpPr>
          <p:cNvPr id="15" name="box-608-178">
            <a:extLst>
              <a:ext uri="{FF2B5EF4-FFF2-40B4-BE49-F238E27FC236}">
                <a16:creationId xmlns:a16="http://schemas.microsoft.com/office/drawing/2014/main" id="{8DE7F839-AD5A-4F43-BC30-6EBE28C6CDBD}"/>
              </a:ext>
            </a:extLst>
          </p:cNvPr>
          <p:cNvSpPr>
            <a:spLocks noGrp="1"/>
          </p:cNvSpPr>
          <p:nvPr/>
        </p:nvSpPr>
        <p:spPr>
          <a:xfrm>
            <a:off x="5791200" y="1695450"/>
            <a:ext cx="1352550" cy="800100"/>
          </a:xfrm>
          <a:prstGeom prst="roundRect">
            <a:avLst>
              <a:gd name="adj" fmla="val 9524"/>
            </a:avLst>
          </a:prstGeom>
          <a:solidFill>
            <a:srgbClr val="EAF3F9"/>
          </a:solidFill>
          <a:ln w="11430">
            <a:solidFill>
              <a:srgbClr val="2169A8"/>
            </a:solidFill>
            <a:prstDash val="solid"/>
          </a:ln>
        </p:spPr>
        <p:txBody>
          <a:bodyPr>
            <a:noAutofit/>
          </a:bodyPr>
          <a:lstStyle/>
          <a:p>
            <a:pPr algn="ctr">
              <a:defRPr sz="1500" b="1">
                <a:solidFill>
                  <a:srgbClr val="162638"/>
                </a:solidFill>
                <a:latin typeface="Arial"/>
                <a:ea typeface="Arial"/>
                <a:cs typeface="Arial"/>
              </a:defRPr>
            </a:pPr>
            <a:r>
              <a:rPr sz="1500" b="1">
                <a:solidFill>
                  <a:srgbClr val="162638"/>
                </a:solidFill>
                <a:latin typeface="Arial"/>
                <a:ea typeface="Arial"/>
                <a:cs typeface="Arial"/>
              </a:rPr>
              <a:t>APPROVAL</a:t>
            </a:r>
          </a:p>
        </p:txBody>
      </p:sp>
      <p:sp>
        <p:nvSpPr>
          <p:cNvPr id="16" name="text-754-198-→">
            <a:extLst>
              <a:ext uri="{FF2B5EF4-FFF2-40B4-BE49-F238E27FC236}">
                <a16:creationId xmlns:a16="http://schemas.microsoft.com/office/drawing/2014/main" id="{080CF236-FE84-43ED-A34B-074D484A6415}"/>
              </a:ext>
            </a:extLst>
          </p:cNvPr>
          <p:cNvSpPr>
            <a:spLocks noGrp="1"/>
          </p:cNvSpPr>
          <p:nvPr/>
        </p:nvSpPr>
        <p:spPr>
          <a:xfrm>
            <a:off x="7181850" y="1885950"/>
            <a:ext cx="400050" cy="419100"/>
          </a:xfrm>
          <a:prstGeom prst="rect">
            <a:avLst/>
          </a:prstGeom>
          <a:noFill/>
          <a:ln w="0">
            <a:noFill/>
          </a:ln>
        </p:spPr>
        <p:txBody>
          <a:bodyPr>
            <a:noAutofit/>
          </a:bodyPr>
          <a:lstStyle/>
          <a:p>
            <a:pPr algn="ctr">
              <a:defRPr sz="1950" b="1">
                <a:solidFill>
                  <a:srgbClr val="2169A8"/>
                </a:solidFill>
                <a:latin typeface="Arial"/>
                <a:ea typeface="Arial"/>
                <a:cs typeface="Arial"/>
              </a:defRPr>
            </a:pPr>
            <a:r>
              <a:rPr sz="1950" b="1">
                <a:solidFill>
                  <a:srgbClr val="2169A8"/>
                </a:solidFill>
                <a:latin typeface="Arial"/>
                <a:ea typeface="Arial"/>
                <a:cs typeface="Arial"/>
              </a:rPr>
              <a:t>→</a:t>
            </a:r>
          </a:p>
        </p:txBody>
      </p:sp>
      <p:sp>
        <p:nvSpPr>
          <p:cNvPr id="17" name="box-800-146">
            <a:extLst>
              <a:ext uri="{FF2B5EF4-FFF2-40B4-BE49-F238E27FC236}">
                <a16:creationId xmlns:a16="http://schemas.microsoft.com/office/drawing/2014/main" id="{8D5018A8-FC4F-40A2-9C88-9B100D57FBA6}"/>
              </a:ext>
            </a:extLst>
          </p:cNvPr>
          <p:cNvSpPr>
            <a:spLocks noGrp="1"/>
          </p:cNvSpPr>
          <p:nvPr/>
        </p:nvSpPr>
        <p:spPr>
          <a:xfrm>
            <a:off x="7620000" y="1390650"/>
            <a:ext cx="2438400" cy="1409700"/>
          </a:xfrm>
          <a:prstGeom prst="roundRect">
            <a:avLst>
              <a:gd name="adj" fmla="val 5405"/>
            </a:avLst>
          </a:prstGeom>
          <a:solidFill>
            <a:srgbClr val="FFF4DD"/>
          </a:solidFill>
          <a:ln w="16193">
            <a:solidFill>
              <a:srgbClr val="C58A1E"/>
            </a:solidFill>
            <a:prstDash val="solid"/>
          </a:ln>
        </p:spPr>
        <p:txBody>
          <a:bodyPr/>
          <a:lstStyle/>
          <a:p>
            <a:endParaRPr lang="en-US"/>
          </a:p>
        </p:txBody>
      </p:sp>
      <p:sp>
        <p:nvSpPr>
          <p:cNvPr id="18" name="text-818-162-RELEASE REVALIDA">
            <a:extLst>
              <a:ext uri="{FF2B5EF4-FFF2-40B4-BE49-F238E27FC236}">
                <a16:creationId xmlns:a16="http://schemas.microsoft.com/office/drawing/2014/main" id="{31C369EC-2F8D-47D6-9995-7005C121DC8D}"/>
              </a:ext>
            </a:extLst>
          </p:cNvPr>
          <p:cNvSpPr>
            <a:spLocks noGrp="1"/>
          </p:cNvSpPr>
          <p:nvPr/>
        </p:nvSpPr>
        <p:spPr>
          <a:xfrm>
            <a:off x="7791450" y="1543050"/>
            <a:ext cx="2095500" cy="266700"/>
          </a:xfrm>
          <a:prstGeom prst="rect">
            <a:avLst/>
          </a:prstGeom>
          <a:noFill/>
          <a:ln w="0">
            <a:noFill/>
          </a:ln>
        </p:spPr>
        <p:txBody>
          <a:bodyPr>
            <a:noAutofit/>
          </a:bodyPr>
          <a:lstStyle/>
          <a:p>
            <a:pPr algn="ctr">
              <a:defRPr sz="1275" b="1">
                <a:solidFill>
                  <a:srgbClr val="102744"/>
                </a:solidFill>
                <a:latin typeface="Arial"/>
                <a:ea typeface="Arial"/>
                <a:cs typeface="Arial"/>
              </a:defRPr>
            </a:pPr>
            <a:r>
              <a:rPr sz="1275" b="1">
                <a:solidFill>
                  <a:srgbClr val="102744"/>
                </a:solidFill>
                <a:latin typeface="Arial"/>
                <a:ea typeface="Arial"/>
                <a:cs typeface="Arial"/>
              </a:rPr>
              <a:t>RELEASE REVALIDATION</a:t>
            </a:r>
          </a:p>
        </p:txBody>
      </p:sp>
      <p:sp>
        <p:nvSpPr>
          <p:cNvPr id="19" name="text-832-198-• Exact baseline">
            <a:extLst>
              <a:ext uri="{FF2B5EF4-FFF2-40B4-BE49-F238E27FC236}">
                <a16:creationId xmlns:a16="http://schemas.microsoft.com/office/drawing/2014/main" id="{887A22C7-F530-438C-82EB-0FFF51047C37}"/>
              </a:ext>
            </a:extLst>
          </p:cNvPr>
          <p:cNvSpPr>
            <a:spLocks noGrp="1"/>
          </p:cNvSpPr>
          <p:nvPr/>
        </p:nvSpPr>
        <p:spPr>
          <a:xfrm>
            <a:off x="7924800" y="1885950"/>
            <a:ext cx="1847850" cy="171450"/>
          </a:xfrm>
          <a:prstGeom prst="rect">
            <a:avLst/>
          </a:prstGeom>
          <a:noFill/>
          <a:ln w="0">
            <a:noFill/>
          </a:ln>
        </p:spPr>
        <p:txBody>
          <a:bodyPr>
            <a:noAutofit/>
          </a:bodyPr>
          <a:lstStyle/>
          <a:p>
            <a:pPr algn="l">
              <a:defRPr sz="900" b="0">
                <a:solidFill>
                  <a:srgbClr val="4B6075"/>
                </a:solidFill>
                <a:latin typeface="Arial"/>
                <a:ea typeface="Arial"/>
                <a:cs typeface="Arial"/>
              </a:defRPr>
            </a:pPr>
            <a:r>
              <a:rPr sz="900" b="0">
                <a:solidFill>
                  <a:srgbClr val="4B6075"/>
                </a:solidFill>
                <a:latin typeface="Arial"/>
                <a:ea typeface="Arial"/>
                <a:cs typeface="Arial"/>
              </a:rPr>
              <a:t>• Exact baseline</a:t>
            </a:r>
          </a:p>
        </p:txBody>
      </p:sp>
      <p:sp>
        <p:nvSpPr>
          <p:cNvPr id="20" name="text-832-216-• Đủ approval">
            <a:extLst>
              <a:ext uri="{FF2B5EF4-FFF2-40B4-BE49-F238E27FC236}">
                <a16:creationId xmlns:a16="http://schemas.microsoft.com/office/drawing/2014/main" id="{4CBB26C1-4E71-4184-855A-0751B1947671}"/>
              </a:ext>
            </a:extLst>
          </p:cNvPr>
          <p:cNvSpPr>
            <a:spLocks noGrp="1"/>
          </p:cNvSpPr>
          <p:nvPr/>
        </p:nvSpPr>
        <p:spPr>
          <a:xfrm>
            <a:off x="7924800" y="2057400"/>
            <a:ext cx="1847850" cy="171450"/>
          </a:xfrm>
          <a:prstGeom prst="rect">
            <a:avLst/>
          </a:prstGeom>
          <a:noFill/>
          <a:ln w="0">
            <a:noFill/>
          </a:ln>
        </p:spPr>
        <p:txBody>
          <a:bodyPr>
            <a:noAutofit/>
          </a:bodyPr>
          <a:lstStyle/>
          <a:p>
            <a:pPr algn="l">
              <a:defRPr sz="900" b="0">
                <a:solidFill>
                  <a:srgbClr val="4B6075"/>
                </a:solidFill>
                <a:latin typeface="Arial"/>
                <a:ea typeface="Arial"/>
                <a:cs typeface="Arial"/>
              </a:defRPr>
            </a:pPr>
            <a:r>
              <a:rPr sz="900" b="0">
                <a:solidFill>
                  <a:srgbClr val="4B6075"/>
                </a:solidFill>
                <a:latin typeface="Arial"/>
                <a:ea typeface="Arial"/>
                <a:cs typeface="Arial"/>
              </a:rPr>
              <a:t>• Đủ approval</a:t>
            </a:r>
          </a:p>
        </p:txBody>
      </p:sp>
      <p:sp>
        <p:nvSpPr>
          <p:cNvPr id="21" name="text-832-234-• Quyền hiện hàn">
            <a:extLst>
              <a:ext uri="{FF2B5EF4-FFF2-40B4-BE49-F238E27FC236}">
                <a16:creationId xmlns:a16="http://schemas.microsoft.com/office/drawing/2014/main" id="{0507C95F-CB4A-4E1F-9533-AAD010E4B5A6}"/>
              </a:ext>
            </a:extLst>
          </p:cNvPr>
          <p:cNvSpPr>
            <a:spLocks noGrp="1"/>
          </p:cNvSpPr>
          <p:nvPr/>
        </p:nvSpPr>
        <p:spPr>
          <a:xfrm>
            <a:off x="7924800" y="2228850"/>
            <a:ext cx="1847850" cy="171450"/>
          </a:xfrm>
          <a:prstGeom prst="rect">
            <a:avLst/>
          </a:prstGeom>
          <a:noFill/>
          <a:ln w="0">
            <a:noFill/>
          </a:ln>
        </p:spPr>
        <p:txBody>
          <a:bodyPr>
            <a:noAutofit/>
          </a:bodyPr>
          <a:lstStyle/>
          <a:p>
            <a:pPr algn="l">
              <a:defRPr sz="900" b="0">
                <a:solidFill>
                  <a:srgbClr val="4B6075"/>
                </a:solidFill>
                <a:latin typeface="Arial"/>
                <a:ea typeface="Arial"/>
                <a:cs typeface="Arial"/>
              </a:defRPr>
            </a:pPr>
            <a:r>
              <a:rPr sz="900" b="0">
                <a:solidFill>
                  <a:srgbClr val="4B6075"/>
                </a:solidFill>
                <a:latin typeface="Arial"/>
                <a:ea typeface="Arial"/>
                <a:cs typeface="Arial"/>
              </a:rPr>
              <a:t>• Quyền hiện hành</a:t>
            </a:r>
          </a:p>
        </p:txBody>
      </p:sp>
      <p:sp>
        <p:nvSpPr>
          <p:cNvPr id="22" name="text-832-252-• Cấu trúc đầy đ">
            <a:extLst>
              <a:ext uri="{FF2B5EF4-FFF2-40B4-BE49-F238E27FC236}">
                <a16:creationId xmlns:a16="http://schemas.microsoft.com/office/drawing/2014/main" id="{9C26C9DB-1F6B-440F-8F19-5F842487DCA6}"/>
              </a:ext>
            </a:extLst>
          </p:cNvPr>
          <p:cNvSpPr>
            <a:spLocks noGrp="1"/>
          </p:cNvSpPr>
          <p:nvPr/>
        </p:nvSpPr>
        <p:spPr>
          <a:xfrm>
            <a:off x="7924800" y="2400300"/>
            <a:ext cx="1847850" cy="171450"/>
          </a:xfrm>
          <a:prstGeom prst="rect">
            <a:avLst/>
          </a:prstGeom>
          <a:noFill/>
          <a:ln w="0">
            <a:noFill/>
          </a:ln>
        </p:spPr>
        <p:txBody>
          <a:bodyPr>
            <a:noAutofit/>
          </a:bodyPr>
          <a:lstStyle/>
          <a:p>
            <a:pPr algn="l">
              <a:defRPr sz="900" b="0">
                <a:solidFill>
                  <a:srgbClr val="4B6075"/>
                </a:solidFill>
                <a:latin typeface="Arial"/>
                <a:ea typeface="Arial"/>
                <a:cs typeface="Arial"/>
              </a:defRPr>
            </a:pPr>
            <a:r>
              <a:rPr sz="900" b="0">
                <a:solidFill>
                  <a:srgbClr val="4B6075"/>
                </a:solidFill>
                <a:latin typeface="Arial"/>
                <a:ea typeface="Arial"/>
                <a:cs typeface="Arial"/>
              </a:rPr>
              <a:t>• Cấu trúc đầy đủ</a:t>
            </a:r>
          </a:p>
        </p:txBody>
      </p:sp>
      <p:sp>
        <p:nvSpPr>
          <p:cNvPr id="23" name="text-832-270-• Artifact sẵn s">
            <a:extLst>
              <a:ext uri="{FF2B5EF4-FFF2-40B4-BE49-F238E27FC236}">
                <a16:creationId xmlns:a16="http://schemas.microsoft.com/office/drawing/2014/main" id="{32899D10-C404-4604-852A-5D0727DDDDD8}"/>
              </a:ext>
            </a:extLst>
          </p:cNvPr>
          <p:cNvSpPr>
            <a:spLocks noGrp="1"/>
          </p:cNvSpPr>
          <p:nvPr/>
        </p:nvSpPr>
        <p:spPr>
          <a:xfrm>
            <a:off x="7924800" y="2571750"/>
            <a:ext cx="1847850" cy="171450"/>
          </a:xfrm>
          <a:prstGeom prst="rect">
            <a:avLst/>
          </a:prstGeom>
          <a:noFill/>
          <a:ln w="0">
            <a:noFill/>
          </a:ln>
        </p:spPr>
        <p:txBody>
          <a:bodyPr>
            <a:noAutofit/>
          </a:bodyPr>
          <a:lstStyle/>
          <a:p>
            <a:pPr algn="l">
              <a:defRPr sz="900" b="0">
                <a:solidFill>
                  <a:srgbClr val="4B6075"/>
                </a:solidFill>
                <a:latin typeface="Arial"/>
                <a:ea typeface="Arial"/>
                <a:cs typeface="Arial"/>
              </a:defRPr>
            </a:pPr>
            <a:r>
              <a:rPr sz="900" b="0">
                <a:solidFill>
                  <a:srgbClr val="4B6075"/>
                </a:solidFill>
                <a:latin typeface="Arial"/>
                <a:ea typeface="Arial"/>
                <a:cs typeface="Arial"/>
              </a:rPr>
              <a:t>• Artifact sẵn sàng</a:t>
            </a:r>
          </a:p>
        </p:txBody>
      </p:sp>
      <p:sp>
        <p:nvSpPr>
          <p:cNvPr id="24" name="text-1062-198-→">
            <a:extLst>
              <a:ext uri="{FF2B5EF4-FFF2-40B4-BE49-F238E27FC236}">
                <a16:creationId xmlns:a16="http://schemas.microsoft.com/office/drawing/2014/main" id="{2A824666-9CA1-4E60-A4E1-B8EA02C36623}"/>
              </a:ext>
            </a:extLst>
          </p:cNvPr>
          <p:cNvSpPr>
            <a:spLocks noGrp="1"/>
          </p:cNvSpPr>
          <p:nvPr/>
        </p:nvSpPr>
        <p:spPr>
          <a:xfrm>
            <a:off x="10115550" y="1885950"/>
            <a:ext cx="400050" cy="419100"/>
          </a:xfrm>
          <a:prstGeom prst="rect">
            <a:avLst/>
          </a:prstGeom>
          <a:noFill/>
          <a:ln w="0">
            <a:noFill/>
          </a:ln>
        </p:spPr>
        <p:txBody>
          <a:bodyPr>
            <a:noAutofit/>
          </a:bodyPr>
          <a:lstStyle/>
          <a:p>
            <a:pPr algn="ctr">
              <a:defRPr sz="1950" b="1">
                <a:solidFill>
                  <a:srgbClr val="2D8A62"/>
                </a:solidFill>
                <a:latin typeface="Arial"/>
                <a:ea typeface="Arial"/>
                <a:cs typeface="Arial"/>
              </a:defRPr>
            </a:pPr>
            <a:r>
              <a:rPr sz="1950" b="1">
                <a:solidFill>
                  <a:srgbClr val="2D8A62"/>
                </a:solidFill>
                <a:latin typeface="Arial"/>
                <a:ea typeface="Arial"/>
                <a:cs typeface="Arial"/>
              </a:rPr>
              <a:t>→</a:t>
            </a:r>
          </a:p>
        </p:txBody>
      </p:sp>
      <p:sp>
        <p:nvSpPr>
          <p:cNvPr id="25" name="box-1110-170">
            <a:extLst>
              <a:ext uri="{FF2B5EF4-FFF2-40B4-BE49-F238E27FC236}">
                <a16:creationId xmlns:a16="http://schemas.microsoft.com/office/drawing/2014/main" id="{EF77726B-8CDD-4D1D-A1A9-09EE71ECE92E}"/>
              </a:ext>
            </a:extLst>
          </p:cNvPr>
          <p:cNvSpPr>
            <a:spLocks noGrp="1"/>
          </p:cNvSpPr>
          <p:nvPr/>
        </p:nvSpPr>
        <p:spPr>
          <a:xfrm>
            <a:off x="10572750" y="1619250"/>
            <a:ext cx="1104900" cy="952500"/>
          </a:xfrm>
          <a:prstGeom prst="roundRect">
            <a:avLst>
              <a:gd name="adj" fmla="val 8000"/>
            </a:avLst>
          </a:prstGeom>
          <a:solidFill>
            <a:srgbClr val="E7F5EE"/>
          </a:solidFill>
          <a:ln w="11430">
            <a:solidFill>
              <a:srgbClr val="2D8A62"/>
            </a:solidFill>
            <a:prstDash val="solid"/>
          </a:ln>
        </p:spPr>
        <p:txBody>
          <a:bodyPr>
            <a:noAutofit/>
          </a:bodyPr>
          <a:lstStyle/>
          <a:p>
            <a:pPr algn="ctr">
              <a:defRPr sz="1350" b="1">
                <a:solidFill>
                  <a:srgbClr val="2D8A62"/>
                </a:solidFill>
                <a:latin typeface="Arial"/>
                <a:ea typeface="Arial"/>
                <a:cs typeface="Arial"/>
              </a:defRPr>
            </a:pPr>
            <a:r>
              <a:rPr sz="1350" b="1">
                <a:solidFill>
                  <a:srgbClr val="2D8A62"/>
                </a:solidFill>
                <a:latin typeface="Arial"/>
                <a:ea typeface="Arial"/>
                <a:cs typeface="Arial"/>
              </a:rPr>
              <a:t>RELEASE</a:t>
            </a:r>
          </a:p>
          <a:p>
            <a:pPr algn="ctr">
              <a:defRPr sz="1350" b="1">
                <a:solidFill>
                  <a:srgbClr val="2D8A62"/>
                </a:solidFill>
                <a:latin typeface="Arial"/>
                <a:ea typeface="Arial"/>
                <a:cs typeface="Arial"/>
              </a:defRPr>
            </a:pPr>
            <a:r>
              <a:rPr sz="1350" b="1">
                <a:solidFill>
                  <a:srgbClr val="2D8A62"/>
                </a:solidFill>
                <a:latin typeface="Arial"/>
                <a:ea typeface="Arial"/>
                <a:cs typeface="Arial"/>
              </a:rPr>
              <a:t>RECORD</a:t>
            </a:r>
          </a:p>
        </p:txBody>
      </p:sp>
      <p:sp>
        <p:nvSpPr>
          <p:cNvPr id="26" name="box-54-366">
            <a:extLst>
              <a:ext uri="{FF2B5EF4-FFF2-40B4-BE49-F238E27FC236}">
                <a16:creationId xmlns:a16="http://schemas.microsoft.com/office/drawing/2014/main" id="{1BC35892-46B9-410B-8C3B-E916EB7DD59A}"/>
              </a:ext>
            </a:extLst>
          </p:cNvPr>
          <p:cNvSpPr>
            <a:spLocks noGrp="1"/>
          </p:cNvSpPr>
          <p:nvPr/>
        </p:nvSpPr>
        <p:spPr>
          <a:xfrm>
            <a:off x="514350" y="3486150"/>
            <a:ext cx="11163300" cy="2038350"/>
          </a:xfrm>
          <a:prstGeom prst="roundRect">
            <a:avLst>
              <a:gd name="adj" fmla="val 3738"/>
            </a:avLst>
          </a:prstGeom>
          <a:solidFill>
            <a:srgbClr val="102744"/>
          </a:solidFill>
          <a:ln w="11430">
            <a:solidFill>
              <a:srgbClr val="102744"/>
            </a:solidFill>
            <a:prstDash val="solid"/>
          </a:ln>
        </p:spPr>
        <p:txBody>
          <a:bodyPr/>
          <a:lstStyle/>
          <a:p>
            <a:endParaRPr lang="en-US"/>
          </a:p>
        </p:txBody>
      </p:sp>
      <p:sp>
        <p:nvSpPr>
          <p:cNvPr id="27" name="text-82-394-RELEASE">
            <a:extLst>
              <a:ext uri="{FF2B5EF4-FFF2-40B4-BE49-F238E27FC236}">
                <a16:creationId xmlns:a16="http://schemas.microsoft.com/office/drawing/2014/main" id="{53D4EDB3-F734-42E6-9E0F-F4A141932042}"/>
              </a:ext>
            </a:extLst>
          </p:cNvPr>
          <p:cNvSpPr>
            <a:spLocks noGrp="1"/>
          </p:cNvSpPr>
          <p:nvPr/>
        </p:nvSpPr>
        <p:spPr>
          <a:xfrm>
            <a:off x="781050" y="3752850"/>
            <a:ext cx="1809750" cy="304800"/>
          </a:xfrm>
          <a:prstGeom prst="rect">
            <a:avLst/>
          </a:prstGeom>
          <a:noFill/>
          <a:ln w="0">
            <a:noFill/>
          </a:ln>
        </p:spPr>
        <p:txBody>
          <a:bodyPr>
            <a:noAutofit/>
          </a:bodyPr>
          <a:lstStyle/>
          <a:p>
            <a:pPr algn="l">
              <a:defRPr sz="1725" b="1">
                <a:solidFill>
                  <a:srgbClr val="FFFFFF"/>
                </a:solidFill>
                <a:latin typeface="Arial"/>
                <a:ea typeface="Arial"/>
                <a:cs typeface="Arial"/>
              </a:defRPr>
            </a:pPr>
            <a:r>
              <a:rPr sz="1725" b="1">
                <a:solidFill>
                  <a:srgbClr val="FFFFFF"/>
                </a:solidFill>
                <a:latin typeface="Arial"/>
                <a:ea typeface="Arial"/>
                <a:cs typeface="Arial"/>
              </a:rPr>
              <a:t>RELEASE</a:t>
            </a:r>
          </a:p>
        </p:txBody>
      </p:sp>
      <p:sp>
        <p:nvSpPr>
          <p:cNvPr id="28" name="text-82-429-R24">
            <a:extLst>
              <a:ext uri="{FF2B5EF4-FFF2-40B4-BE49-F238E27FC236}">
                <a16:creationId xmlns:a16="http://schemas.microsoft.com/office/drawing/2014/main" id="{A6CDF59B-C2BB-463E-9A5C-B33D5F29AE70}"/>
              </a:ext>
            </a:extLst>
          </p:cNvPr>
          <p:cNvSpPr>
            <a:spLocks noGrp="1"/>
          </p:cNvSpPr>
          <p:nvPr/>
        </p:nvSpPr>
        <p:spPr>
          <a:xfrm>
            <a:off x="781050" y="4086225"/>
            <a:ext cx="1809750" cy="304800"/>
          </a:xfrm>
          <a:prstGeom prst="rect">
            <a:avLst/>
          </a:prstGeom>
          <a:noFill/>
          <a:ln w="0">
            <a:noFill/>
          </a:ln>
        </p:spPr>
        <p:txBody>
          <a:bodyPr>
            <a:noAutofit/>
          </a:bodyPr>
          <a:lstStyle/>
          <a:p>
            <a:pPr algn="l">
              <a:defRPr sz="1725" b="1">
                <a:solidFill>
                  <a:srgbClr val="FFFFFF"/>
                </a:solidFill>
                <a:latin typeface="Arial"/>
                <a:ea typeface="Arial"/>
                <a:cs typeface="Arial"/>
              </a:defRPr>
            </a:pPr>
            <a:r>
              <a:rPr sz="1725" b="1">
                <a:solidFill>
                  <a:srgbClr val="FFFFFF"/>
                </a:solidFill>
                <a:latin typeface="Arial"/>
                <a:ea typeface="Arial"/>
                <a:cs typeface="Arial"/>
              </a:rPr>
              <a:t>R24</a:t>
            </a:r>
          </a:p>
        </p:txBody>
      </p:sp>
      <p:sp>
        <p:nvSpPr>
          <p:cNvPr id="29" name="text-84-466-baseline chính x">
            <a:extLst>
              <a:ext uri="{FF2B5EF4-FFF2-40B4-BE49-F238E27FC236}">
                <a16:creationId xmlns:a16="http://schemas.microsoft.com/office/drawing/2014/main" id="{7381CC1D-2321-4A4E-ACB4-B02CA8B511DF}"/>
              </a:ext>
            </a:extLst>
          </p:cNvPr>
          <p:cNvSpPr>
            <a:spLocks noGrp="1"/>
          </p:cNvSpPr>
          <p:nvPr/>
        </p:nvSpPr>
        <p:spPr>
          <a:xfrm>
            <a:off x="800100" y="4438650"/>
            <a:ext cx="1790700" cy="228600"/>
          </a:xfrm>
          <a:prstGeom prst="rect">
            <a:avLst/>
          </a:prstGeom>
          <a:noFill/>
          <a:ln w="0">
            <a:noFill/>
          </a:ln>
        </p:spPr>
        <p:txBody>
          <a:bodyPr>
            <a:noAutofit/>
          </a:bodyPr>
          <a:lstStyle/>
          <a:p>
            <a:pPr algn="l">
              <a:defRPr sz="1050" b="0">
                <a:solidFill>
                  <a:srgbClr val="BFD7EA"/>
                </a:solidFill>
                <a:latin typeface="Arial"/>
                <a:ea typeface="Arial"/>
                <a:cs typeface="Arial"/>
              </a:defRPr>
            </a:pPr>
            <a:r>
              <a:rPr sz="1050" b="0">
                <a:solidFill>
                  <a:srgbClr val="BFD7EA"/>
                </a:solidFill>
                <a:latin typeface="Arial"/>
                <a:ea typeface="Arial"/>
                <a:cs typeface="Arial"/>
              </a:rPr>
              <a:t>baseline chính xác</a:t>
            </a:r>
          </a:p>
        </p:txBody>
      </p:sp>
      <p:sp>
        <p:nvSpPr>
          <p:cNvPr id="30" name="box-296-392">
            <a:extLst>
              <a:ext uri="{FF2B5EF4-FFF2-40B4-BE49-F238E27FC236}">
                <a16:creationId xmlns:a16="http://schemas.microsoft.com/office/drawing/2014/main" id="{71F5884E-A0ED-4E91-8533-D3875B6E5DB2}"/>
              </a:ext>
            </a:extLst>
          </p:cNvPr>
          <p:cNvSpPr>
            <a:spLocks noGrp="1"/>
          </p:cNvSpPr>
          <p:nvPr/>
        </p:nvSpPr>
        <p:spPr>
          <a:xfrm>
            <a:off x="2819400" y="3733800"/>
            <a:ext cx="1524000" cy="704850"/>
          </a:xfrm>
          <a:prstGeom prst="roundRect">
            <a:avLst>
              <a:gd name="adj" fmla="val 10811"/>
            </a:avLst>
          </a:prstGeom>
          <a:solidFill>
            <a:srgbClr val="1B3C61"/>
          </a:solidFill>
          <a:ln w="11430">
            <a:solidFill>
              <a:srgbClr val="42698D"/>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Generation pins</a:t>
            </a:r>
          </a:p>
        </p:txBody>
      </p:sp>
      <p:sp>
        <p:nvSpPr>
          <p:cNvPr id="31" name="box-480-392">
            <a:extLst>
              <a:ext uri="{FF2B5EF4-FFF2-40B4-BE49-F238E27FC236}">
                <a16:creationId xmlns:a16="http://schemas.microsoft.com/office/drawing/2014/main" id="{54F96312-E2D1-4CBF-9F05-3976CC0902D2}"/>
              </a:ext>
            </a:extLst>
          </p:cNvPr>
          <p:cNvSpPr>
            <a:spLocks noGrp="1"/>
          </p:cNvSpPr>
          <p:nvPr/>
        </p:nvSpPr>
        <p:spPr>
          <a:xfrm>
            <a:off x="4572000" y="3733800"/>
            <a:ext cx="1524000" cy="704850"/>
          </a:xfrm>
          <a:prstGeom prst="roundRect">
            <a:avLst>
              <a:gd name="adj" fmla="val 10811"/>
            </a:avLst>
          </a:prstGeom>
          <a:solidFill>
            <a:srgbClr val="1B3C61"/>
          </a:solidFill>
          <a:ln w="11430">
            <a:solidFill>
              <a:srgbClr val="42698D"/>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Structure pin(s)</a:t>
            </a:r>
          </a:p>
        </p:txBody>
      </p:sp>
      <p:sp>
        <p:nvSpPr>
          <p:cNvPr id="32" name="box-664-392">
            <a:extLst>
              <a:ext uri="{FF2B5EF4-FFF2-40B4-BE49-F238E27FC236}">
                <a16:creationId xmlns:a16="http://schemas.microsoft.com/office/drawing/2014/main" id="{429B885F-C6B8-4819-B99E-DF3E5EF8F37C}"/>
              </a:ext>
            </a:extLst>
          </p:cNvPr>
          <p:cNvSpPr>
            <a:spLocks noGrp="1"/>
          </p:cNvSpPr>
          <p:nvPr/>
        </p:nvSpPr>
        <p:spPr>
          <a:xfrm>
            <a:off x="6324600" y="3733800"/>
            <a:ext cx="1524000" cy="704850"/>
          </a:xfrm>
          <a:prstGeom prst="roundRect">
            <a:avLst>
              <a:gd name="adj" fmla="val 10811"/>
            </a:avLst>
          </a:prstGeom>
          <a:solidFill>
            <a:srgbClr val="1B3C61"/>
          </a:solidFill>
          <a:ln w="11430">
            <a:solidFill>
              <a:srgbClr val="42698D"/>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Approval + policy</a:t>
            </a:r>
          </a:p>
        </p:txBody>
      </p:sp>
      <p:sp>
        <p:nvSpPr>
          <p:cNvPr id="33" name="box-848-392">
            <a:extLst>
              <a:ext uri="{FF2B5EF4-FFF2-40B4-BE49-F238E27FC236}">
                <a16:creationId xmlns:a16="http://schemas.microsoft.com/office/drawing/2014/main" id="{A72BD2A2-34F5-40B0-BD7C-AFB48BAD389D}"/>
              </a:ext>
            </a:extLst>
          </p:cNvPr>
          <p:cNvSpPr>
            <a:spLocks noGrp="1"/>
          </p:cNvSpPr>
          <p:nvPr/>
        </p:nvSpPr>
        <p:spPr>
          <a:xfrm>
            <a:off x="8077200" y="3733800"/>
            <a:ext cx="1524000" cy="704850"/>
          </a:xfrm>
          <a:prstGeom prst="roundRect">
            <a:avLst>
              <a:gd name="adj" fmla="val 10811"/>
            </a:avLst>
          </a:prstGeom>
          <a:solidFill>
            <a:srgbClr val="1B3C61"/>
          </a:solidFill>
          <a:ln w="11430">
            <a:solidFill>
              <a:srgbClr val="42698D"/>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Artifact digests</a:t>
            </a:r>
          </a:p>
        </p:txBody>
      </p:sp>
      <p:sp>
        <p:nvSpPr>
          <p:cNvPr id="34" name="text-1038-404-→">
            <a:extLst>
              <a:ext uri="{FF2B5EF4-FFF2-40B4-BE49-F238E27FC236}">
                <a16:creationId xmlns:a16="http://schemas.microsoft.com/office/drawing/2014/main" id="{509704DE-619D-4AD5-A1EA-0EF2E3FF15BE}"/>
              </a:ext>
            </a:extLst>
          </p:cNvPr>
          <p:cNvSpPr>
            <a:spLocks noGrp="1"/>
          </p:cNvSpPr>
          <p:nvPr/>
        </p:nvSpPr>
        <p:spPr>
          <a:xfrm>
            <a:off x="9886950" y="3848100"/>
            <a:ext cx="457200" cy="457200"/>
          </a:xfrm>
          <a:prstGeom prst="rect">
            <a:avLst/>
          </a:prstGeom>
          <a:noFill/>
          <a:ln w="0">
            <a:noFill/>
          </a:ln>
        </p:spPr>
        <p:txBody>
          <a:bodyPr>
            <a:noAutofit/>
          </a:bodyPr>
          <a:lstStyle/>
          <a:p>
            <a:pPr algn="ctr">
              <a:defRPr sz="2100" b="1">
                <a:solidFill>
                  <a:srgbClr val="8EC7E7"/>
                </a:solidFill>
                <a:latin typeface="Arial"/>
                <a:ea typeface="Arial"/>
                <a:cs typeface="Arial"/>
              </a:defRPr>
            </a:pPr>
            <a:r>
              <a:rPr sz="2100" b="1">
                <a:solidFill>
                  <a:srgbClr val="8EC7E7"/>
                </a:solidFill>
                <a:latin typeface="Arial"/>
                <a:ea typeface="Arial"/>
                <a:cs typeface="Arial"/>
              </a:rPr>
              <a:t>→</a:t>
            </a:r>
          </a:p>
        </p:txBody>
      </p:sp>
      <p:sp>
        <p:nvSpPr>
          <p:cNvPr id="35" name="box-1090-386">
            <a:extLst>
              <a:ext uri="{FF2B5EF4-FFF2-40B4-BE49-F238E27FC236}">
                <a16:creationId xmlns:a16="http://schemas.microsoft.com/office/drawing/2014/main" id="{6355885F-7DDF-4234-920D-3372562635B4}"/>
              </a:ext>
            </a:extLst>
          </p:cNvPr>
          <p:cNvSpPr>
            <a:spLocks noGrp="1"/>
          </p:cNvSpPr>
          <p:nvPr/>
        </p:nvSpPr>
        <p:spPr>
          <a:xfrm>
            <a:off x="10382250" y="3676650"/>
            <a:ext cx="1066800" cy="838200"/>
          </a:xfrm>
          <a:prstGeom prst="roundRect">
            <a:avLst>
              <a:gd name="adj" fmla="val 9091"/>
            </a:avLst>
          </a:prstGeom>
          <a:solidFill>
            <a:srgbClr val="FFFFFF"/>
          </a:solidFill>
          <a:ln w="11430">
            <a:solidFill>
              <a:srgbClr val="FFFFFF"/>
            </a:solidFill>
            <a:prstDash val="solid"/>
          </a:ln>
        </p:spPr>
        <p:txBody>
          <a:bodyPr>
            <a:noAutofit/>
          </a:bodyPr>
          <a:lstStyle/>
          <a:p>
            <a:pPr algn="ctr">
              <a:defRPr sz="1125" b="1">
                <a:solidFill>
                  <a:srgbClr val="102744"/>
                </a:solidFill>
                <a:latin typeface="Arial"/>
                <a:ea typeface="Arial"/>
                <a:cs typeface="Arial"/>
              </a:defRPr>
            </a:pPr>
            <a:r>
              <a:rPr sz="1125" b="1">
                <a:solidFill>
                  <a:srgbClr val="102744"/>
                </a:solidFill>
                <a:latin typeface="Arial"/>
                <a:ea typeface="Arial"/>
                <a:cs typeface="Arial"/>
              </a:rPr>
              <a:t>Controlled</a:t>
            </a:r>
          </a:p>
          <a:p>
            <a:pPr algn="ctr">
              <a:defRPr sz="1125" b="1">
                <a:solidFill>
                  <a:srgbClr val="102744"/>
                </a:solidFill>
                <a:latin typeface="Arial"/>
                <a:ea typeface="Arial"/>
                <a:cs typeface="Arial"/>
              </a:defRPr>
            </a:pPr>
            <a:r>
              <a:rPr sz="1125" b="1">
                <a:solidFill>
                  <a:srgbClr val="102744"/>
                </a:solidFill>
                <a:latin typeface="Arial"/>
                <a:ea typeface="Arial"/>
                <a:cs typeface="Arial"/>
              </a:rPr>
              <a:t>Package</a:t>
            </a:r>
          </a:p>
        </p:txBody>
      </p:sp>
      <p:sp>
        <p:nvSpPr>
          <p:cNvPr id="36" name="line-82-500">
            <a:extLst>
              <a:ext uri="{FF2B5EF4-FFF2-40B4-BE49-F238E27FC236}">
                <a16:creationId xmlns:a16="http://schemas.microsoft.com/office/drawing/2014/main" id="{FFB50211-0DF5-4510-BBB4-A2EF8FB69F51}"/>
              </a:ext>
            </a:extLst>
          </p:cNvPr>
          <p:cNvSpPr>
            <a:spLocks noGrp="1"/>
          </p:cNvSpPr>
          <p:nvPr/>
        </p:nvSpPr>
        <p:spPr>
          <a:xfrm>
            <a:off x="781050" y="4762500"/>
            <a:ext cx="10668000" cy="19050"/>
          </a:xfrm>
          <a:prstGeom prst="rect">
            <a:avLst/>
          </a:prstGeom>
          <a:solidFill>
            <a:srgbClr val="315377"/>
          </a:solidFill>
          <a:ln w="0">
            <a:solidFill>
              <a:srgbClr val="315377"/>
            </a:solidFill>
            <a:prstDash val="solid"/>
          </a:ln>
        </p:spPr>
        <p:txBody>
          <a:bodyPr/>
          <a:lstStyle/>
          <a:p>
            <a:endParaRPr lang="en-US"/>
          </a:p>
        </p:txBody>
      </p:sp>
      <p:sp>
        <p:nvSpPr>
          <p:cNvPr id="37" name="text-84-518-Vài tháng sau">
            <a:extLst>
              <a:ext uri="{FF2B5EF4-FFF2-40B4-BE49-F238E27FC236}">
                <a16:creationId xmlns:a16="http://schemas.microsoft.com/office/drawing/2014/main" id="{11CC3141-D27B-4B25-BB07-95472F6BB49A}"/>
              </a:ext>
            </a:extLst>
          </p:cNvPr>
          <p:cNvSpPr>
            <a:spLocks noGrp="1"/>
          </p:cNvSpPr>
          <p:nvPr/>
        </p:nvSpPr>
        <p:spPr>
          <a:xfrm>
            <a:off x="800100" y="4933950"/>
            <a:ext cx="1619250" cy="266700"/>
          </a:xfrm>
          <a:prstGeom prst="rect">
            <a:avLst/>
          </a:prstGeom>
          <a:noFill/>
          <a:ln w="0">
            <a:noFill/>
          </a:ln>
        </p:spPr>
        <p:txBody>
          <a:bodyPr>
            <a:noAutofit/>
          </a:bodyPr>
          <a:lstStyle/>
          <a:p>
            <a:pPr algn="l">
              <a:defRPr sz="1125" b="0">
                <a:solidFill>
                  <a:srgbClr val="BFD7EA"/>
                </a:solidFill>
                <a:latin typeface="Arial"/>
                <a:ea typeface="Arial"/>
                <a:cs typeface="Arial"/>
              </a:defRPr>
            </a:pPr>
            <a:r>
              <a:rPr sz="1125" b="0">
                <a:solidFill>
                  <a:srgbClr val="BFD7EA"/>
                </a:solidFill>
                <a:latin typeface="Arial"/>
                <a:ea typeface="Arial"/>
                <a:cs typeface="Arial"/>
              </a:rPr>
              <a:t>Vài tháng sau</a:t>
            </a:r>
          </a:p>
        </p:txBody>
      </p:sp>
      <p:sp>
        <p:nvSpPr>
          <p:cNvPr id="38" name="text-252-513-→">
            <a:extLst>
              <a:ext uri="{FF2B5EF4-FFF2-40B4-BE49-F238E27FC236}">
                <a16:creationId xmlns:a16="http://schemas.microsoft.com/office/drawing/2014/main" id="{CA13DCBC-D93E-4AC9-8AA2-9DB29E959203}"/>
              </a:ext>
            </a:extLst>
          </p:cNvPr>
          <p:cNvSpPr>
            <a:spLocks noGrp="1"/>
          </p:cNvSpPr>
          <p:nvPr/>
        </p:nvSpPr>
        <p:spPr>
          <a:xfrm>
            <a:off x="2400300" y="4886325"/>
            <a:ext cx="419100" cy="323850"/>
          </a:xfrm>
          <a:prstGeom prst="rect">
            <a:avLst/>
          </a:prstGeom>
          <a:noFill/>
          <a:ln w="0">
            <a:noFill/>
          </a:ln>
        </p:spPr>
        <p:txBody>
          <a:bodyPr>
            <a:noAutofit/>
          </a:bodyPr>
          <a:lstStyle/>
          <a:p>
            <a:pPr algn="ctr">
              <a:defRPr sz="1800" b="1">
                <a:solidFill>
                  <a:srgbClr val="8EC7E7"/>
                </a:solidFill>
                <a:latin typeface="Arial"/>
                <a:ea typeface="Arial"/>
                <a:cs typeface="Arial"/>
              </a:defRPr>
            </a:pPr>
            <a:r>
              <a:rPr sz="1800" b="1">
                <a:solidFill>
                  <a:srgbClr val="8EC7E7"/>
                </a:solidFill>
                <a:latin typeface="Arial"/>
                <a:ea typeface="Arial"/>
                <a:cs typeface="Arial"/>
              </a:rPr>
              <a:t>→</a:t>
            </a:r>
          </a:p>
        </p:txBody>
      </p:sp>
      <p:sp>
        <p:nvSpPr>
          <p:cNvPr id="39" name="text-300-514-Retrieve R24">
            <a:extLst>
              <a:ext uri="{FF2B5EF4-FFF2-40B4-BE49-F238E27FC236}">
                <a16:creationId xmlns:a16="http://schemas.microsoft.com/office/drawing/2014/main" id="{39343F28-4645-4EF0-B3C6-375B15251616}"/>
              </a:ext>
            </a:extLst>
          </p:cNvPr>
          <p:cNvSpPr>
            <a:spLocks noGrp="1"/>
          </p:cNvSpPr>
          <p:nvPr/>
        </p:nvSpPr>
        <p:spPr>
          <a:xfrm>
            <a:off x="2857500" y="4895850"/>
            <a:ext cx="1524000" cy="266700"/>
          </a:xfrm>
          <a:prstGeom prst="rect">
            <a:avLst/>
          </a:prstGeom>
          <a:noFill/>
          <a:ln w="0">
            <a:noFill/>
          </a:ln>
        </p:spPr>
        <p:txBody>
          <a:bodyPr>
            <a:noAutofit/>
          </a:bodyPr>
          <a:lstStyle/>
          <a:p>
            <a:pPr algn="l">
              <a:defRPr sz="1350" b="1">
                <a:solidFill>
                  <a:srgbClr val="FFFFFF"/>
                </a:solidFill>
                <a:latin typeface="Arial"/>
                <a:ea typeface="Arial"/>
                <a:cs typeface="Arial"/>
              </a:defRPr>
            </a:pPr>
            <a:r>
              <a:rPr sz="1350" b="1">
                <a:solidFill>
                  <a:srgbClr val="FFFFFF"/>
                </a:solidFill>
                <a:latin typeface="Arial"/>
                <a:ea typeface="Arial"/>
                <a:cs typeface="Arial"/>
              </a:rPr>
              <a:t>Retrieve R24</a:t>
            </a:r>
          </a:p>
        </p:txBody>
      </p:sp>
      <p:sp>
        <p:nvSpPr>
          <p:cNvPr id="40" name="text-468-513-→">
            <a:extLst>
              <a:ext uri="{FF2B5EF4-FFF2-40B4-BE49-F238E27FC236}">
                <a16:creationId xmlns:a16="http://schemas.microsoft.com/office/drawing/2014/main" id="{E92AF923-17C5-4848-8D70-539D6799FBBF}"/>
              </a:ext>
            </a:extLst>
          </p:cNvPr>
          <p:cNvSpPr>
            <a:spLocks noGrp="1"/>
          </p:cNvSpPr>
          <p:nvPr/>
        </p:nvSpPr>
        <p:spPr>
          <a:xfrm>
            <a:off x="4457700" y="4886325"/>
            <a:ext cx="419100" cy="323850"/>
          </a:xfrm>
          <a:prstGeom prst="rect">
            <a:avLst/>
          </a:prstGeom>
          <a:noFill/>
          <a:ln w="0">
            <a:noFill/>
          </a:ln>
        </p:spPr>
        <p:txBody>
          <a:bodyPr>
            <a:noAutofit/>
          </a:bodyPr>
          <a:lstStyle/>
          <a:p>
            <a:pPr algn="ctr">
              <a:defRPr sz="1800" b="1">
                <a:solidFill>
                  <a:srgbClr val="8EC7E7"/>
                </a:solidFill>
                <a:latin typeface="Arial"/>
                <a:ea typeface="Arial"/>
                <a:cs typeface="Arial"/>
              </a:defRPr>
            </a:pPr>
            <a:r>
              <a:rPr sz="1800" b="1">
                <a:solidFill>
                  <a:srgbClr val="8EC7E7"/>
                </a:solidFill>
                <a:latin typeface="Arial"/>
                <a:ea typeface="Arial"/>
                <a:cs typeface="Arial"/>
              </a:rPr>
              <a:t>→</a:t>
            </a:r>
          </a:p>
        </p:txBody>
      </p:sp>
      <p:sp>
        <p:nvSpPr>
          <p:cNvPr id="41" name="text-520-512-Đúng cùng Genera">
            <a:extLst>
              <a:ext uri="{FF2B5EF4-FFF2-40B4-BE49-F238E27FC236}">
                <a16:creationId xmlns:a16="http://schemas.microsoft.com/office/drawing/2014/main" id="{2D83C604-740B-44C5-9F4E-270D67B1D2A0}"/>
              </a:ext>
            </a:extLst>
          </p:cNvPr>
          <p:cNvSpPr>
            <a:spLocks noGrp="1"/>
          </p:cNvSpPr>
          <p:nvPr/>
        </p:nvSpPr>
        <p:spPr>
          <a:xfrm>
            <a:off x="4953000" y="4876800"/>
            <a:ext cx="6096000" cy="323850"/>
          </a:xfrm>
          <a:prstGeom prst="rect">
            <a:avLst/>
          </a:prstGeom>
          <a:noFill/>
          <a:ln w="0">
            <a:noFill/>
          </a:ln>
        </p:spPr>
        <p:txBody>
          <a:bodyPr>
            <a:noAutofit/>
          </a:bodyPr>
          <a:lstStyle/>
          <a:p>
            <a:pPr algn="l">
              <a:defRPr sz="1350" b="1">
                <a:solidFill>
                  <a:srgbClr val="FFFFFF"/>
                </a:solidFill>
                <a:latin typeface="Arial"/>
                <a:ea typeface="Arial"/>
                <a:cs typeface="Arial"/>
              </a:defRPr>
            </a:pPr>
            <a:r>
              <a:rPr sz="1350" b="1">
                <a:solidFill>
                  <a:srgbClr val="FFFFFF"/>
                </a:solidFill>
                <a:latin typeface="Arial"/>
                <a:ea typeface="Arial"/>
                <a:cs typeface="Arial"/>
              </a:rPr>
              <a:t>Đúng cùng Generation + Structure Snapshot + controlled artifacts</a:t>
            </a:r>
          </a:p>
        </p:txBody>
      </p:sp>
      <p:sp>
        <p:nvSpPr>
          <p:cNvPr id="42" name="text-126-614-Release không lấ">
            <a:extLst>
              <a:ext uri="{FF2B5EF4-FFF2-40B4-BE49-F238E27FC236}">
                <a16:creationId xmlns:a16="http://schemas.microsoft.com/office/drawing/2014/main" id="{DB1F3050-D709-4C6E-8545-6E2B8CADA8DE}"/>
              </a:ext>
            </a:extLst>
          </p:cNvPr>
          <p:cNvSpPr>
            <a:spLocks noGrp="1"/>
          </p:cNvSpPr>
          <p:nvPr/>
        </p:nvSpPr>
        <p:spPr>
          <a:xfrm>
            <a:off x="1200150" y="5848350"/>
            <a:ext cx="9791700" cy="342900"/>
          </a:xfrm>
          <a:prstGeom prst="rect">
            <a:avLst/>
          </a:prstGeom>
          <a:noFill/>
          <a:ln w="0">
            <a:noFill/>
          </a:ln>
        </p:spPr>
        <p:txBody>
          <a:bodyPr>
            <a:noAutofit/>
          </a:bodyPr>
          <a:lstStyle/>
          <a:p>
            <a:pPr algn="ctr">
              <a:defRPr sz="1650" b="1">
                <a:solidFill>
                  <a:srgbClr val="102744"/>
                </a:solidFill>
                <a:latin typeface="Arial"/>
                <a:ea typeface="Arial"/>
                <a:cs typeface="Arial"/>
              </a:defRPr>
            </a:pPr>
            <a:r>
              <a:rPr sz="1650" b="1">
                <a:solidFill>
                  <a:srgbClr val="102744"/>
                </a:solidFill>
                <a:latin typeface="Arial"/>
                <a:ea typeface="Arial"/>
                <a:cs typeface="Arial"/>
              </a:rPr>
              <a:t>Release không lấy file mới nhất. Release ghim một baseline đã được duyệt và tái tạo được.</a:t>
            </a:r>
          </a:p>
        </p:txBody>
      </p:sp>
    </p:spTree>
    <p:extLst>
      <p:ext uri="{BB962C8B-B14F-4D97-AF65-F5344CB8AC3E}">
        <p14:creationId xmlns:p14="http://schemas.microsoft.com/office/powerpoint/2010/main" val="1670593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box-0-0">
            <a:extLst>
              <a:ext uri="{FF2B5EF4-FFF2-40B4-BE49-F238E27FC236}">
                <a16:creationId xmlns:a16="http://schemas.microsoft.com/office/drawing/2014/main" id="{B4C72BA3-9A15-4842-AC70-0DEE2A070923}"/>
              </a:ext>
            </a:extLst>
          </p:cNvPr>
          <p:cNvSpPr>
            <a:spLocks noGrp="1"/>
          </p:cNvSpPr>
          <p:nvPr/>
        </p:nvSpPr>
        <p:spPr>
          <a:xfrm>
            <a:off x="0" y="0"/>
            <a:ext cx="133350" cy="6858000"/>
          </a:xfrm>
          <a:prstGeom prst="rect">
            <a:avLst/>
          </a:prstGeom>
          <a:solidFill>
            <a:srgbClr val="2169A8"/>
          </a:solidFill>
          <a:ln w="0">
            <a:noFill/>
            <a:prstDash val="solid"/>
          </a:ln>
        </p:spPr>
        <p:txBody>
          <a:bodyPr/>
          <a:lstStyle/>
          <a:p>
            <a:endParaRPr lang="en-US"/>
          </a:p>
        </p:txBody>
      </p:sp>
      <p:sp>
        <p:nvSpPr>
          <p:cNvPr id="2" name="text-54-28-SPEC">
            <a:extLst>
              <a:ext uri="{FF2B5EF4-FFF2-40B4-BE49-F238E27FC236}">
                <a16:creationId xmlns:a16="http://schemas.microsoft.com/office/drawing/2014/main" id="{6AB45F9B-A08D-42DE-8804-0936D1D447D1}"/>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Correctne">
            <a:extLst>
              <a:ext uri="{FF2B5EF4-FFF2-40B4-BE49-F238E27FC236}">
                <a16:creationId xmlns:a16="http://schemas.microsoft.com/office/drawing/2014/main" id="{19216506-431C-4807-AF55-B3AA2B3184CF}"/>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Spec — Correctness phải giữ được cả khi có lỗi</a:t>
            </a:r>
          </a:p>
        </p:txBody>
      </p:sp>
      <p:sp>
        <p:nvSpPr>
          <p:cNvPr id="4" name="line-54-116">
            <a:extLst>
              <a:ext uri="{FF2B5EF4-FFF2-40B4-BE49-F238E27FC236}">
                <a16:creationId xmlns:a16="http://schemas.microsoft.com/office/drawing/2014/main" id="{FA57C5BA-BF3D-42F1-9FA5-FA83C6C24AD6}"/>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4@0">
            <a:extLst>
              <a:ext uri="{FF2B5EF4-FFF2-40B4-BE49-F238E27FC236}">
                <a16:creationId xmlns:a16="http://schemas.microsoft.com/office/drawing/2014/main" id="{B3E034CE-8A61-4F6F-941F-9B73F98AE040}"/>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DOC-04@0.13 · DOC-05@0.20 · DOC-06@0.16</a:t>
            </a:r>
          </a:p>
        </p:txBody>
      </p:sp>
      <p:sp>
        <p:nvSpPr>
          <p:cNvPr id="6" name="text-1170-680-09">
            <a:extLst>
              <a:ext uri="{FF2B5EF4-FFF2-40B4-BE49-F238E27FC236}">
                <a16:creationId xmlns:a16="http://schemas.microsoft.com/office/drawing/2014/main" id="{453F0C73-36DA-4EE5-AB39-368D791A6723}"/>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09</a:t>
            </a:r>
          </a:p>
        </p:txBody>
      </p:sp>
      <p:sp>
        <p:nvSpPr>
          <p:cNvPr id="7" name="box-58-150">
            <a:extLst>
              <a:ext uri="{FF2B5EF4-FFF2-40B4-BE49-F238E27FC236}">
                <a16:creationId xmlns:a16="http://schemas.microsoft.com/office/drawing/2014/main" id="{BBF5CE7B-2A0B-4D13-9A20-A3A3E66B40FC}"/>
              </a:ext>
            </a:extLst>
          </p:cNvPr>
          <p:cNvSpPr>
            <a:spLocks noGrp="1"/>
          </p:cNvSpPr>
          <p:nvPr/>
        </p:nvSpPr>
        <p:spPr>
          <a:xfrm>
            <a:off x="552450" y="1428750"/>
            <a:ext cx="5448300" cy="2038350"/>
          </a:xfrm>
          <a:prstGeom prst="roundRect">
            <a:avLst>
              <a:gd name="adj" fmla="val 3738"/>
            </a:avLst>
          </a:prstGeom>
          <a:solidFill>
            <a:srgbClr val="EAF3F9"/>
          </a:solidFill>
          <a:ln w="14288">
            <a:solidFill>
              <a:srgbClr val="2169A8"/>
            </a:solidFill>
            <a:prstDash val="solid"/>
          </a:ln>
        </p:spPr>
        <p:txBody>
          <a:bodyPr/>
          <a:lstStyle/>
          <a:p>
            <a:endParaRPr lang="en-US"/>
          </a:p>
        </p:txBody>
      </p:sp>
      <p:sp>
        <p:nvSpPr>
          <p:cNvPr id="8" name="box-76-166">
            <a:extLst>
              <a:ext uri="{FF2B5EF4-FFF2-40B4-BE49-F238E27FC236}">
                <a16:creationId xmlns:a16="http://schemas.microsoft.com/office/drawing/2014/main" id="{89054BD7-8721-4A29-98F6-3A72B1B7C7A1}"/>
              </a:ext>
            </a:extLst>
          </p:cNvPr>
          <p:cNvSpPr>
            <a:spLocks noGrp="1"/>
          </p:cNvSpPr>
          <p:nvPr/>
        </p:nvSpPr>
        <p:spPr>
          <a:xfrm>
            <a:off x="723900" y="1581150"/>
            <a:ext cx="2381250" cy="323850"/>
          </a:xfrm>
          <a:prstGeom prst="roundRect">
            <a:avLst>
              <a:gd name="adj" fmla="val 23529"/>
            </a:avLst>
          </a:prstGeom>
          <a:solidFill>
            <a:srgbClr val="2169A8"/>
          </a:solidFill>
          <a:ln w="7620">
            <a:solidFill>
              <a:srgbClr val="2169A8"/>
            </a:solidFill>
            <a:prstDash val="solid"/>
          </a:ln>
        </p:spPr>
        <p:txBody>
          <a:bodyPr>
            <a:noAutofit/>
          </a:body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A · AUTHORIZATION</a:t>
            </a:r>
          </a:p>
        </p:txBody>
      </p:sp>
      <p:sp>
        <p:nvSpPr>
          <p:cNvPr id="9" name="box-82-225">
            <a:extLst>
              <a:ext uri="{FF2B5EF4-FFF2-40B4-BE49-F238E27FC236}">
                <a16:creationId xmlns:a16="http://schemas.microsoft.com/office/drawing/2014/main" id="{69102E7D-E74F-4217-BDB6-69AA2D573D2B}"/>
              </a:ext>
            </a:extLst>
          </p:cNvPr>
          <p:cNvSpPr>
            <a:spLocks noGrp="1"/>
          </p:cNvSpPr>
          <p:nvPr/>
        </p:nvSpPr>
        <p:spPr>
          <a:xfrm>
            <a:off x="781050" y="214312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Request</a:t>
            </a:r>
          </a:p>
        </p:txBody>
      </p:sp>
      <p:sp>
        <p:nvSpPr>
          <p:cNvPr id="10" name="text-195-236-→">
            <a:extLst>
              <a:ext uri="{FF2B5EF4-FFF2-40B4-BE49-F238E27FC236}">
                <a16:creationId xmlns:a16="http://schemas.microsoft.com/office/drawing/2014/main" id="{8C9EB891-3B80-4A59-A4A1-1BC1ABEDA40C}"/>
              </a:ext>
            </a:extLst>
          </p:cNvPr>
          <p:cNvSpPr>
            <a:spLocks noGrp="1"/>
          </p:cNvSpPr>
          <p:nvPr/>
        </p:nvSpPr>
        <p:spPr>
          <a:xfrm>
            <a:off x="1857375" y="2247900"/>
            <a:ext cx="266700" cy="342900"/>
          </a:xfrm>
          <a:prstGeom prst="rect">
            <a:avLst/>
          </a:prstGeom>
          <a:noFill/>
          <a:ln w="0">
            <a:noFill/>
          </a:ln>
        </p:spPr>
        <p:txBody>
          <a:bodyPr>
            <a:noAutofit/>
          </a:bodyPr>
          <a:lstStyle/>
          <a:p>
            <a:pPr algn="ctr">
              <a:defRPr sz="1500" b="1">
                <a:solidFill>
                  <a:srgbClr val="2169A8"/>
                </a:solidFill>
                <a:latin typeface="Arial"/>
                <a:ea typeface="Arial"/>
                <a:cs typeface="Arial"/>
              </a:defRPr>
            </a:pPr>
            <a:r>
              <a:rPr sz="1500" b="1">
                <a:solidFill>
                  <a:srgbClr val="2169A8"/>
                </a:solidFill>
                <a:latin typeface="Arial"/>
                <a:ea typeface="Arial"/>
                <a:cs typeface="Arial"/>
              </a:rPr>
              <a:t>→</a:t>
            </a:r>
          </a:p>
        </p:txBody>
      </p:sp>
      <p:sp>
        <p:nvSpPr>
          <p:cNvPr id="11" name="box-214-225">
            <a:extLst>
              <a:ext uri="{FF2B5EF4-FFF2-40B4-BE49-F238E27FC236}">
                <a16:creationId xmlns:a16="http://schemas.microsoft.com/office/drawing/2014/main" id="{E726E624-E5BC-444F-B63A-04CDF2984842}"/>
              </a:ext>
            </a:extLst>
          </p:cNvPr>
          <p:cNvSpPr>
            <a:spLocks noGrp="1"/>
          </p:cNvSpPr>
          <p:nvPr/>
        </p:nvSpPr>
        <p:spPr>
          <a:xfrm>
            <a:off x="2038350" y="214312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Server ActorContext</a:t>
            </a:r>
          </a:p>
        </p:txBody>
      </p:sp>
      <p:sp>
        <p:nvSpPr>
          <p:cNvPr id="12" name="text-327-236-→">
            <a:extLst>
              <a:ext uri="{FF2B5EF4-FFF2-40B4-BE49-F238E27FC236}">
                <a16:creationId xmlns:a16="http://schemas.microsoft.com/office/drawing/2014/main" id="{A3E4F971-732D-4614-9071-7DBE532C9DD5}"/>
              </a:ext>
            </a:extLst>
          </p:cNvPr>
          <p:cNvSpPr>
            <a:spLocks noGrp="1"/>
          </p:cNvSpPr>
          <p:nvPr/>
        </p:nvSpPr>
        <p:spPr>
          <a:xfrm>
            <a:off x="3114675" y="2247900"/>
            <a:ext cx="266700" cy="342900"/>
          </a:xfrm>
          <a:prstGeom prst="rect">
            <a:avLst/>
          </a:prstGeom>
          <a:noFill/>
          <a:ln w="0">
            <a:noFill/>
          </a:ln>
        </p:spPr>
        <p:txBody>
          <a:bodyPr>
            <a:noAutofit/>
          </a:bodyPr>
          <a:lstStyle/>
          <a:p>
            <a:pPr algn="ctr">
              <a:defRPr sz="1500" b="1">
                <a:solidFill>
                  <a:srgbClr val="2169A8"/>
                </a:solidFill>
                <a:latin typeface="Arial"/>
                <a:ea typeface="Arial"/>
                <a:cs typeface="Arial"/>
              </a:defRPr>
            </a:pPr>
            <a:r>
              <a:rPr sz="1500" b="1">
                <a:solidFill>
                  <a:srgbClr val="2169A8"/>
                </a:solidFill>
                <a:latin typeface="Arial"/>
                <a:ea typeface="Arial"/>
                <a:cs typeface="Arial"/>
              </a:rPr>
              <a:t>→</a:t>
            </a:r>
          </a:p>
        </p:txBody>
      </p:sp>
      <p:sp>
        <p:nvSpPr>
          <p:cNvPr id="13" name="box-346-225">
            <a:extLst>
              <a:ext uri="{FF2B5EF4-FFF2-40B4-BE49-F238E27FC236}">
                <a16:creationId xmlns:a16="http://schemas.microsoft.com/office/drawing/2014/main" id="{02BA8D09-AA25-40AE-8CED-37C06EF0B2E2}"/>
              </a:ext>
            </a:extLst>
          </p:cNvPr>
          <p:cNvSpPr>
            <a:spLocks noGrp="1"/>
          </p:cNvSpPr>
          <p:nvPr/>
        </p:nvSpPr>
        <p:spPr>
          <a:xfrm>
            <a:off x="3295650" y="214312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Access Policy</a:t>
            </a:r>
          </a:p>
        </p:txBody>
      </p:sp>
      <p:sp>
        <p:nvSpPr>
          <p:cNvPr id="14" name="text-459-236-→">
            <a:extLst>
              <a:ext uri="{FF2B5EF4-FFF2-40B4-BE49-F238E27FC236}">
                <a16:creationId xmlns:a16="http://schemas.microsoft.com/office/drawing/2014/main" id="{DA5E2011-762E-45CE-90A2-C13B4AA30FF8}"/>
              </a:ext>
            </a:extLst>
          </p:cNvPr>
          <p:cNvSpPr>
            <a:spLocks noGrp="1"/>
          </p:cNvSpPr>
          <p:nvPr/>
        </p:nvSpPr>
        <p:spPr>
          <a:xfrm>
            <a:off x="4371975" y="2247900"/>
            <a:ext cx="266700" cy="342900"/>
          </a:xfrm>
          <a:prstGeom prst="rect">
            <a:avLst/>
          </a:prstGeom>
          <a:noFill/>
          <a:ln w="0">
            <a:noFill/>
          </a:ln>
        </p:spPr>
        <p:txBody>
          <a:bodyPr>
            <a:noAutofit/>
          </a:bodyPr>
          <a:lstStyle/>
          <a:p>
            <a:pPr algn="ctr">
              <a:defRPr sz="1500" b="1">
                <a:solidFill>
                  <a:srgbClr val="2169A8"/>
                </a:solidFill>
                <a:latin typeface="Arial"/>
                <a:ea typeface="Arial"/>
                <a:cs typeface="Arial"/>
              </a:defRPr>
            </a:pPr>
            <a:r>
              <a:rPr sz="1500" b="1">
                <a:solidFill>
                  <a:srgbClr val="2169A8"/>
                </a:solidFill>
                <a:latin typeface="Arial"/>
                <a:ea typeface="Arial"/>
                <a:cs typeface="Arial"/>
              </a:rPr>
              <a:t>→</a:t>
            </a:r>
          </a:p>
        </p:txBody>
      </p:sp>
      <p:sp>
        <p:nvSpPr>
          <p:cNvPr id="15" name="box-478-225">
            <a:extLst>
              <a:ext uri="{FF2B5EF4-FFF2-40B4-BE49-F238E27FC236}">
                <a16:creationId xmlns:a16="http://schemas.microsoft.com/office/drawing/2014/main" id="{BC2B0647-C56E-4F5B-BE16-EE166570BA1F}"/>
              </a:ext>
            </a:extLst>
          </p:cNvPr>
          <p:cNvSpPr>
            <a:spLocks noGrp="1"/>
          </p:cNvSpPr>
          <p:nvPr/>
        </p:nvSpPr>
        <p:spPr>
          <a:xfrm>
            <a:off x="4552950" y="214312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1">
                <a:solidFill>
                  <a:srgbClr val="162638"/>
                </a:solidFill>
                <a:latin typeface="Arial"/>
                <a:ea typeface="Arial"/>
                <a:cs typeface="Arial"/>
              </a:defRPr>
            </a:pPr>
            <a:r>
              <a:rPr sz="1050" b="1">
                <a:solidFill>
                  <a:srgbClr val="162638"/>
                </a:solidFill>
                <a:latin typeface="Arial"/>
                <a:ea typeface="Arial"/>
                <a:cs typeface="Arial"/>
              </a:rPr>
              <a:t>Allow / Deny</a:t>
            </a:r>
          </a:p>
        </p:txBody>
      </p:sp>
      <p:sp>
        <p:nvSpPr>
          <p:cNvPr id="16" name="text-82-307-Ẩn nút trên UI k">
            <a:extLst>
              <a:ext uri="{FF2B5EF4-FFF2-40B4-BE49-F238E27FC236}">
                <a16:creationId xmlns:a16="http://schemas.microsoft.com/office/drawing/2014/main" id="{A7201404-4F7B-49D6-9309-DD2F5C68CD6F}"/>
              </a:ext>
            </a:extLst>
          </p:cNvPr>
          <p:cNvSpPr>
            <a:spLocks noGrp="1"/>
          </p:cNvSpPr>
          <p:nvPr/>
        </p:nvSpPr>
        <p:spPr>
          <a:xfrm>
            <a:off x="781050" y="2924175"/>
            <a:ext cx="4972050" cy="361950"/>
          </a:xfrm>
          <a:prstGeom prst="rect">
            <a:avLst/>
          </a:prstGeom>
          <a:noFill/>
          <a:ln w="0">
            <a:noFill/>
          </a:ln>
        </p:spPr>
        <p:txBody>
          <a:bodyPr>
            <a:noAutofit/>
          </a:bodyPr>
          <a:lstStyle/>
          <a:p>
            <a:pPr algn="ctr">
              <a:defRPr sz="1125" b="0">
                <a:solidFill>
                  <a:srgbClr val="4B6075"/>
                </a:solidFill>
                <a:latin typeface="Arial"/>
                <a:ea typeface="Arial"/>
                <a:cs typeface="Arial"/>
              </a:defRPr>
            </a:pPr>
            <a:r>
              <a:rPr sz="1125" b="0">
                <a:solidFill>
                  <a:srgbClr val="4B6075"/>
                </a:solidFill>
                <a:latin typeface="Arial"/>
                <a:ea typeface="Arial"/>
                <a:cs typeface="Arial"/>
              </a:rPr>
              <a:t>Ẩn nút trên UI không phải là kiểm soát quyền.</a:t>
            </a:r>
          </a:p>
        </p:txBody>
      </p:sp>
      <p:sp>
        <p:nvSpPr>
          <p:cNvPr id="17" name="box-650-150">
            <a:extLst>
              <a:ext uri="{FF2B5EF4-FFF2-40B4-BE49-F238E27FC236}">
                <a16:creationId xmlns:a16="http://schemas.microsoft.com/office/drawing/2014/main" id="{24891321-60FC-4A01-A326-108CD6DEFB78}"/>
              </a:ext>
            </a:extLst>
          </p:cNvPr>
          <p:cNvSpPr>
            <a:spLocks noGrp="1"/>
          </p:cNvSpPr>
          <p:nvPr/>
        </p:nvSpPr>
        <p:spPr>
          <a:xfrm>
            <a:off x="6191250" y="1428750"/>
            <a:ext cx="5448300" cy="2038350"/>
          </a:xfrm>
          <a:prstGeom prst="roundRect">
            <a:avLst>
              <a:gd name="adj" fmla="val 3738"/>
            </a:avLst>
          </a:prstGeom>
          <a:solidFill>
            <a:srgbClr val="FFF4DD"/>
          </a:solidFill>
          <a:ln w="14288">
            <a:solidFill>
              <a:srgbClr val="C58A1E"/>
            </a:solidFill>
            <a:prstDash val="solid"/>
          </a:ln>
        </p:spPr>
        <p:txBody>
          <a:bodyPr/>
          <a:lstStyle/>
          <a:p>
            <a:endParaRPr lang="en-US"/>
          </a:p>
        </p:txBody>
      </p:sp>
      <p:sp>
        <p:nvSpPr>
          <p:cNvPr id="18" name="box-668-166">
            <a:extLst>
              <a:ext uri="{FF2B5EF4-FFF2-40B4-BE49-F238E27FC236}">
                <a16:creationId xmlns:a16="http://schemas.microsoft.com/office/drawing/2014/main" id="{8CE5DC9D-29DD-4BC6-9B1A-A6AB537E3F08}"/>
              </a:ext>
            </a:extLst>
          </p:cNvPr>
          <p:cNvSpPr>
            <a:spLocks noGrp="1"/>
          </p:cNvSpPr>
          <p:nvPr/>
        </p:nvSpPr>
        <p:spPr>
          <a:xfrm>
            <a:off x="6362700" y="1581150"/>
            <a:ext cx="2381250" cy="323850"/>
          </a:xfrm>
          <a:prstGeom prst="roundRect">
            <a:avLst>
              <a:gd name="adj" fmla="val 23529"/>
            </a:avLst>
          </a:prstGeom>
          <a:solidFill>
            <a:srgbClr val="C58A1E"/>
          </a:solidFill>
          <a:ln w="7620">
            <a:solidFill>
              <a:srgbClr val="C58A1E"/>
            </a:solidFill>
            <a:prstDash val="solid"/>
          </a:ln>
        </p:spPr>
        <p:txBody>
          <a:bodyPr>
            <a:noAutofit/>
          </a:body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B · STALE / CONFLICT</a:t>
            </a:r>
          </a:p>
        </p:txBody>
      </p:sp>
      <p:sp>
        <p:nvSpPr>
          <p:cNvPr id="19" name="box-674-225">
            <a:extLst>
              <a:ext uri="{FF2B5EF4-FFF2-40B4-BE49-F238E27FC236}">
                <a16:creationId xmlns:a16="http://schemas.microsoft.com/office/drawing/2014/main" id="{48020E63-48EA-4C07-A833-6E72FAA4BC17}"/>
              </a:ext>
            </a:extLst>
          </p:cNvPr>
          <p:cNvSpPr>
            <a:spLocks noGrp="1"/>
          </p:cNvSpPr>
          <p:nvPr/>
        </p:nvSpPr>
        <p:spPr>
          <a:xfrm>
            <a:off x="6419850" y="214312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Local baseline G005</a:t>
            </a:r>
          </a:p>
        </p:txBody>
      </p:sp>
      <p:sp>
        <p:nvSpPr>
          <p:cNvPr id="20" name="text-787-236-→">
            <a:extLst>
              <a:ext uri="{FF2B5EF4-FFF2-40B4-BE49-F238E27FC236}">
                <a16:creationId xmlns:a16="http://schemas.microsoft.com/office/drawing/2014/main" id="{FB05A9C4-02CE-432E-9FDF-D494C2AB4EFD}"/>
              </a:ext>
            </a:extLst>
          </p:cNvPr>
          <p:cNvSpPr>
            <a:spLocks noGrp="1"/>
          </p:cNvSpPr>
          <p:nvPr/>
        </p:nvSpPr>
        <p:spPr>
          <a:xfrm>
            <a:off x="7496175" y="2247900"/>
            <a:ext cx="266700" cy="342900"/>
          </a:xfrm>
          <a:prstGeom prst="rect">
            <a:avLst/>
          </a:prstGeom>
          <a:noFill/>
          <a:ln w="0">
            <a:noFill/>
          </a:ln>
        </p:spPr>
        <p:txBody>
          <a:bodyPr>
            <a:noAutofit/>
          </a:bodyPr>
          <a:lstStyle/>
          <a:p>
            <a:pPr algn="ctr">
              <a:defRPr sz="1500" b="1">
                <a:solidFill>
                  <a:srgbClr val="C58A1E"/>
                </a:solidFill>
                <a:latin typeface="Arial"/>
                <a:ea typeface="Arial"/>
                <a:cs typeface="Arial"/>
              </a:defRPr>
            </a:pPr>
            <a:r>
              <a:rPr sz="1500" b="1">
                <a:solidFill>
                  <a:srgbClr val="C58A1E"/>
                </a:solidFill>
                <a:latin typeface="Arial"/>
                <a:ea typeface="Arial"/>
                <a:cs typeface="Arial"/>
              </a:rPr>
              <a:t>→</a:t>
            </a:r>
          </a:p>
        </p:txBody>
      </p:sp>
      <p:sp>
        <p:nvSpPr>
          <p:cNvPr id="21" name="box-806-225">
            <a:extLst>
              <a:ext uri="{FF2B5EF4-FFF2-40B4-BE49-F238E27FC236}">
                <a16:creationId xmlns:a16="http://schemas.microsoft.com/office/drawing/2014/main" id="{0630D744-3600-4D8A-8BD0-97F32AEF05D5}"/>
              </a:ext>
            </a:extLst>
          </p:cNvPr>
          <p:cNvSpPr>
            <a:spLocks noGrp="1"/>
          </p:cNvSpPr>
          <p:nvPr/>
        </p:nvSpPr>
        <p:spPr>
          <a:xfrm>
            <a:off x="7677150" y="214312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Server current G006</a:t>
            </a:r>
          </a:p>
        </p:txBody>
      </p:sp>
      <p:sp>
        <p:nvSpPr>
          <p:cNvPr id="22" name="text-919-236-→">
            <a:extLst>
              <a:ext uri="{FF2B5EF4-FFF2-40B4-BE49-F238E27FC236}">
                <a16:creationId xmlns:a16="http://schemas.microsoft.com/office/drawing/2014/main" id="{D3E1ABA7-DA8A-429D-A63D-D6556E303559}"/>
              </a:ext>
            </a:extLst>
          </p:cNvPr>
          <p:cNvSpPr>
            <a:spLocks noGrp="1"/>
          </p:cNvSpPr>
          <p:nvPr/>
        </p:nvSpPr>
        <p:spPr>
          <a:xfrm>
            <a:off x="8753475" y="2247900"/>
            <a:ext cx="266700" cy="342900"/>
          </a:xfrm>
          <a:prstGeom prst="rect">
            <a:avLst/>
          </a:prstGeom>
          <a:noFill/>
          <a:ln w="0">
            <a:noFill/>
          </a:ln>
        </p:spPr>
        <p:txBody>
          <a:bodyPr>
            <a:noAutofit/>
          </a:bodyPr>
          <a:lstStyle/>
          <a:p>
            <a:pPr algn="ctr">
              <a:defRPr sz="1500" b="1">
                <a:solidFill>
                  <a:srgbClr val="C58A1E"/>
                </a:solidFill>
                <a:latin typeface="Arial"/>
                <a:ea typeface="Arial"/>
                <a:cs typeface="Arial"/>
              </a:defRPr>
            </a:pPr>
            <a:r>
              <a:rPr sz="1500" b="1">
                <a:solidFill>
                  <a:srgbClr val="C58A1E"/>
                </a:solidFill>
                <a:latin typeface="Arial"/>
                <a:ea typeface="Arial"/>
                <a:cs typeface="Arial"/>
              </a:rPr>
              <a:t>→</a:t>
            </a:r>
          </a:p>
        </p:txBody>
      </p:sp>
      <p:sp>
        <p:nvSpPr>
          <p:cNvPr id="23" name="box-938-225">
            <a:extLst>
              <a:ext uri="{FF2B5EF4-FFF2-40B4-BE49-F238E27FC236}">
                <a16:creationId xmlns:a16="http://schemas.microsoft.com/office/drawing/2014/main" id="{62EC9FB5-479D-4632-934C-9F35C7B6D223}"/>
              </a:ext>
            </a:extLst>
          </p:cNvPr>
          <p:cNvSpPr>
            <a:spLocks noGrp="1"/>
          </p:cNvSpPr>
          <p:nvPr/>
        </p:nvSpPr>
        <p:spPr>
          <a:xfrm>
            <a:off x="8934450" y="214312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Chặn ghi không an toàn</a:t>
            </a:r>
          </a:p>
        </p:txBody>
      </p:sp>
      <p:sp>
        <p:nvSpPr>
          <p:cNvPr id="24" name="text-1051-236-→">
            <a:extLst>
              <a:ext uri="{FF2B5EF4-FFF2-40B4-BE49-F238E27FC236}">
                <a16:creationId xmlns:a16="http://schemas.microsoft.com/office/drawing/2014/main" id="{8B00F8F4-29AB-4ECA-8501-9D5F740F4748}"/>
              </a:ext>
            </a:extLst>
          </p:cNvPr>
          <p:cNvSpPr>
            <a:spLocks noGrp="1"/>
          </p:cNvSpPr>
          <p:nvPr/>
        </p:nvSpPr>
        <p:spPr>
          <a:xfrm>
            <a:off x="10010775" y="2247900"/>
            <a:ext cx="266700" cy="342900"/>
          </a:xfrm>
          <a:prstGeom prst="rect">
            <a:avLst/>
          </a:prstGeom>
          <a:noFill/>
          <a:ln w="0">
            <a:noFill/>
          </a:ln>
        </p:spPr>
        <p:txBody>
          <a:bodyPr>
            <a:noAutofit/>
          </a:bodyPr>
          <a:lstStyle/>
          <a:p>
            <a:pPr algn="ctr">
              <a:defRPr sz="1500" b="1">
                <a:solidFill>
                  <a:srgbClr val="C58A1E"/>
                </a:solidFill>
                <a:latin typeface="Arial"/>
                <a:ea typeface="Arial"/>
                <a:cs typeface="Arial"/>
              </a:defRPr>
            </a:pPr>
            <a:r>
              <a:rPr sz="1500" b="1">
                <a:solidFill>
                  <a:srgbClr val="C58A1E"/>
                </a:solidFill>
                <a:latin typeface="Arial"/>
                <a:ea typeface="Arial"/>
                <a:cs typeface="Arial"/>
              </a:rPr>
              <a:t>→</a:t>
            </a:r>
          </a:p>
        </p:txBody>
      </p:sp>
      <p:sp>
        <p:nvSpPr>
          <p:cNvPr id="25" name="box-1070-225">
            <a:extLst>
              <a:ext uri="{FF2B5EF4-FFF2-40B4-BE49-F238E27FC236}">
                <a16:creationId xmlns:a16="http://schemas.microsoft.com/office/drawing/2014/main" id="{F2B731B7-8626-4683-96D8-74CDDC61156D}"/>
              </a:ext>
            </a:extLst>
          </p:cNvPr>
          <p:cNvSpPr>
            <a:spLocks noGrp="1"/>
          </p:cNvSpPr>
          <p:nvPr/>
        </p:nvSpPr>
        <p:spPr>
          <a:xfrm>
            <a:off x="10191750" y="214312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1">
                <a:solidFill>
                  <a:srgbClr val="162638"/>
                </a:solidFill>
                <a:latin typeface="Arial"/>
                <a:ea typeface="Arial"/>
                <a:cs typeface="Arial"/>
              </a:defRPr>
            </a:pPr>
            <a:r>
              <a:rPr sz="1050" b="1">
                <a:solidFill>
                  <a:srgbClr val="162638"/>
                </a:solidFill>
                <a:latin typeface="Arial"/>
                <a:ea typeface="Arial"/>
                <a:cs typeface="Arial"/>
              </a:rPr>
              <a:t>Giữ local work</a:t>
            </a:r>
          </a:p>
        </p:txBody>
      </p:sp>
      <p:sp>
        <p:nvSpPr>
          <p:cNvPr id="26" name="text-674-307-Không tự merge n">
            <a:extLst>
              <a:ext uri="{FF2B5EF4-FFF2-40B4-BE49-F238E27FC236}">
                <a16:creationId xmlns:a16="http://schemas.microsoft.com/office/drawing/2014/main" id="{F56F7C45-236A-4316-B635-BD441E2F0F16}"/>
              </a:ext>
            </a:extLst>
          </p:cNvPr>
          <p:cNvSpPr>
            <a:spLocks noGrp="1"/>
          </p:cNvSpPr>
          <p:nvPr/>
        </p:nvSpPr>
        <p:spPr>
          <a:xfrm>
            <a:off x="6419850" y="2924175"/>
            <a:ext cx="4972050" cy="361950"/>
          </a:xfrm>
          <a:prstGeom prst="rect">
            <a:avLst/>
          </a:prstGeom>
          <a:noFill/>
          <a:ln w="0">
            <a:noFill/>
          </a:ln>
        </p:spPr>
        <p:txBody>
          <a:bodyPr>
            <a:noAutofit/>
          </a:bodyPr>
          <a:lstStyle/>
          <a:p>
            <a:pPr algn="ctr">
              <a:defRPr sz="1125" b="0">
                <a:solidFill>
                  <a:srgbClr val="4B6075"/>
                </a:solidFill>
                <a:latin typeface="Arial"/>
                <a:ea typeface="Arial"/>
                <a:cs typeface="Arial"/>
              </a:defRPr>
            </a:pPr>
            <a:r>
              <a:rPr sz="1125" b="0">
                <a:solidFill>
                  <a:srgbClr val="4B6075"/>
                </a:solidFill>
                <a:latin typeface="Arial"/>
                <a:ea typeface="Arial"/>
                <a:cs typeface="Arial"/>
              </a:rPr>
              <a:t>Không tự merge nội dung CAD / Office.</a:t>
            </a:r>
          </a:p>
        </p:txBody>
      </p:sp>
      <p:sp>
        <p:nvSpPr>
          <p:cNvPr id="27" name="box-58-400">
            <a:extLst>
              <a:ext uri="{FF2B5EF4-FFF2-40B4-BE49-F238E27FC236}">
                <a16:creationId xmlns:a16="http://schemas.microsoft.com/office/drawing/2014/main" id="{446CBC14-5B22-4011-BFFF-50CB64741548}"/>
              </a:ext>
            </a:extLst>
          </p:cNvPr>
          <p:cNvSpPr>
            <a:spLocks noGrp="1"/>
          </p:cNvSpPr>
          <p:nvPr/>
        </p:nvSpPr>
        <p:spPr>
          <a:xfrm>
            <a:off x="552450" y="3810000"/>
            <a:ext cx="5448300" cy="2038350"/>
          </a:xfrm>
          <a:prstGeom prst="roundRect">
            <a:avLst>
              <a:gd name="adj" fmla="val 3738"/>
            </a:avLst>
          </a:prstGeom>
          <a:solidFill>
            <a:srgbClr val="F0EDFA"/>
          </a:solidFill>
          <a:ln w="14288">
            <a:solidFill>
              <a:srgbClr val="6C5AA8"/>
            </a:solidFill>
            <a:prstDash val="solid"/>
          </a:ln>
        </p:spPr>
        <p:txBody>
          <a:bodyPr/>
          <a:lstStyle/>
          <a:p>
            <a:endParaRPr lang="en-US"/>
          </a:p>
        </p:txBody>
      </p:sp>
      <p:sp>
        <p:nvSpPr>
          <p:cNvPr id="28" name="box-76-416">
            <a:extLst>
              <a:ext uri="{FF2B5EF4-FFF2-40B4-BE49-F238E27FC236}">
                <a16:creationId xmlns:a16="http://schemas.microsoft.com/office/drawing/2014/main" id="{60EFCAE6-D014-4D42-B5D8-CB851CF68CA7}"/>
              </a:ext>
            </a:extLst>
          </p:cNvPr>
          <p:cNvSpPr>
            <a:spLocks noGrp="1"/>
          </p:cNvSpPr>
          <p:nvPr/>
        </p:nvSpPr>
        <p:spPr>
          <a:xfrm>
            <a:off x="723900" y="3962400"/>
            <a:ext cx="2381250" cy="323850"/>
          </a:xfrm>
          <a:prstGeom prst="roundRect">
            <a:avLst>
              <a:gd name="adj" fmla="val 23529"/>
            </a:avLst>
          </a:prstGeom>
          <a:solidFill>
            <a:srgbClr val="6C5AA8"/>
          </a:solidFill>
          <a:ln w="7620">
            <a:solidFill>
              <a:srgbClr val="6C5AA8"/>
            </a:solidFill>
            <a:prstDash val="solid"/>
          </a:ln>
        </p:spPr>
        <p:txBody>
          <a:bodyPr>
            <a:noAutofit/>
          </a:body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C · RETRY / PARTIAL FAILURE</a:t>
            </a:r>
          </a:p>
        </p:txBody>
      </p:sp>
      <p:sp>
        <p:nvSpPr>
          <p:cNvPr id="29" name="box-82-475">
            <a:extLst>
              <a:ext uri="{FF2B5EF4-FFF2-40B4-BE49-F238E27FC236}">
                <a16:creationId xmlns:a16="http://schemas.microsoft.com/office/drawing/2014/main" id="{8FE9791B-B9D4-40FB-B725-0E6CCBC2ADEA}"/>
              </a:ext>
            </a:extLst>
          </p:cNvPr>
          <p:cNvSpPr>
            <a:spLocks noGrp="1"/>
          </p:cNvSpPr>
          <p:nvPr/>
        </p:nvSpPr>
        <p:spPr>
          <a:xfrm>
            <a:off x="781050" y="452437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Mất mạng / mất response</a:t>
            </a:r>
          </a:p>
        </p:txBody>
      </p:sp>
      <p:sp>
        <p:nvSpPr>
          <p:cNvPr id="30" name="text-195-486-→">
            <a:extLst>
              <a:ext uri="{FF2B5EF4-FFF2-40B4-BE49-F238E27FC236}">
                <a16:creationId xmlns:a16="http://schemas.microsoft.com/office/drawing/2014/main" id="{14AC76D0-F020-4741-B743-7886CE5B084B}"/>
              </a:ext>
            </a:extLst>
          </p:cNvPr>
          <p:cNvSpPr>
            <a:spLocks noGrp="1"/>
          </p:cNvSpPr>
          <p:nvPr/>
        </p:nvSpPr>
        <p:spPr>
          <a:xfrm>
            <a:off x="1857375" y="4629150"/>
            <a:ext cx="266700" cy="342900"/>
          </a:xfrm>
          <a:prstGeom prst="rect">
            <a:avLst/>
          </a:prstGeom>
          <a:noFill/>
          <a:ln w="0">
            <a:noFill/>
          </a:ln>
        </p:spPr>
        <p:txBody>
          <a:bodyPr>
            <a:noAutofit/>
          </a:bodyPr>
          <a:lstStyle/>
          <a:p>
            <a:pPr algn="ctr">
              <a:defRPr sz="1500" b="1">
                <a:solidFill>
                  <a:srgbClr val="6C5AA8"/>
                </a:solidFill>
                <a:latin typeface="Arial"/>
                <a:ea typeface="Arial"/>
                <a:cs typeface="Arial"/>
              </a:defRPr>
            </a:pPr>
            <a:r>
              <a:rPr sz="1500" b="1">
                <a:solidFill>
                  <a:srgbClr val="6C5AA8"/>
                </a:solidFill>
                <a:latin typeface="Arial"/>
                <a:ea typeface="Arial"/>
                <a:cs typeface="Arial"/>
              </a:rPr>
              <a:t>→</a:t>
            </a:r>
          </a:p>
        </p:txBody>
      </p:sp>
      <p:sp>
        <p:nvSpPr>
          <p:cNvPr id="31" name="box-214-475">
            <a:extLst>
              <a:ext uri="{FF2B5EF4-FFF2-40B4-BE49-F238E27FC236}">
                <a16:creationId xmlns:a16="http://schemas.microsoft.com/office/drawing/2014/main" id="{5D4B798D-3581-4C15-A6FE-38AFA2076E04}"/>
              </a:ext>
            </a:extLst>
          </p:cNvPr>
          <p:cNvSpPr>
            <a:spLocks noGrp="1"/>
          </p:cNvSpPr>
          <p:nvPr/>
        </p:nvSpPr>
        <p:spPr>
          <a:xfrm>
            <a:off x="2038350" y="452437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Worker lỗi</a:t>
            </a:r>
          </a:p>
        </p:txBody>
      </p:sp>
      <p:sp>
        <p:nvSpPr>
          <p:cNvPr id="32" name="text-327-486-→">
            <a:extLst>
              <a:ext uri="{FF2B5EF4-FFF2-40B4-BE49-F238E27FC236}">
                <a16:creationId xmlns:a16="http://schemas.microsoft.com/office/drawing/2014/main" id="{9560473F-7DE0-40C4-8DE3-8A5FDE3824B8}"/>
              </a:ext>
            </a:extLst>
          </p:cNvPr>
          <p:cNvSpPr>
            <a:spLocks noGrp="1"/>
          </p:cNvSpPr>
          <p:nvPr/>
        </p:nvSpPr>
        <p:spPr>
          <a:xfrm>
            <a:off x="3114675" y="4629150"/>
            <a:ext cx="266700" cy="342900"/>
          </a:xfrm>
          <a:prstGeom prst="rect">
            <a:avLst/>
          </a:prstGeom>
          <a:noFill/>
          <a:ln w="0">
            <a:noFill/>
          </a:ln>
        </p:spPr>
        <p:txBody>
          <a:bodyPr>
            <a:noAutofit/>
          </a:bodyPr>
          <a:lstStyle/>
          <a:p>
            <a:pPr algn="ctr">
              <a:defRPr sz="1500" b="1">
                <a:solidFill>
                  <a:srgbClr val="6C5AA8"/>
                </a:solidFill>
                <a:latin typeface="Arial"/>
                <a:ea typeface="Arial"/>
                <a:cs typeface="Arial"/>
              </a:defRPr>
            </a:pPr>
            <a:r>
              <a:rPr sz="1500" b="1">
                <a:solidFill>
                  <a:srgbClr val="6C5AA8"/>
                </a:solidFill>
                <a:latin typeface="Arial"/>
                <a:ea typeface="Arial"/>
                <a:cs typeface="Arial"/>
              </a:rPr>
              <a:t>→</a:t>
            </a:r>
          </a:p>
        </p:txBody>
      </p:sp>
      <p:sp>
        <p:nvSpPr>
          <p:cNvPr id="33" name="box-346-475">
            <a:extLst>
              <a:ext uri="{FF2B5EF4-FFF2-40B4-BE49-F238E27FC236}">
                <a16:creationId xmlns:a16="http://schemas.microsoft.com/office/drawing/2014/main" id="{453DE881-109B-464C-932C-84128A60B0C1}"/>
              </a:ext>
            </a:extLst>
          </p:cNvPr>
          <p:cNvSpPr>
            <a:spLocks noGrp="1"/>
          </p:cNvSpPr>
          <p:nvPr/>
        </p:nvSpPr>
        <p:spPr>
          <a:xfrm>
            <a:off x="3295650" y="452437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Gửi lại cùng OperationId</a:t>
            </a:r>
          </a:p>
        </p:txBody>
      </p:sp>
      <p:sp>
        <p:nvSpPr>
          <p:cNvPr id="34" name="text-459-486-→">
            <a:extLst>
              <a:ext uri="{FF2B5EF4-FFF2-40B4-BE49-F238E27FC236}">
                <a16:creationId xmlns:a16="http://schemas.microsoft.com/office/drawing/2014/main" id="{CD7D80CE-CFE2-4661-AB79-533EA4FD703C}"/>
              </a:ext>
            </a:extLst>
          </p:cNvPr>
          <p:cNvSpPr>
            <a:spLocks noGrp="1"/>
          </p:cNvSpPr>
          <p:nvPr/>
        </p:nvSpPr>
        <p:spPr>
          <a:xfrm>
            <a:off x="4371975" y="4629150"/>
            <a:ext cx="266700" cy="342900"/>
          </a:xfrm>
          <a:prstGeom prst="rect">
            <a:avLst/>
          </a:prstGeom>
          <a:noFill/>
          <a:ln w="0">
            <a:noFill/>
          </a:ln>
        </p:spPr>
        <p:txBody>
          <a:bodyPr>
            <a:noAutofit/>
          </a:bodyPr>
          <a:lstStyle/>
          <a:p>
            <a:pPr algn="ctr">
              <a:defRPr sz="1500" b="1">
                <a:solidFill>
                  <a:srgbClr val="6C5AA8"/>
                </a:solidFill>
                <a:latin typeface="Arial"/>
                <a:ea typeface="Arial"/>
                <a:cs typeface="Arial"/>
              </a:defRPr>
            </a:pPr>
            <a:r>
              <a:rPr sz="1500" b="1">
                <a:solidFill>
                  <a:srgbClr val="6C5AA8"/>
                </a:solidFill>
                <a:latin typeface="Arial"/>
                <a:ea typeface="Arial"/>
                <a:cs typeface="Arial"/>
              </a:rPr>
              <a:t>→</a:t>
            </a:r>
          </a:p>
        </p:txBody>
      </p:sp>
      <p:sp>
        <p:nvSpPr>
          <p:cNvPr id="35" name="box-478-475">
            <a:extLst>
              <a:ext uri="{FF2B5EF4-FFF2-40B4-BE49-F238E27FC236}">
                <a16:creationId xmlns:a16="http://schemas.microsoft.com/office/drawing/2014/main" id="{9BF7CDEF-AC3D-4F6B-9385-0D4270215742}"/>
              </a:ext>
            </a:extLst>
          </p:cNvPr>
          <p:cNvSpPr>
            <a:spLocks noGrp="1"/>
          </p:cNvSpPr>
          <p:nvPr/>
        </p:nvSpPr>
        <p:spPr>
          <a:xfrm>
            <a:off x="4552950" y="452437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1">
                <a:solidFill>
                  <a:srgbClr val="162638"/>
                </a:solidFill>
                <a:latin typeface="Arial"/>
                <a:ea typeface="Arial"/>
                <a:cs typeface="Arial"/>
              </a:defRPr>
            </a:pPr>
            <a:r>
              <a:rPr sz="1050" b="1">
                <a:solidFill>
                  <a:srgbClr val="162638"/>
                </a:solidFill>
                <a:latin typeface="Arial"/>
                <a:ea typeface="Arial"/>
                <a:cs typeface="Arial"/>
              </a:rPr>
              <a:t>Không nhân đôi kết quả</a:t>
            </a:r>
          </a:p>
        </p:txBody>
      </p:sp>
      <p:sp>
        <p:nvSpPr>
          <p:cNvPr id="36" name="text-82-557-Retry phải idemp">
            <a:extLst>
              <a:ext uri="{FF2B5EF4-FFF2-40B4-BE49-F238E27FC236}">
                <a16:creationId xmlns:a16="http://schemas.microsoft.com/office/drawing/2014/main" id="{C9BA592F-57F0-4745-B808-B0CB14D53F16}"/>
              </a:ext>
            </a:extLst>
          </p:cNvPr>
          <p:cNvSpPr>
            <a:spLocks noGrp="1"/>
          </p:cNvSpPr>
          <p:nvPr/>
        </p:nvSpPr>
        <p:spPr>
          <a:xfrm>
            <a:off x="781050" y="5305425"/>
            <a:ext cx="4972050" cy="361950"/>
          </a:xfrm>
          <a:prstGeom prst="rect">
            <a:avLst/>
          </a:prstGeom>
          <a:noFill/>
          <a:ln w="0">
            <a:noFill/>
          </a:ln>
        </p:spPr>
        <p:txBody>
          <a:bodyPr>
            <a:noAutofit/>
          </a:bodyPr>
          <a:lstStyle/>
          <a:p>
            <a:pPr algn="ctr">
              <a:defRPr sz="1125" b="0">
                <a:solidFill>
                  <a:srgbClr val="4B6075"/>
                </a:solidFill>
                <a:latin typeface="Arial"/>
                <a:ea typeface="Arial"/>
                <a:cs typeface="Arial"/>
              </a:defRPr>
            </a:pPr>
            <a:r>
              <a:rPr sz="1125" b="0">
                <a:solidFill>
                  <a:srgbClr val="4B6075"/>
                </a:solidFill>
                <a:latin typeface="Arial"/>
                <a:ea typeface="Arial"/>
                <a:cs typeface="Arial"/>
              </a:rPr>
              <a:t>Retry phải idempotent và có thể tra trạng thái.</a:t>
            </a:r>
          </a:p>
        </p:txBody>
      </p:sp>
      <p:sp>
        <p:nvSpPr>
          <p:cNvPr id="37" name="box-650-400">
            <a:extLst>
              <a:ext uri="{FF2B5EF4-FFF2-40B4-BE49-F238E27FC236}">
                <a16:creationId xmlns:a16="http://schemas.microsoft.com/office/drawing/2014/main" id="{DD87618F-417F-434C-9D3A-0F1BE694571E}"/>
              </a:ext>
            </a:extLst>
          </p:cNvPr>
          <p:cNvSpPr>
            <a:spLocks noGrp="1"/>
          </p:cNvSpPr>
          <p:nvPr/>
        </p:nvSpPr>
        <p:spPr>
          <a:xfrm>
            <a:off x="6191250" y="3810000"/>
            <a:ext cx="5448300" cy="2038350"/>
          </a:xfrm>
          <a:prstGeom prst="roundRect">
            <a:avLst>
              <a:gd name="adj" fmla="val 3738"/>
            </a:avLst>
          </a:prstGeom>
          <a:solidFill>
            <a:srgbClr val="E7F5EE"/>
          </a:solidFill>
          <a:ln w="14288">
            <a:solidFill>
              <a:srgbClr val="2D8A62"/>
            </a:solidFill>
            <a:prstDash val="solid"/>
          </a:ln>
        </p:spPr>
        <p:txBody>
          <a:bodyPr/>
          <a:lstStyle/>
          <a:p>
            <a:endParaRPr lang="en-US"/>
          </a:p>
        </p:txBody>
      </p:sp>
      <p:sp>
        <p:nvSpPr>
          <p:cNvPr id="38" name="box-668-416">
            <a:extLst>
              <a:ext uri="{FF2B5EF4-FFF2-40B4-BE49-F238E27FC236}">
                <a16:creationId xmlns:a16="http://schemas.microsoft.com/office/drawing/2014/main" id="{F2689E77-2543-4127-8D0B-CBA20A7A0513}"/>
              </a:ext>
            </a:extLst>
          </p:cNvPr>
          <p:cNvSpPr>
            <a:spLocks noGrp="1"/>
          </p:cNvSpPr>
          <p:nvPr/>
        </p:nvSpPr>
        <p:spPr>
          <a:xfrm>
            <a:off x="6362700" y="3962400"/>
            <a:ext cx="2381250" cy="323850"/>
          </a:xfrm>
          <a:prstGeom prst="roundRect">
            <a:avLst>
              <a:gd name="adj" fmla="val 23529"/>
            </a:avLst>
          </a:prstGeom>
          <a:solidFill>
            <a:srgbClr val="2D8A62"/>
          </a:solidFill>
          <a:ln w="7620">
            <a:solidFill>
              <a:srgbClr val="2D8A62"/>
            </a:solidFill>
            <a:prstDash val="solid"/>
          </a:ln>
        </p:spPr>
        <p:txBody>
          <a:bodyPr>
            <a:noAutofit/>
          </a:body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D · AUDIT / RECOVERY</a:t>
            </a:r>
          </a:p>
        </p:txBody>
      </p:sp>
      <p:sp>
        <p:nvSpPr>
          <p:cNvPr id="39" name="box-674-475">
            <a:extLst>
              <a:ext uri="{FF2B5EF4-FFF2-40B4-BE49-F238E27FC236}">
                <a16:creationId xmlns:a16="http://schemas.microsoft.com/office/drawing/2014/main" id="{72B8DAF2-6524-443F-9738-93657C669864}"/>
              </a:ext>
            </a:extLst>
          </p:cNvPr>
          <p:cNvSpPr>
            <a:spLocks noGrp="1"/>
          </p:cNvSpPr>
          <p:nvPr/>
        </p:nvSpPr>
        <p:spPr>
          <a:xfrm>
            <a:off x="6419850" y="452437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WHO + WHAT</a:t>
            </a:r>
          </a:p>
        </p:txBody>
      </p:sp>
      <p:sp>
        <p:nvSpPr>
          <p:cNvPr id="40" name="text-787-486-→">
            <a:extLst>
              <a:ext uri="{FF2B5EF4-FFF2-40B4-BE49-F238E27FC236}">
                <a16:creationId xmlns:a16="http://schemas.microsoft.com/office/drawing/2014/main" id="{7AA3AB46-A137-43F6-9B89-1B8AE2AAEBF1}"/>
              </a:ext>
            </a:extLst>
          </p:cNvPr>
          <p:cNvSpPr>
            <a:spLocks noGrp="1"/>
          </p:cNvSpPr>
          <p:nvPr/>
        </p:nvSpPr>
        <p:spPr>
          <a:xfrm>
            <a:off x="7496175" y="4629150"/>
            <a:ext cx="266700" cy="342900"/>
          </a:xfrm>
          <a:prstGeom prst="rect">
            <a:avLst/>
          </a:prstGeom>
          <a:noFill/>
          <a:ln w="0">
            <a:noFill/>
          </a:ln>
        </p:spPr>
        <p:txBody>
          <a:bodyPr>
            <a:noAutofit/>
          </a:bodyPr>
          <a:lstStyle/>
          <a:p>
            <a:pPr algn="ctr">
              <a:defRPr sz="1500" b="1">
                <a:solidFill>
                  <a:srgbClr val="2D8A62"/>
                </a:solidFill>
                <a:latin typeface="Arial"/>
                <a:ea typeface="Arial"/>
                <a:cs typeface="Arial"/>
              </a:defRPr>
            </a:pPr>
            <a:r>
              <a:rPr sz="1500" b="1">
                <a:solidFill>
                  <a:srgbClr val="2D8A62"/>
                </a:solidFill>
                <a:latin typeface="Arial"/>
                <a:ea typeface="Arial"/>
                <a:cs typeface="Arial"/>
              </a:rPr>
              <a:t>→</a:t>
            </a:r>
          </a:p>
        </p:txBody>
      </p:sp>
      <p:sp>
        <p:nvSpPr>
          <p:cNvPr id="41" name="box-806-475">
            <a:extLst>
              <a:ext uri="{FF2B5EF4-FFF2-40B4-BE49-F238E27FC236}">
                <a16:creationId xmlns:a16="http://schemas.microsoft.com/office/drawing/2014/main" id="{D9D127F3-CB01-4795-8FB4-D1587B9B90C6}"/>
              </a:ext>
            </a:extLst>
          </p:cNvPr>
          <p:cNvSpPr>
            <a:spLocks noGrp="1"/>
          </p:cNvSpPr>
          <p:nvPr/>
        </p:nvSpPr>
        <p:spPr>
          <a:xfrm>
            <a:off x="7677150" y="452437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WHICH baseline + WHEN</a:t>
            </a:r>
          </a:p>
        </p:txBody>
      </p:sp>
      <p:sp>
        <p:nvSpPr>
          <p:cNvPr id="42" name="text-919-486-→">
            <a:extLst>
              <a:ext uri="{FF2B5EF4-FFF2-40B4-BE49-F238E27FC236}">
                <a16:creationId xmlns:a16="http://schemas.microsoft.com/office/drawing/2014/main" id="{2490CDBC-820D-4527-B800-5C9DE9C70548}"/>
              </a:ext>
            </a:extLst>
          </p:cNvPr>
          <p:cNvSpPr>
            <a:spLocks noGrp="1"/>
          </p:cNvSpPr>
          <p:nvPr/>
        </p:nvSpPr>
        <p:spPr>
          <a:xfrm>
            <a:off x="8753475" y="4629150"/>
            <a:ext cx="266700" cy="342900"/>
          </a:xfrm>
          <a:prstGeom prst="rect">
            <a:avLst/>
          </a:prstGeom>
          <a:noFill/>
          <a:ln w="0">
            <a:noFill/>
          </a:ln>
        </p:spPr>
        <p:txBody>
          <a:bodyPr>
            <a:noAutofit/>
          </a:bodyPr>
          <a:lstStyle/>
          <a:p>
            <a:pPr algn="ctr">
              <a:defRPr sz="1500" b="1">
                <a:solidFill>
                  <a:srgbClr val="2D8A62"/>
                </a:solidFill>
                <a:latin typeface="Arial"/>
                <a:ea typeface="Arial"/>
                <a:cs typeface="Arial"/>
              </a:defRPr>
            </a:pPr>
            <a:r>
              <a:rPr sz="1500" b="1">
                <a:solidFill>
                  <a:srgbClr val="2D8A62"/>
                </a:solidFill>
                <a:latin typeface="Arial"/>
                <a:ea typeface="Arial"/>
                <a:cs typeface="Arial"/>
              </a:rPr>
              <a:t>→</a:t>
            </a:r>
          </a:p>
        </p:txBody>
      </p:sp>
      <p:sp>
        <p:nvSpPr>
          <p:cNvPr id="43" name="box-938-475">
            <a:extLst>
              <a:ext uri="{FF2B5EF4-FFF2-40B4-BE49-F238E27FC236}">
                <a16:creationId xmlns:a16="http://schemas.microsoft.com/office/drawing/2014/main" id="{30DB0A47-6CCD-409A-86FA-9502B8A3467F}"/>
              </a:ext>
            </a:extLst>
          </p:cNvPr>
          <p:cNvSpPr>
            <a:spLocks noGrp="1"/>
          </p:cNvSpPr>
          <p:nvPr/>
        </p:nvSpPr>
        <p:spPr>
          <a:xfrm>
            <a:off x="8934450" y="452437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0">
                <a:solidFill>
                  <a:srgbClr val="162638"/>
                </a:solidFill>
                <a:latin typeface="Arial"/>
                <a:ea typeface="Arial"/>
                <a:cs typeface="Arial"/>
              </a:defRPr>
            </a:pPr>
            <a:r>
              <a:rPr sz="1050" b="0">
                <a:solidFill>
                  <a:srgbClr val="162638"/>
                </a:solidFill>
                <a:latin typeface="Arial"/>
                <a:ea typeface="Arial"/>
                <a:cs typeface="Arial"/>
              </a:rPr>
              <a:t>WHICH policy</a:t>
            </a:r>
          </a:p>
        </p:txBody>
      </p:sp>
      <p:sp>
        <p:nvSpPr>
          <p:cNvPr id="44" name="text-1051-486-→">
            <a:extLst>
              <a:ext uri="{FF2B5EF4-FFF2-40B4-BE49-F238E27FC236}">
                <a16:creationId xmlns:a16="http://schemas.microsoft.com/office/drawing/2014/main" id="{468ED57B-F46E-4010-86EF-3782F54C742A}"/>
              </a:ext>
            </a:extLst>
          </p:cNvPr>
          <p:cNvSpPr>
            <a:spLocks noGrp="1"/>
          </p:cNvSpPr>
          <p:nvPr/>
        </p:nvSpPr>
        <p:spPr>
          <a:xfrm>
            <a:off x="10010775" y="4629150"/>
            <a:ext cx="266700" cy="342900"/>
          </a:xfrm>
          <a:prstGeom prst="rect">
            <a:avLst/>
          </a:prstGeom>
          <a:noFill/>
          <a:ln w="0">
            <a:noFill/>
          </a:ln>
        </p:spPr>
        <p:txBody>
          <a:bodyPr>
            <a:noAutofit/>
          </a:bodyPr>
          <a:lstStyle/>
          <a:p>
            <a:pPr algn="ctr">
              <a:defRPr sz="1500" b="1">
                <a:solidFill>
                  <a:srgbClr val="2D8A62"/>
                </a:solidFill>
                <a:latin typeface="Arial"/>
                <a:ea typeface="Arial"/>
                <a:cs typeface="Arial"/>
              </a:defRPr>
            </a:pPr>
            <a:r>
              <a:rPr sz="1500" b="1">
                <a:solidFill>
                  <a:srgbClr val="2D8A62"/>
                </a:solidFill>
                <a:latin typeface="Arial"/>
                <a:ea typeface="Arial"/>
                <a:cs typeface="Arial"/>
              </a:rPr>
              <a:t>→</a:t>
            </a:r>
          </a:p>
        </p:txBody>
      </p:sp>
      <p:sp>
        <p:nvSpPr>
          <p:cNvPr id="45" name="box-1070-475">
            <a:extLst>
              <a:ext uri="{FF2B5EF4-FFF2-40B4-BE49-F238E27FC236}">
                <a16:creationId xmlns:a16="http://schemas.microsoft.com/office/drawing/2014/main" id="{C5FA8735-D6BF-477C-B3C8-82DF56D49C99}"/>
              </a:ext>
            </a:extLst>
          </p:cNvPr>
          <p:cNvSpPr>
            <a:spLocks noGrp="1"/>
          </p:cNvSpPr>
          <p:nvPr/>
        </p:nvSpPr>
        <p:spPr>
          <a:xfrm>
            <a:off x="10191750" y="4524375"/>
            <a:ext cx="106680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050" b="1">
                <a:solidFill>
                  <a:srgbClr val="162638"/>
                </a:solidFill>
                <a:latin typeface="Arial"/>
                <a:ea typeface="Arial"/>
                <a:cs typeface="Arial"/>
              </a:defRPr>
            </a:pPr>
            <a:r>
              <a:rPr sz="1050" b="1">
                <a:solidFill>
                  <a:srgbClr val="162638"/>
                </a:solidFill>
                <a:latin typeface="Arial"/>
                <a:ea typeface="Arial"/>
                <a:cs typeface="Arial"/>
              </a:rPr>
              <a:t>WHAT outcome</a:t>
            </a:r>
          </a:p>
        </p:txBody>
      </p:sp>
      <p:sp>
        <p:nvSpPr>
          <p:cNvPr id="46" name="text-674-557-Audit ghi kết qu">
            <a:extLst>
              <a:ext uri="{FF2B5EF4-FFF2-40B4-BE49-F238E27FC236}">
                <a16:creationId xmlns:a16="http://schemas.microsoft.com/office/drawing/2014/main" id="{A703DC5C-3082-437E-B49B-EE30863D5A7D}"/>
              </a:ext>
            </a:extLst>
          </p:cNvPr>
          <p:cNvSpPr>
            <a:spLocks noGrp="1"/>
          </p:cNvSpPr>
          <p:nvPr/>
        </p:nvSpPr>
        <p:spPr>
          <a:xfrm>
            <a:off x="6419850" y="5305425"/>
            <a:ext cx="4972050" cy="361950"/>
          </a:xfrm>
          <a:prstGeom prst="rect">
            <a:avLst/>
          </a:prstGeom>
          <a:noFill/>
          <a:ln w="0">
            <a:noFill/>
          </a:ln>
        </p:spPr>
        <p:txBody>
          <a:bodyPr>
            <a:noAutofit/>
          </a:bodyPr>
          <a:lstStyle/>
          <a:p>
            <a:pPr algn="ctr">
              <a:defRPr sz="1125" b="0">
                <a:solidFill>
                  <a:srgbClr val="4B6075"/>
                </a:solidFill>
                <a:latin typeface="Arial"/>
                <a:ea typeface="Arial"/>
                <a:cs typeface="Arial"/>
              </a:defRPr>
            </a:pPr>
            <a:r>
              <a:rPr sz="1125" b="0">
                <a:solidFill>
                  <a:srgbClr val="4B6075"/>
                </a:solidFill>
                <a:latin typeface="Arial"/>
                <a:ea typeface="Arial"/>
                <a:cs typeface="Arial"/>
              </a:rPr>
              <a:t>Audit ghi kết quả và bằng chứng, không thay quyết định.</a:t>
            </a:r>
          </a:p>
        </p:txBody>
      </p:sp>
      <p:sp>
        <p:nvSpPr>
          <p:cNvPr id="47" name="box-398-635">
            <a:extLst>
              <a:ext uri="{FF2B5EF4-FFF2-40B4-BE49-F238E27FC236}">
                <a16:creationId xmlns:a16="http://schemas.microsoft.com/office/drawing/2014/main" id="{050C7A30-2DBB-4C15-8B5E-C01634D33E86}"/>
              </a:ext>
            </a:extLst>
          </p:cNvPr>
          <p:cNvSpPr>
            <a:spLocks noGrp="1"/>
          </p:cNvSpPr>
          <p:nvPr/>
        </p:nvSpPr>
        <p:spPr>
          <a:xfrm>
            <a:off x="3790950" y="6048375"/>
            <a:ext cx="4610100" cy="381000"/>
          </a:xfrm>
          <a:prstGeom prst="roundRect">
            <a:avLst>
              <a:gd name="adj" fmla="val 20000"/>
            </a:avLst>
          </a:prstGeom>
          <a:solidFill>
            <a:srgbClr val="102744"/>
          </a:solidFill>
          <a:ln w="7620">
            <a:solidFill>
              <a:srgbClr val="102744"/>
            </a:solidFill>
            <a:prstDash val="solid"/>
          </a:ln>
        </p:spPr>
        <p:txBody>
          <a:bodyPr>
            <a:no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Happy Path chưa đủ để gọi sản phẩm là đúng</a:t>
            </a:r>
          </a:p>
        </p:txBody>
      </p:sp>
    </p:spTree>
    <p:extLst>
      <p:ext uri="{BB962C8B-B14F-4D97-AF65-F5344CB8AC3E}">
        <p14:creationId xmlns:p14="http://schemas.microsoft.com/office/powerpoint/2010/main" val="178766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box-0-0">
            <a:extLst>
              <a:ext uri="{FF2B5EF4-FFF2-40B4-BE49-F238E27FC236}">
                <a16:creationId xmlns:a16="http://schemas.microsoft.com/office/drawing/2014/main" id="{D817ED83-228C-4A7E-8B66-F0EC1203DADB}"/>
              </a:ext>
            </a:extLst>
          </p:cNvPr>
          <p:cNvSpPr>
            <a:spLocks noGrp="1"/>
          </p:cNvSpPr>
          <p:nvPr/>
        </p:nvSpPr>
        <p:spPr>
          <a:xfrm>
            <a:off x="0" y="0"/>
            <a:ext cx="133350" cy="6858000"/>
          </a:xfrm>
          <a:prstGeom prst="rect">
            <a:avLst/>
          </a:prstGeom>
          <a:solidFill>
            <a:srgbClr val="2169A8"/>
          </a:solidFill>
          <a:ln w="0">
            <a:noFill/>
            <a:prstDash val="solid"/>
          </a:ln>
        </p:spPr>
        <p:txBody>
          <a:bodyPr/>
          <a:lstStyle/>
          <a:p>
            <a:endParaRPr lang="en-US"/>
          </a:p>
        </p:txBody>
      </p:sp>
      <p:sp>
        <p:nvSpPr>
          <p:cNvPr id="2" name="text-54-28-SPEC">
            <a:extLst>
              <a:ext uri="{FF2B5EF4-FFF2-40B4-BE49-F238E27FC236}">
                <a16:creationId xmlns:a16="http://schemas.microsoft.com/office/drawing/2014/main" id="{16119CEA-E916-43A2-A325-234C7C4FABCE}"/>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2169A8"/>
                </a:solidFill>
                <a:latin typeface="Arial"/>
                <a:ea typeface="Arial"/>
                <a:cs typeface="Arial"/>
              </a:defRPr>
            </a:pPr>
            <a:r>
              <a:rPr sz="1050" b="1">
                <a:solidFill>
                  <a:srgbClr val="2169A8"/>
                </a:solidFill>
                <a:latin typeface="Arial"/>
                <a:ea typeface="Arial"/>
                <a:cs typeface="Arial"/>
              </a:rPr>
              <a:t>SPEC</a:t>
            </a:r>
          </a:p>
        </p:txBody>
      </p:sp>
      <p:sp>
        <p:nvSpPr>
          <p:cNvPr id="3" name="text-54-56-Spec — Requireme">
            <a:extLst>
              <a:ext uri="{FF2B5EF4-FFF2-40B4-BE49-F238E27FC236}">
                <a16:creationId xmlns:a16="http://schemas.microsoft.com/office/drawing/2014/main" id="{CF7EAAAC-18B4-455F-9A92-9D447C32DE98}"/>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Spec — Requirement chỉ hoàn chỉnh khi kiểm chứng được</a:t>
            </a:r>
          </a:p>
        </p:txBody>
      </p:sp>
      <p:sp>
        <p:nvSpPr>
          <p:cNvPr id="4" name="line-54-116">
            <a:extLst>
              <a:ext uri="{FF2B5EF4-FFF2-40B4-BE49-F238E27FC236}">
                <a16:creationId xmlns:a16="http://schemas.microsoft.com/office/drawing/2014/main" id="{F1EF471E-A847-4A58-9DC1-A77C6F5AAB9B}"/>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4@0">
            <a:extLst>
              <a:ext uri="{FF2B5EF4-FFF2-40B4-BE49-F238E27FC236}">
                <a16:creationId xmlns:a16="http://schemas.microsoft.com/office/drawing/2014/main" id="{DF0534FE-3874-4E2C-9949-80734D541F86}"/>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DOC-04@0.13 · VVP@0.16</a:t>
            </a:r>
          </a:p>
        </p:txBody>
      </p:sp>
      <p:sp>
        <p:nvSpPr>
          <p:cNvPr id="6" name="text-1170-680-10">
            <a:extLst>
              <a:ext uri="{FF2B5EF4-FFF2-40B4-BE49-F238E27FC236}">
                <a16:creationId xmlns:a16="http://schemas.microsoft.com/office/drawing/2014/main" id="{57F206C9-B0DE-4149-A80D-CF62894B9D69}"/>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10</a:t>
            </a:r>
          </a:p>
        </p:txBody>
      </p:sp>
      <p:sp>
        <p:nvSpPr>
          <p:cNvPr id="7" name="box-58-160">
            <a:extLst>
              <a:ext uri="{FF2B5EF4-FFF2-40B4-BE49-F238E27FC236}">
                <a16:creationId xmlns:a16="http://schemas.microsoft.com/office/drawing/2014/main" id="{8A506085-6905-4A9A-B1CC-61164FAF0FF8}"/>
              </a:ext>
            </a:extLst>
          </p:cNvPr>
          <p:cNvSpPr>
            <a:spLocks noGrp="1"/>
          </p:cNvSpPr>
          <p:nvPr/>
        </p:nvSpPr>
        <p:spPr>
          <a:xfrm>
            <a:off x="552450" y="1524000"/>
            <a:ext cx="1600200" cy="742950"/>
          </a:xfrm>
          <a:prstGeom prst="roundRect">
            <a:avLst>
              <a:gd name="adj" fmla="val 10256"/>
            </a:avLst>
          </a:prstGeom>
          <a:solidFill>
            <a:srgbClr val="E8F7F9"/>
          </a:solidFill>
          <a:ln w="11430">
            <a:solidFill>
              <a:srgbClr val="2F8FC2"/>
            </a:solidFill>
            <a:prstDash val="solid"/>
          </a:ln>
        </p:spPr>
        <p:txBody>
          <a:bodyPr>
            <a:noAutofit/>
          </a:bodyPr>
          <a:lstStyle/>
          <a:p>
            <a:pPr algn="ctr">
              <a:defRPr sz="1200" b="1">
                <a:solidFill>
                  <a:srgbClr val="102744"/>
                </a:solidFill>
                <a:latin typeface="Arial"/>
                <a:ea typeface="Arial"/>
                <a:cs typeface="Arial"/>
              </a:defRPr>
            </a:pPr>
            <a:r>
              <a:rPr sz="1200" b="1">
                <a:solidFill>
                  <a:srgbClr val="102744"/>
                </a:solidFill>
                <a:latin typeface="Arial"/>
                <a:ea typeface="Arial"/>
                <a:cs typeface="Arial"/>
              </a:rPr>
              <a:t>Nhu cầu / Rule</a:t>
            </a:r>
          </a:p>
        </p:txBody>
      </p:sp>
      <p:sp>
        <p:nvSpPr>
          <p:cNvPr id="8" name="text-226-177-→">
            <a:extLst>
              <a:ext uri="{FF2B5EF4-FFF2-40B4-BE49-F238E27FC236}">
                <a16:creationId xmlns:a16="http://schemas.microsoft.com/office/drawing/2014/main" id="{5D8BC85F-9B53-4A89-BC69-E326974443C6}"/>
              </a:ext>
            </a:extLst>
          </p:cNvPr>
          <p:cNvSpPr>
            <a:spLocks noGrp="1"/>
          </p:cNvSpPr>
          <p:nvPr/>
        </p:nvSpPr>
        <p:spPr>
          <a:xfrm>
            <a:off x="2152650" y="1685925"/>
            <a:ext cx="276225" cy="361950"/>
          </a:xfrm>
          <a:prstGeom prst="rect">
            <a:avLst/>
          </a:prstGeom>
          <a:noFill/>
          <a:ln w="0">
            <a:noFill/>
          </a:ln>
        </p:spPr>
        <p:txBody>
          <a:bodyPr>
            <a:noAutofit/>
          </a:bodyPr>
          <a:lstStyle/>
          <a:p>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9" name="box-255-160">
            <a:extLst>
              <a:ext uri="{FF2B5EF4-FFF2-40B4-BE49-F238E27FC236}">
                <a16:creationId xmlns:a16="http://schemas.microsoft.com/office/drawing/2014/main" id="{1957962D-8B49-463C-9F2C-CF9C96A6BDFA}"/>
              </a:ext>
            </a:extLst>
          </p:cNvPr>
          <p:cNvSpPr>
            <a:spLocks noGrp="1"/>
          </p:cNvSpPr>
          <p:nvPr/>
        </p:nvSpPr>
        <p:spPr>
          <a:xfrm>
            <a:off x="2428875" y="1524000"/>
            <a:ext cx="1600200" cy="742950"/>
          </a:xfrm>
          <a:prstGeom prst="roundRect">
            <a:avLst>
              <a:gd name="adj" fmla="val 10256"/>
            </a:avLst>
          </a:prstGeom>
          <a:solidFill>
            <a:srgbClr val="EAF3F9"/>
          </a:solidFill>
          <a:ln w="11430">
            <a:solidFill>
              <a:srgbClr val="2169A8"/>
            </a:solidFill>
            <a:prstDash val="solid"/>
          </a:ln>
        </p:spPr>
        <p:txBody>
          <a:bodyPr>
            <a:noAutofit/>
          </a:bodyPr>
          <a:lstStyle/>
          <a:p>
            <a:pPr algn="ctr">
              <a:defRPr sz="1200" b="1">
                <a:solidFill>
                  <a:srgbClr val="102744"/>
                </a:solidFill>
                <a:latin typeface="Arial"/>
                <a:ea typeface="Arial"/>
                <a:cs typeface="Arial"/>
              </a:defRPr>
            </a:pPr>
            <a:r>
              <a:rPr sz="1200" b="1">
                <a:solidFill>
                  <a:srgbClr val="102744"/>
                </a:solidFill>
                <a:latin typeface="Arial"/>
                <a:ea typeface="Arial"/>
                <a:cs typeface="Arial"/>
              </a:rPr>
              <a:t>REQ-xxx</a:t>
            </a:r>
          </a:p>
        </p:txBody>
      </p:sp>
      <p:sp>
        <p:nvSpPr>
          <p:cNvPr id="10" name="text-423-177-→">
            <a:extLst>
              <a:ext uri="{FF2B5EF4-FFF2-40B4-BE49-F238E27FC236}">
                <a16:creationId xmlns:a16="http://schemas.microsoft.com/office/drawing/2014/main" id="{BB9AD281-7B41-4DC9-971F-E02F568A5FF7}"/>
              </a:ext>
            </a:extLst>
          </p:cNvPr>
          <p:cNvSpPr>
            <a:spLocks noGrp="1"/>
          </p:cNvSpPr>
          <p:nvPr/>
        </p:nvSpPr>
        <p:spPr>
          <a:xfrm>
            <a:off x="4029075" y="1685925"/>
            <a:ext cx="276225" cy="361950"/>
          </a:xfrm>
          <a:prstGeom prst="rect">
            <a:avLst/>
          </a:prstGeom>
          <a:noFill/>
          <a:ln w="0">
            <a:noFill/>
          </a:ln>
        </p:spPr>
        <p:txBody>
          <a:bodyPr>
            <a:noAutofit/>
          </a:bodyPr>
          <a:lstStyle/>
          <a:p>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11" name="box-452-160">
            <a:extLst>
              <a:ext uri="{FF2B5EF4-FFF2-40B4-BE49-F238E27FC236}">
                <a16:creationId xmlns:a16="http://schemas.microsoft.com/office/drawing/2014/main" id="{B9FB0B45-1034-4CB6-B8B9-3039C49A4A4B}"/>
              </a:ext>
            </a:extLst>
          </p:cNvPr>
          <p:cNvSpPr>
            <a:spLocks noGrp="1"/>
          </p:cNvSpPr>
          <p:nvPr/>
        </p:nvSpPr>
        <p:spPr>
          <a:xfrm>
            <a:off x="4305300" y="1524000"/>
            <a:ext cx="1600200" cy="742950"/>
          </a:xfrm>
          <a:prstGeom prst="roundRect">
            <a:avLst>
              <a:gd name="adj" fmla="val 10256"/>
            </a:avLst>
          </a:prstGeom>
          <a:solidFill>
            <a:srgbClr val="EAF3F9"/>
          </a:solidFill>
          <a:ln w="11430">
            <a:solidFill>
              <a:srgbClr val="2169A8"/>
            </a:solidFill>
            <a:prstDash val="solid"/>
          </a:ln>
        </p:spPr>
        <p:txBody>
          <a:bodyPr>
            <a:noAutofit/>
          </a:bodyPr>
          <a:lstStyle/>
          <a:p>
            <a:pPr algn="ctr">
              <a:defRPr sz="1200" b="1">
                <a:solidFill>
                  <a:srgbClr val="102744"/>
                </a:solidFill>
                <a:latin typeface="Arial"/>
                <a:ea typeface="Arial"/>
                <a:cs typeface="Arial"/>
              </a:defRPr>
            </a:pPr>
            <a:r>
              <a:rPr sz="1200" b="1">
                <a:solidFill>
                  <a:srgbClr val="102744"/>
                </a:solidFill>
                <a:latin typeface="Arial"/>
                <a:ea typeface="Arial"/>
                <a:cs typeface="Arial"/>
              </a:rPr>
              <a:t>Acceptance</a:t>
            </a:r>
          </a:p>
        </p:txBody>
      </p:sp>
      <p:sp>
        <p:nvSpPr>
          <p:cNvPr id="12" name="text-620-177-→">
            <a:extLst>
              <a:ext uri="{FF2B5EF4-FFF2-40B4-BE49-F238E27FC236}">
                <a16:creationId xmlns:a16="http://schemas.microsoft.com/office/drawing/2014/main" id="{61A4F2D1-BC56-44F8-8750-C18FEB8A34D6}"/>
              </a:ext>
            </a:extLst>
          </p:cNvPr>
          <p:cNvSpPr>
            <a:spLocks noGrp="1"/>
          </p:cNvSpPr>
          <p:nvPr/>
        </p:nvSpPr>
        <p:spPr>
          <a:xfrm>
            <a:off x="5905500" y="1685925"/>
            <a:ext cx="276225" cy="361950"/>
          </a:xfrm>
          <a:prstGeom prst="rect">
            <a:avLst/>
          </a:prstGeom>
          <a:noFill/>
          <a:ln w="0">
            <a:noFill/>
          </a:ln>
        </p:spPr>
        <p:txBody>
          <a:bodyPr>
            <a:noAutofit/>
          </a:bodyPr>
          <a:lstStyle/>
          <a:p>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13" name="box-649-160">
            <a:extLst>
              <a:ext uri="{FF2B5EF4-FFF2-40B4-BE49-F238E27FC236}">
                <a16:creationId xmlns:a16="http://schemas.microsoft.com/office/drawing/2014/main" id="{F89BCF38-1E9E-4BBE-AD21-2AA47222D6C6}"/>
              </a:ext>
            </a:extLst>
          </p:cNvPr>
          <p:cNvSpPr>
            <a:spLocks noGrp="1"/>
          </p:cNvSpPr>
          <p:nvPr/>
        </p:nvSpPr>
        <p:spPr>
          <a:xfrm>
            <a:off x="6181725" y="1524000"/>
            <a:ext cx="1600200" cy="742950"/>
          </a:xfrm>
          <a:prstGeom prst="roundRect">
            <a:avLst>
              <a:gd name="adj" fmla="val 10256"/>
            </a:avLst>
          </a:prstGeom>
          <a:solidFill>
            <a:srgbClr val="F0EDFA"/>
          </a:solidFill>
          <a:ln w="11430">
            <a:solidFill>
              <a:srgbClr val="6C5AA8"/>
            </a:solidFill>
            <a:prstDash val="solid"/>
          </a:ln>
        </p:spPr>
        <p:txBody>
          <a:bodyPr>
            <a:noAutofit/>
          </a:bodyPr>
          <a:lstStyle/>
          <a:p>
            <a:pPr algn="ctr">
              <a:defRPr sz="1200" b="1">
                <a:solidFill>
                  <a:srgbClr val="102744"/>
                </a:solidFill>
                <a:latin typeface="Arial"/>
                <a:ea typeface="Arial"/>
                <a:cs typeface="Arial"/>
              </a:defRPr>
            </a:pPr>
            <a:r>
              <a:rPr sz="1200" b="1">
                <a:solidFill>
                  <a:srgbClr val="102744"/>
                </a:solidFill>
                <a:latin typeface="Arial"/>
                <a:ea typeface="Arial"/>
                <a:cs typeface="Arial"/>
              </a:rPr>
              <a:t>Verification</a:t>
            </a:r>
          </a:p>
        </p:txBody>
      </p:sp>
      <p:sp>
        <p:nvSpPr>
          <p:cNvPr id="14" name="text-817-177-→">
            <a:extLst>
              <a:ext uri="{FF2B5EF4-FFF2-40B4-BE49-F238E27FC236}">
                <a16:creationId xmlns:a16="http://schemas.microsoft.com/office/drawing/2014/main" id="{9B1EA1FD-B800-4390-A6C3-6AB78718FB45}"/>
              </a:ext>
            </a:extLst>
          </p:cNvPr>
          <p:cNvSpPr>
            <a:spLocks noGrp="1"/>
          </p:cNvSpPr>
          <p:nvPr/>
        </p:nvSpPr>
        <p:spPr>
          <a:xfrm>
            <a:off x="7781925" y="1685925"/>
            <a:ext cx="276225" cy="361950"/>
          </a:xfrm>
          <a:prstGeom prst="rect">
            <a:avLst/>
          </a:prstGeom>
          <a:noFill/>
          <a:ln w="0">
            <a:noFill/>
          </a:ln>
        </p:spPr>
        <p:txBody>
          <a:bodyPr>
            <a:noAutofit/>
          </a:bodyPr>
          <a:lstStyle/>
          <a:p>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15" name="box-846-160">
            <a:extLst>
              <a:ext uri="{FF2B5EF4-FFF2-40B4-BE49-F238E27FC236}">
                <a16:creationId xmlns:a16="http://schemas.microsoft.com/office/drawing/2014/main" id="{D2B46FD9-0D19-4D59-A0CA-17A7CAA120A2}"/>
              </a:ext>
            </a:extLst>
          </p:cNvPr>
          <p:cNvSpPr>
            <a:spLocks noGrp="1"/>
          </p:cNvSpPr>
          <p:nvPr/>
        </p:nvSpPr>
        <p:spPr>
          <a:xfrm>
            <a:off x="8058150" y="1524000"/>
            <a:ext cx="1600200" cy="742950"/>
          </a:xfrm>
          <a:prstGeom prst="roundRect">
            <a:avLst>
              <a:gd name="adj" fmla="val 10256"/>
            </a:avLst>
          </a:prstGeom>
          <a:solidFill>
            <a:srgbClr val="FFF4DD"/>
          </a:solidFill>
          <a:ln w="11430">
            <a:solidFill>
              <a:srgbClr val="C58A1E"/>
            </a:solidFill>
            <a:prstDash val="solid"/>
          </a:ln>
        </p:spPr>
        <p:txBody>
          <a:bodyPr>
            <a:noAutofit/>
          </a:bodyPr>
          <a:lstStyle/>
          <a:p>
            <a:pPr algn="ctr">
              <a:defRPr sz="1200" b="1">
                <a:solidFill>
                  <a:srgbClr val="102744"/>
                </a:solidFill>
                <a:latin typeface="Arial"/>
                <a:ea typeface="Arial"/>
                <a:cs typeface="Arial"/>
              </a:defRPr>
            </a:pPr>
            <a:r>
              <a:rPr sz="1200" b="1">
                <a:solidFill>
                  <a:srgbClr val="102744"/>
                </a:solidFill>
                <a:latin typeface="Arial"/>
                <a:ea typeface="Arial"/>
                <a:cs typeface="Arial"/>
              </a:rPr>
              <a:t>Executed Evidence</a:t>
            </a:r>
          </a:p>
        </p:txBody>
      </p:sp>
      <p:sp>
        <p:nvSpPr>
          <p:cNvPr id="16" name="text-1014-177-→">
            <a:extLst>
              <a:ext uri="{FF2B5EF4-FFF2-40B4-BE49-F238E27FC236}">
                <a16:creationId xmlns:a16="http://schemas.microsoft.com/office/drawing/2014/main" id="{91174462-C95E-4549-8978-C0D5B6368481}"/>
              </a:ext>
            </a:extLst>
          </p:cNvPr>
          <p:cNvSpPr>
            <a:spLocks noGrp="1"/>
          </p:cNvSpPr>
          <p:nvPr/>
        </p:nvSpPr>
        <p:spPr>
          <a:xfrm>
            <a:off x="9658350" y="1685925"/>
            <a:ext cx="276225" cy="361950"/>
          </a:xfrm>
          <a:prstGeom prst="rect">
            <a:avLst/>
          </a:prstGeom>
          <a:noFill/>
          <a:ln w="0">
            <a:noFill/>
          </a:ln>
        </p:spPr>
        <p:txBody>
          <a:bodyPr>
            <a:noAutofit/>
          </a:bodyPr>
          <a:lstStyle/>
          <a:p>
            <a:pPr algn="ctr">
              <a:defRPr sz="1500" b="1">
                <a:solidFill>
                  <a:srgbClr val="7890A6"/>
                </a:solidFill>
                <a:latin typeface="Arial"/>
                <a:ea typeface="Arial"/>
                <a:cs typeface="Arial"/>
              </a:defRPr>
            </a:pPr>
            <a:r>
              <a:rPr sz="1500" b="1">
                <a:solidFill>
                  <a:srgbClr val="7890A6"/>
                </a:solidFill>
                <a:latin typeface="Arial"/>
                <a:ea typeface="Arial"/>
                <a:cs typeface="Arial"/>
              </a:rPr>
              <a:t>→</a:t>
            </a:r>
          </a:p>
        </p:txBody>
      </p:sp>
      <p:sp>
        <p:nvSpPr>
          <p:cNvPr id="17" name="box-1043-160">
            <a:extLst>
              <a:ext uri="{FF2B5EF4-FFF2-40B4-BE49-F238E27FC236}">
                <a16:creationId xmlns:a16="http://schemas.microsoft.com/office/drawing/2014/main" id="{FE1497B3-A51E-4F87-AED0-57FAF8EB7E3C}"/>
              </a:ext>
            </a:extLst>
          </p:cNvPr>
          <p:cNvSpPr>
            <a:spLocks noGrp="1"/>
          </p:cNvSpPr>
          <p:nvPr/>
        </p:nvSpPr>
        <p:spPr>
          <a:xfrm>
            <a:off x="9934575" y="1524000"/>
            <a:ext cx="1600200" cy="742950"/>
          </a:xfrm>
          <a:prstGeom prst="roundRect">
            <a:avLst>
              <a:gd name="adj" fmla="val 10256"/>
            </a:avLst>
          </a:prstGeom>
          <a:solidFill>
            <a:srgbClr val="E7F5EE"/>
          </a:solidFill>
          <a:ln w="11430">
            <a:solidFill>
              <a:srgbClr val="2D8A62"/>
            </a:solidFill>
            <a:prstDash val="solid"/>
          </a:ln>
        </p:spPr>
        <p:txBody>
          <a:bodyPr>
            <a:noAutofit/>
          </a:bodyPr>
          <a:lstStyle/>
          <a:p>
            <a:pPr algn="ctr">
              <a:defRPr sz="1200" b="1">
                <a:solidFill>
                  <a:srgbClr val="102744"/>
                </a:solidFill>
                <a:latin typeface="Arial"/>
                <a:ea typeface="Arial"/>
                <a:cs typeface="Arial"/>
              </a:defRPr>
            </a:pPr>
            <a:r>
              <a:rPr sz="1200" b="1">
                <a:solidFill>
                  <a:srgbClr val="102744"/>
                </a:solidFill>
                <a:latin typeface="Arial"/>
                <a:ea typeface="Arial"/>
                <a:cs typeface="Arial"/>
              </a:rPr>
              <a:t>PASS / FAIL / BLOCKED</a:t>
            </a:r>
          </a:p>
        </p:txBody>
      </p:sp>
      <p:sp>
        <p:nvSpPr>
          <p:cNvPr id="18" name="box-58-286">
            <a:extLst>
              <a:ext uri="{FF2B5EF4-FFF2-40B4-BE49-F238E27FC236}">
                <a16:creationId xmlns:a16="http://schemas.microsoft.com/office/drawing/2014/main" id="{67381774-616A-4DAF-9452-159D82B86CB2}"/>
              </a:ext>
            </a:extLst>
          </p:cNvPr>
          <p:cNvSpPr>
            <a:spLocks noGrp="1"/>
          </p:cNvSpPr>
          <p:nvPr/>
        </p:nvSpPr>
        <p:spPr>
          <a:xfrm>
            <a:off x="552450" y="2724150"/>
            <a:ext cx="11087100" cy="2914650"/>
          </a:xfrm>
          <a:prstGeom prst="roundRect">
            <a:avLst>
              <a:gd name="adj" fmla="val 2614"/>
            </a:avLst>
          </a:prstGeom>
          <a:solidFill>
            <a:srgbClr val="F4F7FA"/>
          </a:solidFill>
          <a:ln w="11430">
            <a:solidFill>
              <a:srgbClr val="CBD8E3"/>
            </a:solidFill>
            <a:prstDash val="solid"/>
          </a:ln>
        </p:spPr>
        <p:txBody>
          <a:bodyPr/>
          <a:lstStyle/>
          <a:p>
            <a:endParaRPr lang="en-US"/>
          </a:p>
        </p:txBody>
      </p:sp>
      <p:sp>
        <p:nvSpPr>
          <p:cNvPr id="19" name="box-84-310">
            <a:extLst>
              <a:ext uri="{FF2B5EF4-FFF2-40B4-BE49-F238E27FC236}">
                <a16:creationId xmlns:a16="http://schemas.microsoft.com/office/drawing/2014/main" id="{286A1BE1-CE83-4837-94C2-328EA620FBD8}"/>
              </a:ext>
            </a:extLst>
          </p:cNvPr>
          <p:cNvSpPr>
            <a:spLocks noGrp="1"/>
          </p:cNvSpPr>
          <p:nvPr/>
        </p:nvSpPr>
        <p:spPr>
          <a:xfrm>
            <a:off x="800100" y="2952750"/>
            <a:ext cx="2819400" cy="323850"/>
          </a:xfrm>
          <a:prstGeom prst="roundRect">
            <a:avLst>
              <a:gd name="adj" fmla="val 23529"/>
            </a:avLst>
          </a:prstGeom>
          <a:solidFill>
            <a:srgbClr val="102744"/>
          </a:solidFill>
          <a:ln w="7620">
            <a:solidFill>
              <a:srgbClr val="102744"/>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VÍ DỤ: REPRODUCE RELEASE CŨ</a:t>
            </a:r>
          </a:p>
        </p:txBody>
      </p:sp>
      <p:sp>
        <p:nvSpPr>
          <p:cNvPr id="20" name="text-86-374-Requirement">
            <a:extLst>
              <a:ext uri="{FF2B5EF4-FFF2-40B4-BE49-F238E27FC236}">
                <a16:creationId xmlns:a16="http://schemas.microsoft.com/office/drawing/2014/main" id="{048BD1AB-07A1-433A-AD3C-6A220DB47B62}"/>
              </a:ext>
            </a:extLst>
          </p:cNvPr>
          <p:cNvSpPr>
            <a:spLocks noGrp="1"/>
          </p:cNvSpPr>
          <p:nvPr/>
        </p:nvSpPr>
        <p:spPr>
          <a:xfrm>
            <a:off x="819150" y="3562350"/>
            <a:ext cx="1619250" cy="266700"/>
          </a:xfrm>
          <a:prstGeom prst="rect">
            <a:avLst/>
          </a:prstGeom>
          <a:noFill/>
          <a:ln w="0">
            <a:noFill/>
          </a:ln>
        </p:spPr>
        <p:txBody>
          <a:bodyPr>
            <a:noAutofit/>
          </a:bodyPr>
          <a:lstStyle/>
          <a:p>
            <a:pPr algn="l">
              <a:defRPr sz="1275" b="1">
                <a:solidFill>
                  <a:srgbClr val="2169A8"/>
                </a:solidFill>
                <a:latin typeface="Arial"/>
                <a:ea typeface="Arial"/>
                <a:cs typeface="Arial"/>
              </a:defRPr>
            </a:pPr>
            <a:r>
              <a:rPr sz="1275" b="1">
                <a:solidFill>
                  <a:srgbClr val="2169A8"/>
                </a:solidFill>
                <a:latin typeface="Arial"/>
                <a:ea typeface="Arial"/>
                <a:cs typeface="Arial"/>
              </a:rPr>
              <a:t>Requirement</a:t>
            </a:r>
          </a:p>
        </p:txBody>
      </p:sp>
      <p:sp>
        <p:nvSpPr>
          <p:cNvPr id="21" name="text-250-370-Released baselin">
            <a:extLst>
              <a:ext uri="{FF2B5EF4-FFF2-40B4-BE49-F238E27FC236}">
                <a16:creationId xmlns:a16="http://schemas.microsoft.com/office/drawing/2014/main" id="{55A86867-8D0B-436E-B5F0-2FC4326B6BA0}"/>
              </a:ext>
            </a:extLst>
          </p:cNvPr>
          <p:cNvSpPr>
            <a:spLocks noGrp="1"/>
          </p:cNvSpPr>
          <p:nvPr/>
        </p:nvSpPr>
        <p:spPr>
          <a:xfrm>
            <a:off x="2381250" y="3524250"/>
            <a:ext cx="4000500" cy="342900"/>
          </a:xfrm>
          <a:prstGeom prst="rect">
            <a:avLst/>
          </a:prstGeom>
          <a:noFill/>
          <a:ln w="0">
            <a:noFill/>
          </a:ln>
        </p:spPr>
        <p:txBody>
          <a:bodyPr>
            <a:noAutofit/>
          </a:bodyPr>
          <a:lstStyle/>
          <a:p>
            <a:pPr algn="l">
              <a:defRPr sz="1425" b="0">
                <a:solidFill>
                  <a:srgbClr val="162638"/>
                </a:solidFill>
                <a:latin typeface="Arial"/>
                <a:ea typeface="Arial"/>
                <a:cs typeface="Arial"/>
              </a:defRPr>
            </a:pPr>
            <a:r>
              <a:rPr sz="1425" b="0">
                <a:solidFill>
                  <a:srgbClr val="162638"/>
                </a:solidFill>
                <a:latin typeface="Arial"/>
                <a:ea typeface="Arial"/>
                <a:cs typeface="Arial"/>
              </a:rPr>
              <a:t>Released baseline phải tái tạo chính xác.</a:t>
            </a:r>
          </a:p>
        </p:txBody>
      </p:sp>
      <p:sp>
        <p:nvSpPr>
          <p:cNvPr id="22" name="text-86-430-Acceptance">
            <a:extLst>
              <a:ext uri="{FF2B5EF4-FFF2-40B4-BE49-F238E27FC236}">
                <a16:creationId xmlns:a16="http://schemas.microsoft.com/office/drawing/2014/main" id="{5A02CD88-3F40-41B0-845D-CFF745B66154}"/>
              </a:ext>
            </a:extLst>
          </p:cNvPr>
          <p:cNvSpPr>
            <a:spLocks noGrp="1"/>
          </p:cNvSpPr>
          <p:nvPr/>
        </p:nvSpPr>
        <p:spPr>
          <a:xfrm>
            <a:off x="819150" y="4095750"/>
            <a:ext cx="1619250" cy="266700"/>
          </a:xfrm>
          <a:prstGeom prst="rect">
            <a:avLst/>
          </a:prstGeom>
          <a:noFill/>
          <a:ln w="0">
            <a:noFill/>
          </a:ln>
        </p:spPr>
        <p:txBody>
          <a:bodyPr>
            <a:noAutofit/>
          </a:bodyPr>
          <a:lstStyle/>
          <a:p>
            <a:pPr algn="l">
              <a:defRPr sz="1275" b="1">
                <a:solidFill>
                  <a:srgbClr val="2169A8"/>
                </a:solidFill>
                <a:latin typeface="Arial"/>
                <a:ea typeface="Arial"/>
                <a:cs typeface="Arial"/>
              </a:defRPr>
            </a:pPr>
            <a:r>
              <a:rPr sz="1275" b="1">
                <a:solidFill>
                  <a:srgbClr val="2169A8"/>
                </a:solidFill>
                <a:latin typeface="Arial"/>
                <a:ea typeface="Arial"/>
                <a:cs typeface="Arial"/>
              </a:rPr>
              <a:t>Acceptance</a:t>
            </a:r>
          </a:p>
        </p:txBody>
      </p:sp>
      <p:sp>
        <p:nvSpPr>
          <p:cNvPr id="23" name="text-250-420-Retrieve Release">
            <a:extLst>
              <a:ext uri="{FF2B5EF4-FFF2-40B4-BE49-F238E27FC236}">
                <a16:creationId xmlns:a16="http://schemas.microsoft.com/office/drawing/2014/main" id="{E10F7D4B-41B4-4405-9E81-E8021EBF582B}"/>
              </a:ext>
            </a:extLst>
          </p:cNvPr>
          <p:cNvSpPr>
            <a:spLocks noGrp="1"/>
          </p:cNvSpPr>
          <p:nvPr/>
        </p:nvSpPr>
        <p:spPr>
          <a:xfrm>
            <a:off x="2381250" y="4000500"/>
            <a:ext cx="8191500" cy="438150"/>
          </a:xfrm>
          <a:prstGeom prst="rect">
            <a:avLst/>
          </a:prstGeom>
          <a:noFill/>
          <a:ln w="0">
            <a:noFill/>
          </a:ln>
        </p:spPr>
        <p:txBody>
          <a:bodyPr>
            <a:noAutofit/>
          </a:bodyPr>
          <a:lstStyle/>
          <a:p>
            <a:pPr algn="l">
              <a:defRPr sz="1350" b="0">
                <a:solidFill>
                  <a:srgbClr val="162638"/>
                </a:solidFill>
                <a:latin typeface="Arial"/>
                <a:ea typeface="Arial"/>
                <a:cs typeface="Arial"/>
              </a:defRPr>
            </a:pPr>
            <a:r>
              <a:rPr sz="1350" b="0">
                <a:solidFill>
                  <a:srgbClr val="162638"/>
                </a:solidFill>
                <a:latin typeface="Arial"/>
                <a:ea typeface="Arial"/>
                <a:cs typeface="Arial"/>
              </a:rPr>
              <a:t>Retrieve Release Record cũ trả đúng Generation, Structure Snapshot và Artifact pins.</a:t>
            </a:r>
          </a:p>
        </p:txBody>
      </p:sp>
      <p:sp>
        <p:nvSpPr>
          <p:cNvPr id="24" name="text-86-496-Verification">
            <a:extLst>
              <a:ext uri="{FF2B5EF4-FFF2-40B4-BE49-F238E27FC236}">
                <a16:creationId xmlns:a16="http://schemas.microsoft.com/office/drawing/2014/main" id="{343745FD-3DE6-4928-AFFC-A7997889E041}"/>
              </a:ext>
            </a:extLst>
          </p:cNvPr>
          <p:cNvSpPr>
            <a:spLocks noGrp="1"/>
          </p:cNvSpPr>
          <p:nvPr/>
        </p:nvSpPr>
        <p:spPr>
          <a:xfrm>
            <a:off x="819150" y="4724400"/>
            <a:ext cx="1619250" cy="266700"/>
          </a:xfrm>
          <a:prstGeom prst="rect">
            <a:avLst/>
          </a:prstGeom>
          <a:noFill/>
          <a:ln w="0">
            <a:noFill/>
          </a:ln>
        </p:spPr>
        <p:txBody>
          <a:bodyPr>
            <a:noAutofit/>
          </a:bodyPr>
          <a:lstStyle/>
          <a:p>
            <a:pPr algn="l">
              <a:defRPr sz="1275" b="1">
                <a:solidFill>
                  <a:srgbClr val="6C5AA8"/>
                </a:solidFill>
                <a:latin typeface="Arial"/>
                <a:ea typeface="Arial"/>
                <a:cs typeface="Arial"/>
              </a:defRPr>
            </a:pPr>
            <a:r>
              <a:rPr sz="1275" b="1">
                <a:solidFill>
                  <a:srgbClr val="6C5AA8"/>
                </a:solidFill>
                <a:latin typeface="Arial"/>
                <a:ea typeface="Arial"/>
                <a:cs typeface="Arial"/>
              </a:rPr>
              <a:t>Verification</a:t>
            </a:r>
          </a:p>
        </p:txBody>
      </p:sp>
      <p:sp>
        <p:nvSpPr>
          <p:cNvPr id="25" name="box-250-486">
            <a:extLst>
              <a:ext uri="{FF2B5EF4-FFF2-40B4-BE49-F238E27FC236}">
                <a16:creationId xmlns:a16="http://schemas.microsoft.com/office/drawing/2014/main" id="{7E3511B8-D544-48AA-AB87-5D04183FA2FF}"/>
              </a:ext>
            </a:extLst>
          </p:cNvPr>
          <p:cNvSpPr>
            <a:spLocks noGrp="1"/>
          </p:cNvSpPr>
          <p:nvPr/>
        </p:nvSpPr>
        <p:spPr>
          <a:xfrm>
            <a:off x="2381250" y="4629150"/>
            <a:ext cx="192405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125" b="1">
                <a:solidFill>
                  <a:srgbClr val="162638"/>
                </a:solidFill>
                <a:latin typeface="Arial"/>
                <a:ea typeface="Arial"/>
                <a:cs typeface="Arial"/>
              </a:defRPr>
            </a:pPr>
            <a:r>
              <a:rPr sz="1125" b="1">
                <a:solidFill>
                  <a:srgbClr val="162638"/>
                </a:solidFill>
                <a:latin typeface="Arial"/>
                <a:ea typeface="Arial"/>
                <a:cs typeface="Arial"/>
              </a:rPr>
              <a:t>1. Tạo release</a:t>
            </a:r>
          </a:p>
        </p:txBody>
      </p:sp>
      <p:sp>
        <p:nvSpPr>
          <p:cNvPr id="26" name="text-452-500-→">
            <a:extLst>
              <a:ext uri="{FF2B5EF4-FFF2-40B4-BE49-F238E27FC236}">
                <a16:creationId xmlns:a16="http://schemas.microsoft.com/office/drawing/2014/main" id="{022BB41C-E46F-4742-8F15-40749AE39FB8}"/>
              </a:ext>
            </a:extLst>
          </p:cNvPr>
          <p:cNvSpPr>
            <a:spLocks noGrp="1"/>
          </p:cNvSpPr>
          <p:nvPr/>
        </p:nvSpPr>
        <p:spPr>
          <a:xfrm>
            <a:off x="4305300" y="4762500"/>
            <a:ext cx="209550" cy="304800"/>
          </a:xfrm>
          <a:prstGeom prst="rect">
            <a:avLst/>
          </a:prstGeom>
          <a:noFill/>
          <a:ln w="0">
            <a:noFill/>
          </a:ln>
        </p:spPr>
        <p:txBody>
          <a:bodyPr>
            <a:noAutofit/>
          </a:bodyPr>
          <a:lstStyle/>
          <a:p>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27" name="box-474-486">
            <a:extLst>
              <a:ext uri="{FF2B5EF4-FFF2-40B4-BE49-F238E27FC236}">
                <a16:creationId xmlns:a16="http://schemas.microsoft.com/office/drawing/2014/main" id="{6C31D37E-ED37-4135-9E05-568886F2A5DF}"/>
              </a:ext>
            </a:extLst>
          </p:cNvPr>
          <p:cNvSpPr>
            <a:spLocks noGrp="1"/>
          </p:cNvSpPr>
          <p:nvPr/>
        </p:nvSpPr>
        <p:spPr>
          <a:xfrm>
            <a:off x="4514850" y="4629150"/>
            <a:ext cx="192405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125" b="1">
                <a:solidFill>
                  <a:srgbClr val="162638"/>
                </a:solidFill>
                <a:latin typeface="Arial"/>
                <a:ea typeface="Arial"/>
                <a:cs typeface="Arial"/>
              </a:defRPr>
            </a:pPr>
            <a:r>
              <a:rPr sz="1125" b="1">
                <a:solidFill>
                  <a:srgbClr val="162638"/>
                </a:solidFill>
                <a:latin typeface="Arial"/>
                <a:ea typeface="Arial"/>
                <a:cs typeface="Arial"/>
              </a:rPr>
              <a:t>2. Tạo Generation mới</a:t>
            </a:r>
          </a:p>
        </p:txBody>
      </p:sp>
      <p:sp>
        <p:nvSpPr>
          <p:cNvPr id="28" name="text-676-500-→">
            <a:extLst>
              <a:ext uri="{FF2B5EF4-FFF2-40B4-BE49-F238E27FC236}">
                <a16:creationId xmlns:a16="http://schemas.microsoft.com/office/drawing/2014/main" id="{64A95B4A-8639-4004-9576-DB735A1D54EF}"/>
              </a:ext>
            </a:extLst>
          </p:cNvPr>
          <p:cNvSpPr>
            <a:spLocks noGrp="1"/>
          </p:cNvSpPr>
          <p:nvPr/>
        </p:nvSpPr>
        <p:spPr>
          <a:xfrm>
            <a:off x="6438900" y="4762500"/>
            <a:ext cx="209550" cy="304800"/>
          </a:xfrm>
          <a:prstGeom prst="rect">
            <a:avLst/>
          </a:prstGeom>
          <a:noFill/>
          <a:ln w="0">
            <a:noFill/>
          </a:ln>
        </p:spPr>
        <p:txBody>
          <a:bodyPr>
            <a:noAutofit/>
          </a:bodyPr>
          <a:lstStyle/>
          <a:p>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29" name="box-698-486">
            <a:extLst>
              <a:ext uri="{FF2B5EF4-FFF2-40B4-BE49-F238E27FC236}">
                <a16:creationId xmlns:a16="http://schemas.microsoft.com/office/drawing/2014/main" id="{526874AE-75BC-46E2-8803-9E123760D84F}"/>
              </a:ext>
            </a:extLst>
          </p:cNvPr>
          <p:cNvSpPr>
            <a:spLocks noGrp="1"/>
          </p:cNvSpPr>
          <p:nvPr/>
        </p:nvSpPr>
        <p:spPr>
          <a:xfrm>
            <a:off x="6648450" y="4629150"/>
            <a:ext cx="192405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125" b="1">
                <a:solidFill>
                  <a:srgbClr val="162638"/>
                </a:solidFill>
                <a:latin typeface="Arial"/>
                <a:ea typeface="Arial"/>
                <a:cs typeface="Arial"/>
              </a:defRPr>
            </a:pPr>
            <a:r>
              <a:rPr sz="1125" b="1">
                <a:solidFill>
                  <a:srgbClr val="162638"/>
                </a:solidFill>
                <a:latin typeface="Arial"/>
                <a:ea typeface="Arial"/>
                <a:cs typeface="Arial"/>
              </a:rPr>
              <a:t>3. Retrieve release cũ</a:t>
            </a:r>
          </a:p>
        </p:txBody>
      </p:sp>
      <p:sp>
        <p:nvSpPr>
          <p:cNvPr id="30" name="text-900-500-→">
            <a:extLst>
              <a:ext uri="{FF2B5EF4-FFF2-40B4-BE49-F238E27FC236}">
                <a16:creationId xmlns:a16="http://schemas.microsoft.com/office/drawing/2014/main" id="{6D77D9B8-1C4D-4A5D-BB07-0E43DD3E778F}"/>
              </a:ext>
            </a:extLst>
          </p:cNvPr>
          <p:cNvSpPr>
            <a:spLocks noGrp="1"/>
          </p:cNvSpPr>
          <p:nvPr/>
        </p:nvSpPr>
        <p:spPr>
          <a:xfrm>
            <a:off x="8572500" y="4762500"/>
            <a:ext cx="209550" cy="304800"/>
          </a:xfrm>
          <a:prstGeom prst="rect">
            <a:avLst/>
          </a:prstGeom>
          <a:noFill/>
          <a:ln w="0">
            <a:noFill/>
          </a:ln>
        </p:spPr>
        <p:txBody>
          <a:bodyPr>
            <a:noAutofit/>
          </a:bodyPr>
          <a:lstStyle/>
          <a:p>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31" name="box-922-486">
            <a:extLst>
              <a:ext uri="{FF2B5EF4-FFF2-40B4-BE49-F238E27FC236}">
                <a16:creationId xmlns:a16="http://schemas.microsoft.com/office/drawing/2014/main" id="{F54C1DBE-9AE1-415E-88A0-1CABF9C443B6}"/>
              </a:ext>
            </a:extLst>
          </p:cNvPr>
          <p:cNvSpPr>
            <a:spLocks noGrp="1"/>
          </p:cNvSpPr>
          <p:nvPr/>
        </p:nvSpPr>
        <p:spPr>
          <a:xfrm>
            <a:off x="8782050" y="4629150"/>
            <a:ext cx="1924050" cy="590550"/>
          </a:xfrm>
          <a:prstGeom prst="roundRect">
            <a:avLst>
              <a:gd name="adj" fmla="val 12903"/>
            </a:avLst>
          </a:prstGeom>
          <a:solidFill>
            <a:srgbClr val="FFFFFF"/>
          </a:solidFill>
          <a:ln w="11430">
            <a:solidFill>
              <a:srgbClr val="CBD8E3"/>
            </a:solidFill>
            <a:prstDash val="solid"/>
          </a:ln>
        </p:spPr>
        <p:txBody>
          <a:bodyPr>
            <a:noAutofit/>
          </a:bodyPr>
          <a:lstStyle/>
          <a:p>
            <a:pPr algn="ctr">
              <a:defRPr sz="1125" b="1">
                <a:solidFill>
                  <a:srgbClr val="162638"/>
                </a:solidFill>
                <a:latin typeface="Arial"/>
                <a:ea typeface="Arial"/>
                <a:cs typeface="Arial"/>
              </a:defRPr>
            </a:pPr>
            <a:r>
              <a:rPr sz="1125" b="1">
                <a:solidFill>
                  <a:srgbClr val="162638"/>
                </a:solidFill>
                <a:latin typeface="Arial"/>
                <a:ea typeface="Arial"/>
                <a:cs typeface="Arial"/>
              </a:rPr>
              <a:t>4. So manifest + identity + hash</a:t>
            </a:r>
          </a:p>
        </p:txBody>
      </p:sp>
      <p:sp>
        <p:nvSpPr>
          <p:cNvPr id="32" name="text-122-620-Spec tạo điều ki">
            <a:extLst>
              <a:ext uri="{FF2B5EF4-FFF2-40B4-BE49-F238E27FC236}">
                <a16:creationId xmlns:a16="http://schemas.microsoft.com/office/drawing/2014/main" id="{173D6A02-8845-4D70-A69F-F528E1E5DB98}"/>
              </a:ext>
            </a:extLst>
          </p:cNvPr>
          <p:cNvSpPr>
            <a:spLocks noGrp="1"/>
          </p:cNvSpPr>
          <p:nvPr/>
        </p:nvSpPr>
        <p:spPr>
          <a:xfrm>
            <a:off x="1162050" y="5905500"/>
            <a:ext cx="9867900" cy="361950"/>
          </a:xfrm>
          <a:prstGeom prst="rect">
            <a:avLst/>
          </a:prstGeom>
          <a:noFill/>
          <a:ln w="0">
            <a:noFill/>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Spec tạo điều kiện để chứng minh implementation đúng hay sai, không chỉ mô tả mong muốn.</a:t>
            </a:r>
          </a:p>
        </p:txBody>
      </p:sp>
    </p:spTree>
    <p:extLst>
      <p:ext uri="{BB962C8B-B14F-4D97-AF65-F5344CB8AC3E}">
        <p14:creationId xmlns:p14="http://schemas.microsoft.com/office/powerpoint/2010/main" val="847953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box-0-0">
            <a:extLst>
              <a:ext uri="{FF2B5EF4-FFF2-40B4-BE49-F238E27FC236}">
                <a16:creationId xmlns:a16="http://schemas.microsoft.com/office/drawing/2014/main" id="{98134C45-748E-4D4C-A27B-FCA9C7BD92F5}"/>
              </a:ext>
            </a:extLst>
          </p:cNvPr>
          <p:cNvSpPr>
            <a:spLocks noGrp="1"/>
          </p:cNvSpPr>
          <p:nvPr/>
        </p:nvSpPr>
        <p:spPr>
          <a:xfrm>
            <a:off x="0" y="0"/>
            <a:ext cx="133350" cy="6858000"/>
          </a:xfrm>
          <a:prstGeom prst="rect">
            <a:avLst/>
          </a:prstGeom>
          <a:solidFill>
            <a:srgbClr val="6C5AA8"/>
          </a:solidFill>
          <a:ln w="0">
            <a:noFill/>
            <a:prstDash val="solid"/>
          </a:ln>
        </p:spPr>
        <p:txBody>
          <a:bodyPr/>
          <a:lstStyle/>
          <a:p>
            <a:endParaRPr lang="en-US"/>
          </a:p>
        </p:txBody>
      </p:sp>
      <p:sp>
        <p:nvSpPr>
          <p:cNvPr id="2" name="text-54-28-TECH">
            <a:extLst>
              <a:ext uri="{FF2B5EF4-FFF2-40B4-BE49-F238E27FC236}">
                <a16:creationId xmlns:a16="http://schemas.microsoft.com/office/drawing/2014/main" id="{03B4FEDF-1D7A-44C4-9A2F-EAAB529D570E}"/>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6C5AA8"/>
                </a:solidFill>
                <a:latin typeface="Arial"/>
                <a:ea typeface="Arial"/>
                <a:cs typeface="Arial"/>
              </a:defRPr>
            </a:pPr>
            <a:r>
              <a:rPr sz="1050" b="1">
                <a:solidFill>
                  <a:srgbClr val="6C5AA8"/>
                </a:solidFill>
                <a:latin typeface="Arial"/>
                <a:ea typeface="Arial"/>
                <a:cs typeface="Arial"/>
              </a:rPr>
              <a:t>TECH</a:t>
            </a:r>
          </a:p>
        </p:txBody>
      </p:sp>
      <p:sp>
        <p:nvSpPr>
          <p:cNvPr id="3" name="text-54-56-Tech — Engineeri">
            <a:extLst>
              <a:ext uri="{FF2B5EF4-FFF2-40B4-BE49-F238E27FC236}">
                <a16:creationId xmlns:a16="http://schemas.microsoft.com/office/drawing/2014/main" id="{56168C83-E33F-413F-8FAC-6D9A59ED6A81}"/>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Tech — Engineering hiện thực Spec bằng kiến trúc nào?</a:t>
            </a:r>
          </a:p>
        </p:txBody>
      </p:sp>
      <p:sp>
        <p:nvSpPr>
          <p:cNvPr id="4" name="line-54-116">
            <a:extLst>
              <a:ext uri="{FF2B5EF4-FFF2-40B4-BE49-F238E27FC236}">
                <a16:creationId xmlns:a16="http://schemas.microsoft.com/office/drawing/2014/main" id="{741BF843-41A0-423F-A9A2-3726DE8C0370}"/>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DOC-05@0">
            <a:extLst>
              <a:ext uri="{FF2B5EF4-FFF2-40B4-BE49-F238E27FC236}">
                <a16:creationId xmlns:a16="http://schemas.microsoft.com/office/drawing/2014/main" id="{CD949F3A-25D4-4EFA-868E-DA63E31FBB79}"/>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DOC-05@0.20 · TECH-001@0.14 · TECH-VIEWS@0.2</a:t>
            </a:r>
          </a:p>
        </p:txBody>
      </p:sp>
      <p:sp>
        <p:nvSpPr>
          <p:cNvPr id="6" name="text-1170-680-11">
            <a:extLst>
              <a:ext uri="{FF2B5EF4-FFF2-40B4-BE49-F238E27FC236}">
                <a16:creationId xmlns:a16="http://schemas.microsoft.com/office/drawing/2014/main" id="{0B85B380-FF13-444B-B1F1-6636DDCD78EA}"/>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11</a:t>
            </a:r>
          </a:p>
        </p:txBody>
      </p:sp>
      <p:sp>
        <p:nvSpPr>
          <p:cNvPr id="7" name="box-58-150">
            <a:extLst>
              <a:ext uri="{FF2B5EF4-FFF2-40B4-BE49-F238E27FC236}">
                <a16:creationId xmlns:a16="http://schemas.microsoft.com/office/drawing/2014/main" id="{7C41190C-0962-477D-A0F7-BC3AF812C18A}"/>
              </a:ext>
            </a:extLst>
          </p:cNvPr>
          <p:cNvSpPr>
            <a:spLocks noGrp="1"/>
          </p:cNvSpPr>
          <p:nvPr/>
        </p:nvSpPr>
        <p:spPr>
          <a:xfrm>
            <a:off x="552450" y="1428750"/>
            <a:ext cx="3524250" cy="4476750"/>
          </a:xfrm>
          <a:prstGeom prst="roundRect">
            <a:avLst>
              <a:gd name="adj" fmla="val 2162"/>
            </a:avLst>
          </a:prstGeom>
          <a:solidFill>
            <a:srgbClr val="EAF3F9"/>
          </a:solidFill>
          <a:ln w="14288">
            <a:solidFill>
              <a:srgbClr val="2169A8"/>
            </a:solidFill>
            <a:prstDash val="solid"/>
          </a:ln>
        </p:spPr>
        <p:txBody>
          <a:bodyPr/>
          <a:lstStyle/>
          <a:p>
            <a:endParaRPr lang="en-US"/>
          </a:p>
        </p:txBody>
      </p:sp>
      <p:sp>
        <p:nvSpPr>
          <p:cNvPr id="8" name="box-94-170">
            <a:extLst>
              <a:ext uri="{FF2B5EF4-FFF2-40B4-BE49-F238E27FC236}">
                <a16:creationId xmlns:a16="http://schemas.microsoft.com/office/drawing/2014/main" id="{C25C8347-9C2D-4E3D-94BD-FDAF32161518}"/>
              </a:ext>
            </a:extLst>
          </p:cNvPr>
          <p:cNvSpPr>
            <a:spLocks noGrp="1"/>
          </p:cNvSpPr>
          <p:nvPr/>
        </p:nvSpPr>
        <p:spPr>
          <a:xfrm>
            <a:off x="895350" y="1619250"/>
            <a:ext cx="2838450" cy="323850"/>
          </a:xfrm>
          <a:prstGeom prst="roundRect">
            <a:avLst>
              <a:gd name="adj" fmla="val 23529"/>
            </a:avLst>
          </a:prstGeom>
          <a:solidFill>
            <a:srgbClr val="2169A8"/>
          </a:solidFill>
          <a:ln w="7620">
            <a:solidFill>
              <a:srgbClr val="2169A8"/>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WINDOWS ENGINEERING PC</a:t>
            </a:r>
          </a:p>
        </p:txBody>
      </p:sp>
      <p:sp>
        <p:nvSpPr>
          <p:cNvPr id="9" name="box-92-232">
            <a:extLst>
              <a:ext uri="{FF2B5EF4-FFF2-40B4-BE49-F238E27FC236}">
                <a16:creationId xmlns:a16="http://schemas.microsoft.com/office/drawing/2014/main" id="{3167BB21-6A83-4C4E-8185-387CD5DA35E0}"/>
              </a:ext>
            </a:extLst>
          </p:cNvPr>
          <p:cNvSpPr>
            <a:spLocks noGrp="1"/>
          </p:cNvSpPr>
          <p:nvPr/>
        </p:nvSpPr>
        <p:spPr>
          <a:xfrm>
            <a:off x="876300" y="2209800"/>
            <a:ext cx="2876550" cy="609600"/>
          </a:xfrm>
          <a:prstGeom prst="roundRect">
            <a:avLst>
              <a:gd name="adj" fmla="val 12500"/>
            </a:avLst>
          </a:prstGeom>
          <a:solidFill>
            <a:srgbClr val="F9FCFE"/>
          </a:solidFill>
          <a:ln w="11430">
            <a:solidFill>
              <a:srgbClr val="CBD8E3"/>
            </a:solidFill>
            <a:prstDash val="solid"/>
          </a:ln>
        </p:spPr>
        <p:txBody>
          <a:bodyPr>
            <a:noAutofit/>
          </a:bodyPr>
          <a:lstStyle/>
          <a:p>
            <a:pPr algn="ctr">
              <a:defRPr sz="1350" b="1">
                <a:solidFill>
                  <a:srgbClr val="102744"/>
                </a:solidFill>
                <a:latin typeface="Arial"/>
                <a:ea typeface="Arial"/>
                <a:cs typeface="Arial"/>
              </a:defRPr>
            </a:pPr>
            <a:r>
              <a:rPr sz="1350" b="1">
                <a:solidFill>
                  <a:srgbClr val="102744"/>
                </a:solidFill>
                <a:latin typeface="Arial"/>
                <a:ea typeface="Arial"/>
                <a:cs typeface="Arial"/>
              </a:rPr>
              <a:t>React business UI</a:t>
            </a:r>
          </a:p>
        </p:txBody>
      </p:sp>
      <p:sp>
        <p:nvSpPr>
          <p:cNvPr id="10" name="text-104-268-Dùng chung cho B">
            <a:extLst>
              <a:ext uri="{FF2B5EF4-FFF2-40B4-BE49-F238E27FC236}">
                <a16:creationId xmlns:a16="http://schemas.microsoft.com/office/drawing/2014/main" id="{BCDBE58F-31DA-4600-A858-21693CEB279A}"/>
              </a:ext>
            </a:extLst>
          </p:cNvPr>
          <p:cNvSpPr>
            <a:spLocks noGrp="1"/>
          </p:cNvSpPr>
          <p:nvPr/>
        </p:nvSpPr>
        <p:spPr>
          <a:xfrm>
            <a:off x="990600" y="2552700"/>
            <a:ext cx="2647950" cy="219075"/>
          </a:xfrm>
          <a:prstGeom prst="rect">
            <a:avLst/>
          </a:prstGeom>
          <a:noFill/>
          <a:ln w="0">
            <a:noFill/>
          </a:ln>
        </p:spPr>
        <p:txBody>
          <a:bodyPr>
            <a:noAutofit/>
          </a:bodyPr>
          <a:lstStyle/>
          <a:p>
            <a:pPr algn="ctr">
              <a:defRPr sz="900" b="0">
                <a:solidFill>
                  <a:srgbClr val="4B6075"/>
                </a:solidFill>
                <a:latin typeface="Arial"/>
                <a:ea typeface="Arial"/>
                <a:cs typeface="Arial"/>
              </a:defRPr>
            </a:pPr>
            <a:r>
              <a:rPr sz="900" b="0">
                <a:solidFill>
                  <a:srgbClr val="4B6075"/>
                </a:solidFill>
                <a:latin typeface="Arial"/>
                <a:ea typeface="Arial"/>
                <a:cs typeface="Arial"/>
              </a:rPr>
              <a:t>Dùng chung cho Browser và Desktop</a:t>
            </a:r>
          </a:p>
        </p:txBody>
      </p:sp>
      <p:sp>
        <p:nvSpPr>
          <p:cNvPr id="11" name="text-220-296-↓">
            <a:extLst>
              <a:ext uri="{FF2B5EF4-FFF2-40B4-BE49-F238E27FC236}">
                <a16:creationId xmlns:a16="http://schemas.microsoft.com/office/drawing/2014/main" id="{2DB3B419-5488-4915-9D97-3039A981A33F}"/>
              </a:ext>
            </a:extLst>
          </p:cNvPr>
          <p:cNvSpPr>
            <a:spLocks noGrp="1"/>
          </p:cNvSpPr>
          <p:nvPr/>
        </p:nvSpPr>
        <p:spPr>
          <a:xfrm>
            <a:off x="2095500" y="2819400"/>
            <a:ext cx="476250" cy="228600"/>
          </a:xfrm>
          <a:prstGeom prst="rect">
            <a:avLst/>
          </a:prstGeom>
          <a:noFill/>
          <a:ln w="0">
            <a:noFill/>
          </a:ln>
        </p:spPr>
        <p:txBody>
          <a:bodyPr>
            <a:noAutofit/>
          </a:bodyPr>
          <a:lstStyle/>
          <a:p>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12" name="box-92-318">
            <a:extLst>
              <a:ext uri="{FF2B5EF4-FFF2-40B4-BE49-F238E27FC236}">
                <a16:creationId xmlns:a16="http://schemas.microsoft.com/office/drawing/2014/main" id="{6B6C7DEB-AAB2-444F-82A4-B5CC97527EEA}"/>
              </a:ext>
            </a:extLst>
          </p:cNvPr>
          <p:cNvSpPr>
            <a:spLocks noGrp="1"/>
          </p:cNvSpPr>
          <p:nvPr/>
        </p:nvSpPr>
        <p:spPr>
          <a:xfrm>
            <a:off x="876300" y="3028950"/>
            <a:ext cx="2876550" cy="609600"/>
          </a:xfrm>
          <a:prstGeom prst="roundRect">
            <a:avLst>
              <a:gd name="adj" fmla="val 12500"/>
            </a:avLst>
          </a:prstGeom>
          <a:solidFill>
            <a:srgbClr val="F9FCFE"/>
          </a:solidFill>
          <a:ln w="11430">
            <a:solidFill>
              <a:srgbClr val="CBD8E3"/>
            </a:solidFill>
            <a:prstDash val="solid"/>
          </a:ln>
        </p:spPr>
        <p:txBody>
          <a:bodyPr>
            <a:noAutofit/>
          </a:bodyPr>
          <a:lstStyle/>
          <a:p>
            <a:pPr algn="ctr">
              <a:defRPr sz="1350" b="1">
                <a:solidFill>
                  <a:srgbClr val="102744"/>
                </a:solidFill>
                <a:latin typeface="Arial"/>
                <a:ea typeface="Arial"/>
                <a:cs typeface="Arial"/>
              </a:defRPr>
            </a:pPr>
            <a:r>
              <a:rPr sz="1350" b="1">
                <a:solidFill>
                  <a:srgbClr val="102744"/>
                </a:solidFill>
                <a:latin typeface="Arial"/>
                <a:ea typeface="Arial"/>
                <a:cs typeface="Arial"/>
              </a:rPr>
              <a:t>WPF / WebView2</a:t>
            </a:r>
          </a:p>
        </p:txBody>
      </p:sp>
      <p:sp>
        <p:nvSpPr>
          <p:cNvPr id="13" name="text-104-354-Desktop shell hẹ">
            <a:extLst>
              <a:ext uri="{FF2B5EF4-FFF2-40B4-BE49-F238E27FC236}">
                <a16:creationId xmlns:a16="http://schemas.microsoft.com/office/drawing/2014/main" id="{680A7B19-D320-424A-A8FD-21009D463E42}"/>
              </a:ext>
            </a:extLst>
          </p:cNvPr>
          <p:cNvSpPr>
            <a:spLocks noGrp="1"/>
          </p:cNvSpPr>
          <p:nvPr/>
        </p:nvSpPr>
        <p:spPr>
          <a:xfrm>
            <a:off x="990600" y="3371850"/>
            <a:ext cx="2647950" cy="219075"/>
          </a:xfrm>
          <a:prstGeom prst="rect">
            <a:avLst/>
          </a:prstGeom>
          <a:noFill/>
          <a:ln w="0">
            <a:noFill/>
          </a:ln>
        </p:spPr>
        <p:txBody>
          <a:bodyPr>
            <a:noAutofit/>
          </a:bodyPr>
          <a:lstStyle/>
          <a:p>
            <a:pPr algn="ctr">
              <a:defRPr sz="900" b="0">
                <a:solidFill>
                  <a:srgbClr val="4B6075"/>
                </a:solidFill>
                <a:latin typeface="Arial"/>
                <a:ea typeface="Arial"/>
                <a:cs typeface="Arial"/>
              </a:defRPr>
            </a:pPr>
            <a:r>
              <a:rPr sz="900" b="0">
                <a:solidFill>
                  <a:srgbClr val="4B6075"/>
                </a:solidFill>
                <a:latin typeface="Arial"/>
                <a:ea typeface="Arial"/>
                <a:cs typeface="Arial"/>
              </a:rPr>
              <a:t>Desktop shell hẹp</a:t>
            </a:r>
          </a:p>
        </p:txBody>
      </p:sp>
      <p:sp>
        <p:nvSpPr>
          <p:cNvPr id="14" name="text-220-382-↓">
            <a:extLst>
              <a:ext uri="{FF2B5EF4-FFF2-40B4-BE49-F238E27FC236}">
                <a16:creationId xmlns:a16="http://schemas.microsoft.com/office/drawing/2014/main" id="{B10756FE-84C5-4DEB-9006-E989D56A882A}"/>
              </a:ext>
            </a:extLst>
          </p:cNvPr>
          <p:cNvSpPr>
            <a:spLocks noGrp="1"/>
          </p:cNvSpPr>
          <p:nvPr/>
        </p:nvSpPr>
        <p:spPr>
          <a:xfrm>
            <a:off x="2095500" y="3638550"/>
            <a:ext cx="476250" cy="228600"/>
          </a:xfrm>
          <a:prstGeom prst="rect">
            <a:avLst/>
          </a:prstGeom>
          <a:noFill/>
          <a:ln w="0">
            <a:noFill/>
          </a:ln>
        </p:spPr>
        <p:txBody>
          <a:bodyPr>
            <a:noAutofit/>
          </a:bodyPr>
          <a:lstStyle/>
          <a:p>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15" name="box-92-404">
            <a:extLst>
              <a:ext uri="{FF2B5EF4-FFF2-40B4-BE49-F238E27FC236}">
                <a16:creationId xmlns:a16="http://schemas.microsoft.com/office/drawing/2014/main" id="{3E9FE435-890E-41B3-BC2F-89C95DCB23C6}"/>
              </a:ext>
            </a:extLst>
          </p:cNvPr>
          <p:cNvSpPr>
            <a:spLocks noGrp="1"/>
          </p:cNvSpPr>
          <p:nvPr/>
        </p:nvSpPr>
        <p:spPr>
          <a:xfrm>
            <a:off x="876300" y="3848100"/>
            <a:ext cx="2876550" cy="609600"/>
          </a:xfrm>
          <a:prstGeom prst="roundRect">
            <a:avLst>
              <a:gd name="adj" fmla="val 12500"/>
            </a:avLst>
          </a:prstGeom>
          <a:solidFill>
            <a:srgbClr val="F9FCFE"/>
          </a:solidFill>
          <a:ln w="11430">
            <a:solidFill>
              <a:srgbClr val="CBD8E3"/>
            </a:solidFill>
            <a:prstDash val="solid"/>
          </a:ln>
        </p:spPr>
        <p:txBody>
          <a:bodyPr>
            <a:noAutofit/>
          </a:bodyPr>
          <a:lstStyle/>
          <a:p>
            <a:pPr algn="ctr">
              <a:defRPr sz="1350" b="1">
                <a:solidFill>
                  <a:srgbClr val="102744"/>
                </a:solidFill>
                <a:latin typeface="Arial"/>
                <a:ea typeface="Arial"/>
                <a:cs typeface="Arial"/>
              </a:defRPr>
            </a:pPr>
            <a:r>
              <a:rPr sz="1350" b="1">
                <a:solidFill>
                  <a:srgbClr val="102744"/>
                </a:solidFill>
                <a:latin typeface="Arial"/>
                <a:ea typeface="Arial"/>
                <a:cs typeface="Arial"/>
              </a:rPr>
              <a:t>.NET 10 Workspace</a:t>
            </a:r>
          </a:p>
        </p:txBody>
      </p:sp>
      <p:sp>
        <p:nvSpPr>
          <p:cNvPr id="16" name="text-104-440-Local files, jou">
            <a:extLst>
              <a:ext uri="{FF2B5EF4-FFF2-40B4-BE49-F238E27FC236}">
                <a16:creationId xmlns:a16="http://schemas.microsoft.com/office/drawing/2014/main" id="{3C6E1C5D-89D7-49D3-99E9-388ECD4999B9}"/>
              </a:ext>
            </a:extLst>
          </p:cNvPr>
          <p:cNvSpPr>
            <a:spLocks noGrp="1"/>
          </p:cNvSpPr>
          <p:nvPr/>
        </p:nvSpPr>
        <p:spPr>
          <a:xfrm>
            <a:off x="990600" y="4191000"/>
            <a:ext cx="2647950" cy="219075"/>
          </a:xfrm>
          <a:prstGeom prst="rect">
            <a:avLst/>
          </a:prstGeom>
          <a:noFill/>
          <a:ln w="0">
            <a:noFill/>
          </a:ln>
        </p:spPr>
        <p:txBody>
          <a:bodyPr>
            <a:noAutofit/>
          </a:bodyPr>
          <a:lstStyle/>
          <a:p>
            <a:pPr algn="ctr">
              <a:defRPr sz="900" b="0">
                <a:solidFill>
                  <a:srgbClr val="4B6075"/>
                </a:solidFill>
                <a:latin typeface="Arial"/>
                <a:ea typeface="Arial"/>
                <a:cs typeface="Arial"/>
              </a:defRPr>
            </a:pPr>
            <a:r>
              <a:rPr sz="900" b="0">
                <a:solidFill>
                  <a:srgbClr val="4B6075"/>
                </a:solidFill>
                <a:latin typeface="Arial"/>
                <a:ea typeface="Arial"/>
                <a:cs typeface="Arial"/>
              </a:rPr>
              <a:t>Local files, journal, resume, CAD/Office</a:t>
            </a:r>
          </a:p>
        </p:txBody>
      </p:sp>
      <p:sp>
        <p:nvSpPr>
          <p:cNvPr id="17" name="text-220-468-↓">
            <a:extLst>
              <a:ext uri="{FF2B5EF4-FFF2-40B4-BE49-F238E27FC236}">
                <a16:creationId xmlns:a16="http://schemas.microsoft.com/office/drawing/2014/main" id="{C0B00F04-6177-46FC-AC3C-9F1104DBFFAD}"/>
              </a:ext>
            </a:extLst>
          </p:cNvPr>
          <p:cNvSpPr>
            <a:spLocks noGrp="1"/>
          </p:cNvSpPr>
          <p:nvPr/>
        </p:nvSpPr>
        <p:spPr>
          <a:xfrm>
            <a:off x="2095500" y="4457700"/>
            <a:ext cx="476250" cy="228600"/>
          </a:xfrm>
          <a:prstGeom prst="rect">
            <a:avLst/>
          </a:prstGeom>
          <a:noFill/>
          <a:ln w="0">
            <a:noFill/>
          </a:ln>
        </p:spPr>
        <p:txBody>
          <a:bodyPr>
            <a:noAutofit/>
          </a:bodyPr>
          <a:lstStyle/>
          <a:p>
            <a:pPr algn="ctr">
              <a:defRPr sz="1350" b="1">
                <a:solidFill>
                  <a:srgbClr val="7890A6"/>
                </a:solidFill>
                <a:latin typeface="Arial"/>
                <a:ea typeface="Arial"/>
                <a:cs typeface="Arial"/>
              </a:defRPr>
            </a:pPr>
            <a:r>
              <a:rPr sz="1350" b="1">
                <a:solidFill>
                  <a:srgbClr val="7890A6"/>
                </a:solidFill>
                <a:latin typeface="Arial"/>
                <a:ea typeface="Arial"/>
                <a:cs typeface="Arial"/>
              </a:rPr>
              <a:t>↓</a:t>
            </a:r>
          </a:p>
        </p:txBody>
      </p:sp>
      <p:sp>
        <p:nvSpPr>
          <p:cNvPr id="18" name="box-92-490">
            <a:extLst>
              <a:ext uri="{FF2B5EF4-FFF2-40B4-BE49-F238E27FC236}">
                <a16:creationId xmlns:a16="http://schemas.microsoft.com/office/drawing/2014/main" id="{F75F6424-B99E-4E5A-8F6C-1F4E18E8ED6B}"/>
              </a:ext>
            </a:extLst>
          </p:cNvPr>
          <p:cNvSpPr>
            <a:spLocks noGrp="1"/>
          </p:cNvSpPr>
          <p:nvPr/>
        </p:nvSpPr>
        <p:spPr>
          <a:xfrm>
            <a:off x="876300" y="4667250"/>
            <a:ext cx="2876550" cy="609600"/>
          </a:xfrm>
          <a:prstGeom prst="roundRect">
            <a:avLst>
              <a:gd name="adj" fmla="val 12500"/>
            </a:avLst>
          </a:prstGeom>
          <a:solidFill>
            <a:srgbClr val="FFFFFF"/>
          </a:solidFill>
          <a:ln w="11430">
            <a:solidFill>
              <a:srgbClr val="7890A6"/>
            </a:solidFill>
            <a:prstDash val="solid"/>
          </a:ln>
        </p:spPr>
        <p:txBody>
          <a:bodyPr>
            <a:noAutofit/>
          </a:bodyPr>
          <a:lstStyle/>
          <a:p>
            <a:pPr algn="ctr">
              <a:defRPr sz="1350" b="1">
                <a:solidFill>
                  <a:srgbClr val="102744"/>
                </a:solidFill>
                <a:latin typeface="Arial"/>
                <a:ea typeface="Arial"/>
                <a:cs typeface="Arial"/>
              </a:defRPr>
            </a:pPr>
            <a:r>
              <a:rPr sz="1350" b="1">
                <a:solidFill>
                  <a:srgbClr val="102744"/>
                </a:solidFill>
                <a:latin typeface="Arial"/>
                <a:ea typeface="Arial"/>
                <a:cs typeface="Arial"/>
              </a:rPr>
              <a:t>IRONCAD / Office / Files</a:t>
            </a:r>
          </a:p>
        </p:txBody>
      </p:sp>
      <p:sp>
        <p:nvSpPr>
          <p:cNvPr id="19" name="text-104-526-Công cụ thiết kế">
            <a:extLst>
              <a:ext uri="{FF2B5EF4-FFF2-40B4-BE49-F238E27FC236}">
                <a16:creationId xmlns:a16="http://schemas.microsoft.com/office/drawing/2014/main" id="{9D0E0591-F72D-4018-BC4A-549B69057B50}"/>
              </a:ext>
            </a:extLst>
          </p:cNvPr>
          <p:cNvSpPr>
            <a:spLocks noGrp="1"/>
          </p:cNvSpPr>
          <p:nvPr/>
        </p:nvSpPr>
        <p:spPr>
          <a:xfrm>
            <a:off x="990600" y="5010150"/>
            <a:ext cx="2647950" cy="219075"/>
          </a:xfrm>
          <a:prstGeom prst="rect">
            <a:avLst/>
          </a:prstGeom>
          <a:noFill/>
          <a:ln w="0">
            <a:noFill/>
          </a:ln>
        </p:spPr>
        <p:txBody>
          <a:bodyPr>
            <a:noAutofit/>
          </a:bodyPr>
          <a:lstStyle/>
          <a:p>
            <a:pPr algn="ctr">
              <a:defRPr sz="900" b="0">
                <a:solidFill>
                  <a:srgbClr val="4B6075"/>
                </a:solidFill>
                <a:latin typeface="Arial"/>
                <a:ea typeface="Arial"/>
                <a:cs typeface="Arial"/>
              </a:defRPr>
            </a:pPr>
            <a:r>
              <a:rPr sz="900" b="0">
                <a:solidFill>
                  <a:srgbClr val="4B6075"/>
                </a:solidFill>
                <a:latin typeface="Arial"/>
                <a:ea typeface="Arial"/>
                <a:cs typeface="Arial"/>
              </a:rPr>
              <a:t>Công cụ thiết kế bên ngoài IDEA</a:t>
            </a:r>
          </a:p>
        </p:txBody>
      </p:sp>
      <p:sp>
        <p:nvSpPr>
          <p:cNvPr id="20" name="text-432-326-HTTPS / JSON  →">
            <a:extLst>
              <a:ext uri="{FF2B5EF4-FFF2-40B4-BE49-F238E27FC236}">
                <a16:creationId xmlns:a16="http://schemas.microsoft.com/office/drawing/2014/main" id="{F1767D8B-3B86-4A3A-8C62-87C63E306E0F}"/>
              </a:ext>
            </a:extLst>
          </p:cNvPr>
          <p:cNvSpPr>
            <a:spLocks noGrp="1"/>
          </p:cNvSpPr>
          <p:nvPr/>
        </p:nvSpPr>
        <p:spPr>
          <a:xfrm>
            <a:off x="4114800" y="3105150"/>
            <a:ext cx="1352550" cy="438150"/>
          </a:xfrm>
          <a:prstGeom prst="rect">
            <a:avLst/>
          </a:prstGeom>
          <a:noFill/>
          <a:ln w="0">
            <a:noFill/>
          </a:ln>
        </p:spPr>
        <p:txBody>
          <a:bodyPr>
            <a:noAutofit/>
          </a:bodyPr>
          <a:lstStyle/>
          <a:p>
            <a:pPr algn="ctr">
              <a:defRPr sz="1500" b="1">
                <a:solidFill>
                  <a:srgbClr val="2169A8"/>
                </a:solidFill>
                <a:latin typeface="Arial"/>
                <a:ea typeface="Arial"/>
                <a:cs typeface="Arial"/>
              </a:defRPr>
            </a:pPr>
            <a:r>
              <a:rPr sz="1500" b="1">
                <a:solidFill>
                  <a:srgbClr val="2169A8"/>
                </a:solidFill>
                <a:latin typeface="Arial"/>
                <a:ea typeface="Arial"/>
                <a:cs typeface="Arial"/>
              </a:rPr>
              <a:t>HTTPS / JSON  →</a:t>
            </a:r>
          </a:p>
        </p:txBody>
      </p:sp>
      <p:sp>
        <p:nvSpPr>
          <p:cNvPr id="21" name="box-574-150">
            <a:extLst>
              <a:ext uri="{FF2B5EF4-FFF2-40B4-BE49-F238E27FC236}">
                <a16:creationId xmlns:a16="http://schemas.microsoft.com/office/drawing/2014/main" id="{2202ED09-9070-4EA9-BD67-704D83124874}"/>
              </a:ext>
            </a:extLst>
          </p:cNvPr>
          <p:cNvSpPr>
            <a:spLocks noGrp="1"/>
          </p:cNvSpPr>
          <p:nvPr/>
        </p:nvSpPr>
        <p:spPr>
          <a:xfrm>
            <a:off x="5467350" y="1428750"/>
            <a:ext cx="3848100" cy="4476750"/>
          </a:xfrm>
          <a:prstGeom prst="roundRect">
            <a:avLst>
              <a:gd name="adj" fmla="val 1980"/>
            </a:avLst>
          </a:prstGeom>
          <a:solidFill>
            <a:srgbClr val="F4F7FA"/>
          </a:solidFill>
          <a:ln w="17145">
            <a:solidFill>
              <a:srgbClr val="102744"/>
            </a:solidFill>
            <a:prstDash val="solid"/>
          </a:ln>
        </p:spPr>
        <p:txBody>
          <a:bodyPr/>
          <a:lstStyle/>
          <a:p>
            <a:endParaRPr lang="en-US"/>
          </a:p>
        </p:txBody>
      </p:sp>
      <p:sp>
        <p:nvSpPr>
          <p:cNvPr id="22" name="box-682-170">
            <a:extLst>
              <a:ext uri="{FF2B5EF4-FFF2-40B4-BE49-F238E27FC236}">
                <a16:creationId xmlns:a16="http://schemas.microsoft.com/office/drawing/2014/main" id="{79583BDD-CCF2-4CF1-9DD2-F349E7D9D477}"/>
              </a:ext>
            </a:extLst>
          </p:cNvPr>
          <p:cNvSpPr>
            <a:spLocks noGrp="1"/>
          </p:cNvSpPr>
          <p:nvPr/>
        </p:nvSpPr>
        <p:spPr>
          <a:xfrm>
            <a:off x="6496050" y="1619250"/>
            <a:ext cx="1790700" cy="323850"/>
          </a:xfrm>
          <a:prstGeom prst="roundRect">
            <a:avLst>
              <a:gd name="adj" fmla="val 23529"/>
            </a:avLst>
          </a:prstGeom>
          <a:solidFill>
            <a:srgbClr val="102744"/>
          </a:solidFill>
          <a:ln w="7620">
            <a:solidFill>
              <a:srgbClr val="102744"/>
            </a:solidFill>
            <a:prstDash val="solid"/>
          </a:ln>
        </p:spPr>
        <p:txBody>
          <a:bodyPr>
            <a:no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LINUX SERVER</a:t>
            </a:r>
          </a:p>
        </p:txBody>
      </p:sp>
      <p:sp>
        <p:nvSpPr>
          <p:cNvPr id="23" name="box-614-230">
            <a:extLst>
              <a:ext uri="{FF2B5EF4-FFF2-40B4-BE49-F238E27FC236}">
                <a16:creationId xmlns:a16="http://schemas.microsoft.com/office/drawing/2014/main" id="{CEBBFC2E-428F-4CA7-9524-1925BFEB0D26}"/>
              </a:ext>
            </a:extLst>
          </p:cNvPr>
          <p:cNvSpPr>
            <a:spLocks noGrp="1"/>
          </p:cNvSpPr>
          <p:nvPr/>
        </p:nvSpPr>
        <p:spPr>
          <a:xfrm>
            <a:off x="5848350" y="2190750"/>
            <a:ext cx="3086100" cy="876300"/>
          </a:xfrm>
          <a:prstGeom prst="roundRect">
            <a:avLst>
              <a:gd name="adj" fmla="val 8696"/>
            </a:avLst>
          </a:prstGeom>
          <a:solidFill>
            <a:srgbClr val="FFFFFF"/>
          </a:solidFill>
          <a:ln w="11430">
            <a:solidFill>
              <a:srgbClr val="102744"/>
            </a:solidFill>
            <a:prstDash val="solid"/>
          </a:ln>
        </p:spPr>
        <p:txBody>
          <a:bodyPr>
            <a:noAutofit/>
          </a:bodyPr>
          <a:lstStyle/>
          <a:p>
            <a:pPr algn="ctr">
              <a:defRPr sz="1575" b="1">
                <a:solidFill>
                  <a:srgbClr val="102744"/>
                </a:solidFill>
                <a:latin typeface="Arial"/>
                <a:ea typeface="Arial"/>
                <a:cs typeface="Arial"/>
              </a:defRPr>
            </a:pPr>
            <a:r>
              <a:rPr sz="1575" b="1">
                <a:solidFill>
                  <a:srgbClr val="102744"/>
                </a:solidFill>
                <a:latin typeface="Arial"/>
                <a:ea typeface="Arial"/>
                <a:cs typeface="Arial"/>
              </a:rPr>
              <a:t>Java 25 / Spring Boot</a:t>
            </a:r>
          </a:p>
          <a:p>
            <a:pPr algn="ctr">
              <a:defRPr sz="1575" b="1">
                <a:solidFill>
                  <a:srgbClr val="102744"/>
                </a:solidFill>
                <a:latin typeface="Arial"/>
                <a:ea typeface="Arial"/>
                <a:cs typeface="Arial"/>
              </a:defRPr>
            </a:pPr>
            <a:r>
              <a:rPr sz="1575" b="1">
                <a:solidFill>
                  <a:srgbClr val="102744"/>
                </a:solidFill>
                <a:latin typeface="Arial"/>
                <a:ea typeface="Arial"/>
                <a:cs typeface="Arial"/>
              </a:rPr>
              <a:t>Spring Modulith</a:t>
            </a:r>
          </a:p>
        </p:txBody>
      </p:sp>
      <p:sp>
        <p:nvSpPr>
          <p:cNvPr id="24" name="text-628-326-Core product aut">
            <a:extLst>
              <a:ext uri="{FF2B5EF4-FFF2-40B4-BE49-F238E27FC236}">
                <a16:creationId xmlns:a16="http://schemas.microsoft.com/office/drawing/2014/main" id="{DD1D8C11-55E2-4275-ADF1-77C39C887609}"/>
              </a:ext>
            </a:extLst>
          </p:cNvPr>
          <p:cNvSpPr>
            <a:spLocks noGrp="1"/>
          </p:cNvSpPr>
          <p:nvPr/>
        </p:nvSpPr>
        <p:spPr>
          <a:xfrm>
            <a:off x="5981700" y="3105150"/>
            <a:ext cx="2819400" cy="266700"/>
          </a:xfrm>
          <a:prstGeom prst="rect">
            <a:avLst/>
          </a:prstGeom>
          <a:noFill/>
          <a:ln w="0">
            <a:noFill/>
          </a:ln>
        </p:spPr>
        <p:txBody>
          <a:bodyPr>
            <a:noAutofit/>
          </a:bodyPr>
          <a:lstStyle/>
          <a:p>
            <a:pPr algn="ctr">
              <a:defRPr sz="1050" b="0">
                <a:solidFill>
                  <a:srgbClr val="4B6075"/>
                </a:solidFill>
                <a:latin typeface="Arial"/>
                <a:ea typeface="Arial"/>
                <a:cs typeface="Arial"/>
              </a:defRPr>
            </a:pPr>
            <a:r>
              <a:rPr sz="1050" b="0">
                <a:solidFill>
                  <a:srgbClr val="4B6075"/>
                </a:solidFill>
                <a:latin typeface="Arial"/>
                <a:ea typeface="Arial"/>
                <a:cs typeface="Arial"/>
              </a:rPr>
              <a:t>Core product authority + modular monolith</a:t>
            </a:r>
          </a:p>
        </p:txBody>
      </p:sp>
      <p:sp>
        <p:nvSpPr>
          <p:cNvPr id="25" name="box-614-388">
            <a:extLst>
              <a:ext uri="{FF2B5EF4-FFF2-40B4-BE49-F238E27FC236}">
                <a16:creationId xmlns:a16="http://schemas.microsoft.com/office/drawing/2014/main" id="{4B9EAFC0-B89D-4F20-9162-5172CBDEE2D8}"/>
              </a:ext>
            </a:extLst>
          </p:cNvPr>
          <p:cNvSpPr>
            <a:spLocks noGrp="1"/>
          </p:cNvSpPr>
          <p:nvPr/>
        </p:nvSpPr>
        <p:spPr>
          <a:xfrm>
            <a:off x="5848350" y="3695700"/>
            <a:ext cx="1352550" cy="1123950"/>
          </a:xfrm>
          <a:prstGeom prst="roundRect">
            <a:avLst>
              <a:gd name="adj" fmla="val 6780"/>
            </a:avLst>
          </a:prstGeom>
          <a:solidFill>
            <a:srgbClr val="E7F5EE"/>
          </a:solidFill>
          <a:ln w="11430">
            <a:solidFill>
              <a:srgbClr val="2D8A62"/>
            </a:solidFill>
            <a:prstDash val="solid"/>
          </a:ln>
        </p:spPr>
        <p:txBody>
          <a:bodyPr>
            <a:noAutofit/>
          </a:bodyPr>
          <a:lstStyle/>
          <a:p>
            <a:pPr algn="ctr">
              <a:defRPr sz="1125" b="1">
                <a:solidFill>
                  <a:srgbClr val="162638"/>
                </a:solidFill>
                <a:latin typeface="Arial"/>
                <a:ea typeface="Arial"/>
                <a:cs typeface="Arial"/>
              </a:defRPr>
            </a:pPr>
            <a:r>
              <a:rPr sz="1125" b="1">
                <a:solidFill>
                  <a:srgbClr val="162638"/>
                </a:solidFill>
                <a:latin typeface="Arial"/>
                <a:ea typeface="Arial"/>
                <a:cs typeface="Arial"/>
              </a:rPr>
              <a:t>PostgreSQL 18</a:t>
            </a:r>
          </a:p>
          <a:p>
            <a:pPr algn="ctr">
              <a:defRPr sz="1125" b="1">
                <a:solidFill>
                  <a:srgbClr val="162638"/>
                </a:solidFill>
                <a:latin typeface="Arial"/>
                <a:ea typeface="Arial"/>
                <a:cs typeface="Arial"/>
              </a:defRPr>
            </a:pPr>
            <a:r>
              <a:rPr sz="1125" b="1">
                <a:solidFill>
                  <a:srgbClr val="162638"/>
                </a:solidFill>
                <a:latin typeface="Arial"/>
                <a:ea typeface="Arial"/>
                <a:cs typeface="Arial"/>
              </a:rPr>
              <a:t>Metadata + state</a:t>
            </a:r>
          </a:p>
        </p:txBody>
      </p:sp>
      <p:sp>
        <p:nvSpPr>
          <p:cNvPr id="26" name="box-796-388">
            <a:extLst>
              <a:ext uri="{FF2B5EF4-FFF2-40B4-BE49-F238E27FC236}">
                <a16:creationId xmlns:a16="http://schemas.microsoft.com/office/drawing/2014/main" id="{462031AE-BECC-43C6-9C49-D6D295C5939D}"/>
              </a:ext>
            </a:extLst>
          </p:cNvPr>
          <p:cNvSpPr>
            <a:spLocks noGrp="1"/>
          </p:cNvSpPr>
          <p:nvPr/>
        </p:nvSpPr>
        <p:spPr>
          <a:xfrm>
            <a:off x="7581900" y="3695700"/>
            <a:ext cx="1352550" cy="1123950"/>
          </a:xfrm>
          <a:prstGeom prst="roundRect">
            <a:avLst>
              <a:gd name="adj" fmla="val 6780"/>
            </a:avLst>
          </a:prstGeom>
          <a:solidFill>
            <a:srgbClr val="FFF4DD"/>
          </a:solidFill>
          <a:ln w="11430">
            <a:solidFill>
              <a:srgbClr val="C58A1E"/>
            </a:solidFill>
            <a:prstDash val="solid"/>
          </a:ln>
        </p:spPr>
        <p:txBody>
          <a:bodyPr>
            <a:noAutofit/>
          </a:bodyPr>
          <a:lstStyle/>
          <a:p>
            <a:pPr algn="ctr">
              <a:defRPr sz="1125" b="1">
                <a:solidFill>
                  <a:srgbClr val="162638"/>
                </a:solidFill>
                <a:latin typeface="Arial"/>
                <a:ea typeface="Arial"/>
                <a:cs typeface="Arial"/>
              </a:defRPr>
            </a:pPr>
            <a:r>
              <a:rPr sz="1125" b="1">
                <a:solidFill>
                  <a:srgbClr val="162638"/>
                </a:solidFill>
                <a:latin typeface="Arial"/>
                <a:ea typeface="Arial"/>
                <a:cs typeface="Arial"/>
              </a:rPr>
              <a:t>Artifact Store</a:t>
            </a:r>
          </a:p>
          <a:p>
            <a:pPr algn="ctr">
              <a:defRPr sz="1125" b="1">
                <a:solidFill>
                  <a:srgbClr val="162638"/>
                </a:solidFill>
                <a:latin typeface="Arial"/>
                <a:ea typeface="Arial"/>
                <a:cs typeface="Arial"/>
              </a:defRPr>
            </a:pPr>
            <a:r>
              <a:rPr sz="1125" b="1">
                <a:solidFill>
                  <a:srgbClr val="162638"/>
                </a:solidFill>
                <a:latin typeface="Arial"/>
                <a:ea typeface="Arial"/>
                <a:cs typeface="Arial"/>
              </a:rPr>
              <a:t>Immutable bytes</a:t>
            </a:r>
          </a:p>
        </p:txBody>
      </p:sp>
      <p:sp>
        <p:nvSpPr>
          <p:cNvPr id="27" name="box-646-530">
            <a:extLst>
              <a:ext uri="{FF2B5EF4-FFF2-40B4-BE49-F238E27FC236}">
                <a16:creationId xmlns:a16="http://schemas.microsoft.com/office/drawing/2014/main" id="{4605EAD8-4602-4BB3-B4BF-407AF636857E}"/>
              </a:ext>
            </a:extLst>
          </p:cNvPr>
          <p:cNvSpPr>
            <a:spLocks noGrp="1"/>
          </p:cNvSpPr>
          <p:nvPr/>
        </p:nvSpPr>
        <p:spPr>
          <a:xfrm>
            <a:off x="6153150" y="5048250"/>
            <a:ext cx="2476500" cy="514350"/>
          </a:xfrm>
          <a:prstGeom prst="roundRect">
            <a:avLst>
              <a:gd name="adj" fmla="val 14815"/>
            </a:avLst>
          </a:prstGeom>
          <a:solidFill>
            <a:srgbClr val="FFFFFF"/>
          </a:solidFill>
          <a:ln w="11430">
            <a:solidFill>
              <a:srgbClr val="CBD8E3"/>
            </a:solidFill>
            <a:prstDash val="solid"/>
          </a:ln>
        </p:spPr>
        <p:txBody>
          <a:bodyPr>
            <a:noAutofit/>
          </a:bodyPr>
          <a:lstStyle/>
          <a:p>
            <a:pPr algn="ctr">
              <a:defRPr sz="1125" b="1">
                <a:solidFill>
                  <a:srgbClr val="162638"/>
                </a:solidFill>
                <a:latin typeface="Arial"/>
                <a:ea typeface="Arial"/>
                <a:cs typeface="Arial"/>
              </a:defRPr>
            </a:pPr>
            <a:r>
              <a:rPr sz="1125" b="1">
                <a:solidFill>
                  <a:srgbClr val="162638"/>
                </a:solidFill>
                <a:latin typeface="Arial"/>
                <a:ea typeface="Arial"/>
                <a:cs typeface="Arial"/>
              </a:rPr>
              <a:t>Transactional outbox + observability</a:t>
            </a:r>
          </a:p>
        </p:txBody>
      </p:sp>
      <p:sp>
        <p:nvSpPr>
          <p:cNvPr id="28" name="text-988-326-→">
            <a:extLst>
              <a:ext uri="{FF2B5EF4-FFF2-40B4-BE49-F238E27FC236}">
                <a16:creationId xmlns:a16="http://schemas.microsoft.com/office/drawing/2014/main" id="{D0E00503-B7C0-4AA8-B355-7222791B4466}"/>
              </a:ext>
            </a:extLst>
          </p:cNvPr>
          <p:cNvSpPr>
            <a:spLocks noGrp="1"/>
          </p:cNvSpPr>
          <p:nvPr/>
        </p:nvSpPr>
        <p:spPr>
          <a:xfrm>
            <a:off x="9410700" y="3105150"/>
            <a:ext cx="419100" cy="438150"/>
          </a:xfrm>
          <a:prstGeom prst="rect">
            <a:avLst/>
          </a:prstGeom>
          <a:noFill/>
          <a:ln w="0">
            <a:noFill/>
          </a:ln>
        </p:spPr>
        <p:txBody>
          <a:bodyPr>
            <a:noAutofit/>
          </a:bodyPr>
          <a:lstStyle/>
          <a:p>
            <a:pPr algn="ctr">
              <a:defRPr sz="2100" b="1">
                <a:solidFill>
                  <a:srgbClr val="6C5AA8"/>
                </a:solidFill>
                <a:latin typeface="Arial"/>
                <a:ea typeface="Arial"/>
                <a:cs typeface="Arial"/>
              </a:defRPr>
            </a:pPr>
            <a:r>
              <a:rPr sz="2100" b="1">
                <a:solidFill>
                  <a:srgbClr val="6C5AA8"/>
                </a:solidFill>
                <a:latin typeface="Arial"/>
                <a:ea typeface="Arial"/>
                <a:cs typeface="Arial"/>
              </a:rPr>
              <a:t>→</a:t>
            </a:r>
          </a:p>
        </p:txBody>
      </p:sp>
      <p:sp>
        <p:nvSpPr>
          <p:cNvPr id="29" name="box-1032-202">
            <a:extLst>
              <a:ext uri="{FF2B5EF4-FFF2-40B4-BE49-F238E27FC236}">
                <a16:creationId xmlns:a16="http://schemas.microsoft.com/office/drawing/2014/main" id="{9C8BD3EB-BEA3-498C-9558-3DDD688A0C35}"/>
              </a:ext>
            </a:extLst>
          </p:cNvPr>
          <p:cNvSpPr>
            <a:spLocks noGrp="1"/>
          </p:cNvSpPr>
          <p:nvPr/>
        </p:nvSpPr>
        <p:spPr>
          <a:xfrm>
            <a:off x="9829800" y="1924050"/>
            <a:ext cx="1809750" cy="2762250"/>
          </a:xfrm>
          <a:prstGeom prst="roundRect">
            <a:avLst>
              <a:gd name="adj" fmla="val 4211"/>
            </a:avLst>
          </a:prstGeom>
          <a:solidFill>
            <a:srgbClr val="F0EDFA"/>
          </a:solidFill>
          <a:ln w="14288">
            <a:solidFill>
              <a:srgbClr val="6C5AA8"/>
            </a:solidFill>
            <a:prstDash val="solid"/>
          </a:ln>
        </p:spPr>
        <p:txBody>
          <a:bodyPr/>
          <a:lstStyle/>
          <a:p>
            <a:endParaRPr lang="en-US"/>
          </a:p>
        </p:txBody>
      </p:sp>
      <p:sp>
        <p:nvSpPr>
          <p:cNvPr id="30" name="box-1048-220">
            <a:extLst>
              <a:ext uri="{FF2B5EF4-FFF2-40B4-BE49-F238E27FC236}">
                <a16:creationId xmlns:a16="http://schemas.microsoft.com/office/drawing/2014/main" id="{DF7F4100-DE09-417D-9898-8AC232521BEE}"/>
              </a:ext>
            </a:extLst>
          </p:cNvPr>
          <p:cNvSpPr>
            <a:spLocks noGrp="1"/>
          </p:cNvSpPr>
          <p:nvPr/>
        </p:nvSpPr>
        <p:spPr>
          <a:xfrm>
            <a:off x="9982200" y="2095500"/>
            <a:ext cx="1504950" cy="381000"/>
          </a:xfrm>
          <a:prstGeom prst="roundRect">
            <a:avLst>
              <a:gd name="adj" fmla="val 20000"/>
            </a:avLst>
          </a:prstGeom>
          <a:solidFill>
            <a:srgbClr val="6C5AA8"/>
          </a:solidFill>
          <a:ln w="7620">
            <a:solidFill>
              <a:srgbClr val="6C5AA8"/>
            </a:solidFill>
            <a:prstDash val="solid"/>
          </a:ln>
        </p:spPr>
        <p:txBody>
          <a:bodyPr>
            <a:noAutofit/>
          </a:bodyPr>
          <a:lstStyle/>
          <a:p>
            <a:pPr algn="ctr">
              <a:defRPr sz="900" b="1">
                <a:solidFill>
                  <a:srgbClr val="FFFFFF"/>
                </a:solidFill>
                <a:latin typeface="Arial"/>
                <a:ea typeface="Arial"/>
                <a:cs typeface="Arial"/>
              </a:defRPr>
            </a:pPr>
            <a:r>
              <a:rPr sz="900" b="1">
                <a:solidFill>
                  <a:srgbClr val="FFFFFF"/>
                </a:solidFill>
                <a:latin typeface="Arial"/>
                <a:ea typeface="Arial"/>
                <a:cs typeface="Arial"/>
              </a:rPr>
              <a:t>WINDOWS FORMAT WORKER</a:t>
            </a:r>
          </a:p>
        </p:txBody>
      </p:sp>
      <p:sp>
        <p:nvSpPr>
          <p:cNvPr id="31" name="text-1056-290-Boundary đã chọn">
            <a:extLst>
              <a:ext uri="{FF2B5EF4-FFF2-40B4-BE49-F238E27FC236}">
                <a16:creationId xmlns:a16="http://schemas.microsoft.com/office/drawing/2014/main" id="{F365FC52-06ED-4291-B24D-93AD5AFD1B6A}"/>
              </a:ext>
            </a:extLst>
          </p:cNvPr>
          <p:cNvSpPr>
            <a:spLocks noGrp="1"/>
          </p:cNvSpPr>
          <p:nvPr/>
        </p:nvSpPr>
        <p:spPr>
          <a:xfrm>
            <a:off x="10058400" y="2762250"/>
            <a:ext cx="1352550" cy="266700"/>
          </a:xfrm>
          <a:prstGeom prst="rect">
            <a:avLst/>
          </a:prstGeom>
          <a:noFill/>
          <a:ln w="0">
            <a:noFill/>
          </a:ln>
        </p:spPr>
        <p:txBody>
          <a:bodyPr>
            <a:noAutofit/>
          </a:bodyPr>
          <a:lstStyle/>
          <a:p>
            <a:pPr algn="ctr">
              <a:defRPr sz="1350" b="1">
                <a:solidFill>
                  <a:srgbClr val="6C5AA8"/>
                </a:solidFill>
                <a:latin typeface="Arial"/>
                <a:ea typeface="Arial"/>
                <a:cs typeface="Arial"/>
              </a:defRPr>
            </a:pPr>
            <a:r>
              <a:rPr sz="1350" b="1">
                <a:solidFill>
                  <a:srgbClr val="6C5AA8"/>
                </a:solidFill>
                <a:latin typeface="Arial"/>
                <a:ea typeface="Arial"/>
                <a:cs typeface="Arial"/>
              </a:rPr>
              <a:t>Boundary đã chọn</a:t>
            </a:r>
          </a:p>
        </p:txBody>
      </p:sp>
      <p:sp>
        <p:nvSpPr>
          <p:cNvPr id="32" name="text-1052-336-Chỉ dùng khi CAD">
            <a:extLst>
              <a:ext uri="{FF2B5EF4-FFF2-40B4-BE49-F238E27FC236}">
                <a16:creationId xmlns:a16="http://schemas.microsoft.com/office/drawing/2014/main" id="{E8B7529A-10CA-4899-88CE-2C68F5CC688A}"/>
              </a:ext>
            </a:extLst>
          </p:cNvPr>
          <p:cNvSpPr>
            <a:spLocks noGrp="1"/>
          </p:cNvSpPr>
          <p:nvPr/>
        </p:nvSpPr>
        <p:spPr>
          <a:xfrm>
            <a:off x="10020300" y="3200400"/>
            <a:ext cx="1428750" cy="742950"/>
          </a:xfrm>
          <a:prstGeom prst="rect">
            <a:avLst/>
          </a:prstGeom>
          <a:noFill/>
          <a:ln w="0">
            <a:noFill/>
          </a:ln>
        </p:spPr>
        <p:txBody>
          <a:bodyPr>
            <a:noAutofit/>
          </a:bodyPr>
          <a:lstStyle/>
          <a:p>
            <a:pPr algn="ctr">
              <a:defRPr sz="1200" b="0">
                <a:solidFill>
                  <a:srgbClr val="162638"/>
                </a:solidFill>
                <a:latin typeface="Arial"/>
                <a:ea typeface="Arial"/>
                <a:cs typeface="Arial"/>
              </a:defRPr>
            </a:pPr>
            <a:r>
              <a:rPr sz="1200" b="0">
                <a:solidFill>
                  <a:srgbClr val="162638"/>
                </a:solidFill>
                <a:latin typeface="Arial"/>
                <a:ea typeface="Arial"/>
                <a:cs typeface="Arial"/>
              </a:rPr>
              <a:t>Chỉ dùng khi CAD / Office / license yêu cầu xử lý riêng</a:t>
            </a:r>
          </a:p>
        </p:txBody>
      </p:sp>
      <p:sp>
        <p:nvSpPr>
          <p:cNvPr id="33" name="text-1046-424-Runtime / toolch">
            <a:extLst>
              <a:ext uri="{FF2B5EF4-FFF2-40B4-BE49-F238E27FC236}">
                <a16:creationId xmlns:a16="http://schemas.microsoft.com/office/drawing/2014/main" id="{D112CE26-26EC-4B6D-8380-F9974F4AF794}"/>
              </a:ext>
            </a:extLst>
          </p:cNvPr>
          <p:cNvSpPr>
            <a:spLocks noGrp="1"/>
          </p:cNvSpPr>
          <p:nvPr/>
        </p:nvSpPr>
        <p:spPr>
          <a:xfrm>
            <a:off x="9963150" y="4038600"/>
            <a:ext cx="1543050" cy="552450"/>
          </a:xfrm>
          <a:prstGeom prst="rect">
            <a:avLst/>
          </a:prstGeom>
          <a:noFill/>
          <a:ln w="0">
            <a:noFill/>
          </a:ln>
        </p:spPr>
        <p:txBody>
          <a:bodyPr>
            <a:noAutofit/>
          </a:bodyPr>
          <a:lstStyle/>
          <a:p>
            <a:pPr algn="ctr">
              <a:defRPr sz="863" b="1">
                <a:solidFill>
                  <a:srgbClr val="B94A55"/>
                </a:solidFill>
                <a:latin typeface="Arial"/>
                <a:ea typeface="Arial"/>
                <a:cs typeface="Arial"/>
              </a:defRPr>
            </a:pPr>
            <a:r>
              <a:rPr sz="863" b="1">
                <a:solidFill>
                  <a:srgbClr val="B94A55"/>
                </a:solidFill>
                <a:latin typeface="Arial"/>
                <a:ea typeface="Arial"/>
                <a:cs typeface="Arial"/>
              </a:rPr>
              <a:t>Runtime / toolchain: chưa chọn</a:t>
            </a:r>
          </a:p>
          <a:p>
            <a:pPr algn="ctr">
              <a:defRPr sz="863" b="1">
                <a:solidFill>
                  <a:srgbClr val="B94A55"/>
                </a:solidFill>
                <a:latin typeface="Arial"/>
                <a:ea typeface="Arial"/>
                <a:cs typeface="Arial"/>
              </a:defRPr>
            </a:pPr>
            <a:r>
              <a:rPr sz="863" b="1">
                <a:solidFill>
                  <a:srgbClr val="B94A55"/>
                </a:solidFill>
                <a:latin typeface="Arial"/>
                <a:ea typeface="Arial"/>
                <a:cs typeface="Arial"/>
              </a:rPr>
              <a:t>Qualification: NOT-RUN</a:t>
            </a:r>
          </a:p>
        </p:txBody>
      </p:sp>
      <p:sp>
        <p:nvSpPr>
          <p:cNvPr id="34" name="box-1032-520">
            <a:extLst>
              <a:ext uri="{FF2B5EF4-FFF2-40B4-BE49-F238E27FC236}">
                <a16:creationId xmlns:a16="http://schemas.microsoft.com/office/drawing/2014/main" id="{95EB5709-4694-49F7-86BA-816EB4B078F6}"/>
              </a:ext>
            </a:extLst>
          </p:cNvPr>
          <p:cNvSpPr>
            <a:spLocks noGrp="1"/>
          </p:cNvSpPr>
          <p:nvPr/>
        </p:nvSpPr>
        <p:spPr>
          <a:xfrm>
            <a:off x="9829800" y="4953000"/>
            <a:ext cx="1809750" cy="609600"/>
          </a:xfrm>
          <a:prstGeom prst="roundRect">
            <a:avLst>
              <a:gd name="adj" fmla="val 12500"/>
            </a:avLst>
          </a:prstGeom>
          <a:solidFill>
            <a:srgbClr val="FFFFFF"/>
          </a:solidFill>
          <a:ln w="11430">
            <a:solidFill>
              <a:srgbClr val="CBD8E3"/>
            </a:solidFill>
            <a:prstDash val="solid"/>
          </a:ln>
        </p:spPr>
        <p:txBody>
          <a:bodyPr>
            <a:noAutofit/>
          </a:bodyPr>
          <a:lstStyle/>
          <a:p>
            <a:pPr algn="ctr">
              <a:defRPr sz="975" b="1">
                <a:solidFill>
                  <a:srgbClr val="162638"/>
                </a:solidFill>
                <a:latin typeface="Arial"/>
                <a:ea typeface="Arial"/>
                <a:cs typeface="Arial"/>
              </a:defRPr>
            </a:pPr>
            <a:r>
              <a:rPr sz="975" b="1">
                <a:solidFill>
                  <a:srgbClr val="162638"/>
                </a:solidFill>
                <a:latin typeface="Arial"/>
                <a:ea typeface="Arial"/>
                <a:cs typeface="Arial"/>
              </a:rPr>
              <a:t>Candidate output</a:t>
            </a:r>
          </a:p>
          <a:p>
            <a:pPr algn="ctr">
              <a:defRPr sz="975" b="1">
                <a:solidFill>
                  <a:srgbClr val="162638"/>
                </a:solidFill>
                <a:latin typeface="Arial"/>
                <a:ea typeface="Arial"/>
                <a:cs typeface="Arial"/>
              </a:defRPr>
            </a:pPr>
            <a:r>
              <a:rPr sz="975" b="1">
                <a:solidFill>
                  <a:srgbClr val="162638"/>
                </a:solidFill>
                <a:latin typeface="Arial"/>
                <a:ea typeface="Arial"/>
                <a:cs typeface="Arial"/>
              </a:rPr>
              <a:t>Server quyết định nhận hay từ chối</a:t>
            </a:r>
          </a:p>
        </p:txBody>
      </p:sp>
      <p:sp>
        <p:nvSpPr>
          <p:cNvPr id="35" name="text-224-642-Sơ đồ quản lý rú">
            <a:extLst>
              <a:ext uri="{FF2B5EF4-FFF2-40B4-BE49-F238E27FC236}">
                <a16:creationId xmlns:a16="http://schemas.microsoft.com/office/drawing/2014/main" id="{BD128ACB-DF1F-4719-8107-1858EF304CD7}"/>
              </a:ext>
            </a:extLst>
          </p:cNvPr>
          <p:cNvSpPr>
            <a:spLocks noGrp="1"/>
          </p:cNvSpPr>
          <p:nvPr/>
        </p:nvSpPr>
        <p:spPr>
          <a:xfrm>
            <a:off x="2133600" y="6115050"/>
            <a:ext cx="7981950" cy="247650"/>
          </a:xfrm>
          <a:prstGeom prst="rect">
            <a:avLst/>
          </a:prstGeom>
          <a:noFill/>
          <a:ln w="0">
            <a:noFill/>
          </a:ln>
        </p:spPr>
        <p:txBody>
          <a:bodyPr>
            <a:noAutofit/>
          </a:bodyPr>
          <a:lstStyle/>
          <a:p>
            <a:pPr algn="ctr">
              <a:defRPr sz="975" b="0">
                <a:solidFill>
                  <a:srgbClr val="7890A6"/>
                </a:solidFill>
                <a:latin typeface="Arial"/>
                <a:ea typeface="Arial"/>
                <a:cs typeface="Arial"/>
              </a:defRPr>
            </a:pPr>
            <a:r>
              <a:rPr sz="975" b="0">
                <a:solidFill>
                  <a:srgbClr val="7890A6"/>
                </a:solidFill>
                <a:latin typeface="Arial"/>
                <a:ea typeface="Arial"/>
                <a:cs typeface="Arial"/>
              </a:rPr>
              <a:t>Sơ đồ quản lý rút gọn từ TECH-D01/D05; không thay thế kiến trúc kiểm soát trong DOC-05.</a:t>
            </a:r>
          </a:p>
        </p:txBody>
      </p:sp>
    </p:spTree>
    <p:extLst>
      <p:ext uri="{BB962C8B-B14F-4D97-AF65-F5344CB8AC3E}">
        <p14:creationId xmlns:p14="http://schemas.microsoft.com/office/powerpoint/2010/main" val="330243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box-0-0">
            <a:extLst>
              <a:ext uri="{FF2B5EF4-FFF2-40B4-BE49-F238E27FC236}">
                <a16:creationId xmlns:a16="http://schemas.microsoft.com/office/drawing/2014/main" id="{E23564C7-CC33-49E9-B03A-57B32189A164}"/>
              </a:ext>
            </a:extLst>
          </p:cNvPr>
          <p:cNvSpPr>
            <a:spLocks noGrp="1"/>
          </p:cNvSpPr>
          <p:nvPr/>
        </p:nvSpPr>
        <p:spPr>
          <a:xfrm>
            <a:off x="0" y="0"/>
            <a:ext cx="133350" cy="6858000"/>
          </a:xfrm>
          <a:prstGeom prst="rect">
            <a:avLst/>
          </a:prstGeom>
          <a:solidFill>
            <a:srgbClr val="6C5AA8"/>
          </a:solidFill>
          <a:ln w="0">
            <a:noFill/>
            <a:prstDash val="solid"/>
          </a:ln>
        </p:spPr>
        <p:txBody>
          <a:bodyPr/>
          <a:lstStyle/>
          <a:p>
            <a:endParaRPr lang="en-US"/>
          </a:p>
        </p:txBody>
      </p:sp>
      <p:sp>
        <p:nvSpPr>
          <p:cNvPr id="2" name="text-54-28-TECH">
            <a:extLst>
              <a:ext uri="{FF2B5EF4-FFF2-40B4-BE49-F238E27FC236}">
                <a16:creationId xmlns:a16="http://schemas.microsoft.com/office/drawing/2014/main" id="{6126815C-C3E4-4CD5-B390-5CAA3AE0FF5D}"/>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6C5AA8"/>
                </a:solidFill>
                <a:latin typeface="Arial"/>
                <a:ea typeface="Arial"/>
                <a:cs typeface="Arial"/>
              </a:defRPr>
            </a:pPr>
            <a:r>
              <a:rPr sz="1050" b="1">
                <a:solidFill>
                  <a:srgbClr val="6C5AA8"/>
                </a:solidFill>
                <a:latin typeface="Arial"/>
                <a:ea typeface="Arial"/>
                <a:cs typeface="Arial"/>
              </a:rPr>
              <a:t>TECH</a:t>
            </a:r>
          </a:p>
        </p:txBody>
      </p:sp>
      <p:sp>
        <p:nvSpPr>
          <p:cNvPr id="3" name="text-54-56-Tech — Công nghệ">
            <a:extLst>
              <a:ext uri="{FF2B5EF4-FFF2-40B4-BE49-F238E27FC236}">
                <a16:creationId xmlns:a16="http://schemas.microsoft.com/office/drawing/2014/main" id="{63BDE1FF-8E1E-46A4-A227-5369E8DCBD71}"/>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Tech — Công nghệ nào chịu trách nhiệm gì?</a:t>
            </a:r>
          </a:p>
        </p:txBody>
      </p:sp>
      <p:sp>
        <p:nvSpPr>
          <p:cNvPr id="4" name="line-54-116">
            <a:extLst>
              <a:ext uri="{FF2B5EF4-FFF2-40B4-BE49-F238E27FC236}">
                <a16:creationId xmlns:a16="http://schemas.microsoft.com/office/drawing/2014/main" id="{FAFD6627-6C89-4524-B5EA-78E0E1330726}"/>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TECH-001">
            <a:extLst>
              <a:ext uri="{FF2B5EF4-FFF2-40B4-BE49-F238E27FC236}">
                <a16:creationId xmlns:a16="http://schemas.microsoft.com/office/drawing/2014/main" id="{BB1E8297-40F2-41A6-9B2F-EA855FBD6A23}"/>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TECH-001@0.14 · TECH-MATRIX@0.6</a:t>
            </a:r>
          </a:p>
        </p:txBody>
      </p:sp>
      <p:sp>
        <p:nvSpPr>
          <p:cNvPr id="6" name="text-1170-680-12">
            <a:extLst>
              <a:ext uri="{FF2B5EF4-FFF2-40B4-BE49-F238E27FC236}">
                <a16:creationId xmlns:a16="http://schemas.microsoft.com/office/drawing/2014/main" id="{1A886ACE-CDB2-46E9-9D87-C4B2E948E896}"/>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12</a:t>
            </a:r>
          </a:p>
        </p:txBody>
      </p:sp>
      <p:sp>
        <p:nvSpPr>
          <p:cNvPr id="7" name="text-66-126-TRÁCH NHIỆM">
            <a:extLst>
              <a:ext uri="{FF2B5EF4-FFF2-40B4-BE49-F238E27FC236}">
                <a16:creationId xmlns:a16="http://schemas.microsoft.com/office/drawing/2014/main" id="{14E269C5-20F0-41F4-B2E6-B301D45B028A}"/>
              </a:ext>
            </a:extLst>
          </p:cNvPr>
          <p:cNvSpPr>
            <a:spLocks noGrp="1"/>
          </p:cNvSpPr>
          <p:nvPr/>
        </p:nvSpPr>
        <p:spPr>
          <a:xfrm>
            <a:off x="628650" y="1200150"/>
            <a:ext cx="2476500" cy="228600"/>
          </a:xfrm>
          <a:prstGeom prst="rect">
            <a:avLst/>
          </a:prstGeom>
          <a:noFill/>
          <a:ln w="0">
            <a:noFill/>
          </a:ln>
        </p:spPr>
        <p:txBody>
          <a:bodyPr>
            <a:noAutofit/>
          </a:bodyPr>
          <a:lstStyle/>
          <a:p>
            <a:pPr algn="l">
              <a:defRPr sz="975" b="1">
                <a:solidFill>
                  <a:srgbClr val="7890A6"/>
                </a:solidFill>
                <a:latin typeface="Arial"/>
                <a:ea typeface="Arial"/>
                <a:cs typeface="Arial"/>
              </a:defRPr>
            </a:pPr>
            <a:r>
              <a:rPr sz="975" b="1">
                <a:solidFill>
                  <a:srgbClr val="7890A6"/>
                </a:solidFill>
                <a:latin typeface="Arial"/>
                <a:ea typeface="Arial"/>
                <a:cs typeface="Arial"/>
              </a:rPr>
              <a:t>TRÁCH NHIỆM</a:t>
            </a:r>
          </a:p>
        </p:txBody>
      </p:sp>
      <p:sp>
        <p:nvSpPr>
          <p:cNvPr id="8" name="text-346-126-CÔNG NGHỆ">
            <a:extLst>
              <a:ext uri="{FF2B5EF4-FFF2-40B4-BE49-F238E27FC236}">
                <a16:creationId xmlns:a16="http://schemas.microsoft.com/office/drawing/2014/main" id="{536ED9B8-ABFE-4311-9200-EB3553042160}"/>
              </a:ext>
            </a:extLst>
          </p:cNvPr>
          <p:cNvSpPr>
            <a:spLocks noGrp="1"/>
          </p:cNvSpPr>
          <p:nvPr/>
        </p:nvSpPr>
        <p:spPr>
          <a:xfrm>
            <a:off x="3295650" y="1200150"/>
            <a:ext cx="3143250" cy="228600"/>
          </a:xfrm>
          <a:prstGeom prst="rect">
            <a:avLst/>
          </a:prstGeom>
          <a:noFill/>
          <a:ln w="0">
            <a:noFill/>
          </a:ln>
        </p:spPr>
        <p:txBody>
          <a:bodyPr>
            <a:noAutofit/>
          </a:bodyPr>
          <a:lstStyle/>
          <a:p>
            <a:pPr algn="l">
              <a:defRPr sz="975" b="1">
                <a:solidFill>
                  <a:srgbClr val="7890A6"/>
                </a:solidFill>
                <a:latin typeface="Arial"/>
                <a:ea typeface="Arial"/>
                <a:cs typeface="Arial"/>
              </a:defRPr>
            </a:pPr>
            <a:r>
              <a:rPr sz="975" b="1">
                <a:solidFill>
                  <a:srgbClr val="7890A6"/>
                </a:solidFill>
                <a:latin typeface="Arial"/>
                <a:ea typeface="Arial"/>
                <a:cs typeface="Arial"/>
              </a:rPr>
              <a:t>CÔNG NGHỆ</a:t>
            </a:r>
          </a:p>
        </p:txBody>
      </p:sp>
      <p:sp>
        <p:nvSpPr>
          <p:cNvPr id="9" name="text-700-126-RANH GIỚI CÔNG V">
            <a:extLst>
              <a:ext uri="{FF2B5EF4-FFF2-40B4-BE49-F238E27FC236}">
                <a16:creationId xmlns:a16="http://schemas.microsoft.com/office/drawing/2014/main" id="{E5DFAEC3-6640-4B35-9B24-668BDAA4B15C}"/>
              </a:ext>
            </a:extLst>
          </p:cNvPr>
          <p:cNvSpPr>
            <a:spLocks noGrp="1"/>
          </p:cNvSpPr>
          <p:nvPr/>
        </p:nvSpPr>
        <p:spPr>
          <a:xfrm>
            <a:off x="6667500" y="1200150"/>
            <a:ext cx="4762500" cy="228600"/>
          </a:xfrm>
          <a:prstGeom prst="rect">
            <a:avLst/>
          </a:prstGeom>
          <a:noFill/>
          <a:ln w="0">
            <a:noFill/>
          </a:ln>
        </p:spPr>
        <p:txBody>
          <a:bodyPr>
            <a:noAutofit/>
          </a:bodyPr>
          <a:lstStyle/>
          <a:p>
            <a:pPr algn="l">
              <a:defRPr sz="975" b="1">
                <a:solidFill>
                  <a:srgbClr val="7890A6"/>
                </a:solidFill>
                <a:latin typeface="Arial"/>
                <a:ea typeface="Arial"/>
                <a:cs typeface="Arial"/>
              </a:defRPr>
            </a:pPr>
            <a:r>
              <a:rPr sz="975" b="1">
                <a:solidFill>
                  <a:srgbClr val="7890A6"/>
                </a:solidFill>
                <a:latin typeface="Arial"/>
                <a:ea typeface="Arial"/>
                <a:cs typeface="Arial"/>
              </a:rPr>
              <a:t>RANH GIỚI CÔNG VIỆC</a:t>
            </a:r>
          </a:p>
        </p:txBody>
      </p:sp>
      <p:sp>
        <p:nvSpPr>
          <p:cNvPr id="10" name="box-58-148">
            <a:extLst>
              <a:ext uri="{FF2B5EF4-FFF2-40B4-BE49-F238E27FC236}">
                <a16:creationId xmlns:a16="http://schemas.microsoft.com/office/drawing/2014/main" id="{EA1FE87D-193D-46D0-A3F5-CC351C200244}"/>
              </a:ext>
            </a:extLst>
          </p:cNvPr>
          <p:cNvSpPr>
            <a:spLocks noGrp="1"/>
          </p:cNvSpPr>
          <p:nvPr/>
        </p:nvSpPr>
        <p:spPr>
          <a:xfrm>
            <a:off x="552450" y="1409700"/>
            <a:ext cx="11087100" cy="495300"/>
          </a:xfrm>
          <a:prstGeom prst="roundRect">
            <a:avLst>
              <a:gd name="adj" fmla="val 15385"/>
            </a:avLst>
          </a:prstGeom>
          <a:solidFill>
            <a:srgbClr val="E8F7F9"/>
          </a:solidFill>
          <a:ln w="9525">
            <a:solidFill>
              <a:srgbClr val="CBD8E3"/>
            </a:solidFill>
            <a:prstDash val="solid"/>
          </a:ln>
        </p:spPr>
        <p:txBody>
          <a:bodyPr/>
          <a:lstStyle/>
          <a:p>
            <a:endParaRPr lang="en-US"/>
          </a:p>
        </p:txBody>
      </p:sp>
      <p:sp>
        <p:nvSpPr>
          <p:cNvPr id="11" name="box-58-148">
            <a:extLst>
              <a:ext uri="{FF2B5EF4-FFF2-40B4-BE49-F238E27FC236}">
                <a16:creationId xmlns:a16="http://schemas.microsoft.com/office/drawing/2014/main" id="{65F76C11-606C-46FF-A65D-1FF446E5E80F}"/>
              </a:ext>
            </a:extLst>
          </p:cNvPr>
          <p:cNvSpPr>
            <a:spLocks noGrp="1"/>
          </p:cNvSpPr>
          <p:nvPr/>
        </p:nvSpPr>
        <p:spPr>
          <a:xfrm>
            <a:off x="552450" y="1409700"/>
            <a:ext cx="95250" cy="495300"/>
          </a:xfrm>
          <a:prstGeom prst="rect">
            <a:avLst/>
          </a:prstGeom>
          <a:solidFill>
            <a:srgbClr val="2F8FC2"/>
          </a:solidFill>
          <a:ln w="0">
            <a:solidFill>
              <a:srgbClr val="2F8FC2"/>
            </a:solidFill>
            <a:prstDash val="solid"/>
          </a:ln>
        </p:spPr>
        <p:txBody>
          <a:bodyPr/>
          <a:lstStyle/>
          <a:p>
            <a:endParaRPr lang="en-US"/>
          </a:p>
        </p:txBody>
      </p:sp>
      <p:sp>
        <p:nvSpPr>
          <p:cNvPr id="12" name="text-82-160-Business UI">
            <a:extLst>
              <a:ext uri="{FF2B5EF4-FFF2-40B4-BE49-F238E27FC236}">
                <a16:creationId xmlns:a16="http://schemas.microsoft.com/office/drawing/2014/main" id="{2919B203-559D-4AC3-B02F-CC743B89132A}"/>
              </a:ext>
            </a:extLst>
          </p:cNvPr>
          <p:cNvSpPr>
            <a:spLocks noGrp="1"/>
          </p:cNvSpPr>
          <p:nvPr/>
        </p:nvSpPr>
        <p:spPr>
          <a:xfrm>
            <a:off x="781050" y="1524000"/>
            <a:ext cx="2343150" cy="285750"/>
          </a:xfrm>
          <a:prstGeom prst="rect">
            <a:avLst/>
          </a:prstGeom>
          <a:noFill/>
          <a:ln w="0">
            <a:noFill/>
          </a:ln>
        </p:spPr>
        <p:txBody>
          <a:bodyPr>
            <a:noAutofit/>
          </a:bodyPr>
          <a:lstStyle/>
          <a:p>
            <a:pPr algn="l">
              <a:defRPr sz="1088" b="1">
                <a:solidFill>
                  <a:srgbClr val="102744"/>
                </a:solidFill>
                <a:latin typeface="Arial"/>
                <a:ea typeface="Arial"/>
                <a:cs typeface="Arial"/>
              </a:defRPr>
            </a:pPr>
            <a:r>
              <a:rPr sz="1088" b="1">
                <a:solidFill>
                  <a:srgbClr val="102744"/>
                </a:solidFill>
                <a:latin typeface="Arial"/>
                <a:ea typeface="Arial"/>
                <a:cs typeface="Arial"/>
              </a:rPr>
              <a:t>Business UI</a:t>
            </a:r>
          </a:p>
        </p:txBody>
      </p:sp>
      <p:sp>
        <p:nvSpPr>
          <p:cNvPr id="13" name="text-346-160-React + TypeScri">
            <a:extLst>
              <a:ext uri="{FF2B5EF4-FFF2-40B4-BE49-F238E27FC236}">
                <a16:creationId xmlns:a16="http://schemas.microsoft.com/office/drawing/2014/main" id="{E46E4653-BF95-4831-AAC8-E12421DDD95F}"/>
              </a:ext>
            </a:extLst>
          </p:cNvPr>
          <p:cNvSpPr>
            <a:spLocks noGrp="1"/>
          </p:cNvSpPr>
          <p:nvPr/>
        </p:nvSpPr>
        <p:spPr>
          <a:xfrm>
            <a:off x="3295650" y="1524000"/>
            <a:ext cx="3143250" cy="285750"/>
          </a:xfrm>
          <a:prstGeom prst="rect">
            <a:avLst/>
          </a:prstGeom>
          <a:noFill/>
          <a:ln w="0">
            <a:noFill/>
          </a:ln>
        </p:spPr>
        <p:txBody>
          <a:bodyPr>
            <a:noAutofit/>
          </a:bodyPr>
          <a:lstStyle/>
          <a:p>
            <a:pPr algn="l">
              <a:defRPr sz="1125" b="1">
                <a:solidFill>
                  <a:srgbClr val="162638"/>
                </a:solidFill>
                <a:latin typeface="Arial"/>
                <a:ea typeface="Arial"/>
                <a:cs typeface="Arial"/>
              </a:defRPr>
            </a:pPr>
            <a:r>
              <a:rPr sz="1125" b="1">
                <a:solidFill>
                  <a:srgbClr val="162638"/>
                </a:solidFill>
                <a:latin typeface="Arial"/>
                <a:ea typeface="Arial"/>
                <a:cs typeface="Arial"/>
              </a:rPr>
              <a:t>React + TypeScript</a:t>
            </a:r>
          </a:p>
        </p:txBody>
      </p:sp>
      <p:sp>
        <p:nvSpPr>
          <p:cNvPr id="14" name="text-700-155-Tìm kiếm, duyệt,">
            <a:extLst>
              <a:ext uri="{FF2B5EF4-FFF2-40B4-BE49-F238E27FC236}">
                <a16:creationId xmlns:a16="http://schemas.microsoft.com/office/drawing/2014/main" id="{EDBCD050-6ED5-4E33-8804-DEB4C51B3013}"/>
              </a:ext>
            </a:extLst>
          </p:cNvPr>
          <p:cNvSpPr>
            <a:spLocks noGrp="1"/>
          </p:cNvSpPr>
          <p:nvPr/>
        </p:nvSpPr>
        <p:spPr>
          <a:xfrm>
            <a:off x="6667500" y="1476375"/>
            <a:ext cx="4686300" cy="361950"/>
          </a:xfrm>
          <a:prstGeom prst="rect">
            <a:avLst/>
          </a:prstGeom>
          <a:noFill/>
          <a:ln w="0">
            <a:noFill/>
          </a:ln>
        </p:spPr>
        <p:txBody>
          <a:bodyPr>
            <a:noAutofit/>
          </a:bodyPr>
          <a:lstStyle/>
          <a:p>
            <a:pPr algn="l">
              <a:defRPr sz="1013" b="0">
                <a:solidFill>
                  <a:srgbClr val="4B6075"/>
                </a:solidFill>
                <a:latin typeface="Arial"/>
                <a:ea typeface="Arial"/>
                <a:cs typeface="Arial"/>
              </a:defRPr>
            </a:pPr>
            <a:r>
              <a:rPr sz="1013" b="0">
                <a:solidFill>
                  <a:srgbClr val="4B6075"/>
                </a:solidFill>
                <a:latin typeface="Arial"/>
                <a:ea typeface="Arial"/>
                <a:cs typeface="Arial"/>
              </a:rPr>
              <a:t>Tìm kiếm, duyệt, review và quản trị trên Web lẫn Desktop</a:t>
            </a:r>
          </a:p>
        </p:txBody>
      </p:sp>
      <p:sp>
        <p:nvSpPr>
          <p:cNvPr id="15" name="box-58-206">
            <a:extLst>
              <a:ext uri="{FF2B5EF4-FFF2-40B4-BE49-F238E27FC236}">
                <a16:creationId xmlns:a16="http://schemas.microsoft.com/office/drawing/2014/main" id="{55F91907-2BA5-4BA5-9C8E-2491AC68E996}"/>
              </a:ext>
            </a:extLst>
          </p:cNvPr>
          <p:cNvSpPr>
            <a:spLocks noGrp="1"/>
          </p:cNvSpPr>
          <p:nvPr/>
        </p:nvSpPr>
        <p:spPr>
          <a:xfrm>
            <a:off x="552450" y="1962150"/>
            <a:ext cx="11087100" cy="495300"/>
          </a:xfrm>
          <a:prstGeom prst="roundRect">
            <a:avLst>
              <a:gd name="adj" fmla="val 15385"/>
            </a:avLst>
          </a:prstGeom>
          <a:solidFill>
            <a:srgbClr val="EAF3F9"/>
          </a:solidFill>
          <a:ln w="9525">
            <a:solidFill>
              <a:srgbClr val="CBD8E3"/>
            </a:solidFill>
            <a:prstDash val="solid"/>
          </a:ln>
        </p:spPr>
        <p:txBody>
          <a:bodyPr/>
          <a:lstStyle/>
          <a:p>
            <a:endParaRPr lang="en-US"/>
          </a:p>
        </p:txBody>
      </p:sp>
      <p:sp>
        <p:nvSpPr>
          <p:cNvPr id="16" name="box-58-206">
            <a:extLst>
              <a:ext uri="{FF2B5EF4-FFF2-40B4-BE49-F238E27FC236}">
                <a16:creationId xmlns:a16="http://schemas.microsoft.com/office/drawing/2014/main" id="{926D9CD4-5C3D-4B44-91B5-F5DA1A84889C}"/>
              </a:ext>
            </a:extLst>
          </p:cNvPr>
          <p:cNvSpPr>
            <a:spLocks noGrp="1"/>
          </p:cNvSpPr>
          <p:nvPr/>
        </p:nvSpPr>
        <p:spPr>
          <a:xfrm>
            <a:off x="552450" y="1962150"/>
            <a:ext cx="95250" cy="495300"/>
          </a:xfrm>
          <a:prstGeom prst="rect">
            <a:avLst/>
          </a:prstGeom>
          <a:solidFill>
            <a:srgbClr val="2169A8"/>
          </a:solidFill>
          <a:ln w="0">
            <a:solidFill>
              <a:srgbClr val="2169A8"/>
            </a:solidFill>
            <a:prstDash val="solid"/>
          </a:ln>
        </p:spPr>
        <p:txBody>
          <a:bodyPr/>
          <a:lstStyle/>
          <a:p>
            <a:endParaRPr lang="en-US"/>
          </a:p>
        </p:txBody>
      </p:sp>
      <p:sp>
        <p:nvSpPr>
          <p:cNvPr id="17" name="text-82-218-Windows shell">
            <a:extLst>
              <a:ext uri="{FF2B5EF4-FFF2-40B4-BE49-F238E27FC236}">
                <a16:creationId xmlns:a16="http://schemas.microsoft.com/office/drawing/2014/main" id="{61C6E03D-65BA-41DC-8B00-B90B2DB4A9CD}"/>
              </a:ext>
            </a:extLst>
          </p:cNvPr>
          <p:cNvSpPr>
            <a:spLocks noGrp="1"/>
          </p:cNvSpPr>
          <p:nvPr/>
        </p:nvSpPr>
        <p:spPr>
          <a:xfrm>
            <a:off x="781050" y="2076450"/>
            <a:ext cx="2343150" cy="285750"/>
          </a:xfrm>
          <a:prstGeom prst="rect">
            <a:avLst/>
          </a:prstGeom>
          <a:noFill/>
          <a:ln w="0">
            <a:noFill/>
          </a:ln>
        </p:spPr>
        <p:txBody>
          <a:bodyPr>
            <a:noAutofit/>
          </a:bodyPr>
          <a:lstStyle/>
          <a:p>
            <a:pPr algn="l">
              <a:defRPr sz="1088" b="1">
                <a:solidFill>
                  <a:srgbClr val="102744"/>
                </a:solidFill>
                <a:latin typeface="Arial"/>
                <a:ea typeface="Arial"/>
                <a:cs typeface="Arial"/>
              </a:defRPr>
            </a:pPr>
            <a:r>
              <a:rPr sz="1088" b="1">
                <a:solidFill>
                  <a:srgbClr val="102744"/>
                </a:solidFill>
                <a:latin typeface="Arial"/>
                <a:ea typeface="Arial"/>
                <a:cs typeface="Arial"/>
              </a:rPr>
              <a:t>Windows shell</a:t>
            </a:r>
          </a:p>
        </p:txBody>
      </p:sp>
      <p:sp>
        <p:nvSpPr>
          <p:cNvPr id="18" name="text-346-218-WPF + WebView2">
            <a:extLst>
              <a:ext uri="{FF2B5EF4-FFF2-40B4-BE49-F238E27FC236}">
                <a16:creationId xmlns:a16="http://schemas.microsoft.com/office/drawing/2014/main" id="{A8376899-11E4-4AC3-A2EF-4E4C78667F0E}"/>
              </a:ext>
            </a:extLst>
          </p:cNvPr>
          <p:cNvSpPr>
            <a:spLocks noGrp="1"/>
          </p:cNvSpPr>
          <p:nvPr/>
        </p:nvSpPr>
        <p:spPr>
          <a:xfrm>
            <a:off x="3295650" y="2076450"/>
            <a:ext cx="3143250" cy="285750"/>
          </a:xfrm>
          <a:prstGeom prst="rect">
            <a:avLst/>
          </a:prstGeom>
          <a:noFill/>
          <a:ln w="0">
            <a:noFill/>
          </a:ln>
        </p:spPr>
        <p:txBody>
          <a:bodyPr>
            <a:noAutofit/>
          </a:bodyPr>
          <a:lstStyle/>
          <a:p>
            <a:pPr algn="l">
              <a:defRPr sz="1125" b="1">
                <a:solidFill>
                  <a:srgbClr val="162638"/>
                </a:solidFill>
                <a:latin typeface="Arial"/>
                <a:ea typeface="Arial"/>
                <a:cs typeface="Arial"/>
              </a:defRPr>
            </a:pPr>
            <a:r>
              <a:rPr sz="1125" b="1">
                <a:solidFill>
                  <a:srgbClr val="162638"/>
                </a:solidFill>
                <a:latin typeface="Arial"/>
                <a:ea typeface="Arial"/>
                <a:cs typeface="Arial"/>
              </a:rPr>
              <a:t>WPF + WebView2</a:t>
            </a:r>
          </a:p>
        </p:txBody>
      </p:sp>
      <p:sp>
        <p:nvSpPr>
          <p:cNvPr id="19" name="text-700-213-Bề mặt Desktop h">
            <a:extLst>
              <a:ext uri="{FF2B5EF4-FFF2-40B4-BE49-F238E27FC236}">
                <a16:creationId xmlns:a16="http://schemas.microsoft.com/office/drawing/2014/main" id="{D47BDBB7-9BEA-4B14-A297-FCDEFB74FFC9}"/>
              </a:ext>
            </a:extLst>
          </p:cNvPr>
          <p:cNvSpPr>
            <a:spLocks noGrp="1"/>
          </p:cNvSpPr>
          <p:nvPr/>
        </p:nvSpPr>
        <p:spPr>
          <a:xfrm>
            <a:off x="6667500" y="2028825"/>
            <a:ext cx="4686300" cy="361950"/>
          </a:xfrm>
          <a:prstGeom prst="rect">
            <a:avLst/>
          </a:prstGeom>
          <a:noFill/>
          <a:ln w="0">
            <a:noFill/>
          </a:ln>
        </p:spPr>
        <p:txBody>
          <a:bodyPr>
            <a:noAutofit/>
          </a:bodyPr>
          <a:lstStyle/>
          <a:p>
            <a:pPr algn="l">
              <a:defRPr sz="1013" b="0">
                <a:solidFill>
                  <a:srgbClr val="4B6075"/>
                </a:solidFill>
                <a:latin typeface="Arial"/>
                <a:ea typeface="Arial"/>
                <a:cs typeface="Arial"/>
              </a:defRPr>
            </a:pPr>
            <a:r>
              <a:rPr sz="1013" b="0">
                <a:solidFill>
                  <a:srgbClr val="4B6075"/>
                </a:solidFill>
                <a:latin typeface="Arial"/>
                <a:ea typeface="Arial"/>
                <a:cs typeface="Arial"/>
              </a:rPr>
              <a:t>Bề mặt Desktop hẹp; tái sử dụng business UI</a:t>
            </a:r>
          </a:p>
        </p:txBody>
      </p:sp>
      <p:sp>
        <p:nvSpPr>
          <p:cNvPr id="20" name="box-58-264">
            <a:extLst>
              <a:ext uri="{FF2B5EF4-FFF2-40B4-BE49-F238E27FC236}">
                <a16:creationId xmlns:a16="http://schemas.microsoft.com/office/drawing/2014/main" id="{6041F63A-9D29-4072-90E7-EE38CD6AFDA0}"/>
              </a:ext>
            </a:extLst>
          </p:cNvPr>
          <p:cNvSpPr>
            <a:spLocks noGrp="1"/>
          </p:cNvSpPr>
          <p:nvPr/>
        </p:nvSpPr>
        <p:spPr>
          <a:xfrm>
            <a:off x="552450" y="2514600"/>
            <a:ext cx="11087100" cy="495300"/>
          </a:xfrm>
          <a:prstGeom prst="roundRect">
            <a:avLst>
              <a:gd name="adj" fmla="val 15385"/>
            </a:avLst>
          </a:prstGeom>
          <a:solidFill>
            <a:srgbClr val="EAF3F9"/>
          </a:solidFill>
          <a:ln w="9525">
            <a:solidFill>
              <a:srgbClr val="CBD8E3"/>
            </a:solidFill>
            <a:prstDash val="solid"/>
          </a:ln>
        </p:spPr>
        <p:txBody>
          <a:bodyPr/>
          <a:lstStyle/>
          <a:p>
            <a:endParaRPr lang="en-US"/>
          </a:p>
        </p:txBody>
      </p:sp>
      <p:sp>
        <p:nvSpPr>
          <p:cNvPr id="21" name="box-58-264">
            <a:extLst>
              <a:ext uri="{FF2B5EF4-FFF2-40B4-BE49-F238E27FC236}">
                <a16:creationId xmlns:a16="http://schemas.microsoft.com/office/drawing/2014/main" id="{4DE618A1-9611-40F3-992C-6B67B32DECD3}"/>
              </a:ext>
            </a:extLst>
          </p:cNvPr>
          <p:cNvSpPr>
            <a:spLocks noGrp="1"/>
          </p:cNvSpPr>
          <p:nvPr/>
        </p:nvSpPr>
        <p:spPr>
          <a:xfrm>
            <a:off x="552450" y="2514600"/>
            <a:ext cx="95250" cy="495300"/>
          </a:xfrm>
          <a:prstGeom prst="rect">
            <a:avLst/>
          </a:prstGeom>
          <a:solidFill>
            <a:srgbClr val="2169A8"/>
          </a:solidFill>
          <a:ln w="0">
            <a:solidFill>
              <a:srgbClr val="2169A8"/>
            </a:solidFill>
            <a:prstDash val="solid"/>
          </a:ln>
        </p:spPr>
        <p:txBody>
          <a:bodyPr/>
          <a:lstStyle/>
          <a:p>
            <a:endParaRPr lang="en-US"/>
          </a:p>
        </p:txBody>
      </p:sp>
      <p:sp>
        <p:nvSpPr>
          <p:cNvPr id="22" name="text-82-276-Local engineerin">
            <a:extLst>
              <a:ext uri="{FF2B5EF4-FFF2-40B4-BE49-F238E27FC236}">
                <a16:creationId xmlns:a16="http://schemas.microsoft.com/office/drawing/2014/main" id="{97714692-1988-4A27-A14B-A36FD94825D2}"/>
              </a:ext>
            </a:extLst>
          </p:cNvPr>
          <p:cNvSpPr>
            <a:spLocks noGrp="1"/>
          </p:cNvSpPr>
          <p:nvPr/>
        </p:nvSpPr>
        <p:spPr>
          <a:xfrm>
            <a:off x="781050" y="2628900"/>
            <a:ext cx="2343150" cy="285750"/>
          </a:xfrm>
          <a:prstGeom prst="rect">
            <a:avLst/>
          </a:prstGeom>
          <a:noFill/>
          <a:ln w="0">
            <a:noFill/>
          </a:ln>
        </p:spPr>
        <p:txBody>
          <a:bodyPr>
            <a:noAutofit/>
          </a:bodyPr>
          <a:lstStyle/>
          <a:p>
            <a:pPr algn="l">
              <a:defRPr sz="1088" b="1">
                <a:solidFill>
                  <a:srgbClr val="102744"/>
                </a:solidFill>
                <a:latin typeface="Arial"/>
                <a:ea typeface="Arial"/>
                <a:cs typeface="Arial"/>
              </a:defRPr>
            </a:pPr>
            <a:r>
              <a:rPr sz="1088" b="1">
                <a:solidFill>
                  <a:srgbClr val="102744"/>
                </a:solidFill>
                <a:latin typeface="Arial"/>
                <a:ea typeface="Arial"/>
                <a:cs typeface="Arial"/>
              </a:rPr>
              <a:t>Local engineering boundary</a:t>
            </a:r>
          </a:p>
        </p:txBody>
      </p:sp>
      <p:sp>
        <p:nvSpPr>
          <p:cNvPr id="23" name="text-346-276-.NET 10 Workspac">
            <a:extLst>
              <a:ext uri="{FF2B5EF4-FFF2-40B4-BE49-F238E27FC236}">
                <a16:creationId xmlns:a16="http://schemas.microsoft.com/office/drawing/2014/main" id="{1D322C7D-4B18-4FE7-AC78-5280A051330B}"/>
              </a:ext>
            </a:extLst>
          </p:cNvPr>
          <p:cNvSpPr>
            <a:spLocks noGrp="1"/>
          </p:cNvSpPr>
          <p:nvPr/>
        </p:nvSpPr>
        <p:spPr>
          <a:xfrm>
            <a:off x="3295650" y="2628900"/>
            <a:ext cx="3143250" cy="285750"/>
          </a:xfrm>
          <a:prstGeom prst="rect">
            <a:avLst/>
          </a:prstGeom>
          <a:noFill/>
          <a:ln w="0">
            <a:noFill/>
          </a:ln>
        </p:spPr>
        <p:txBody>
          <a:bodyPr>
            <a:noAutofit/>
          </a:bodyPr>
          <a:lstStyle/>
          <a:p>
            <a:pPr algn="l">
              <a:defRPr sz="1125" b="1">
                <a:solidFill>
                  <a:srgbClr val="162638"/>
                </a:solidFill>
                <a:latin typeface="Arial"/>
                <a:ea typeface="Arial"/>
                <a:cs typeface="Arial"/>
              </a:defRPr>
            </a:pPr>
            <a:r>
              <a:rPr sz="1125" b="1">
                <a:solidFill>
                  <a:srgbClr val="162638"/>
                </a:solidFill>
                <a:latin typeface="Arial"/>
                <a:ea typeface="Arial"/>
                <a:cs typeface="Arial"/>
              </a:rPr>
              <a:t>.NET 10 Workspace + Named Pipes</a:t>
            </a:r>
          </a:p>
        </p:txBody>
      </p:sp>
      <p:sp>
        <p:nvSpPr>
          <p:cNvPr id="24" name="text-700-271-File cục bộ, man">
            <a:extLst>
              <a:ext uri="{FF2B5EF4-FFF2-40B4-BE49-F238E27FC236}">
                <a16:creationId xmlns:a16="http://schemas.microsoft.com/office/drawing/2014/main" id="{8E47E6C7-3A55-4A77-A24A-9C4AC9A98A08}"/>
              </a:ext>
            </a:extLst>
          </p:cNvPr>
          <p:cNvSpPr>
            <a:spLocks noGrp="1"/>
          </p:cNvSpPr>
          <p:nvPr/>
        </p:nvSpPr>
        <p:spPr>
          <a:xfrm>
            <a:off x="6667500" y="2581275"/>
            <a:ext cx="4686300" cy="361950"/>
          </a:xfrm>
          <a:prstGeom prst="rect">
            <a:avLst/>
          </a:prstGeom>
          <a:noFill/>
          <a:ln w="0">
            <a:noFill/>
          </a:ln>
        </p:spPr>
        <p:txBody>
          <a:bodyPr>
            <a:noAutofit/>
          </a:bodyPr>
          <a:lstStyle/>
          <a:p>
            <a:pPr algn="l">
              <a:defRPr sz="1013" b="0">
                <a:solidFill>
                  <a:srgbClr val="4B6075"/>
                </a:solidFill>
                <a:latin typeface="Arial"/>
                <a:ea typeface="Arial"/>
                <a:cs typeface="Arial"/>
              </a:defRPr>
            </a:pPr>
            <a:r>
              <a:rPr sz="1013" b="0">
                <a:solidFill>
                  <a:srgbClr val="4B6075"/>
                </a:solidFill>
                <a:latin typeface="Arial"/>
                <a:ea typeface="Arial"/>
                <a:cs typeface="Arial"/>
              </a:rPr>
              <a:t>File cục bộ, manifest, resume, CAD/Office và IPC có xác thực</a:t>
            </a:r>
          </a:p>
        </p:txBody>
      </p:sp>
      <p:sp>
        <p:nvSpPr>
          <p:cNvPr id="25" name="box-58-322">
            <a:extLst>
              <a:ext uri="{FF2B5EF4-FFF2-40B4-BE49-F238E27FC236}">
                <a16:creationId xmlns:a16="http://schemas.microsoft.com/office/drawing/2014/main" id="{A99F732F-21A4-4712-AD7A-1D116708D230}"/>
              </a:ext>
            </a:extLst>
          </p:cNvPr>
          <p:cNvSpPr>
            <a:spLocks noGrp="1"/>
          </p:cNvSpPr>
          <p:nvPr/>
        </p:nvSpPr>
        <p:spPr>
          <a:xfrm>
            <a:off x="552450" y="3067050"/>
            <a:ext cx="11087100" cy="495300"/>
          </a:xfrm>
          <a:prstGeom prst="roundRect">
            <a:avLst>
              <a:gd name="adj" fmla="val 15385"/>
            </a:avLst>
          </a:prstGeom>
          <a:solidFill>
            <a:srgbClr val="E8F7F9"/>
          </a:solidFill>
          <a:ln w="9525">
            <a:solidFill>
              <a:srgbClr val="CBD8E3"/>
            </a:solidFill>
            <a:prstDash val="solid"/>
          </a:ln>
        </p:spPr>
        <p:txBody>
          <a:bodyPr/>
          <a:lstStyle/>
          <a:p>
            <a:endParaRPr lang="en-US"/>
          </a:p>
        </p:txBody>
      </p:sp>
      <p:sp>
        <p:nvSpPr>
          <p:cNvPr id="26" name="box-58-322">
            <a:extLst>
              <a:ext uri="{FF2B5EF4-FFF2-40B4-BE49-F238E27FC236}">
                <a16:creationId xmlns:a16="http://schemas.microsoft.com/office/drawing/2014/main" id="{C2BEF451-D773-4DA9-A105-D2401EBFBC3C}"/>
              </a:ext>
            </a:extLst>
          </p:cNvPr>
          <p:cNvSpPr>
            <a:spLocks noGrp="1"/>
          </p:cNvSpPr>
          <p:nvPr/>
        </p:nvSpPr>
        <p:spPr>
          <a:xfrm>
            <a:off x="552450" y="3067050"/>
            <a:ext cx="95250" cy="495300"/>
          </a:xfrm>
          <a:prstGeom prst="rect">
            <a:avLst/>
          </a:prstGeom>
          <a:solidFill>
            <a:srgbClr val="2F8FC2"/>
          </a:solidFill>
          <a:ln w="0">
            <a:solidFill>
              <a:srgbClr val="2F8FC2"/>
            </a:solidFill>
            <a:prstDash val="solid"/>
          </a:ln>
        </p:spPr>
        <p:txBody>
          <a:bodyPr/>
          <a:lstStyle/>
          <a:p>
            <a:endParaRPr lang="en-US"/>
          </a:p>
        </p:txBody>
      </p:sp>
      <p:sp>
        <p:nvSpPr>
          <p:cNvPr id="27" name="text-82-334-Remote contract">
            <a:extLst>
              <a:ext uri="{FF2B5EF4-FFF2-40B4-BE49-F238E27FC236}">
                <a16:creationId xmlns:a16="http://schemas.microsoft.com/office/drawing/2014/main" id="{2955E674-5978-4C79-8661-86BBC54BF6B6}"/>
              </a:ext>
            </a:extLst>
          </p:cNvPr>
          <p:cNvSpPr>
            <a:spLocks noGrp="1"/>
          </p:cNvSpPr>
          <p:nvPr/>
        </p:nvSpPr>
        <p:spPr>
          <a:xfrm>
            <a:off x="781050" y="3181350"/>
            <a:ext cx="2343150" cy="285750"/>
          </a:xfrm>
          <a:prstGeom prst="rect">
            <a:avLst/>
          </a:prstGeom>
          <a:noFill/>
          <a:ln w="0">
            <a:noFill/>
          </a:ln>
        </p:spPr>
        <p:txBody>
          <a:bodyPr>
            <a:noAutofit/>
          </a:bodyPr>
          <a:lstStyle/>
          <a:p>
            <a:pPr algn="l">
              <a:defRPr sz="1088" b="1">
                <a:solidFill>
                  <a:srgbClr val="102744"/>
                </a:solidFill>
                <a:latin typeface="Arial"/>
                <a:ea typeface="Arial"/>
                <a:cs typeface="Arial"/>
              </a:defRPr>
            </a:pPr>
            <a:r>
              <a:rPr sz="1088" b="1">
                <a:solidFill>
                  <a:srgbClr val="102744"/>
                </a:solidFill>
                <a:latin typeface="Arial"/>
                <a:ea typeface="Arial"/>
                <a:cs typeface="Arial"/>
              </a:rPr>
              <a:t>Remote contract</a:t>
            </a:r>
          </a:p>
        </p:txBody>
      </p:sp>
      <p:sp>
        <p:nvSpPr>
          <p:cNvPr id="28" name="text-346-334-HTTPS / JSON RES">
            <a:extLst>
              <a:ext uri="{FF2B5EF4-FFF2-40B4-BE49-F238E27FC236}">
                <a16:creationId xmlns:a16="http://schemas.microsoft.com/office/drawing/2014/main" id="{F9681F3A-E39E-4597-9F5C-98D1ED1696A3}"/>
              </a:ext>
            </a:extLst>
          </p:cNvPr>
          <p:cNvSpPr>
            <a:spLocks noGrp="1"/>
          </p:cNvSpPr>
          <p:nvPr/>
        </p:nvSpPr>
        <p:spPr>
          <a:xfrm>
            <a:off x="3295650" y="3181350"/>
            <a:ext cx="3143250" cy="285750"/>
          </a:xfrm>
          <a:prstGeom prst="rect">
            <a:avLst/>
          </a:prstGeom>
          <a:noFill/>
          <a:ln w="0">
            <a:noFill/>
          </a:ln>
        </p:spPr>
        <p:txBody>
          <a:bodyPr>
            <a:noAutofit/>
          </a:bodyPr>
          <a:lstStyle/>
          <a:p>
            <a:pPr algn="l">
              <a:defRPr sz="1125" b="1">
                <a:solidFill>
                  <a:srgbClr val="162638"/>
                </a:solidFill>
                <a:latin typeface="Arial"/>
                <a:ea typeface="Arial"/>
                <a:cs typeface="Arial"/>
              </a:defRPr>
            </a:pPr>
            <a:r>
              <a:rPr sz="1125" b="1">
                <a:solidFill>
                  <a:srgbClr val="162638"/>
                </a:solidFill>
                <a:latin typeface="Arial"/>
                <a:ea typeface="Arial"/>
                <a:cs typeface="Arial"/>
              </a:rPr>
              <a:t>HTTPS / JSON REST / OpenAPI 3.1</a:t>
            </a:r>
          </a:p>
        </p:txBody>
      </p:sp>
      <p:sp>
        <p:nvSpPr>
          <p:cNvPr id="29" name="text-700-329-Hợp đồng version">
            <a:extLst>
              <a:ext uri="{FF2B5EF4-FFF2-40B4-BE49-F238E27FC236}">
                <a16:creationId xmlns:a16="http://schemas.microsoft.com/office/drawing/2014/main" id="{A5231BEA-F73F-405E-8E7A-EAC6D8B67FB5}"/>
              </a:ext>
            </a:extLst>
          </p:cNvPr>
          <p:cNvSpPr>
            <a:spLocks noGrp="1"/>
          </p:cNvSpPr>
          <p:nvPr/>
        </p:nvSpPr>
        <p:spPr>
          <a:xfrm>
            <a:off x="6667500" y="3133725"/>
            <a:ext cx="4686300" cy="361950"/>
          </a:xfrm>
          <a:prstGeom prst="rect">
            <a:avLst/>
          </a:prstGeom>
          <a:noFill/>
          <a:ln w="0">
            <a:noFill/>
          </a:ln>
        </p:spPr>
        <p:txBody>
          <a:bodyPr>
            <a:noAutofit/>
          </a:bodyPr>
          <a:lstStyle/>
          <a:p>
            <a:pPr algn="l">
              <a:defRPr sz="1013" b="0">
                <a:solidFill>
                  <a:srgbClr val="4B6075"/>
                </a:solidFill>
                <a:latin typeface="Arial"/>
                <a:ea typeface="Arial"/>
                <a:cs typeface="Arial"/>
              </a:defRPr>
            </a:pPr>
            <a:r>
              <a:rPr sz="1013" b="0">
                <a:solidFill>
                  <a:srgbClr val="4B6075"/>
                </a:solidFill>
                <a:latin typeface="Arial"/>
                <a:ea typeface="Arial"/>
                <a:cs typeface="Arial"/>
              </a:rPr>
              <a:t>Hợp đồng versioned giữa Client, Workspace và Server</a:t>
            </a:r>
          </a:p>
        </p:txBody>
      </p:sp>
      <p:sp>
        <p:nvSpPr>
          <p:cNvPr id="30" name="box-58-380">
            <a:extLst>
              <a:ext uri="{FF2B5EF4-FFF2-40B4-BE49-F238E27FC236}">
                <a16:creationId xmlns:a16="http://schemas.microsoft.com/office/drawing/2014/main" id="{35206E75-3E3A-40D9-A87E-ACB01B12B14C}"/>
              </a:ext>
            </a:extLst>
          </p:cNvPr>
          <p:cNvSpPr>
            <a:spLocks noGrp="1"/>
          </p:cNvSpPr>
          <p:nvPr/>
        </p:nvSpPr>
        <p:spPr>
          <a:xfrm>
            <a:off x="552450" y="3619500"/>
            <a:ext cx="11087100" cy="495300"/>
          </a:xfrm>
          <a:prstGeom prst="roundRect">
            <a:avLst>
              <a:gd name="adj" fmla="val 15385"/>
            </a:avLst>
          </a:prstGeom>
          <a:solidFill>
            <a:srgbClr val="F0EDFA"/>
          </a:solidFill>
          <a:ln w="9525">
            <a:solidFill>
              <a:srgbClr val="CBD8E3"/>
            </a:solidFill>
            <a:prstDash val="solid"/>
          </a:ln>
        </p:spPr>
        <p:txBody>
          <a:bodyPr/>
          <a:lstStyle/>
          <a:p>
            <a:endParaRPr lang="en-US"/>
          </a:p>
        </p:txBody>
      </p:sp>
      <p:sp>
        <p:nvSpPr>
          <p:cNvPr id="31" name="box-58-380">
            <a:extLst>
              <a:ext uri="{FF2B5EF4-FFF2-40B4-BE49-F238E27FC236}">
                <a16:creationId xmlns:a16="http://schemas.microsoft.com/office/drawing/2014/main" id="{FC170E80-09F2-46BB-863F-07720BDF42EB}"/>
              </a:ext>
            </a:extLst>
          </p:cNvPr>
          <p:cNvSpPr>
            <a:spLocks noGrp="1"/>
          </p:cNvSpPr>
          <p:nvPr/>
        </p:nvSpPr>
        <p:spPr>
          <a:xfrm>
            <a:off x="552450" y="3619500"/>
            <a:ext cx="95250" cy="495300"/>
          </a:xfrm>
          <a:prstGeom prst="rect">
            <a:avLst/>
          </a:prstGeom>
          <a:solidFill>
            <a:srgbClr val="6C5AA8"/>
          </a:solidFill>
          <a:ln w="0">
            <a:solidFill>
              <a:srgbClr val="6C5AA8"/>
            </a:solidFill>
            <a:prstDash val="solid"/>
          </a:ln>
        </p:spPr>
        <p:txBody>
          <a:bodyPr/>
          <a:lstStyle/>
          <a:p>
            <a:endParaRPr lang="en-US"/>
          </a:p>
        </p:txBody>
      </p:sp>
      <p:sp>
        <p:nvSpPr>
          <p:cNvPr id="32" name="text-82-392-Core Server">
            <a:extLst>
              <a:ext uri="{FF2B5EF4-FFF2-40B4-BE49-F238E27FC236}">
                <a16:creationId xmlns:a16="http://schemas.microsoft.com/office/drawing/2014/main" id="{FF6CDB17-D42F-45A9-AB33-85FAAAB8BD86}"/>
              </a:ext>
            </a:extLst>
          </p:cNvPr>
          <p:cNvSpPr>
            <a:spLocks noGrp="1"/>
          </p:cNvSpPr>
          <p:nvPr/>
        </p:nvSpPr>
        <p:spPr>
          <a:xfrm>
            <a:off x="781050" y="3733800"/>
            <a:ext cx="2343150" cy="285750"/>
          </a:xfrm>
          <a:prstGeom prst="rect">
            <a:avLst/>
          </a:prstGeom>
          <a:noFill/>
          <a:ln w="0">
            <a:noFill/>
          </a:ln>
        </p:spPr>
        <p:txBody>
          <a:bodyPr>
            <a:noAutofit/>
          </a:bodyPr>
          <a:lstStyle/>
          <a:p>
            <a:pPr algn="l">
              <a:defRPr sz="1088" b="1">
                <a:solidFill>
                  <a:srgbClr val="102744"/>
                </a:solidFill>
                <a:latin typeface="Arial"/>
                <a:ea typeface="Arial"/>
                <a:cs typeface="Arial"/>
              </a:defRPr>
            </a:pPr>
            <a:r>
              <a:rPr sz="1088" b="1">
                <a:solidFill>
                  <a:srgbClr val="102744"/>
                </a:solidFill>
                <a:latin typeface="Arial"/>
                <a:ea typeface="Arial"/>
                <a:cs typeface="Arial"/>
              </a:rPr>
              <a:t>Core Server</a:t>
            </a:r>
          </a:p>
        </p:txBody>
      </p:sp>
      <p:sp>
        <p:nvSpPr>
          <p:cNvPr id="33" name="text-346-392-Java 25 + Spring">
            <a:extLst>
              <a:ext uri="{FF2B5EF4-FFF2-40B4-BE49-F238E27FC236}">
                <a16:creationId xmlns:a16="http://schemas.microsoft.com/office/drawing/2014/main" id="{D4387ADD-660F-47A4-ACFC-AF6664DB5F19}"/>
              </a:ext>
            </a:extLst>
          </p:cNvPr>
          <p:cNvSpPr>
            <a:spLocks noGrp="1"/>
          </p:cNvSpPr>
          <p:nvPr/>
        </p:nvSpPr>
        <p:spPr>
          <a:xfrm>
            <a:off x="3295650" y="3733800"/>
            <a:ext cx="3143250" cy="285750"/>
          </a:xfrm>
          <a:prstGeom prst="rect">
            <a:avLst/>
          </a:prstGeom>
          <a:noFill/>
          <a:ln w="0">
            <a:noFill/>
          </a:ln>
        </p:spPr>
        <p:txBody>
          <a:bodyPr>
            <a:noAutofit/>
          </a:bodyPr>
          <a:lstStyle/>
          <a:p>
            <a:pPr algn="l">
              <a:defRPr sz="1125" b="1">
                <a:solidFill>
                  <a:srgbClr val="162638"/>
                </a:solidFill>
                <a:latin typeface="Arial"/>
                <a:ea typeface="Arial"/>
                <a:cs typeface="Arial"/>
              </a:defRPr>
            </a:pPr>
            <a:r>
              <a:rPr sz="1125" b="1">
                <a:solidFill>
                  <a:srgbClr val="162638"/>
                </a:solidFill>
                <a:latin typeface="Arial"/>
                <a:ea typeface="Arial"/>
                <a:cs typeface="Arial"/>
              </a:rPr>
              <a:t>Java 25 + Spring Boot + Modulith</a:t>
            </a:r>
          </a:p>
        </p:txBody>
      </p:sp>
      <p:sp>
        <p:nvSpPr>
          <p:cNvPr id="34" name="text-700-387-Product authorit">
            <a:extLst>
              <a:ext uri="{FF2B5EF4-FFF2-40B4-BE49-F238E27FC236}">
                <a16:creationId xmlns:a16="http://schemas.microsoft.com/office/drawing/2014/main" id="{454E5ED6-D026-4AA2-8476-CBDDDFF49A1C}"/>
              </a:ext>
            </a:extLst>
          </p:cNvPr>
          <p:cNvSpPr>
            <a:spLocks noGrp="1"/>
          </p:cNvSpPr>
          <p:nvPr/>
        </p:nvSpPr>
        <p:spPr>
          <a:xfrm>
            <a:off x="6667500" y="3686175"/>
            <a:ext cx="4686300" cy="361950"/>
          </a:xfrm>
          <a:prstGeom prst="rect">
            <a:avLst/>
          </a:prstGeom>
          <a:noFill/>
          <a:ln w="0">
            <a:noFill/>
          </a:ln>
        </p:spPr>
        <p:txBody>
          <a:bodyPr>
            <a:noAutofit/>
          </a:bodyPr>
          <a:lstStyle/>
          <a:p>
            <a:pPr algn="l">
              <a:defRPr sz="1013" b="0">
                <a:solidFill>
                  <a:srgbClr val="4B6075"/>
                </a:solidFill>
                <a:latin typeface="Arial"/>
                <a:ea typeface="Arial"/>
                <a:cs typeface="Arial"/>
              </a:defRPr>
            </a:pPr>
            <a:r>
              <a:rPr sz="1013" b="0">
                <a:solidFill>
                  <a:srgbClr val="4B6075"/>
                </a:solidFill>
                <a:latin typeface="Arial"/>
                <a:ea typeface="Arial"/>
                <a:cs typeface="Arial"/>
              </a:rPr>
              <a:t>Product authority, transaction, policy, workflow, release và API</a:t>
            </a:r>
          </a:p>
        </p:txBody>
      </p:sp>
      <p:sp>
        <p:nvSpPr>
          <p:cNvPr id="35" name="box-58-438">
            <a:extLst>
              <a:ext uri="{FF2B5EF4-FFF2-40B4-BE49-F238E27FC236}">
                <a16:creationId xmlns:a16="http://schemas.microsoft.com/office/drawing/2014/main" id="{451C757E-FD25-4422-9EC8-41761C4389B8}"/>
              </a:ext>
            </a:extLst>
          </p:cNvPr>
          <p:cNvSpPr>
            <a:spLocks noGrp="1"/>
          </p:cNvSpPr>
          <p:nvPr/>
        </p:nvSpPr>
        <p:spPr>
          <a:xfrm>
            <a:off x="552450" y="4171950"/>
            <a:ext cx="11087100" cy="495300"/>
          </a:xfrm>
          <a:prstGeom prst="roundRect">
            <a:avLst>
              <a:gd name="adj" fmla="val 15385"/>
            </a:avLst>
          </a:prstGeom>
          <a:solidFill>
            <a:srgbClr val="F0EDFA"/>
          </a:solidFill>
          <a:ln w="9525">
            <a:solidFill>
              <a:srgbClr val="CBD8E3"/>
            </a:solidFill>
            <a:prstDash val="solid"/>
          </a:ln>
        </p:spPr>
        <p:txBody>
          <a:bodyPr/>
          <a:lstStyle/>
          <a:p>
            <a:endParaRPr lang="en-US"/>
          </a:p>
        </p:txBody>
      </p:sp>
      <p:sp>
        <p:nvSpPr>
          <p:cNvPr id="36" name="box-58-438">
            <a:extLst>
              <a:ext uri="{FF2B5EF4-FFF2-40B4-BE49-F238E27FC236}">
                <a16:creationId xmlns:a16="http://schemas.microsoft.com/office/drawing/2014/main" id="{800F16D1-B6FE-4B80-9A5B-AEE5F7FE3D85}"/>
              </a:ext>
            </a:extLst>
          </p:cNvPr>
          <p:cNvSpPr>
            <a:spLocks noGrp="1"/>
          </p:cNvSpPr>
          <p:nvPr/>
        </p:nvSpPr>
        <p:spPr>
          <a:xfrm>
            <a:off x="552450" y="4171950"/>
            <a:ext cx="95250" cy="495300"/>
          </a:xfrm>
          <a:prstGeom prst="rect">
            <a:avLst/>
          </a:prstGeom>
          <a:solidFill>
            <a:srgbClr val="6C5AA8"/>
          </a:solidFill>
          <a:ln w="0">
            <a:solidFill>
              <a:srgbClr val="6C5AA8"/>
            </a:solidFill>
            <a:prstDash val="solid"/>
          </a:ln>
        </p:spPr>
        <p:txBody>
          <a:bodyPr/>
          <a:lstStyle/>
          <a:p>
            <a:endParaRPr lang="en-US"/>
          </a:p>
        </p:txBody>
      </p:sp>
      <p:sp>
        <p:nvSpPr>
          <p:cNvPr id="37" name="text-82-450-Server platform">
            <a:extLst>
              <a:ext uri="{FF2B5EF4-FFF2-40B4-BE49-F238E27FC236}">
                <a16:creationId xmlns:a16="http://schemas.microsoft.com/office/drawing/2014/main" id="{66825247-C3DA-4C81-9404-31B8C7BFD492}"/>
              </a:ext>
            </a:extLst>
          </p:cNvPr>
          <p:cNvSpPr>
            <a:spLocks noGrp="1"/>
          </p:cNvSpPr>
          <p:nvPr/>
        </p:nvSpPr>
        <p:spPr>
          <a:xfrm>
            <a:off x="781050" y="4286250"/>
            <a:ext cx="2343150" cy="285750"/>
          </a:xfrm>
          <a:prstGeom prst="rect">
            <a:avLst/>
          </a:prstGeom>
          <a:noFill/>
          <a:ln w="0">
            <a:noFill/>
          </a:ln>
        </p:spPr>
        <p:txBody>
          <a:bodyPr>
            <a:noAutofit/>
          </a:bodyPr>
          <a:lstStyle/>
          <a:p>
            <a:pPr algn="l">
              <a:defRPr sz="1088" b="1">
                <a:solidFill>
                  <a:srgbClr val="102744"/>
                </a:solidFill>
                <a:latin typeface="Arial"/>
                <a:ea typeface="Arial"/>
                <a:cs typeface="Arial"/>
              </a:defRPr>
            </a:pPr>
            <a:r>
              <a:rPr sz="1088" b="1">
                <a:solidFill>
                  <a:srgbClr val="102744"/>
                </a:solidFill>
                <a:latin typeface="Arial"/>
                <a:ea typeface="Arial"/>
                <a:cs typeface="Arial"/>
              </a:rPr>
              <a:t>Server platform</a:t>
            </a:r>
          </a:p>
        </p:txBody>
      </p:sp>
      <p:sp>
        <p:nvSpPr>
          <p:cNvPr id="38" name="text-346-450-Ubuntu Server 26">
            <a:extLst>
              <a:ext uri="{FF2B5EF4-FFF2-40B4-BE49-F238E27FC236}">
                <a16:creationId xmlns:a16="http://schemas.microsoft.com/office/drawing/2014/main" id="{C06F60F0-3265-4AC9-9A3B-AAD2427FEDDC}"/>
              </a:ext>
            </a:extLst>
          </p:cNvPr>
          <p:cNvSpPr>
            <a:spLocks noGrp="1"/>
          </p:cNvSpPr>
          <p:nvPr/>
        </p:nvSpPr>
        <p:spPr>
          <a:xfrm>
            <a:off x="3295650" y="4286250"/>
            <a:ext cx="3143250" cy="285750"/>
          </a:xfrm>
          <a:prstGeom prst="rect">
            <a:avLst/>
          </a:prstGeom>
          <a:noFill/>
          <a:ln w="0">
            <a:noFill/>
          </a:ln>
        </p:spPr>
        <p:txBody>
          <a:bodyPr>
            <a:noAutofit/>
          </a:bodyPr>
          <a:lstStyle/>
          <a:p>
            <a:pPr algn="l">
              <a:defRPr sz="1125" b="1">
                <a:solidFill>
                  <a:srgbClr val="162638"/>
                </a:solidFill>
                <a:latin typeface="Arial"/>
                <a:ea typeface="Arial"/>
                <a:cs typeface="Arial"/>
              </a:defRPr>
            </a:pPr>
            <a:r>
              <a:rPr sz="1125" b="1">
                <a:solidFill>
                  <a:srgbClr val="162638"/>
                </a:solidFill>
                <a:latin typeface="Arial"/>
                <a:ea typeface="Arial"/>
                <a:cs typeface="Arial"/>
              </a:rPr>
              <a:t>Ubuntu Server 26.04 LTS</a:t>
            </a:r>
          </a:p>
        </p:txBody>
      </p:sp>
      <p:sp>
        <p:nvSpPr>
          <p:cNvPr id="39" name="text-700-445-Platform directi">
            <a:extLst>
              <a:ext uri="{FF2B5EF4-FFF2-40B4-BE49-F238E27FC236}">
                <a16:creationId xmlns:a16="http://schemas.microsoft.com/office/drawing/2014/main" id="{079BB86C-EBE9-4F79-A852-6498A8621DCA}"/>
              </a:ext>
            </a:extLst>
          </p:cNvPr>
          <p:cNvSpPr>
            <a:spLocks noGrp="1"/>
          </p:cNvSpPr>
          <p:nvPr/>
        </p:nvSpPr>
        <p:spPr>
          <a:xfrm>
            <a:off x="6667500" y="4238625"/>
            <a:ext cx="4686300" cy="361950"/>
          </a:xfrm>
          <a:prstGeom prst="rect">
            <a:avLst/>
          </a:prstGeom>
          <a:noFill/>
          <a:ln w="0">
            <a:noFill/>
          </a:ln>
        </p:spPr>
        <p:txBody>
          <a:bodyPr>
            <a:noAutofit/>
          </a:bodyPr>
          <a:lstStyle/>
          <a:p>
            <a:pPr algn="l">
              <a:defRPr sz="1013" b="0">
                <a:solidFill>
                  <a:srgbClr val="4B6075"/>
                </a:solidFill>
                <a:latin typeface="Arial"/>
                <a:ea typeface="Arial"/>
                <a:cs typeface="Arial"/>
              </a:defRPr>
            </a:pPr>
            <a:r>
              <a:rPr sz="1013" b="0">
                <a:solidFill>
                  <a:srgbClr val="4B6075"/>
                </a:solidFill>
                <a:latin typeface="Arial"/>
                <a:ea typeface="Arial"/>
                <a:cs typeface="Arial"/>
              </a:rPr>
              <a:t>Platform direction; exact operational build còn Q-14 NOT-RUN</a:t>
            </a:r>
          </a:p>
        </p:txBody>
      </p:sp>
      <p:sp>
        <p:nvSpPr>
          <p:cNvPr id="40" name="box-58-496">
            <a:extLst>
              <a:ext uri="{FF2B5EF4-FFF2-40B4-BE49-F238E27FC236}">
                <a16:creationId xmlns:a16="http://schemas.microsoft.com/office/drawing/2014/main" id="{BEEA9B7A-FEF4-4E04-9EB0-513AEDF7EF1A}"/>
              </a:ext>
            </a:extLst>
          </p:cNvPr>
          <p:cNvSpPr>
            <a:spLocks noGrp="1"/>
          </p:cNvSpPr>
          <p:nvPr/>
        </p:nvSpPr>
        <p:spPr>
          <a:xfrm>
            <a:off x="552450" y="4724400"/>
            <a:ext cx="11087100" cy="495300"/>
          </a:xfrm>
          <a:prstGeom prst="roundRect">
            <a:avLst>
              <a:gd name="adj" fmla="val 15385"/>
            </a:avLst>
          </a:prstGeom>
          <a:solidFill>
            <a:srgbClr val="E7F5EE"/>
          </a:solidFill>
          <a:ln w="9525">
            <a:solidFill>
              <a:srgbClr val="CBD8E3"/>
            </a:solidFill>
            <a:prstDash val="solid"/>
          </a:ln>
        </p:spPr>
        <p:txBody>
          <a:bodyPr/>
          <a:lstStyle/>
          <a:p>
            <a:endParaRPr lang="en-US"/>
          </a:p>
        </p:txBody>
      </p:sp>
      <p:sp>
        <p:nvSpPr>
          <p:cNvPr id="41" name="box-58-496">
            <a:extLst>
              <a:ext uri="{FF2B5EF4-FFF2-40B4-BE49-F238E27FC236}">
                <a16:creationId xmlns:a16="http://schemas.microsoft.com/office/drawing/2014/main" id="{52BD7B51-FC66-4756-A610-14DB9E6BFB9D}"/>
              </a:ext>
            </a:extLst>
          </p:cNvPr>
          <p:cNvSpPr>
            <a:spLocks noGrp="1"/>
          </p:cNvSpPr>
          <p:nvPr/>
        </p:nvSpPr>
        <p:spPr>
          <a:xfrm>
            <a:off x="552450" y="4724400"/>
            <a:ext cx="95250" cy="495300"/>
          </a:xfrm>
          <a:prstGeom prst="rect">
            <a:avLst/>
          </a:prstGeom>
          <a:solidFill>
            <a:srgbClr val="2D8A62"/>
          </a:solidFill>
          <a:ln w="0">
            <a:solidFill>
              <a:srgbClr val="2D8A62"/>
            </a:solidFill>
            <a:prstDash val="solid"/>
          </a:ln>
        </p:spPr>
        <p:txBody>
          <a:bodyPr/>
          <a:lstStyle/>
          <a:p>
            <a:endParaRPr lang="en-US"/>
          </a:p>
        </p:txBody>
      </p:sp>
      <p:sp>
        <p:nvSpPr>
          <p:cNvPr id="42" name="text-82-508-Authoritative da">
            <a:extLst>
              <a:ext uri="{FF2B5EF4-FFF2-40B4-BE49-F238E27FC236}">
                <a16:creationId xmlns:a16="http://schemas.microsoft.com/office/drawing/2014/main" id="{7B28284D-3233-4979-939B-C7E83C5A6273}"/>
              </a:ext>
            </a:extLst>
          </p:cNvPr>
          <p:cNvSpPr>
            <a:spLocks noGrp="1"/>
          </p:cNvSpPr>
          <p:nvPr/>
        </p:nvSpPr>
        <p:spPr>
          <a:xfrm>
            <a:off x="781050" y="4838700"/>
            <a:ext cx="2343150" cy="285750"/>
          </a:xfrm>
          <a:prstGeom prst="rect">
            <a:avLst/>
          </a:prstGeom>
          <a:noFill/>
          <a:ln w="0">
            <a:noFill/>
          </a:ln>
        </p:spPr>
        <p:txBody>
          <a:bodyPr>
            <a:noAutofit/>
          </a:bodyPr>
          <a:lstStyle/>
          <a:p>
            <a:pPr algn="l">
              <a:defRPr sz="1088" b="1">
                <a:solidFill>
                  <a:srgbClr val="102744"/>
                </a:solidFill>
                <a:latin typeface="Arial"/>
                <a:ea typeface="Arial"/>
                <a:cs typeface="Arial"/>
              </a:defRPr>
            </a:pPr>
            <a:r>
              <a:rPr sz="1088" b="1">
                <a:solidFill>
                  <a:srgbClr val="102744"/>
                </a:solidFill>
                <a:latin typeface="Arial"/>
                <a:ea typeface="Arial"/>
                <a:cs typeface="Arial"/>
              </a:rPr>
              <a:t>Authoritative data</a:t>
            </a:r>
          </a:p>
        </p:txBody>
      </p:sp>
      <p:sp>
        <p:nvSpPr>
          <p:cNvPr id="43" name="text-346-508-PostgreSQL 18 + ">
            <a:extLst>
              <a:ext uri="{FF2B5EF4-FFF2-40B4-BE49-F238E27FC236}">
                <a16:creationId xmlns:a16="http://schemas.microsoft.com/office/drawing/2014/main" id="{05FC4E92-CEC1-4905-8E4A-2CE00AB86B1B}"/>
              </a:ext>
            </a:extLst>
          </p:cNvPr>
          <p:cNvSpPr>
            <a:spLocks noGrp="1"/>
          </p:cNvSpPr>
          <p:nvPr/>
        </p:nvSpPr>
        <p:spPr>
          <a:xfrm>
            <a:off x="3295650" y="4838700"/>
            <a:ext cx="3143250" cy="285750"/>
          </a:xfrm>
          <a:prstGeom prst="rect">
            <a:avLst/>
          </a:prstGeom>
          <a:noFill/>
          <a:ln w="0">
            <a:noFill/>
          </a:ln>
        </p:spPr>
        <p:txBody>
          <a:bodyPr>
            <a:noAutofit/>
          </a:bodyPr>
          <a:lstStyle/>
          <a:p>
            <a:pPr algn="l">
              <a:defRPr sz="1125" b="1">
                <a:solidFill>
                  <a:srgbClr val="162638"/>
                </a:solidFill>
                <a:latin typeface="Arial"/>
                <a:ea typeface="Arial"/>
                <a:cs typeface="Arial"/>
              </a:defRPr>
            </a:pPr>
            <a:r>
              <a:rPr sz="1125" b="1">
                <a:solidFill>
                  <a:srgbClr val="162638"/>
                </a:solidFill>
                <a:latin typeface="Arial"/>
                <a:ea typeface="Arial"/>
                <a:cs typeface="Arial"/>
              </a:rPr>
              <a:t>PostgreSQL 18 + Artifact Store</a:t>
            </a:r>
          </a:p>
        </p:txBody>
      </p:sp>
      <p:sp>
        <p:nvSpPr>
          <p:cNvPr id="44" name="text-700-503-Metadata/state c">
            <a:extLst>
              <a:ext uri="{FF2B5EF4-FFF2-40B4-BE49-F238E27FC236}">
                <a16:creationId xmlns:a16="http://schemas.microsoft.com/office/drawing/2014/main" id="{448CF3E0-62C4-4E18-8AA0-C4DAE9416A0E}"/>
              </a:ext>
            </a:extLst>
          </p:cNvPr>
          <p:cNvSpPr>
            <a:spLocks noGrp="1"/>
          </p:cNvSpPr>
          <p:nvPr/>
        </p:nvSpPr>
        <p:spPr>
          <a:xfrm>
            <a:off x="6667500" y="4791075"/>
            <a:ext cx="4686300" cy="361950"/>
          </a:xfrm>
          <a:prstGeom prst="rect">
            <a:avLst/>
          </a:prstGeom>
          <a:noFill/>
          <a:ln w="0">
            <a:noFill/>
          </a:ln>
        </p:spPr>
        <p:txBody>
          <a:bodyPr>
            <a:noAutofit/>
          </a:bodyPr>
          <a:lstStyle/>
          <a:p>
            <a:pPr algn="l">
              <a:defRPr sz="1013" b="0">
                <a:solidFill>
                  <a:srgbClr val="4B6075"/>
                </a:solidFill>
                <a:latin typeface="Arial"/>
                <a:ea typeface="Arial"/>
                <a:cs typeface="Arial"/>
              </a:defRPr>
            </a:pPr>
            <a:r>
              <a:rPr sz="1013" b="0">
                <a:solidFill>
                  <a:srgbClr val="4B6075"/>
                </a:solidFill>
                <a:latin typeface="Arial"/>
                <a:ea typeface="Arial"/>
                <a:cs typeface="Arial"/>
              </a:rPr>
              <a:t>Metadata/state có giao dịch + binary bất biến</a:t>
            </a:r>
          </a:p>
        </p:txBody>
      </p:sp>
      <p:sp>
        <p:nvSpPr>
          <p:cNvPr id="45" name="box-58-554">
            <a:extLst>
              <a:ext uri="{FF2B5EF4-FFF2-40B4-BE49-F238E27FC236}">
                <a16:creationId xmlns:a16="http://schemas.microsoft.com/office/drawing/2014/main" id="{08E28382-80D6-4586-BA49-FBF2657CCA8A}"/>
              </a:ext>
            </a:extLst>
          </p:cNvPr>
          <p:cNvSpPr>
            <a:spLocks noGrp="1"/>
          </p:cNvSpPr>
          <p:nvPr/>
        </p:nvSpPr>
        <p:spPr>
          <a:xfrm>
            <a:off x="552450" y="5276850"/>
            <a:ext cx="11087100" cy="495300"/>
          </a:xfrm>
          <a:prstGeom prst="roundRect">
            <a:avLst>
              <a:gd name="adj" fmla="val 15385"/>
            </a:avLst>
          </a:prstGeom>
          <a:solidFill>
            <a:srgbClr val="FFF4DD"/>
          </a:solidFill>
          <a:ln w="9525">
            <a:solidFill>
              <a:srgbClr val="CBD8E3"/>
            </a:solidFill>
            <a:prstDash val="solid"/>
          </a:ln>
        </p:spPr>
        <p:txBody>
          <a:bodyPr/>
          <a:lstStyle/>
          <a:p>
            <a:endParaRPr lang="en-US"/>
          </a:p>
        </p:txBody>
      </p:sp>
      <p:sp>
        <p:nvSpPr>
          <p:cNvPr id="46" name="box-58-554">
            <a:extLst>
              <a:ext uri="{FF2B5EF4-FFF2-40B4-BE49-F238E27FC236}">
                <a16:creationId xmlns:a16="http://schemas.microsoft.com/office/drawing/2014/main" id="{A903F34C-E6FD-40E1-82F5-B266530A0C1C}"/>
              </a:ext>
            </a:extLst>
          </p:cNvPr>
          <p:cNvSpPr>
            <a:spLocks noGrp="1"/>
          </p:cNvSpPr>
          <p:nvPr/>
        </p:nvSpPr>
        <p:spPr>
          <a:xfrm>
            <a:off x="552450" y="5276850"/>
            <a:ext cx="95250" cy="495300"/>
          </a:xfrm>
          <a:prstGeom prst="rect">
            <a:avLst/>
          </a:prstGeom>
          <a:solidFill>
            <a:srgbClr val="C58A1E"/>
          </a:solidFill>
          <a:ln w="0">
            <a:solidFill>
              <a:srgbClr val="C58A1E"/>
            </a:solidFill>
            <a:prstDash val="solid"/>
          </a:ln>
        </p:spPr>
        <p:txBody>
          <a:bodyPr/>
          <a:lstStyle/>
          <a:p>
            <a:endParaRPr lang="en-US"/>
          </a:p>
        </p:txBody>
      </p:sp>
      <p:sp>
        <p:nvSpPr>
          <p:cNvPr id="47" name="text-82-566-Format processin">
            <a:extLst>
              <a:ext uri="{FF2B5EF4-FFF2-40B4-BE49-F238E27FC236}">
                <a16:creationId xmlns:a16="http://schemas.microsoft.com/office/drawing/2014/main" id="{6DA6C613-0546-43B5-BDC3-62E2E61600BF}"/>
              </a:ext>
            </a:extLst>
          </p:cNvPr>
          <p:cNvSpPr>
            <a:spLocks noGrp="1"/>
          </p:cNvSpPr>
          <p:nvPr/>
        </p:nvSpPr>
        <p:spPr>
          <a:xfrm>
            <a:off x="781050" y="5391150"/>
            <a:ext cx="2343150" cy="285750"/>
          </a:xfrm>
          <a:prstGeom prst="rect">
            <a:avLst/>
          </a:prstGeom>
          <a:noFill/>
          <a:ln w="0">
            <a:noFill/>
          </a:ln>
        </p:spPr>
        <p:txBody>
          <a:bodyPr>
            <a:noAutofit/>
          </a:bodyPr>
          <a:lstStyle/>
          <a:p>
            <a:pPr algn="l">
              <a:defRPr sz="1088" b="1">
                <a:solidFill>
                  <a:srgbClr val="102744"/>
                </a:solidFill>
                <a:latin typeface="Arial"/>
                <a:ea typeface="Arial"/>
                <a:cs typeface="Arial"/>
              </a:defRPr>
            </a:pPr>
            <a:r>
              <a:rPr sz="1088" b="1">
                <a:solidFill>
                  <a:srgbClr val="102744"/>
                </a:solidFill>
                <a:latin typeface="Arial"/>
                <a:ea typeface="Arial"/>
                <a:cs typeface="Arial"/>
              </a:rPr>
              <a:t>Format processing</a:t>
            </a:r>
          </a:p>
        </p:txBody>
      </p:sp>
      <p:sp>
        <p:nvSpPr>
          <p:cNvPr id="48" name="text-346-566-Windows Format W">
            <a:extLst>
              <a:ext uri="{FF2B5EF4-FFF2-40B4-BE49-F238E27FC236}">
                <a16:creationId xmlns:a16="http://schemas.microsoft.com/office/drawing/2014/main" id="{5AD97D15-A62E-44A3-A6CA-71FFDA8407B0}"/>
              </a:ext>
            </a:extLst>
          </p:cNvPr>
          <p:cNvSpPr>
            <a:spLocks noGrp="1"/>
          </p:cNvSpPr>
          <p:nvPr/>
        </p:nvSpPr>
        <p:spPr>
          <a:xfrm>
            <a:off x="3295650" y="5391150"/>
            <a:ext cx="3143250" cy="285750"/>
          </a:xfrm>
          <a:prstGeom prst="rect">
            <a:avLst/>
          </a:prstGeom>
          <a:noFill/>
          <a:ln w="0">
            <a:noFill/>
          </a:ln>
        </p:spPr>
        <p:txBody>
          <a:bodyPr>
            <a:noAutofit/>
          </a:bodyPr>
          <a:lstStyle/>
          <a:p>
            <a:pPr algn="l">
              <a:defRPr sz="1125" b="1">
                <a:solidFill>
                  <a:srgbClr val="162638"/>
                </a:solidFill>
                <a:latin typeface="Arial"/>
                <a:ea typeface="Arial"/>
                <a:cs typeface="Arial"/>
              </a:defRPr>
            </a:pPr>
            <a:r>
              <a:rPr sz="1125" b="1">
                <a:solidFill>
                  <a:srgbClr val="162638"/>
                </a:solidFill>
                <a:latin typeface="Arial"/>
                <a:ea typeface="Arial"/>
                <a:cs typeface="Arial"/>
              </a:rPr>
              <a:t>Windows Format Worker</a:t>
            </a:r>
          </a:p>
        </p:txBody>
      </p:sp>
      <p:sp>
        <p:nvSpPr>
          <p:cNvPr id="49" name="text-700-561-Boundary đã chọn">
            <a:extLst>
              <a:ext uri="{FF2B5EF4-FFF2-40B4-BE49-F238E27FC236}">
                <a16:creationId xmlns:a16="http://schemas.microsoft.com/office/drawing/2014/main" id="{B76DCE14-D73F-4B15-B31C-DF4859441D2A}"/>
              </a:ext>
            </a:extLst>
          </p:cNvPr>
          <p:cNvSpPr>
            <a:spLocks noGrp="1"/>
          </p:cNvSpPr>
          <p:nvPr/>
        </p:nvSpPr>
        <p:spPr>
          <a:xfrm>
            <a:off x="6667500" y="5343525"/>
            <a:ext cx="4686300" cy="361950"/>
          </a:xfrm>
          <a:prstGeom prst="rect">
            <a:avLst/>
          </a:prstGeom>
          <a:noFill/>
          <a:ln w="0">
            <a:noFill/>
          </a:ln>
        </p:spPr>
        <p:txBody>
          <a:bodyPr>
            <a:noAutofit/>
          </a:bodyPr>
          <a:lstStyle/>
          <a:p>
            <a:pPr algn="l">
              <a:defRPr sz="1013" b="0">
                <a:solidFill>
                  <a:srgbClr val="4B6075"/>
                </a:solidFill>
                <a:latin typeface="Arial"/>
                <a:ea typeface="Arial"/>
                <a:cs typeface="Arial"/>
              </a:defRPr>
            </a:pPr>
            <a:r>
              <a:rPr sz="1013" b="0">
                <a:solidFill>
                  <a:srgbClr val="4B6075"/>
                </a:solidFill>
                <a:latin typeface="Arial"/>
                <a:ea typeface="Arial"/>
                <a:cs typeface="Arial"/>
              </a:rPr>
              <a:t>Boundary đã chọn; exact runtime/toolchain chưa được chọn</a:t>
            </a:r>
          </a:p>
        </p:txBody>
      </p:sp>
      <p:sp>
        <p:nvSpPr>
          <p:cNvPr id="50" name="text-118-630-Nguyên tắc: công">
            <a:extLst>
              <a:ext uri="{FF2B5EF4-FFF2-40B4-BE49-F238E27FC236}">
                <a16:creationId xmlns:a16="http://schemas.microsoft.com/office/drawing/2014/main" id="{12E8FFDC-19C7-4871-BED3-A5456C0A62FA}"/>
              </a:ext>
            </a:extLst>
          </p:cNvPr>
          <p:cNvSpPr>
            <a:spLocks noGrp="1"/>
          </p:cNvSpPr>
          <p:nvPr/>
        </p:nvSpPr>
        <p:spPr>
          <a:xfrm>
            <a:off x="1123950" y="6000750"/>
            <a:ext cx="9944100" cy="304800"/>
          </a:xfrm>
          <a:prstGeom prst="rect">
            <a:avLst/>
          </a:prstGeom>
          <a:noFill/>
          <a:ln w="0">
            <a:noFill/>
          </a:ln>
        </p:spPr>
        <p:txBody>
          <a:bodyPr>
            <a:noAutofit/>
          </a:bodyPr>
          <a:lstStyle/>
          <a:p>
            <a:pPr algn="ctr">
              <a:defRPr sz="1350" b="1">
                <a:solidFill>
                  <a:srgbClr val="102744"/>
                </a:solidFill>
                <a:latin typeface="Arial"/>
                <a:ea typeface="Arial"/>
                <a:cs typeface="Arial"/>
              </a:defRPr>
            </a:pPr>
            <a:r>
              <a:rPr sz="1350" b="1">
                <a:solidFill>
                  <a:srgbClr val="102744"/>
                </a:solidFill>
                <a:latin typeface="Arial"/>
                <a:ea typeface="Arial"/>
                <a:cs typeface="Arial"/>
              </a:rPr>
              <a:t>Nguyên tắc: công nghệ được chọn theo responsibility, không theo mức độ nổi tiếng của framework.</a:t>
            </a:r>
          </a:p>
        </p:txBody>
      </p:sp>
    </p:spTree>
    <p:extLst>
      <p:ext uri="{BB962C8B-B14F-4D97-AF65-F5344CB8AC3E}">
        <p14:creationId xmlns:p14="http://schemas.microsoft.com/office/powerpoint/2010/main" val="803184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box-0-0">
            <a:extLst>
              <a:ext uri="{FF2B5EF4-FFF2-40B4-BE49-F238E27FC236}">
                <a16:creationId xmlns:a16="http://schemas.microsoft.com/office/drawing/2014/main" id="{D518D684-8B70-44BC-9C3B-B5C471F737D5}"/>
              </a:ext>
            </a:extLst>
          </p:cNvPr>
          <p:cNvSpPr>
            <a:spLocks noGrp="1"/>
          </p:cNvSpPr>
          <p:nvPr/>
        </p:nvSpPr>
        <p:spPr>
          <a:xfrm>
            <a:off x="0" y="0"/>
            <a:ext cx="133350" cy="6858000"/>
          </a:xfrm>
          <a:prstGeom prst="rect">
            <a:avLst/>
          </a:prstGeom>
          <a:solidFill>
            <a:srgbClr val="6C5AA8"/>
          </a:solidFill>
          <a:ln w="0">
            <a:noFill/>
            <a:prstDash val="solid"/>
          </a:ln>
        </p:spPr>
        <p:txBody>
          <a:bodyPr/>
          <a:lstStyle/>
          <a:p>
            <a:endParaRPr lang="en-US"/>
          </a:p>
        </p:txBody>
      </p:sp>
      <p:sp>
        <p:nvSpPr>
          <p:cNvPr id="2" name="text-54-28-TECH">
            <a:extLst>
              <a:ext uri="{FF2B5EF4-FFF2-40B4-BE49-F238E27FC236}">
                <a16:creationId xmlns:a16="http://schemas.microsoft.com/office/drawing/2014/main" id="{7919C1DD-173B-48DE-9B67-68CA59097345}"/>
              </a:ext>
            </a:extLst>
          </p:cNvPr>
          <p:cNvSpPr>
            <a:spLocks noGrp="1"/>
          </p:cNvSpPr>
          <p:nvPr/>
        </p:nvSpPr>
        <p:spPr>
          <a:xfrm>
            <a:off x="514350" y="266700"/>
            <a:ext cx="2667000" cy="228600"/>
          </a:xfrm>
          <a:prstGeom prst="rect">
            <a:avLst/>
          </a:prstGeom>
          <a:noFill/>
          <a:ln w="0">
            <a:noFill/>
          </a:ln>
        </p:spPr>
        <p:txBody>
          <a:bodyPr>
            <a:noAutofit/>
          </a:bodyPr>
          <a:lstStyle/>
          <a:p>
            <a:pPr algn="l">
              <a:defRPr sz="1050" b="1">
                <a:solidFill>
                  <a:srgbClr val="6C5AA8"/>
                </a:solidFill>
                <a:latin typeface="Arial"/>
                <a:ea typeface="Arial"/>
                <a:cs typeface="Arial"/>
              </a:defRPr>
            </a:pPr>
            <a:r>
              <a:rPr sz="1050" b="1">
                <a:solidFill>
                  <a:srgbClr val="6C5AA8"/>
                </a:solidFill>
                <a:latin typeface="Arial"/>
                <a:ea typeface="Arial"/>
                <a:cs typeface="Arial"/>
              </a:rPr>
              <a:t>TECH</a:t>
            </a:r>
          </a:p>
        </p:txBody>
      </p:sp>
      <p:sp>
        <p:nvSpPr>
          <p:cNvPr id="3" name="text-54-56-Tech — Các phươn">
            <a:extLst>
              <a:ext uri="{FF2B5EF4-FFF2-40B4-BE49-F238E27FC236}">
                <a16:creationId xmlns:a16="http://schemas.microsoft.com/office/drawing/2014/main" id="{CEA3FE93-7387-4374-B45F-5616A5BBFF1E}"/>
              </a:ext>
            </a:extLst>
          </p:cNvPr>
          <p:cNvSpPr>
            <a:spLocks noGrp="1"/>
          </p:cNvSpPr>
          <p:nvPr/>
        </p:nvSpPr>
        <p:spPr>
          <a:xfrm>
            <a:off x="514350" y="533400"/>
            <a:ext cx="11049000" cy="514350"/>
          </a:xfrm>
          <a:prstGeom prst="rect">
            <a:avLst/>
          </a:prstGeom>
          <a:noFill/>
          <a:ln w="0">
            <a:noFill/>
          </a:ln>
        </p:spPr>
        <p:txBody>
          <a:bodyPr>
            <a:noAutofit/>
          </a:bodyPr>
          <a:lstStyle/>
          <a:p>
            <a:pPr algn="l">
              <a:defRPr sz="2400" b="1">
                <a:solidFill>
                  <a:srgbClr val="102744"/>
                </a:solidFill>
                <a:latin typeface="Arial"/>
                <a:ea typeface="Arial"/>
                <a:cs typeface="Arial"/>
              </a:defRPr>
            </a:pPr>
            <a:r>
              <a:rPr sz="2400" b="1">
                <a:solidFill>
                  <a:srgbClr val="102744"/>
                </a:solidFill>
                <a:latin typeface="Arial"/>
                <a:ea typeface="Arial"/>
                <a:cs typeface="Arial"/>
              </a:rPr>
              <a:t>Tech — Các phương án đã được xem xét</a:t>
            </a:r>
          </a:p>
        </p:txBody>
      </p:sp>
      <p:sp>
        <p:nvSpPr>
          <p:cNvPr id="4" name="line-54-116">
            <a:extLst>
              <a:ext uri="{FF2B5EF4-FFF2-40B4-BE49-F238E27FC236}">
                <a16:creationId xmlns:a16="http://schemas.microsoft.com/office/drawing/2014/main" id="{77D5CC0A-F376-4621-8F1E-BC9CD398409E}"/>
              </a:ext>
            </a:extLst>
          </p:cNvPr>
          <p:cNvSpPr>
            <a:spLocks noGrp="1"/>
          </p:cNvSpPr>
          <p:nvPr/>
        </p:nvSpPr>
        <p:spPr>
          <a:xfrm>
            <a:off x="514350" y="1104900"/>
            <a:ext cx="11144250" cy="19050"/>
          </a:xfrm>
          <a:prstGeom prst="rect">
            <a:avLst/>
          </a:prstGeom>
          <a:solidFill>
            <a:srgbClr val="CBD8E3"/>
          </a:solidFill>
          <a:ln w="0">
            <a:solidFill>
              <a:srgbClr val="CBD8E3"/>
            </a:solidFill>
            <a:prstDash val="solid"/>
          </a:ln>
        </p:spPr>
        <p:txBody>
          <a:bodyPr/>
          <a:lstStyle/>
          <a:p>
            <a:endParaRPr lang="en-US"/>
          </a:p>
        </p:txBody>
      </p:sp>
      <p:sp>
        <p:nvSpPr>
          <p:cNvPr id="5" name="text-54-683-Source: TECH-001">
            <a:extLst>
              <a:ext uri="{FF2B5EF4-FFF2-40B4-BE49-F238E27FC236}">
                <a16:creationId xmlns:a16="http://schemas.microsoft.com/office/drawing/2014/main" id="{1FEBC633-5D11-4F42-BAA7-1AAB92561A46}"/>
              </a:ext>
            </a:extLst>
          </p:cNvPr>
          <p:cNvSpPr>
            <a:spLocks noGrp="1"/>
          </p:cNvSpPr>
          <p:nvPr/>
        </p:nvSpPr>
        <p:spPr>
          <a:xfrm>
            <a:off x="514350" y="6505575"/>
            <a:ext cx="9810750" cy="190500"/>
          </a:xfrm>
          <a:prstGeom prst="rect">
            <a:avLst/>
          </a:prstGeom>
          <a:noFill/>
          <a:ln w="0">
            <a:noFill/>
          </a:ln>
        </p:spPr>
        <p:txBody>
          <a:bodyPr>
            <a:noAutofit/>
          </a:bodyPr>
          <a:lstStyle/>
          <a:p>
            <a:pPr algn="l">
              <a:defRPr sz="825" b="0">
                <a:solidFill>
                  <a:srgbClr val="7890A6"/>
                </a:solidFill>
                <a:latin typeface="Arial"/>
                <a:ea typeface="Arial"/>
                <a:cs typeface="Arial"/>
              </a:defRPr>
            </a:pPr>
            <a:r>
              <a:rPr sz="825" b="0">
                <a:solidFill>
                  <a:srgbClr val="7890A6"/>
                </a:solidFill>
                <a:latin typeface="Arial"/>
                <a:ea typeface="Arial"/>
                <a:cs typeface="Arial"/>
              </a:rPr>
              <a:t>Source: TECH-001@0.14 · TECH-MATRIX@0.6 · TECH-VIEWS@0.2</a:t>
            </a:r>
          </a:p>
        </p:txBody>
      </p:sp>
      <p:sp>
        <p:nvSpPr>
          <p:cNvPr id="6" name="text-1170-680-13">
            <a:extLst>
              <a:ext uri="{FF2B5EF4-FFF2-40B4-BE49-F238E27FC236}">
                <a16:creationId xmlns:a16="http://schemas.microsoft.com/office/drawing/2014/main" id="{30AED505-7A4B-4767-9160-87FAFA6CB1C7}"/>
              </a:ext>
            </a:extLst>
          </p:cNvPr>
          <p:cNvSpPr>
            <a:spLocks noGrp="1"/>
          </p:cNvSpPr>
          <p:nvPr/>
        </p:nvSpPr>
        <p:spPr>
          <a:xfrm>
            <a:off x="11144250" y="6477000"/>
            <a:ext cx="514350" cy="228600"/>
          </a:xfrm>
          <a:prstGeom prst="rect">
            <a:avLst/>
          </a:prstGeom>
          <a:noFill/>
          <a:ln w="0">
            <a:noFill/>
          </a:ln>
        </p:spPr>
        <p:txBody>
          <a:bodyPr>
            <a:noAutofit/>
          </a:bodyPr>
          <a:lstStyle/>
          <a:p>
            <a:pPr algn="r">
              <a:defRPr sz="975" b="1">
                <a:solidFill>
                  <a:srgbClr val="7890A6"/>
                </a:solidFill>
                <a:latin typeface="Arial"/>
                <a:ea typeface="Arial"/>
                <a:cs typeface="Arial"/>
              </a:defRPr>
            </a:pPr>
            <a:r>
              <a:rPr sz="975" b="1">
                <a:solidFill>
                  <a:srgbClr val="7890A6"/>
                </a:solidFill>
                <a:latin typeface="Arial"/>
                <a:ea typeface="Arial"/>
                <a:cs typeface="Arial"/>
              </a:rPr>
              <a:t>13</a:t>
            </a:r>
          </a:p>
        </p:txBody>
      </p:sp>
      <p:sp>
        <p:nvSpPr>
          <p:cNvPr id="7" name="box-56-150">
            <a:extLst>
              <a:ext uri="{FF2B5EF4-FFF2-40B4-BE49-F238E27FC236}">
                <a16:creationId xmlns:a16="http://schemas.microsoft.com/office/drawing/2014/main" id="{F6593344-817C-4268-A027-79E1E68BE203}"/>
              </a:ext>
            </a:extLst>
          </p:cNvPr>
          <p:cNvSpPr>
            <a:spLocks noGrp="1"/>
          </p:cNvSpPr>
          <p:nvPr/>
        </p:nvSpPr>
        <p:spPr>
          <a:xfrm>
            <a:off x="533400" y="1428750"/>
            <a:ext cx="11125200" cy="1352550"/>
          </a:xfrm>
          <a:prstGeom prst="roundRect">
            <a:avLst>
              <a:gd name="adj" fmla="val 5634"/>
            </a:avLst>
          </a:prstGeom>
          <a:solidFill>
            <a:srgbClr val="F0EDFA"/>
          </a:solidFill>
          <a:ln w="11430">
            <a:solidFill>
              <a:srgbClr val="CBD8E3"/>
            </a:solidFill>
            <a:prstDash val="solid"/>
          </a:ln>
        </p:spPr>
        <p:txBody>
          <a:bodyPr/>
          <a:lstStyle/>
          <a:p>
            <a:endParaRPr lang="en-US"/>
          </a:p>
        </p:txBody>
      </p:sp>
      <p:sp>
        <p:nvSpPr>
          <p:cNvPr id="8" name="box-76-168">
            <a:extLst>
              <a:ext uri="{FF2B5EF4-FFF2-40B4-BE49-F238E27FC236}">
                <a16:creationId xmlns:a16="http://schemas.microsoft.com/office/drawing/2014/main" id="{0DC1E551-1687-4CAF-BD61-E280E8B61AC6}"/>
              </a:ext>
            </a:extLst>
          </p:cNvPr>
          <p:cNvSpPr>
            <a:spLocks noGrp="1"/>
          </p:cNvSpPr>
          <p:nvPr/>
        </p:nvSpPr>
        <p:spPr>
          <a:xfrm>
            <a:off x="723900" y="1600200"/>
            <a:ext cx="1257300" cy="323850"/>
          </a:xfrm>
          <a:prstGeom prst="roundRect">
            <a:avLst>
              <a:gd name="adj" fmla="val 23529"/>
            </a:avLst>
          </a:prstGeom>
          <a:solidFill>
            <a:srgbClr val="6C5AA8"/>
          </a:solidFill>
          <a:ln w="7620">
            <a:solidFill>
              <a:srgbClr val="6C5AA8"/>
            </a:solidFill>
            <a:prstDash val="solid"/>
          </a:ln>
        </p:spPr>
        <p:txBody>
          <a:bodyPr>
            <a:noAutofit/>
          </a:bodyPr>
          <a:lstStyle/>
          <a:p>
            <a:pPr algn="ctr">
              <a:defRPr sz="1050" b="1">
                <a:solidFill>
                  <a:srgbClr val="FFFFFF"/>
                </a:solidFill>
                <a:latin typeface="Arial"/>
                <a:ea typeface="Arial"/>
                <a:cs typeface="Arial"/>
              </a:defRPr>
            </a:pPr>
            <a:r>
              <a:rPr sz="1050" b="1">
                <a:solidFill>
                  <a:srgbClr val="FFFFFF"/>
                </a:solidFill>
                <a:latin typeface="Arial"/>
                <a:ea typeface="Arial"/>
                <a:cs typeface="Arial"/>
              </a:rPr>
              <a:t>SERVER</a:t>
            </a:r>
          </a:p>
        </p:txBody>
      </p:sp>
      <p:sp>
        <p:nvSpPr>
          <p:cNvPr id="9" name="text-230-167-BASELINE ENGINEE">
            <a:extLst>
              <a:ext uri="{FF2B5EF4-FFF2-40B4-BE49-F238E27FC236}">
                <a16:creationId xmlns:a16="http://schemas.microsoft.com/office/drawing/2014/main" id="{83766902-444E-4A3C-9822-A7EA009CEA2F}"/>
              </a:ext>
            </a:extLst>
          </p:cNvPr>
          <p:cNvSpPr>
            <a:spLocks noGrp="1"/>
          </p:cNvSpPr>
          <p:nvPr/>
        </p:nvSpPr>
        <p:spPr>
          <a:xfrm>
            <a:off x="2190750" y="1590675"/>
            <a:ext cx="2286000" cy="209550"/>
          </a:xfrm>
          <a:prstGeom prst="rect">
            <a:avLst/>
          </a:prstGeom>
          <a:noFill/>
          <a:ln w="0">
            <a:noFill/>
          </a:ln>
        </p:spPr>
        <p:txBody>
          <a:bodyPr>
            <a:noAutofit/>
          </a:bodyPr>
          <a:lstStyle/>
          <a:p>
            <a:pPr algn="l">
              <a:defRPr sz="900" b="1">
                <a:solidFill>
                  <a:srgbClr val="7890A6"/>
                </a:solidFill>
                <a:latin typeface="Arial"/>
                <a:ea typeface="Arial"/>
                <a:cs typeface="Arial"/>
              </a:defRPr>
            </a:pPr>
            <a:r>
              <a:rPr sz="900" b="1">
                <a:solidFill>
                  <a:srgbClr val="7890A6"/>
                </a:solidFill>
                <a:latin typeface="Arial"/>
                <a:ea typeface="Arial"/>
                <a:cs typeface="Arial"/>
              </a:rPr>
              <a:t>BASELINE ENGINEERING</a:t>
            </a:r>
          </a:p>
        </p:txBody>
      </p:sp>
      <p:sp>
        <p:nvSpPr>
          <p:cNvPr id="10" name="text-230-193-Java 25 + Spring">
            <a:extLst>
              <a:ext uri="{FF2B5EF4-FFF2-40B4-BE49-F238E27FC236}">
                <a16:creationId xmlns:a16="http://schemas.microsoft.com/office/drawing/2014/main" id="{97CAF2E5-8274-4B5B-87AB-801C453E1D4C}"/>
              </a:ext>
            </a:extLst>
          </p:cNvPr>
          <p:cNvSpPr>
            <a:spLocks noGrp="1"/>
          </p:cNvSpPr>
          <p:nvPr/>
        </p:nvSpPr>
        <p:spPr>
          <a:xfrm>
            <a:off x="2190750" y="1838325"/>
            <a:ext cx="3143250" cy="400050"/>
          </a:xfrm>
          <a:prstGeom prst="rect">
            <a:avLst/>
          </a:prstGeom>
          <a:noFill/>
          <a:ln w="0">
            <a:noFill/>
          </a:ln>
        </p:spPr>
        <p:txBody>
          <a:bodyPr>
            <a:noAutofit/>
          </a:bodyPr>
          <a:lstStyle/>
          <a:p>
            <a:pPr algn="l">
              <a:defRPr sz="1425" b="1">
                <a:solidFill>
                  <a:srgbClr val="102744"/>
                </a:solidFill>
                <a:latin typeface="Arial"/>
                <a:ea typeface="Arial"/>
                <a:cs typeface="Arial"/>
              </a:defRPr>
            </a:pPr>
            <a:r>
              <a:rPr sz="1425" b="1">
                <a:solidFill>
                  <a:srgbClr val="102744"/>
                </a:solidFill>
                <a:latin typeface="Arial"/>
                <a:ea typeface="Arial"/>
                <a:cs typeface="Arial"/>
              </a:rPr>
              <a:t>Java 25 + Spring Boot / Modulith</a:t>
            </a:r>
          </a:p>
        </p:txBody>
      </p:sp>
      <p:sp>
        <p:nvSpPr>
          <p:cNvPr id="11" name="text-590-167-ALTERNATIVE">
            <a:extLst>
              <a:ext uri="{FF2B5EF4-FFF2-40B4-BE49-F238E27FC236}">
                <a16:creationId xmlns:a16="http://schemas.microsoft.com/office/drawing/2014/main" id="{D03643D3-B298-4D7A-9780-F39918856F01}"/>
              </a:ext>
            </a:extLst>
          </p:cNvPr>
          <p:cNvSpPr>
            <a:spLocks noGrp="1"/>
          </p:cNvSpPr>
          <p:nvPr/>
        </p:nvSpPr>
        <p:spPr>
          <a:xfrm>
            <a:off x="5619750" y="1590675"/>
            <a:ext cx="1562100" cy="209550"/>
          </a:xfrm>
          <a:prstGeom prst="rect">
            <a:avLst/>
          </a:prstGeom>
          <a:noFill/>
          <a:ln w="0">
            <a:noFill/>
          </a:ln>
        </p:spPr>
        <p:txBody>
          <a:bodyPr>
            <a:noAutofit/>
          </a:bodyPr>
          <a:lstStyle/>
          <a:p>
            <a:pPr algn="l">
              <a:defRPr sz="900" b="1">
                <a:solidFill>
                  <a:srgbClr val="7890A6"/>
                </a:solidFill>
                <a:latin typeface="Arial"/>
                <a:ea typeface="Arial"/>
                <a:cs typeface="Arial"/>
              </a:defRPr>
            </a:pPr>
            <a:r>
              <a:rPr sz="900" b="1">
                <a:solidFill>
                  <a:srgbClr val="7890A6"/>
                </a:solidFill>
                <a:latin typeface="Arial"/>
                <a:ea typeface="Arial"/>
                <a:cs typeface="Arial"/>
              </a:rPr>
              <a:t>ALTERNATIVE</a:t>
            </a:r>
          </a:p>
        </p:txBody>
      </p:sp>
      <p:sp>
        <p:nvSpPr>
          <p:cNvPr id="12" name="text-590-193-.NET 10 + ASP.NE">
            <a:extLst>
              <a:ext uri="{FF2B5EF4-FFF2-40B4-BE49-F238E27FC236}">
                <a16:creationId xmlns:a16="http://schemas.microsoft.com/office/drawing/2014/main" id="{8EA1A5B9-94F5-4E3E-B073-D214EE284A9C}"/>
              </a:ext>
            </a:extLst>
          </p:cNvPr>
          <p:cNvSpPr>
            <a:spLocks noGrp="1"/>
          </p:cNvSpPr>
          <p:nvPr/>
        </p:nvSpPr>
        <p:spPr>
          <a:xfrm>
            <a:off x="5619750" y="1838325"/>
            <a:ext cx="2381250" cy="400050"/>
          </a:xfrm>
          <a:prstGeom prst="rect">
            <a:avLst/>
          </a:prstGeom>
          <a:noFill/>
          <a:ln w="0">
            <a:noFill/>
          </a:ln>
        </p:spPr>
        <p:txBody>
          <a:bodyPr>
            <a:noAutofit/>
          </a:bodyPr>
          <a:lstStyle/>
          <a:p>
            <a:pPr algn="l">
              <a:defRPr sz="1350" b="1">
                <a:solidFill>
                  <a:srgbClr val="162638"/>
                </a:solidFill>
                <a:latin typeface="Arial"/>
                <a:ea typeface="Arial"/>
                <a:cs typeface="Arial"/>
              </a:defRPr>
            </a:pPr>
            <a:r>
              <a:rPr sz="1350" b="1">
                <a:solidFill>
                  <a:srgbClr val="162638"/>
                </a:solidFill>
                <a:latin typeface="Arial"/>
                <a:ea typeface="Arial"/>
                <a:cs typeface="Arial"/>
              </a:rPr>
              <a:t>.NET 10 + ASP.NET Core</a:t>
            </a:r>
          </a:p>
        </p:txBody>
      </p:sp>
      <p:sp>
        <p:nvSpPr>
          <p:cNvPr id="13" name="text-230-244-Chọn hẹp vì fit ">
            <a:extLst>
              <a:ext uri="{FF2B5EF4-FFF2-40B4-BE49-F238E27FC236}">
                <a16:creationId xmlns:a16="http://schemas.microsoft.com/office/drawing/2014/main" id="{248F1D48-CBAA-445D-A518-43CF2180CB70}"/>
              </a:ext>
            </a:extLst>
          </p:cNvPr>
          <p:cNvSpPr>
            <a:spLocks noGrp="1"/>
          </p:cNvSpPr>
          <p:nvPr/>
        </p:nvSpPr>
        <p:spPr>
          <a:xfrm>
            <a:off x="2190750" y="2324100"/>
            <a:ext cx="5810250" cy="323850"/>
          </a:xfrm>
          <a:prstGeom prst="rect">
            <a:avLst/>
          </a:prstGeom>
          <a:noFill/>
          <a:ln w="0">
            <a:noFill/>
          </a:ln>
        </p:spPr>
        <p:txBody>
          <a:bodyPr>
            <a:noAutofit/>
          </a:bodyPr>
          <a:lstStyle/>
          <a:p>
            <a:pPr algn="l">
              <a:defRPr sz="1050" b="0">
                <a:solidFill>
                  <a:srgbClr val="4B6075"/>
                </a:solidFill>
                <a:latin typeface="Arial"/>
                <a:ea typeface="Arial"/>
                <a:cs typeface="Arial"/>
              </a:defRPr>
            </a:pPr>
            <a:r>
              <a:rPr sz="1050" b="0">
                <a:solidFill>
                  <a:srgbClr val="4B6075"/>
                </a:solidFill>
                <a:latin typeface="Arial"/>
                <a:ea typeface="Arial"/>
                <a:cs typeface="Arial"/>
              </a:rPr>
              <a:t>Chọn hẹp vì fit với modular-monolith verification/tooling. .NET vẫn là alternative nghiêm túc.</a:t>
            </a:r>
          </a:p>
        </p:txBody>
      </p:sp>
      <p:sp>
        <p:nvSpPr>
          <p:cNvPr id="15" name="text-882-181-REOPEN TRIGGER">
            <a:extLst>
              <a:ext uri="{FF2B5EF4-FFF2-40B4-BE49-F238E27FC236}">
                <a16:creationId xmlns:a16="http://schemas.microsoft.com/office/drawing/2014/main" id="{704B5F89-CF09-4C70-946A-C9ED8C0BB0B2}"/>
              </a:ext>
            </a:extLst>
          </p:cNvPr>
          <p:cNvSpPr>
            <a:spLocks noGrp="1"/>
          </p:cNvSpPr>
          <p:nvPr/>
        </p:nvSpPr>
        <p:spPr>
          <a:xfrm>
            <a:off x="8401050" y="1724025"/>
            <a:ext cx="2876550" cy="190500"/>
          </a:xfrm>
          <a:prstGeom prst="rect">
            <a:avLst/>
          </a:prstGeom>
          <a:noFill/>
          <a:ln w="0">
            <a:noFill/>
          </a:ln>
        </p:spPr>
        <p:txBody>
          <a:bodyPr>
            <a:noAutofit/>
          </a:bodyPr>
          <a:lstStyle/>
          <a:p>
            <a:pPr algn="ctr">
              <a:defRPr sz="900" b="1">
                <a:solidFill>
                  <a:srgbClr val="6C5AA8"/>
                </a:solidFill>
                <a:latin typeface="Arial"/>
                <a:ea typeface="Arial"/>
                <a:cs typeface="Arial"/>
              </a:defRPr>
            </a:pPr>
            <a:endParaRPr sz="900" b="1" dirty="0">
              <a:solidFill>
                <a:srgbClr val="6C5AA8"/>
              </a:solidFill>
              <a:latin typeface="Arial"/>
              <a:ea typeface="Arial"/>
              <a:cs typeface="Arial"/>
            </a:endParaRPr>
          </a:p>
        </p:txBody>
      </p:sp>
      <p:sp>
        <p:nvSpPr>
          <p:cNvPr id="16" name="text-884-208-Java fail qualif">
            <a:extLst>
              <a:ext uri="{FF2B5EF4-FFF2-40B4-BE49-F238E27FC236}">
                <a16:creationId xmlns:a16="http://schemas.microsoft.com/office/drawing/2014/main" id="{D2B1DEE5-0C21-480C-9C34-DAE17694E3D2}"/>
              </a:ext>
            </a:extLst>
          </p:cNvPr>
          <p:cNvSpPr>
            <a:spLocks noGrp="1"/>
          </p:cNvSpPr>
          <p:nvPr/>
        </p:nvSpPr>
        <p:spPr>
          <a:xfrm>
            <a:off x="8420100" y="1981200"/>
            <a:ext cx="2838450" cy="514350"/>
          </a:xfrm>
          <a:prstGeom prst="rect">
            <a:avLst/>
          </a:prstGeom>
          <a:noFill/>
          <a:ln w="0">
            <a:noFill/>
          </a:ln>
        </p:spPr>
        <p:txBody>
          <a:bodyPr>
            <a:noAutofit/>
          </a:bodyPr>
          <a:lstStyle/>
          <a:p>
            <a:pPr algn="ctr">
              <a:defRPr sz="1050" b="0">
                <a:solidFill>
                  <a:srgbClr val="4B6075"/>
                </a:solidFill>
                <a:latin typeface="Arial"/>
                <a:ea typeface="Arial"/>
                <a:cs typeface="Arial"/>
              </a:defRPr>
            </a:pPr>
            <a:endParaRPr sz="1050" b="0" dirty="0">
              <a:solidFill>
                <a:srgbClr val="4B6075"/>
              </a:solidFill>
              <a:latin typeface="Arial"/>
              <a:ea typeface="Arial"/>
              <a:cs typeface="Arial"/>
            </a:endParaRPr>
          </a:p>
        </p:txBody>
      </p:sp>
      <p:sp>
        <p:nvSpPr>
          <p:cNvPr id="17" name="box-56-318">
            <a:extLst>
              <a:ext uri="{FF2B5EF4-FFF2-40B4-BE49-F238E27FC236}">
                <a16:creationId xmlns:a16="http://schemas.microsoft.com/office/drawing/2014/main" id="{DAE01424-2E0D-4DF7-A3C0-F6798E1C9FF6}"/>
              </a:ext>
            </a:extLst>
          </p:cNvPr>
          <p:cNvSpPr>
            <a:spLocks noGrp="1"/>
          </p:cNvSpPr>
          <p:nvPr/>
        </p:nvSpPr>
        <p:spPr>
          <a:xfrm>
            <a:off x="533400" y="3028950"/>
            <a:ext cx="11125200" cy="1352550"/>
          </a:xfrm>
          <a:prstGeom prst="roundRect">
            <a:avLst>
              <a:gd name="adj" fmla="val 5634"/>
            </a:avLst>
          </a:prstGeom>
          <a:solidFill>
            <a:srgbClr val="EAF3F9"/>
          </a:solidFill>
          <a:ln w="11430">
            <a:solidFill>
              <a:srgbClr val="CBD8E3"/>
            </a:solidFill>
            <a:prstDash val="solid"/>
          </a:ln>
        </p:spPr>
        <p:txBody>
          <a:bodyPr/>
          <a:lstStyle/>
          <a:p>
            <a:endParaRPr lang="en-US"/>
          </a:p>
        </p:txBody>
      </p:sp>
      <p:sp>
        <p:nvSpPr>
          <p:cNvPr id="18" name="box-76-336">
            <a:extLst>
              <a:ext uri="{FF2B5EF4-FFF2-40B4-BE49-F238E27FC236}">
                <a16:creationId xmlns:a16="http://schemas.microsoft.com/office/drawing/2014/main" id="{E72EFC51-0CF7-41EF-A4CB-890D2ACD3027}"/>
              </a:ext>
            </a:extLst>
          </p:cNvPr>
          <p:cNvSpPr>
            <a:spLocks noGrp="1"/>
          </p:cNvSpPr>
          <p:nvPr/>
        </p:nvSpPr>
        <p:spPr>
          <a:xfrm>
            <a:off x="723900" y="3200400"/>
            <a:ext cx="1257300" cy="323850"/>
          </a:xfrm>
          <a:prstGeom prst="roundRect">
            <a:avLst>
              <a:gd name="adj" fmla="val 23529"/>
            </a:avLst>
          </a:prstGeom>
          <a:solidFill>
            <a:srgbClr val="2169A8"/>
          </a:solidFill>
          <a:ln w="7620">
            <a:solidFill>
              <a:srgbClr val="2169A8"/>
            </a:solidFill>
            <a:prstDash val="solid"/>
          </a:ln>
        </p:spPr>
        <p:txBody>
          <a:bodyPr>
            <a:noAutofit/>
          </a:bodyPr>
          <a:lstStyle/>
          <a:p>
            <a:pPr algn="ctr">
              <a:defRPr sz="1050" b="1">
                <a:solidFill>
                  <a:srgbClr val="FFFFFF"/>
                </a:solidFill>
                <a:latin typeface="Arial"/>
                <a:ea typeface="Arial"/>
                <a:cs typeface="Arial"/>
              </a:defRPr>
            </a:pPr>
            <a:r>
              <a:rPr sz="1050" b="1">
                <a:solidFill>
                  <a:srgbClr val="FFFFFF"/>
                </a:solidFill>
                <a:latin typeface="Arial"/>
                <a:ea typeface="Arial"/>
                <a:cs typeface="Arial"/>
              </a:rPr>
              <a:t>CLIENT</a:t>
            </a:r>
          </a:p>
        </p:txBody>
      </p:sp>
      <p:sp>
        <p:nvSpPr>
          <p:cNvPr id="19" name="text-230-335-BASELINE ENGINEE">
            <a:extLst>
              <a:ext uri="{FF2B5EF4-FFF2-40B4-BE49-F238E27FC236}">
                <a16:creationId xmlns:a16="http://schemas.microsoft.com/office/drawing/2014/main" id="{C70EE29A-32F6-45C9-9511-2E3FFAF02468}"/>
              </a:ext>
            </a:extLst>
          </p:cNvPr>
          <p:cNvSpPr>
            <a:spLocks noGrp="1"/>
          </p:cNvSpPr>
          <p:nvPr/>
        </p:nvSpPr>
        <p:spPr>
          <a:xfrm>
            <a:off x="2190750" y="3190875"/>
            <a:ext cx="2286000" cy="209550"/>
          </a:xfrm>
          <a:prstGeom prst="rect">
            <a:avLst/>
          </a:prstGeom>
          <a:noFill/>
          <a:ln w="0">
            <a:noFill/>
          </a:ln>
        </p:spPr>
        <p:txBody>
          <a:bodyPr>
            <a:noAutofit/>
          </a:bodyPr>
          <a:lstStyle/>
          <a:p>
            <a:pPr algn="l">
              <a:defRPr sz="900" b="1">
                <a:solidFill>
                  <a:srgbClr val="7890A6"/>
                </a:solidFill>
                <a:latin typeface="Arial"/>
                <a:ea typeface="Arial"/>
                <a:cs typeface="Arial"/>
              </a:defRPr>
            </a:pPr>
            <a:r>
              <a:rPr sz="900" b="1">
                <a:solidFill>
                  <a:srgbClr val="7890A6"/>
                </a:solidFill>
                <a:latin typeface="Arial"/>
                <a:ea typeface="Arial"/>
                <a:cs typeface="Arial"/>
              </a:rPr>
              <a:t>BASELINE ENGINEERING</a:t>
            </a:r>
          </a:p>
        </p:txBody>
      </p:sp>
      <p:sp>
        <p:nvSpPr>
          <p:cNvPr id="20" name="text-230-361-React + WPF / We">
            <a:extLst>
              <a:ext uri="{FF2B5EF4-FFF2-40B4-BE49-F238E27FC236}">
                <a16:creationId xmlns:a16="http://schemas.microsoft.com/office/drawing/2014/main" id="{3FC1436B-3984-46B9-9F7A-14222D84F19E}"/>
              </a:ext>
            </a:extLst>
          </p:cNvPr>
          <p:cNvSpPr>
            <a:spLocks noGrp="1"/>
          </p:cNvSpPr>
          <p:nvPr/>
        </p:nvSpPr>
        <p:spPr>
          <a:xfrm>
            <a:off x="2190750" y="3438525"/>
            <a:ext cx="3143250" cy="400050"/>
          </a:xfrm>
          <a:prstGeom prst="rect">
            <a:avLst/>
          </a:prstGeom>
          <a:noFill/>
          <a:ln w="0">
            <a:noFill/>
          </a:ln>
        </p:spPr>
        <p:txBody>
          <a:bodyPr>
            <a:noAutofit/>
          </a:bodyPr>
          <a:lstStyle/>
          <a:p>
            <a:pPr algn="l">
              <a:defRPr sz="1425" b="1">
                <a:solidFill>
                  <a:srgbClr val="102744"/>
                </a:solidFill>
                <a:latin typeface="Arial"/>
                <a:ea typeface="Arial"/>
                <a:cs typeface="Arial"/>
              </a:defRPr>
            </a:pPr>
            <a:r>
              <a:rPr sz="1425" b="1">
                <a:solidFill>
                  <a:srgbClr val="102744"/>
                </a:solidFill>
                <a:latin typeface="Arial"/>
                <a:ea typeface="Arial"/>
                <a:cs typeface="Arial"/>
              </a:rPr>
              <a:t>React + WPF / WebView2 + .NET Workspace</a:t>
            </a:r>
          </a:p>
        </p:txBody>
      </p:sp>
      <p:sp>
        <p:nvSpPr>
          <p:cNvPr id="21" name="text-590-335-ALTERNATIVE">
            <a:extLst>
              <a:ext uri="{FF2B5EF4-FFF2-40B4-BE49-F238E27FC236}">
                <a16:creationId xmlns:a16="http://schemas.microsoft.com/office/drawing/2014/main" id="{562DAE37-CCF8-411A-8826-CDBE86BA2A32}"/>
              </a:ext>
            </a:extLst>
          </p:cNvPr>
          <p:cNvSpPr>
            <a:spLocks noGrp="1"/>
          </p:cNvSpPr>
          <p:nvPr/>
        </p:nvSpPr>
        <p:spPr>
          <a:xfrm>
            <a:off x="5619750" y="3190875"/>
            <a:ext cx="1562100" cy="209550"/>
          </a:xfrm>
          <a:prstGeom prst="rect">
            <a:avLst/>
          </a:prstGeom>
          <a:noFill/>
          <a:ln w="0">
            <a:noFill/>
          </a:ln>
        </p:spPr>
        <p:txBody>
          <a:bodyPr>
            <a:noAutofit/>
          </a:bodyPr>
          <a:lstStyle/>
          <a:p>
            <a:pPr algn="l">
              <a:defRPr sz="900" b="1">
                <a:solidFill>
                  <a:srgbClr val="7890A6"/>
                </a:solidFill>
                <a:latin typeface="Arial"/>
                <a:ea typeface="Arial"/>
                <a:cs typeface="Arial"/>
              </a:defRPr>
            </a:pPr>
            <a:r>
              <a:rPr sz="900" b="1">
                <a:solidFill>
                  <a:srgbClr val="7890A6"/>
                </a:solidFill>
                <a:latin typeface="Arial"/>
                <a:ea typeface="Arial"/>
                <a:cs typeface="Arial"/>
              </a:rPr>
              <a:t>ALTERNATIVE</a:t>
            </a:r>
          </a:p>
        </p:txBody>
      </p:sp>
      <p:sp>
        <p:nvSpPr>
          <p:cNvPr id="22" name="text-590-361-Flutter Web + Wi">
            <a:extLst>
              <a:ext uri="{FF2B5EF4-FFF2-40B4-BE49-F238E27FC236}">
                <a16:creationId xmlns:a16="http://schemas.microsoft.com/office/drawing/2014/main" id="{5C74C921-A228-4714-B7EC-E991EBD0FA7A}"/>
              </a:ext>
            </a:extLst>
          </p:cNvPr>
          <p:cNvSpPr>
            <a:spLocks noGrp="1"/>
          </p:cNvSpPr>
          <p:nvPr/>
        </p:nvSpPr>
        <p:spPr>
          <a:xfrm>
            <a:off x="5619750" y="3438525"/>
            <a:ext cx="2381250" cy="400050"/>
          </a:xfrm>
          <a:prstGeom prst="rect">
            <a:avLst/>
          </a:prstGeom>
          <a:noFill/>
          <a:ln w="0">
            <a:noFill/>
          </a:ln>
        </p:spPr>
        <p:txBody>
          <a:bodyPr>
            <a:noAutofit/>
          </a:bodyPr>
          <a:lstStyle/>
          <a:p>
            <a:pPr algn="l">
              <a:defRPr sz="1350" b="1">
                <a:solidFill>
                  <a:srgbClr val="162638"/>
                </a:solidFill>
                <a:latin typeface="Arial"/>
                <a:ea typeface="Arial"/>
                <a:cs typeface="Arial"/>
              </a:defRPr>
            </a:pPr>
            <a:r>
              <a:rPr sz="1350" b="1">
                <a:solidFill>
                  <a:srgbClr val="162638"/>
                </a:solidFill>
                <a:latin typeface="Arial"/>
                <a:ea typeface="Arial"/>
                <a:cs typeface="Arial"/>
              </a:rPr>
              <a:t>Flutter Web + Windows + .NET Workspace</a:t>
            </a:r>
          </a:p>
        </p:txBody>
      </p:sp>
      <p:sp>
        <p:nvSpPr>
          <p:cNvPr id="23" name="text-230-412-Core v0 cần Web ">
            <a:extLst>
              <a:ext uri="{FF2B5EF4-FFF2-40B4-BE49-F238E27FC236}">
                <a16:creationId xmlns:a16="http://schemas.microsoft.com/office/drawing/2014/main" id="{197EBADA-ED8E-4CCF-9D19-3819DA0DDA1B}"/>
              </a:ext>
            </a:extLst>
          </p:cNvPr>
          <p:cNvSpPr>
            <a:spLocks noGrp="1"/>
          </p:cNvSpPr>
          <p:nvPr/>
        </p:nvSpPr>
        <p:spPr>
          <a:xfrm>
            <a:off x="2190750" y="3924300"/>
            <a:ext cx="5810250" cy="323850"/>
          </a:xfrm>
          <a:prstGeom prst="rect">
            <a:avLst/>
          </a:prstGeom>
          <a:noFill/>
          <a:ln w="0">
            <a:noFill/>
          </a:ln>
        </p:spPr>
        <p:txBody>
          <a:bodyPr>
            <a:noAutofit/>
          </a:bodyPr>
          <a:lstStyle/>
          <a:p>
            <a:pPr algn="l">
              <a:defRPr sz="1050" b="0">
                <a:solidFill>
                  <a:srgbClr val="4B6075"/>
                </a:solidFill>
                <a:latin typeface="Arial"/>
                <a:ea typeface="Arial"/>
                <a:cs typeface="Arial"/>
              </a:defRPr>
            </a:pPr>
            <a:r>
              <a:rPr sz="1050" b="0">
                <a:solidFill>
                  <a:srgbClr val="4B6075"/>
                </a:solidFill>
                <a:latin typeface="Arial"/>
                <a:ea typeface="Arial"/>
                <a:cs typeface="Arial"/>
              </a:rPr>
              <a:t>Core v0 cần Web + Windows, tái sử dụng UI và tận dụng Workspace .NET hiện tại.</a:t>
            </a:r>
          </a:p>
        </p:txBody>
      </p:sp>
      <p:sp>
        <p:nvSpPr>
          <p:cNvPr id="24" name="box-866-336">
            <a:extLst>
              <a:ext uri="{FF2B5EF4-FFF2-40B4-BE49-F238E27FC236}">
                <a16:creationId xmlns:a16="http://schemas.microsoft.com/office/drawing/2014/main" id="{4C302120-221B-4A89-9BFD-2D670DD08C3E}"/>
              </a:ext>
            </a:extLst>
          </p:cNvPr>
          <p:cNvSpPr>
            <a:spLocks noGrp="1"/>
          </p:cNvSpPr>
          <p:nvPr/>
        </p:nvSpPr>
        <p:spPr>
          <a:xfrm>
            <a:off x="8248650" y="3200400"/>
            <a:ext cx="3181350" cy="1009650"/>
          </a:xfrm>
          <a:prstGeom prst="roundRect">
            <a:avLst>
              <a:gd name="adj" fmla="val 7547"/>
            </a:avLst>
          </a:prstGeom>
          <a:solidFill>
            <a:srgbClr val="FFFFFF"/>
          </a:solidFill>
          <a:ln w="12383">
            <a:solidFill>
              <a:srgbClr val="2169A8"/>
            </a:solidFill>
            <a:prstDash val="solid"/>
          </a:ln>
        </p:spPr>
        <p:txBody>
          <a:bodyPr/>
          <a:lstStyle/>
          <a:p>
            <a:endParaRPr lang="en-US"/>
          </a:p>
        </p:txBody>
      </p:sp>
      <p:sp>
        <p:nvSpPr>
          <p:cNvPr id="25" name="text-882-349-REOPEN TRIGGER">
            <a:extLst>
              <a:ext uri="{FF2B5EF4-FFF2-40B4-BE49-F238E27FC236}">
                <a16:creationId xmlns:a16="http://schemas.microsoft.com/office/drawing/2014/main" id="{8A5D708E-62F6-4FD9-AE60-068BEE980E23}"/>
              </a:ext>
            </a:extLst>
          </p:cNvPr>
          <p:cNvSpPr>
            <a:spLocks noGrp="1"/>
          </p:cNvSpPr>
          <p:nvPr/>
        </p:nvSpPr>
        <p:spPr>
          <a:xfrm>
            <a:off x="8401050" y="3324225"/>
            <a:ext cx="2876550" cy="190500"/>
          </a:xfrm>
          <a:prstGeom prst="rect">
            <a:avLst/>
          </a:prstGeom>
          <a:noFill/>
          <a:ln w="0">
            <a:noFill/>
          </a:ln>
        </p:spPr>
        <p:txBody>
          <a:bodyPr>
            <a:noAutofit/>
          </a:bodyPr>
          <a:lstStyle/>
          <a:p>
            <a:pPr algn="ctr">
              <a:defRPr sz="900" b="1">
                <a:solidFill>
                  <a:srgbClr val="2169A8"/>
                </a:solidFill>
                <a:latin typeface="Arial"/>
                <a:ea typeface="Arial"/>
                <a:cs typeface="Arial"/>
              </a:defRPr>
            </a:pPr>
            <a:r>
              <a:rPr sz="900" b="1">
                <a:solidFill>
                  <a:srgbClr val="2169A8"/>
                </a:solidFill>
                <a:latin typeface="Arial"/>
                <a:ea typeface="Arial"/>
                <a:cs typeface="Arial"/>
              </a:rPr>
              <a:t>REOPEN TRIGGER</a:t>
            </a:r>
          </a:p>
        </p:txBody>
      </p:sp>
      <p:sp>
        <p:nvSpPr>
          <p:cNvPr id="26" name="text-884-376-Multi-platform t">
            <a:extLst>
              <a:ext uri="{FF2B5EF4-FFF2-40B4-BE49-F238E27FC236}">
                <a16:creationId xmlns:a16="http://schemas.microsoft.com/office/drawing/2014/main" id="{C023C949-A9D0-4038-A356-74A1950580AA}"/>
              </a:ext>
            </a:extLst>
          </p:cNvPr>
          <p:cNvSpPr>
            <a:spLocks noGrp="1"/>
          </p:cNvSpPr>
          <p:nvPr/>
        </p:nvSpPr>
        <p:spPr>
          <a:xfrm>
            <a:off x="8420100" y="3581400"/>
            <a:ext cx="2838450" cy="514350"/>
          </a:xfrm>
          <a:prstGeom prst="rect">
            <a:avLst/>
          </a:prstGeom>
          <a:noFill/>
          <a:ln w="0">
            <a:noFill/>
          </a:ln>
        </p:spPr>
        <p:txBody>
          <a:bodyPr>
            <a:noAutofit/>
          </a:bodyPr>
          <a:lstStyle/>
          <a:p>
            <a:pPr algn="ctr">
              <a:defRPr sz="1050" b="0">
                <a:solidFill>
                  <a:srgbClr val="4B6075"/>
                </a:solidFill>
                <a:latin typeface="Arial"/>
                <a:ea typeface="Arial"/>
                <a:cs typeface="Arial"/>
              </a:defRPr>
            </a:pPr>
            <a:r>
              <a:rPr sz="1050" b="0">
                <a:solidFill>
                  <a:srgbClr val="4B6075"/>
                </a:solidFill>
                <a:latin typeface="Arial"/>
                <a:ea typeface="Arial"/>
                <a:cs typeface="Arial"/>
              </a:rPr>
              <a:t>Multi-platform trở thành yêu cầu hoặc alternative giảm tổng rủi ro. Sau đó: giữ baseline hoặc chọn Flutter.</a:t>
            </a:r>
          </a:p>
        </p:txBody>
      </p:sp>
      <p:sp>
        <p:nvSpPr>
          <p:cNvPr id="27" name="box-56-486">
            <a:extLst>
              <a:ext uri="{FF2B5EF4-FFF2-40B4-BE49-F238E27FC236}">
                <a16:creationId xmlns:a16="http://schemas.microsoft.com/office/drawing/2014/main" id="{2565B87D-5285-4927-9265-33608330892F}"/>
              </a:ext>
            </a:extLst>
          </p:cNvPr>
          <p:cNvSpPr>
            <a:spLocks noGrp="1"/>
          </p:cNvSpPr>
          <p:nvPr/>
        </p:nvSpPr>
        <p:spPr>
          <a:xfrm>
            <a:off x="533400" y="4629150"/>
            <a:ext cx="11125200" cy="1352550"/>
          </a:xfrm>
          <a:prstGeom prst="roundRect">
            <a:avLst>
              <a:gd name="adj" fmla="val 5634"/>
            </a:avLst>
          </a:prstGeom>
          <a:solidFill>
            <a:srgbClr val="E7F5EE"/>
          </a:solidFill>
          <a:ln w="11430">
            <a:solidFill>
              <a:srgbClr val="CBD8E3"/>
            </a:solidFill>
            <a:prstDash val="solid"/>
          </a:ln>
        </p:spPr>
        <p:txBody>
          <a:bodyPr/>
          <a:lstStyle/>
          <a:p>
            <a:endParaRPr lang="en-US"/>
          </a:p>
        </p:txBody>
      </p:sp>
      <p:sp>
        <p:nvSpPr>
          <p:cNvPr id="28" name="box-76-504">
            <a:extLst>
              <a:ext uri="{FF2B5EF4-FFF2-40B4-BE49-F238E27FC236}">
                <a16:creationId xmlns:a16="http://schemas.microsoft.com/office/drawing/2014/main" id="{4F87CCD4-14E6-4E49-8B51-AE5E04CCB0D4}"/>
              </a:ext>
            </a:extLst>
          </p:cNvPr>
          <p:cNvSpPr>
            <a:spLocks noGrp="1"/>
          </p:cNvSpPr>
          <p:nvPr/>
        </p:nvSpPr>
        <p:spPr>
          <a:xfrm>
            <a:off x="723900" y="4800600"/>
            <a:ext cx="1257300" cy="323850"/>
          </a:xfrm>
          <a:prstGeom prst="roundRect">
            <a:avLst>
              <a:gd name="adj" fmla="val 23529"/>
            </a:avLst>
          </a:prstGeom>
          <a:solidFill>
            <a:srgbClr val="2D8A62"/>
          </a:solidFill>
          <a:ln w="7620">
            <a:solidFill>
              <a:srgbClr val="2D8A62"/>
            </a:solidFill>
            <a:prstDash val="solid"/>
          </a:ln>
        </p:spPr>
        <p:txBody>
          <a:bodyPr>
            <a:noAutofit/>
          </a:bodyPr>
          <a:lstStyle/>
          <a:p>
            <a:pPr algn="ctr">
              <a:defRPr sz="825" b="1">
                <a:solidFill>
                  <a:srgbClr val="FFFFFF"/>
                </a:solidFill>
                <a:latin typeface="Arial"/>
                <a:ea typeface="Arial"/>
                <a:cs typeface="Arial"/>
              </a:defRPr>
            </a:pPr>
            <a:r>
              <a:rPr sz="825" b="1">
                <a:solidFill>
                  <a:srgbClr val="FFFFFF"/>
                </a:solidFill>
                <a:latin typeface="Arial"/>
                <a:ea typeface="Arial"/>
                <a:cs typeface="Arial"/>
              </a:rPr>
              <a:t>ARCHITECTURE</a:t>
            </a:r>
          </a:p>
        </p:txBody>
      </p:sp>
      <p:sp>
        <p:nvSpPr>
          <p:cNvPr id="29" name="text-230-503-BASELINE ENGINEE">
            <a:extLst>
              <a:ext uri="{FF2B5EF4-FFF2-40B4-BE49-F238E27FC236}">
                <a16:creationId xmlns:a16="http://schemas.microsoft.com/office/drawing/2014/main" id="{86159B2C-CD54-44EA-A640-DCF2A7BA4407}"/>
              </a:ext>
            </a:extLst>
          </p:cNvPr>
          <p:cNvSpPr>
            <a:spLocks noGrp="1"/>
          </p:cNvSpPr>
          <p:nvPr/>
        </p:nvSpPr>
        <p:spPr>
          <a:xfrm>
            <a:off x="2190750" y="4791075"/>
            <a:ext cx="2286000" cy="209550"/>
          </a:xfrm>
          <a:prstGeom prst="rect">
            <a:avLst/>
          </a:prstGeom>
          <a:noFill/>
          <a:ln w="0">
            <a:noFill/>
          </a:ln>
        </p:spPr>
        <p:txBody>
          <a:bodyPr>
            <a:noAutofit/>
          </a:bodyPr>
          <a:lstStyle/>
          <a:p>
            <a:pPr algn="l">
              <a:defRPr sz="900" b="1">
                <a:solidFill>
                  <a:srgbClr val="7890A6"/>
                </a:solidFill>
                <a:latin typeface="Arial"/>
                <a:ea typeface="Arial"/>
                <a:cs typeface="Arial"/>
              </a:defRPr>
            </a:pPr>
            <a:r>
              <a:rPr sz="900" b="1">
                <a:solidFill>
                  <a:srgbClr val="7890A6"/>
                </a:solidFill>
                <a:latin typeface="Arial"/>
                <a:ea typeface="Arial"/>
                <a:cs typeface="Arial"/>
              </a:rPr>
              <a:t>BASELINE ENGINEERING</a:t>
            </a:r>
          </a:p>
        </p:txBody>
      </p:sp>
      <p:sp>
        <p:nvSpPr>
          <p:cNvPr id="30" name="text-230-529-Modular Monolith">
            <a:extLst>
              <a:ext uri="{FF2B5EF4-FFF2-40B4-BE49-F238E27FC236}">
                <a16:creationId xmlns:a16="http://schemas.microsoft.com/office/drawing/2014/main" id="{C065C59E-50ED-4077-8613-8B76AC3F90F4}"/>
              </a:ext>
            </a:extLst>
          </p:cNvPr>
          <p:cNvSpPr>
            <a:spLocks noGrp="1"/>
          </p:cNvSpPr>
          <p:nvPr/>
        </p:nvSpPr>
        <p:spPr>
          <a:xfrm>
            <a:off x="2190750" y="5038725"/>
            <a:ext cx="3143250" cy="400050"/>
          </a:xfrm>
          <a:prstGeom prst="rect">
            <a:avLst/>
          </a:prstGeom>
          <a:noFill/>
          <a:ln w="0">
            <a:noFill/>
          </a:ln>
        </p:spPr>
        <p:txBody>
          <a:bodyPr>
            <a:noAutofit/>
          </a:bodyPr>
          <a:lstStyle/>
          <a:p>
            <a:pPr algn="l">
              <a:defRPr sz="1425" b="1">
                <a:solidFill>
                  <a:srgbClr val="102744"/>
                </a:solidFill>
                <a:latin typeface="Arial"/>
                <a:ea typeface="Arial"/>
                <a:cs typeface="Arial"/>
              </a:defRPr>
            </a:pPr>
            <a:r>
              <a:rPr sz="1425" b="1">
                <a:solidFill>
                  <a:srgbClr val="102744"/>
                </a:solidFill>
                <a:latin typeface="Arial"/>
                <a:ea typeface="Arial"/>
                <a:cs typeface="Arial"/>
              </a:rPr>
              <a:t>Modular Monolith</a:t>
            </a:r>
          </a:p>
        </p:txBody>
      </p:sp>
      <p:sp>
        <p:nvSpPr>
          <p:cNvPr id="31" name="text-590-503-ALTERNATIVE">
            <a:extLst>
              <a:ext uri="{FF2B5EF4-FFF2-40B4-BE49-F238E27FC236}">
                <a16:creationId xmlns:a16="http://schemas.microsoft.com/office/drawing/2014/main" id="{16B98B8B-7005-43E9-A1DE-FDED5CEE3329}"/>
              </a:ext>
            </a:extLst>
          </p:cNvPr>
          <p:cNvSpPr>
            <a:spLocks noGrp="1"/>
          </p:cNvSpPr>
          <p:nvPr/>
        </p:nvSpPr>
        <p:spPr>
          <a:xfrm>
            <a:off x="5619750" y="4791075"/>
            <a:ext cx="1562100" cy="209550"/>
          </a:xfrm>
          <a:prstGeom prst="rect">
            <a:avLst/>
          </a:prstGeom>
          <a:noFill/>
          <a:ln w="0">
            <a:noFill/>
          </a:ln>
        </p:spPr>
        <p:txBody>
          <a:bodyPr>
            <a:noAutofit/>
          </a:bodyPr>
          <a:lstStyle/>
          <a:p>
            <a:pPr algn="l">
              <a:defRPr sz="900" b="1">
                <a:solidFill>
                  <a:srgbClr val="7890A6"/>
                </a:solidFill>
                <a:latin typeface="Arial"/>
                <a:ea typeface="Arial"/>
                <a:cs typeface="Arial"/>
              </a:defRPr>
            </a:pPr>
            <a:r>
              <a:rPr sz="900" b="1">
                <a:solidFill>
                  <a:srgbClr val="7890A6"/>
                </a:solidFill>
                <a:latin typeface="Arial"/>
                <a:ea typeface="Arial"/>
                <a:cs typeface="Arial"/>
              </a:rPr>
              <a:t>ALTERNATIVE</a:t>
            </a:r>
          </a:p>
        </p:txBody>
      </p:sp>
      <p:sp>
        <p:nvSpPr>
          <p:cNvPr id="32" name="text-590-529-Microservices">
            <a:extLst>
              <a:ext uri="{FF2B5EF4-FFF2-40B4-BE49-F238E27FC236}">
                <a16:creationId xmlns:a16="http://schemas.microsoft.com/office/drawing/2014/main" id="{1BE17632-39AE-4B72-8C25-A4C701EA13A7}"/>
              </a:ext>
            </a:extLst>
          </p:cNvPr>
          <p:cNvSpPr>
            <a:spLocks noGrp="1"/>
          </p:cNvSpPr>
          <p:nvPr/>
        </p:nvSpPr>
        <p:spPr>
          <a:xfrm>
            <a:off x="5619750" y="5038725"/>
            <a:ext cx="2381250" cy="400050"/>
          </a:xfrm>
          <a:prstGeom prst="rect">
            <a:avLst/>
          </a:prstGeom>
          <a:noFill/>
          <a:ln w="0">
            <a:noFill/>
          </a:ln>
        </p:spPr>
        <p:txBody>
          <a:bodyPr>
            <a:noAutofit/>
          </a:bodyPr>
          <a:lstStyle/>
          <a:p>
            <a:pPr algn="l">
              <a:defRPr sz="1350" b="1">
                <a:solidFill>
                  <a:srgbClr val="162638"/>
                </a:solidFill>
                <a:latin typeface="Arial"/>
                <a:ea typeface="Arial"/>
                <a:cs typeface="Arial"/>
              </a:defRPr>
            </a:pPr>
            <a:r>
              <a:rPr sz="1350" b="1">
                <a:solidFill>
                  <a:srgbClr val="162638"/>
                </a:solidFill>
                <a:latin typeface="Arial"/>
                <a:ea typeface="Arial"/>
                <a:cs typeface="Arial"/>
              </a:rPr>
              <a:t>Microservices</a:t>
            </a:r>
          </a:p>
        </p:txBody>
      </p:sp>
      <p:sp>
        <p:nvSpPr>
          <p:cNvPr id="33" name="text-230-580-Transaction, tri">
            <a:extLst>
              <a:ext uri="{FF2B5EF4-FFF2-40B4-BE49-F238E27FC236}">
                <a16:creationId xmlns:a16="http://schemas.microsoft.com/office/drawing/2014/main" id="{4F45AEA9-D5DF-4716-BFE4-9EA3C48C3811}"/>
              </a:ext>
            </a:extLst>
          </p:cNvPr>
          <p:cNvSpPr>
            <a:spLocks noGrp="1"/>
          </p:cNvSpPr>
          <p:nvPr/>
        </p:nvSpPr>
        <p:spPr>
          <a:xfrm>
            <a:off x="2190750" y="5524500"/>
            <a:ext cx="5810250" cy="323850"/>
          </a:xfrm>
          <a:prstGeom prst="rect">
            <a:avLst/>
          </a:prstGeom>
          <a:noFill/>
          <a:ln w="0">
            <a:noFill/>
          </a:ln>
        </p:spPr>
        <p:txBody>
          <a:bodyPr>
            <a:noAutofit/>
          </a:bodyPr>
          <a:lstStyle/>
          <a:p>
            <a:pPr algn="l">
              <a:defRPr sz="1050" b="0">
                <a:solidFill>
                  <a:srgbClr val="4B6075"/>
                </a:solidFill>
                <a:latin typeface="Arial"/>
                <a:ea typeface="Arial"/>
                <a:cs typeface="Arial"/>
              </a:defRPr>
            </a:pPr>
            <a:r>
              <a:rPr sz="1050" b="0">
                <a:solidFill>
                  <a:srgbClr val="4B6075"/>
                </a:solidFill>
                <a:latin typeface="Arial"/>
                <a:ea typeface="Arial"/>
                <a:cs typeface="Arial"/>
              </a:rPr>
              <a:t>Transaction, triển khai, debug và backup đơn giản hơn cho quy mô hiện tại.</a:t>
            </a:r>
          </a:p>
        </p:txBody>
      </p:sp>
      <p:sp>
        <p:nvSpPr>
          <p:cNvPr id="34" name="box-866-504">
            <a:extLst>
              <a:ext uri="{FF2B5EF4-FFF2-40B4-BE49-F238E27FC236}">
                <a16:creationId xmlns:a16="http://schemas.microsoft.com/office/drawing/2014/main" id="{6873CE5D-6AA6-4826-AAC0-A71F9DFD42CC}"/>
              </a:ext>
            </a:extLst>
          </p:cNvPr>
          <p:cNvSpPr>
            <a:spLocks noGrp="1"/>
          </p:cNvSpPr>
          <p:nvPr/>
        </p:nvSpPr>
        <p:spPr>
          <a:xfrm>
            <a:off x="8248650" y="4800600"/>
            <a:ext cx="3181350" cy="1009650"/>
          </a:xfrm>
          <a:prstGeom prst="roundRect">
            <a:avLst>
              <a:gd name="adj" fmla="val 7547"/>
            </a:avLst>
          </a:prstGeom>
          <a:solidFill>
            <a:srgbClr val="FFFFFF"/>
          </a:solidFill>
          <a:ln w="12383">
            <a:solidFill>
              <a:srgbClr val="2D8A62"/>
            </a:solidFill>
            <a:prstDash val="solid"/>
          </a:ln>
        </p:spPr>
        <p:txBody>
          <a:bodyPr/>
          <a:lstStyle/>
          <a:p>
            <a:endParaRPr lang="en-US"/>
          </a:p>
        </p:txBody>
      </p:sp>
      <p:sp>
        <p:nvSpPr>
          <p:cNvPr id="35" name="text-882-517-REOPEN TRIGGER">
            <a:extLst>
              <a:ext uri="{FF2B5EF4-FFF2-40B4-BE49-F238E27FC236}">
                <a16:creationId xmlns:a16="http://schemas.microsoft.com/office/drawing/2014/main" id="{E027A030-CD7D-4B52-8837-3402112578B4}"/>
              </a:ext>
            </a:extLst>
          </p:cNvPr>
          <p:cNvSpPr>
            <a:spLocks noGrp="1"/>
          </p:cNvSpPr>
          <p:nvPr/>
        </p:nvSpPr>
        <p:spPr>
          <a:xfrm>
            <a:off x="8401050" y="4924425"/>
            <a:ext cx="2876550" cy="190500"/>
          </a:xfrm>
          <a:prstGeom prst="rect">
            <a:avLst/>
          </a:prstGeom>
          <a:noFill/>
          <a:ln w="0">
            <a:noFill/>
          </a:ln>
        </p:spPr>
        <p:txBody>
          <a:bodyPr>
            <a:noAutofit/>
          </a:bodyPr>
          <a:lstStyle/>
          <a:p>
            <a:pPr algn="ctr">
              <a:defRPr sz="900" b="1">
                <a:solidFill>
                  <a:srgbClr val="2D8A62"/>
                </a:solidFill>
                <a:latin typeface="Arial"/>
                <a:ea typeface="Arial"/>
                <a:cs typeface="Arial"/>
              </a:defRPr>
            </a:pPr>
            <a:r>
              <a:rPr sz="900" b="1">
                <a:solidFill>
                  <a:srgbClr val="2D8A62"/>
                </a:solidFill>
                <a:latin typeface="Arial"/>
                <a:ea typeface="Arial"/>
                <a:cs typeface="Arial"/>
              </a:rPr>
              <a:t>REOPEN TRIGGER</a:t>
            </a:r>
          </a:p>
        </p:txBody>
      </p:sp>
      <p:sp>
        <p:nvSpPr>
          <p:cNvPr id="36" name="text-884-544-Có evidence về s">
            <a:extLst>
              <a:ext uri="{FF2B5EF4-FFF2-40B4-BE49-F238E27FC236}">
                <a16:creationId xmlns:a16="http://schemas.microsoft.com/office/drawing/2014/main" id="{EDA03344-65F3-418D-8EE2-1FD465994226}"/>
              </a:ext>
            </a:extLst>
          </p:cNvPr>
          <p:cNvSpPr>
            <a:spLocks noGrp="1"/>
          </p:cNvSpPr>
          <p:nvPr/>
        </p:nvSpPr>
        <p:spPr>
          <a:xfrm>
            <a:off x="8420100" y="5181600"/>
            <a:ext cx="2838450" cy="514350"/>
          </a:xfrm>
          <a:prstGeom prst="rect">
            <a:avLst/>
          </a:prstGeom>
          <a:noFill/>
          <a:ln w="0">
            <a:noFill/>
          </a:ln>
        </p:spPr>
        <p:txBody>
          <a:bodyPr>
            <a:noAutofit/>
          </a:bodyPr>
          <a:lstStyle/>
          <a:p>
            <a:pPr algn="ctr">
              <a:defRPr sz="1050" b="0">
                <a:solidFill>
                  <a:srgbClr val="4B6075"/>
                </a:solidFill>
                <a:latin typeface="Arial"/>
                <a:ea typeface="Arial"/>
                <a:cs typeface="Arial"/>
              </a:defRPr>
            </a:pPr>
            <a:r>
              <a:rPr sz="1050" b="0">
                <a:solidFill>
                  <a:srgbClr val="4B6075"/>
                </a:solidFill>
                <a:latin typeface="Arial"/>
                <a:ea typeface="Arial"/>
                <a:cs typeface="Arial"/>
              </a:rPr>
              <a:t>Có evidence về scale, isolation hoặc ownership độc lập. Sau đó: giữ baseline hoặc chọn Microservices.</a:t>
            </a:r>
          </a:p>
        </p:txBody>
      </p:sp>
    </p:spTree>
    <p:extLst>
      <p:ext uri="{BB962C8B-B14F-4D97-AF65-F5344CB8AC3E}">
        <p14:creationId xmlns:p14="http://schemas.microsoft.com/office/powerpoint/2010/main" val="150786221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3193</Words>
  <Application>Microsoft Office PowerPoint</Application>
  <DocSecurity>0</DocSecurity>
  <PresentationFormat>Widescreen</PresentationFormat>
  <Paragraphs>445</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IDEA_Product Development (Lam)</cp:lastModifiedBy>
  <cp:revision>4</cp:revision>
  <dcterms:created xsi:type="dcterms:W3CDTF">2026-09-16T03:55:17Z</dcterms:created>
  <dcterms:modified xsi:type="dcterms:W3CDTF">2026-09-16T04:06:34Z</dcterms:modified>
</cp:coreProperties>
</file>