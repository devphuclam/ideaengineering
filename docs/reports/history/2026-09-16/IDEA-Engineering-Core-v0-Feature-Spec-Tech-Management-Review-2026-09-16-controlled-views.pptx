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9ead118eb942c2" /><Relationship Type="http://schemas.openxmlformats.org/officeDocument/2006/relationships/extended-properties" Target="/docProps/app.xml" Id="Rbb8f9801c2a742ad" /><Relationship Type="http://schemas.openxmlformats.org/officeDocument/2006/relationships/officeDocument" Target="/ppt/presentation.xml" Id="R6cc210b7c65149d0" /></Relationships>
</file>

<file path=ppt/presentation.xml><?xml version="1.0" encoding="utf-8"?>
<p:presentation xmlns:p="http://schemas.openxmlformats.org/presentationml/2006/main">
  <p:sldMasterIdLst>
    <p:sldMasterId xmlns:r="http://schemas.openxmlformats.org/officeDocument/2006/relationships" id="2147483648" r:id="R392ea02cedbc4ce7"/>
  </p:sldMasterIdLst>
  <p:notesMasterIdLst>
    <p:notesMasterId xmlns:r="http://schemas.openxmlformats.org/officeDocument/2006/relationships" r:id="Rf5fecb957c554a5c"/>
  </p:notesMasterIdLst>
  <p:sldIdLst>
    <p:sldId xmlns:r="http://schemas.openxmlformats.org/officeDocument/2006/relationships" id="256" r:id="R103c4d59a8b645f0"/>
    <p:sldId xmlns:r="http://schemas.openxmlformats.org/officeDocument/2006/relationships" id="257" r:id="R62683c349c0a4577"/>
    <p:sldId xmlns:r="http://schemas.openxmlformats.org/officeDocument/2006/relationships" id="258" r:id="R8544c9ec662d4472"/>
    <p:sldId xmlns:r="http://schemas.openxmlformats.org/officeDocument/2006/relationships" id="259" r:id="Rcc508ccade874be5"/>
    <p:sldId xmlns:r="http://schemas.openxmlformats.org/officeDocument/2006/relationships" id="260" r:id="R3ade67384ff147e7"/>
    <p:sldId xmlns:r="http://schemas.openxmlformats.org/officeDocument/2006/relationships" id="261" r:id="Rc2be7980b6594400"/>
    <p:sldId xmlns:r="http://schemas.openxmlformats.org/officeDocument/2006/relationships" id="262" r:id="R1ea6ff9540d74632"/>
    <p:sldId xmlns:r="http://schemas.openxmlformats.org/officeDocument/2006/relationships" id="263" r:id="Rabdf03144d4d4f58"/>
    <p:sldId xmlns:r="http://schemas.openxmlformats.org/officeDocument/2006/relationships" id="264" r:id="R031480ae76c74856"/>
    <p:sldId xmlns:r="http://schemas.openxmlformats.org/officeDocument/2006/relationships" id="265" r:id="R26380593c1f643d4"/>
    <p:sldId xmlns:r="http://schemas.openxmlformats.org/officeDocument/2006/relationships" id="266" r:id="R9a347cc550fa4a2d"/>
    <p:sldId xmlns:r="http://schemas.openxmlformats.org/officeDocument/2006/relationships" id="267" r:id="R94f66dfeb6fb4917"/>
    <p:sldId xmlns:r="http://schemas.openxmlformats.org/officeDocument/2006/relationships" id="268" r:id="Ra8e5ceaa608a4167"/>
    <p:sldId xmlns:r="http://schemas.openxmlformats.org/officeDocument/2006/relationships" id="269" r:id="Ref1035a652e24b0f"/>
    <p:sldId xmlns:r="http://schemas.openxmlformats.org/officeDocument/2006/relationships" id="270" r:id="R725ac714b8374bd1"/>
    <p:sldId xmlns:r="http://schemas.openxmlformats.org/officeDocument/2006/relationships" id="271" r:id="R2f591cd8ac204e81"/>
    <p:sldId xmlns:r="http://schemas.openxmlformats.org/officeDocument/2006/relationships" id="272" r:id="R0fe749ae921245fa"/>
    <p:sldId xmlns:r="http://schemas.openxmlformats.org/officeDocument/2006/relationships" id="273" r:id="R3995f070c87448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d20ee06a8f456f" /><Relationship Type="http://schemas.openxmlformats.org/officeDocument/2006/relationships/slideMaster" Target="/ppt/slideMasters/slideMaster1.xml" Id="R392ea02cedbc4ce7" /><Relationship Type="http://schemas.openxmlformats.org/officeDocument/2006/relationships/notesMaster" Target="/ppt/notesMasters/notesMaster1.xml" Id="Rf5fecb957c554a5c" /><Relationship Type="http://schemas.openxmlformats.org/officeDocument/2006/relationships/presProps" Target="/ppt/presProps.xml" Id="R0c309949dcd84e4c" /><Relationship Type="http://schemas.openxmlformats.org/officeDocument/2006/relationships/tableStyles" Target="/ppt/tableStyles.xml" Id="R5e39e0cd0d814843" /><Relationship Type="http://schemas.openxmlformats.org/officeDocument/2006/relationships/slide" Target="/ppt/slides/slide1.xml" Id="R103c4d59a8b645f0" /><Relationship Type="http://schemas.openxmlformats.org/officeDocument/2006/relationships/slide" Target="/ppt/slides/slide2.xml" Id="R62683c349c0a4577" /><Relationship Type="http://schemas.openxmlformats.org/officeDocument/2006/relationships/slide" Target="/ppt/slides/slide3.xml" Id="R8544c9ec662d4472" /><Relationship Type="http://schemas.openxmlformats.org/officeDocument/2006/relationships/slide" Target="/ppt/slides/slide4.xml" Id="Rcc508ccade874be5" /><Relationship Type="http://schemas.openxmlformats.org/officeDocument/2006/relationships/slide" Target="/ppt/slides/slide5.xml" Id="R3ade67384ff147e7" /><Relationship Type="http://schemas.openxmlformats.org/officeDocument/2006/relationships/slide" Target="/ppt/slides/slide6.xml" Id="Rc2be7980b6594400" /><Relationship Type="http://schemas.openxmlformats.org/officeDocument/2006/relationships/slide" Target="/ppt/slides/slide7.xml" Id="R1ea6ff9540d74632" /><Relationship Type="http://schemas.openxmlformats.org/officeDocument/2006/relationships/slide" Target="/ppt/slides/slide8.xml" Id="Rabdf03144d4d4f58" /><Relationship Type="http://schemas.openxmlformats.org/officeDocument/2006/relationships/slide" Target="/ppt/slides/slide9.xml" Id="R031480ae76c74856" /><Relationship Type="http://schemas.openxmlformats.org/officeDocument/2006/relationships/slide" Target="/ppt/slides/slide10.xml" Id="R26380593c1f643d4" /><Relationship Type="http://schemas.openxmlformats.org/officeDocument/2006/relationships/slide" Target="/ppt/slides/slide11.xml" Id="R9a347cc550fa4a2d" /><Relationship Type="http://schemas.openxmlformats.org/officeDocument/2006/relationships/slide" Target="/ppt/slides/slide12.xml" Id="R94f66dfeb6fb4917" /><Relationship Type="http://schemas.openxmlformats.org/officeDocument/2006/relationships/slide" Target="/ppt/slides/slide13.xml" Id="Ra8e5ceaa608a4167" /><Relationship Type="http://schemas.openxmlformats.org/officeDocument/2006/relationships/slide" Target="/ppt/slides/slide14.xml" Id="Ref1035a652e24b0f" /><Relationship Type="http://schemas.openxmlformats.org/officeDocument/2006/relationships/slide" Target="/ppt/slides/slide15.xml" Id="R725ac714b8374bd1" /><Relationship Type="http://schemas.openxmlformats.org/officeDocument/2006/relationships/slide" Target="/ppt/slides/slide16.xml" Id="R2f591cd8ac204e81" /><Relationship Type="http://schemas.openxmlformats.org/officeDocument/2006/relationships/slide" Target="/ppt/slides/slide17.xml" Id="R0fe749ae921245fa" /><Relationship Type="http://schemas.openxmlformats.org/officeDocument/2006/relationships/slide" Target="/ppt/slides/slide18.xml" Id="R3995f070c87448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044b571a6f44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19b9fe5fb54f08" /><Relationship Type="http://schemas.openxmlformats.org/officeDocument/2006/relationships/notesMaster" Target="/ppt/notesMasters/notesMaster1.xml" Id="R7216c1d3622941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65fdfce68e40d3" /><Relationship Type="http://schemas.openxmlformats.org/officeDocument/2006/relationships/notesMaster" Target="/ppt/notesMasters/notesMaster1.xml" Id="R11ad3f3d657c47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03957d16bc4e57" /><Relationship Type="http://schemas.openxmlformats.org/officeDocument/2006/relationships/notesMaster" Target="/ppt/notesMasters/notesMaster1.xml" Id="R247c5f0f58ae4c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dd7a56d6384fde" /><Relationship Type="http://schemas.openxmlformats.org/officeDocument/2006/relationships/notesMaster" Target="/ppt/notesMasters/notesMaster1.xml" Id="R478ce0e0a54c47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4256168b8145c4" /><Relationship Type="http://schemas.openxmlformats.org/officeDocument/2006/relationships/notesMaster" Target="/ppt/notesMasters/notesMaster1.xml" Id="Rdc5b0705067b41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a58cd3b64145db" /><Relationship Type="http://schemas.openxmlformats.org/officeDocument/2006/relationships/notesMaster" Target="/ppt/notesMasters/notesMaster1.xml" Id="R384af6e8940842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e992f4bb00437c" /><Relationship Type="http://schemas.openxmlformats.org/officeDocument/2006/relationships/notesMaster" Target="/ppt/notesMasters/notesMaster1.xml" Id="R68bc3dfb715f49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fb4f8bf57e40c0" /><Relationship Type="http://schemas.openxmlformats.org/officeDocument/2006/relationships/notesMaster" Target="/ppt/notesMasters/notesMaster1.xml" Id="Ra3583387891345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5d4193be9a4e53" /><Relationship Type="http://schemas.openxmlformats.org/officeDocument/2006/relationships/notesMaster" Target="/ppt/notesMasters/notesMaster1.xml" Id="R2a4d73387aad43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6f336ea9e94488" /><Relationship Type="http://schemas.openxmlformats.org/officeDocument/2006/relationships/notesMaster" Target="/ppt/notesMasters/notesMaster1.xml" Id="Rc81b0c455ed24a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f1998c6fd645e4" /><Relationship Type="http://schemas.openxmlformats.org/officeDocument/2006/relationships/notesMaster" Target="/ppt/notesMasters/notesMaster1.xml" Id="Rc02ea837ea7b43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a5b1f822aa47ef" /><Relationship Type="http://schemas.openxmlformats.org/officeDocument/2006/relationships/notesMaster" Target="/ppt/notesMasters/notesMaster1.xml" Id="Rfb34094160084a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4a877e2eaa4015" /><Relationship Type="http://schemas.openxmlformats.org/officeDocument/2006/relationships/notesMaster" Target="/ppt/notesMasters/notesMaster1.xml" Id="R6eadf9abecb843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1644b05dff41de" /><Relationship Type="http://schemas.openxmlformats.org/officeDocument/2006/relationships/notesMaster" Target="/ppt/notesMasters/notesMaster1.xml" Id="R26a8b20e202344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4063ef6b16436b" /><Relationship Type="http://schemas.openxmlformats.org/officeDocument/2006/relationships/notesMaster" Target="/ppt/notesMasters/notesMaster1.xml" Id="R6dc26831ee724c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ddb9d775014e38" /><Relationship Type="http://schemas.openxmlformats.org/officeDocument/2006/relationships/notesMaster" Target="/ppt/notesMasters/notesMaster1.xml" Id="Re247a730306c47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f04d7bdce146a9" /><Relationship Type="http://schemas.openxmlformats.org/officeDocument/2006/relationships/notesMaster" Target="/ppt/notesMasters/notesMaster1.xml" Id="R3a49a433fa5746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9ae921e5094f4a" /><Relationship Type="http://schemas.openxmlformats.org/officeDocument/2006/relationships/notesMaster" Target="/ppt/notesMasters/notesMaster1.xml" Id="R7fe2fe2ec7b54f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presentation synthesis of the review chain from business need to implementation.</a:t>
            </a:r>
          </a:p>
          <a:p xmlns:a="http://schemas.openxmlformats.org/drawingml/2006/main">
            <a:r>
              <a:t>Why was this diagram selected? It establishes the order of the management discussion before detailed Feature, Spec and Tech views.</a:t>
            </a:r>
          </a:p>
          <a:p xmlns:a="http://schemas.openxmlformats.org/drawingml/2006/main">
            <a:r>
              <a:t>What should management notice? FEATURE, SPEC and TECH are separate decisions and Product Decision Authority approval remains NOT-RUN.</a:t>
            </a:r>
          </a:p>
          <a:p xmlns:a="http://schemas.openxmlformats.org/drawingml/2006/main">
            <a:r>
              <a:t>What should management NOT infer? This is not a delivery plan, approval record or proof of implementation readiness.</a:t>
            </a:r>
          </a:p>
          <a:p xmlns:a="http://schemas.openxmlformats.org/drawingml/2006/main">
            <a:r>
              <a:t>How to read it: Read the five stages from left to right.</a:t>
            </a:r>
          </a:p>
          <a:p xmlns:a="http://schemas.openxmlformats.org/drawingml/2006/main">
            <a:r>
              <a:t/>
            </a:r>
          </a:p>
          <a:p xmlns:a="http://schemas.openxmlformats.org/drawingml/2006/main">
            <a:r>
              <a:t>Buổi trình bày này đi theo một chuỗi quyết định: xác định phạm vi, chốt hợp đồng đúng của sản phẩm, rồi mới xem cách Engineering hiện thực.</a:t>
            </a:r>
          </a:p>
          <a:p xmlns:a="http://schemas.openxmlformats.org/drawingml/2006/main">
            <a:r>
              <a:t>Feature trả lời cần có năng lực gì, còn Spec quy định năng lực đó phải hành xử đúng ra sao.</a:t>
            </a:r>
          </a:p>
          <a:p xmlns:a="http://schemas.openxmlformats.org/drawingml/2006/main">
            <a:r>
              <a:t>Tech chỉ là giải pháp để đáp ứng Feature và Spec, không được tự thay đổi nghiệp vụ.</a:t>
            </a:r>
          </a:p>
          <a:p xmlns:a="http://schemas.openxmlformats.org/drawingml/2006/main">
            <a:r>
              <a:t>Ba quyết định hiện vẫn chờ Product Decision Authority xem xét, nên các slide không ngụ ý đã được phê duyệt.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An index of the 12 controlled views actually used in this management review.</a:t>
            </a:r>
          </a:p>
          <a:p xmlns:a="http://schemas.openxmlformats.org/drawingml/2006/main">
            <a:r>
              <a:t>Why was this diagram selected? It lets management open the exact controlled source behind each simplified presentation view.</a:t>
            </a:r>
          </a:p>
          <a:p xmlns:a="http://schemas.openxmlformats.org/drawingml/2006/main">
            <a:r>
              <a:t>What should management notice? The 38-view inventory remains separate. Every visible link is pinned to the reviewed commit baseline.</a:t>
            </a:r>
          </a:p>
          <a:p xmlns:a="http://schemas.openxmlformats.org/drawingml/2006/main">
            <a:r>
              <a:t>What should management NOT infer? Omitted views are not invalid or deleted. They are excluded only because they do not help this management decision.</a:t>
            </a:r>
          </a:p>
          <a:p xmlns:a="http://schemas.openxmlformats.org/drawingml/2006/main">
            <a:r>
              <a:t>How to read it: Use the slide references for context and select 'Mở controlled view' for the full-resolution source.</a:t>
            </a:r>
          </a:p>
          <a:p xmlns:a="http://schemas.openxmlformats.org/drawingml/2006/main">
            <a:r>
              <a:t/>
            </a:r>
          </a:p>
          <a:p xmlns:a="http://schemas.openxmlformats.org/drawingml/2006/main">
            <a:r>
              <a:t>Slide này là mục lục các controlled view thực sự được dùng trong management review, không phải toàn bộ diagram catalogue.</a:t>
            </a:r>
          </a:p>
          <a:p xmlns:a="http://schemas.openxmlformats.org/drawingml/2006/main">
            <a:r>
              <a:t>Mỗi dòng mở trực tiếp bản SVG tại commit baseline dùng để tạo presentation.</a:t>
            </a:r>
          </a:p>
          <a:p xmlns:a="http://schemas.openxmlformats.org/drawingml/2006/main">
            <a:r>
              <a:t>Các slide chính dùng bản rút gọn để management theo dõi. Appendix giữ ba view chi tiết cần xem khi đi sâu.</a:t>
            </a:r>
          </a:p>
          <a:p xmlns:a="http://schemas.openxmlformats.org/drawingml/2006/main">
            <a:r>
              <a:t>Inventory 38 view là deliverable riêng và ghi rõ lý do dùng hoặc không dùng từng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capability map synthesised from the 14 controlled Feature groups.</a:t>
            </a:r>
          </a:p>
          <a:p xmlns:a="http://schemas.openxmlformats.org/drawingml/2006/main">
            <a:r>
              <a:t>Why was this diagram selected? It gives management one readable view of the product before discussing detailed requirements.</a:t>
            </a:r>
          </a:p>
          <a:p xmlns:a="http://schemas.openxmlformats.org/drawingml/2006/main">
            <a:r>
              <a:t>What should management notice? The five groups form one controlled product-data lifecycle and remain inside the approved Feature baseline.</a:t>
            </a:r>
          </a:p>
          <a:p xmlns:a="http://schemas.openxmlformats.org/drawingml/2006/main">
            <a:r>
              <a:t>What should management NOT infer? It is not a module diagram, screen map, implementation sequence or proof that any Feature has been implemented.</a:t>
            </a:r>
          </a:p>
          <a:p xmlns:a="http://schemas.openxmlformats.org/drawingml/2006/main">
            <a:r>
              <a:t>How to read it: Start at Core v0 in the centre, then read the five capability groups around it.</a:t>
            </a:r>
          </a:p>
          <a:p xmlns:a="http://schemas.openxmlformats.org/drawingml/2006/main">
            <a:r>
              <a:t/>
            </a:r>
          </a:p>
          <a:p xmlns:a="http://schemas.openxmlformats.org/drawingml/2006/main">
            <a:r>
              <a:t>Core v0 không phải một danh sách màn hình, mà là năm nhóm năng lực tạo thành một vòng đời dữ liệu kỹ thuật có kiểm soát.</a:t>
            </a:r>
          </a:p>
          <a:p xmlns:a="http://schemas.openxmlformats.org/drawingml/2006/main">
            <a:r>
              <a:t>Điểm khác file server là sản phẩm quản lý danh tính, lịch sử, quyền giữ sửa, cấu trúc và quyết định phát hành như một hệ thống thống nhất.</a:t>
            </a:r>
          </a:p>
          <a:p xmlns:a="http://schemas.openxmlformats.org/drawingml/2006/main">
            <a:r>
              <a:t>Mười bốn nhóm Feature chi tiết nằm bên dưới năm nhóm này, nhưng slide chỉ giữ mức quản lý cần ra quyết định.</a:t>
            </a:r>
          </a:p>
          <a:p xmlns:a="http://schemas.openxmlformats.org/drawingml/2006/main">
            <a:r>
              <a:t>Nếu một nhóm lớn không đúng nhu cầu công ty, ta điều chỉnh Feature trước khi bàn sâu hơn về Spec hay 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presentation synthesis of the Core v0 scope boundary.</a:t>
            </a:r>
          </a:p>
          <a:p xmlns:a="http://schemas.openxmlformats.org/drawingml/2006/main">
            <a:r>
              <a:t>Why was this diagram selected? Management must approve what the first product release includes before Engineering expands the design.</a:t>
            </a:r>
          </a:p>
          <a:p xmlns:a="http://schemas.openxmlformats.org/drawingml/2006/main">
            <a:r>
              <a:t>What should management notice? The left side is committed product scope. The right side remains outside Core v0 or deferred.</a:t>
            </a:r>
          </a:p>
          <a:p xmlns:a="http://schemas.openxmlformats.org/drawingml/2006/main">
            <a:r>
              <a:t>What should management NOT infer? Items outside Core v0 are not rejected permanently and are not silently included as supporting functions.</a:t>
            </a:r>
          </a:p>
          <a:p xmlns:a="http://schemas.openxmlformats.org/drawingml/2006/main">
            <a:r>
              <a:t>How to read it: Compare the two columns, then use the bottom question as the decision point.</a:t>
            </a:r>
          </a:p>
          <a:p xmlns:a="http://schemas.openxmlformats.org/drawingml/2006/main">
            <a:r>
              <a:t/>
            </a:r>
          </a:p>
          <a:p xmlns:a="http://schemas.openxmlformats.org/drawingml/2006/main">
            <a:r>
              <a:t>Core v0 tập trung vào vòng đời controlled engineering/product data và không mở rộng thành ERP hay MRP.</a:t>
            </a:r>
          </a:p>
          <a:p xmlns:a="http://schemas.openxmlformats.org/drawingml/2006/main">
            <a:r>
              <a:t>Các đầu ra phòng ban vẫn có thể được quản lý như tài liệu, cấu trúc hoặc bằng chứng, nhưng những nghiệp vụ như mua hàng và tính chi phí chưa trở thành Feature của Core v0.</a:t>
            </a:r>
          </a:p>
          <a:p xmlns:a="http://schemas.openxmlformats.org/drawingml/2006/main">
            <a:r>
              <a:t>Ranh giới này giúp đội nhỏ hoàn thành một vòng nghiệp vụ có giá trị trước khi mở rộng.</a:t>
            </a:r>
          </a:p>
          <a:p xmlns:a="http://schemas.openxmlformats.org/drawingml/2006/main">
            <a:r>
              <a:t>Câu hỏi dành cho management là ranh giới này đã phản ánh đúng ưu tiên công ty hay chưa.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presentation synthesis that separates FEATURE, SPEC and TECH responsibilities.</a:t>
            </a:r>
          </a:p>
          <a:p xmlns:a="http://schemas.openxmlformats.org/drawingml/2006/main">
            <a:r>
              <a:t>Why was this diagram selected? It prevents management approval of one layer from being misread as approval of the other two.</a:t>
            </a:r>
          </a:p>
          <a:p xmlns:a="http://schemas.openxmlformats.org/drawingml/2006/main">
            <a:r>
              <a:t>What should management notice? SPEC carries the product correctness contract and verification obligations.</a:t>
            </a:r>
          </a:p>
          <a:p xmlns:a="http://schemas.openxmlformats.org/drawingml/2006/main">
            <a:r>
              <a:t>What should management NOT infer? The diagram does not define document hierarchy, delivery order or current approval status.</a:t>
            </a:r>
          </a:p>
          <a:p xmlns:a="http://schemas.openxmlformats.org/drawingml/2006/main">
            <a:r>
              <a:t>How to read it: Read left to right from capability, through the correctness contract, to the Engineering solution.</a:t>
            </a:r>
          </a:p>
          <a:p xmlns:a="http://schemas.openxmlformats.org/drawingml/2006/main">
            <a:r>
              <a:t/>
            </a:r>
          </a:p>
          <a:p xmlns:a="http://schemas.openxmlformats.org/drawingml/2006/main">
            <a:r>
              <a:t>Feature nói hệ thống phải có capability nào, nhưng chưa đủ để developer biết mọi tình huống phải xử lý ra sao.</a:t>
            </a:r>
          </a:p>
          <a:p xmlns:a="http://schemas.openxmlformats.org/drawingml/2006/main">
            <a:r>
              <a:t>Spec biến capability thành hợp đồng đúng gồm dữ liệu, trạng thái, quyền, lỗi, phục hồi và cách kiểm chứng.</a:t>
            </a:r>
          </a:p>
          <a:p xmlns:a="http://schemas.openxmlformats.org/drawingml/2006/main">
            <a:r>
              <a:t>Ví dụ, Feature có Check-in; Spec mới quy định Check-in phải atomic, phải kiểm tra baseline và không được làm mất công việc cục bộ khi xung đột.</a:t>
            </a:r>
          </a:p>
          <a:p xmlns:a="http://schemas.openxmlformats.org/drawingml/2006/main">
            <a:r>
              <a:t>SRS hiện hành có 87 yêu cầu, nhưng presentation chỉ trình bày các invariant quan trọng nhất thay vì đọc danh sách yêu cầu.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simplification of DATA-VIEW-CORE-001.</a:t>
            </a:r>
          </a:p>
          <a:p xmlns:a="http://schemas.openxmlformats.org/drawingml/2006/main">
            <a:r>
              <a:t>Why was this diagram selected? It explains the four identity concepts management must distinguish when reviewing the Spec.</a:t>
            </a:r>
          </a:p>
          <a:p xmlns:a="http://schemas.openxmlformats.org/drawingml/2006/main">
            <a:r>
              <a:t>What should management notice? A Logical Document remains stable, Version restarts inside each Revision, and Generation identifies immutable content.</a:t>
            </a:r>
          </a:p>
          <a:p xmlns:a="http://schemas.openxmlformats.org/drawingml/2006/main">
            <a:r>
              <a:t>What should management NOT infer? The labels G001…G004 are examples, not a database sequence, user-facing numbering rule or second Version system.</a:t>
            </a:r>
          </a:p>
          <a:p xmlns:a="http://schemas.openxmlformats.org/drawingml/2006/main">
            <a:r>
              <a:t>How to read it: Read from the stable Logical Document to Revision A history, then to the new Revision B.</a:t>
            </a:r>
          </a:p>
          <a:p xmlns:a="http://schemas.openxmlformats.org/drawingml/2006/main">
            <a:r>
              <a:t/>
            </a:r>
          </a:p>
          <a:p xmlns:a="http://schemas.openxmlformats.org/drawingml/2006/main">
            <a:r>
              <a:t>Logical Document là danh tính ổn định của tài liệu, nên đổi tên hoặc đổi vị trí không tạo tài liệu mới.</a:t>
            </a:r>
          </a:p>
          <a:p xmlns:a="http://schemas.openxmlformats.org/drawingml/2006/main">
            <a:r>
              <a:t>Revision là mốc thay đổi nghiệp vụ được quản lý; Version là thứ tự cập nhật bên trong một Revision.</a:t>
            </a:r>
          </a:p>
          <a:p xmlns:a="http://schemas.openxmlformats.org/drawingml/2006/main">
            <a:r>
              <a:t>Mỗi Check-in có thay đổi tạo một Generation bất biến và tăng Version; Check-in không thay đổi nội dung không tạo Generation mới.</a:t>
            </a:r>
          </a:p>
          <a:p xmlns:a="http://schemas.openxmlformats.org/drawingml/2006/main">
            <a:r>
              <a:t>Khi mở Revision B, Version bắt đầu lại từ 1, còn Generation vẫn là mã snapshot do hệ thống quản lý.</a:t>
            </a:r>
          </a:p>
          <a:p xmlns:a="http://schemas.openxmlformats.org/drawingml/2006/main">
            <a:r>
              <a:t>Cách này cho phép truy lại chính xác nội dung đã review hoặc release ở bất kỳ thời điểm nào.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simplification of the controlled Workspace responsibility, Check-in sequence and data views.</a:t>
            </a:r>
          </a:p>
          <a:p xmlns:a="http://schemas.openxmlformats.org/drawingml/2006/main">
            <a:r>
              <a:t>Why was this diagram selected? Checkout, Reference and Check-in are the most important correctness behaviours in the current review.</a:t>
            </a:r>
          </a:p>
          <a:p xmlns:a="http://schemas.openxmlformats.org/drawingml/2006/main">
            <a:r>
              <a:t>What should management notice? The Server revalidates at commit time, successful Check-in ends the confirmed hold, and failure preserves local work.</a:t>
            </a:r>
          </a:p>
          <a:p xmlns:a="http://schemas.openxmlformats.org/drawingml/2006/main">
            <a:r>
              <a:t>What should management NOT infer? The arrows do not define file-transfer chunking, UI navigation or automatic CAD/Office merge behaviour.</a:t>
            </a:r>
          </a:p>
          <a:p xmlns:a="http://schemas.openxmlformats.org/drawingml/2006/main">
            <a:r>
              <a:t>How to read it: Follow the upper path left to right for Checkout and Check-in. Read the lower panel separately for Reference.</a:t>
            </a:r>
          </a:p>
          <a:p xmlns:a="http://schemas.openxmlformats.org/drawingml/2006/main">
            <a:r>
              <a:t/>
            </a:r>
          </a:p>
          <a:p xmlns:a="http://schemas.openxmlformats.org/drawingml/2006/main">
            <a:r>
              <a:t>Checkout tạo quyền giữ sửa gắn với người dùng, Workspace và Generation nền, chứ không chỉ tải file về máy.</a:t>
            </a:r>
          </a:p>
          <a:p xmlns:a="http://schemas.openxmlformats.org/drawingml/2006/main">
            <a:r>
              <a:t>Check-in là thao tác gửi thay đổi từ Workspace vào hệ thống, nhưng Server vẫn phải kiểm tra lại quyền, Reservation, baseline, phạm vi và cấu trúc tại lúc commit.</a:t>
            </a:r>
          </a:p>
          <a:p xmlns:a="http://schemas.openxmlformats.org/drawingml/2006/main">
            <a:r>
              <a:t>Nếu thành công, mọi tài liệu trong phạm vi được xử lý theo nguyên tắc all-or-none; phần Checkout trong phạm vi được kết thúc cả khi không có nội dung thay đổi.</a:t>
            </a:r>
          </a:p>
          <a:p xmlns:a="http://schemas.openxmlformats.org/drawingml/2006/main">
            <a:r>
              <a:t>Nếu stale hoặc sai quyền, hệ thống chặn ghi và giữ công việc cục bộ để người dùng xử lý tiếp.</a:t>
            </a:r>
          </a:p>
          <a:p xmlns:a="http://schemas.openxmlformats.org/drawingml/2006/main">
            <a:r>
              <a:t>Reference chỉ phục vụ tham khảo; nó không trao quyền công bố thay đổi vào tài liệu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simplification of released-baseline identity and Structure Snapshot semantics.</a:t>
            </a:r>
          </a:p>
          <a:p xmlns:a="http://schemas.openxmlformats.org/drawingml/2006/main">
            <a:r>
              <a:t>Why was this diagram selected? It makes exact historical reproduction visible without showing the full data model.</a:t>
            </a:r>
          </a:p>
          <a:p xmlns:a="http://schemas.openxmlformats.org/drawingml/2006/main">
            <a:r>
              <a:t>What should management notice? The snapshot pins exact Generations and does not move when later heads change.</a:t>
            </a:r>
          </a:p>
          <a:p xmlns:a="http://schemas.openxmlformats.org/drawingml/2006/main">
            <a:r>
              <a:t>What should management NOT infer? It does not prescribe database tables, BOM screen layout or automatic propagation of later revisions.</a:t>
            </a:r>
          </a:p>
          <a:p xmlns:a="http://schemas.openxmlformats.org/drawingml/2006/main">
            <a:r>
              <a:t>How to read it: Read left to right from the structure at Release, to the immutable snapshot, to later document changes.</a:t>
            </a:r>
          </a:p>
          <a:p xmlns:a="http://schemas.openxmlformats.org/drawingml/2006/main">
            <a:r>
              <a:t/>
            </a:r>
          </a:p>
          <a:p xmlns:a="http://schemas.openxmlformats.org/drawingml/2006/main">
            <a:r>
              <a:t>Product Structure không chỉ là cây đang thấy hôm nay; hệ thống phải giữ được cấu trúc chính xác tại từng baseline.</a:t>
            </a:r>
          </a:p>
          <a:p xmlns:a="http://schemas.openxmlformats.org/drawingml/2006/main">
            <a:r>
              <a:t>Structure Snapshot S12 ghim đúng Generation của từng thành phần và bản vẽ, cùng quan hệ và occurrence liên quan.</a:t>
            </a:r>
          </a:p>
          <a:p xmlns:a="http://schemas.openxmlformats.org/drawingml/2006/main">
            <a:r>
              <a:t>Khi Part B hoặc Part C có Generation mới, S12 vẫn giữ B3 và C9 thay vì tự chạy theo bản mới nhất.</a:t>
            </a:r>
          </a:p>
          <a:p xmlns:a="http://schemas.openxmlformats.org/drawingml/2006/main">
            <a:r>
              <a:t>Nhờ vậy Release cũ có thể được tái tạo đúng ngay cả khi các tài liệu thành phần tiếp tục phát triển.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simplification of ARCH-VIEW-SEQ-003 and the controlled Release baseline.</a:t>
            </a:r>
          </a:p>
          <a:p xmlns:a="http://schemas.openxmlformats.org/drawingml/2006/main">
            <a:r>
              <a:t>Why was this diagram selected? It separates Review, Approval and Release and shows why Release must revalidate the exact baseline.</a:t>
            </a:r>
          </a:p>
          <a:p xmlns:a="http://schemas.openxmlformats.org/drawingml/2006/main">
            <a:r>
              <a:t>What should management notice? The Release Record pins Generations, Structure and controlled artifacts that can be retrieved later.</a:t>
            </a:r>
          </a:p>
          <a:p xmlns:a="http://schemas.openxmlformats.org/drawingml/2006/main">
            <a:r>
              <a:t>What should management NOT infer? Approval alone does not guarantee Release, and the diagram does not mean every item in a Project must be released together.</a:t>
            </a:r>
          </a:p>
          <a:p xmlns:a="http://schemas.openxmlformats.org/drawingml/2006/main">
            <a:r>
              <a:t>How to read it: Read the upper path for the decision flow, then the dark lower band for the immutable Release result.</a:t>
            </a:r>
          </a:p>
          <a:p xmlns:a="http://schemas.openxmlformats.org/drawingml/2006/main">
            <a:r>
              <a:t/>
            </a:r>
          </a:p>
          <a:p xmlns:a="http://schemas.openxmlformats.org/drawingml/2006/main">
            <a:r>
              <a:t>Review và Approval luôn làm việc trên một baseline cụ thể gồm Generation, Structure Snapshot và các Representation bắt buộc.</a:t>
            </a:r>
          </a:p>
          <a:p xmlns:a="http://schemas.openxmlformats.org/drawingml/2006/main">
            <a:r>
              <a:t>Ngay trước Release, Server kiểm tra lại toàn bộ baseline, approval, quyền hiện hành, cấu trúc và Artifact.</a:t>
            </a:r>
          </a:p>
          <a:p xmlns:a="http://schemas.openxmlformats.org/drawingml/2006/main">
            <a:r>
              <a:t>Release Record ghi các pin chính xác; nó không dùng khái niệm file mới nhất hoặc cấu trúc hiện tại.</a:t>
            </a:r>
          </a:p>
          <a:p xmlns:a="http://schemas.openxmlformats.org/drawingml/2006/main">
            <a:r>
              <a:t>Khi lấy lại R24 vài tháng sau, hệ thống phải trả đúng cùng baseline đã phát hành, kể cả các tài liệu có Generation mới hơn.</a:t>
            </a:r>
          </a:p>
          <a:p xmlns:a="http://schemas.openxmlformats.org/drawingml/2006/main">
            <a:r>
              <a:t>Đó là lý do shared drive không đủ để thay thế cơ chế Release có kiểm soát.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simplification of the current Principal, Role Definition Version, Authorization Scope and Role Assignment model plus failure handling.</a:t>
            </a:r>
          </a:p>
          <a:p xmlns:a="http://schemas.openxmlformats.org/drawingml/2006/main">
            <a:r>
              <a:t>Why was this diagram selected? It shows that permission and correctness remain Server responsibilities when requests fail or arrive with stale data.</a:t>
            </a:r>
          </a:p>
          <a:p xmlns:a="http://schemas.openxmlformats.org/drawingml/2006/main">
            <a:r>
              <a:t>What should management notice? Authorization is evaluated for the current Principal, exact Role Definition Version and Scope before business gates run.</a:t>
            </a:r>
          </a:p>
          <a:p xmlns:a="http://schemas.openxmlformats.org/drawingml/2006/main">
            <a:r>
              <a:t>What should management NOT infer? This is not the retired Account Type or Permission Policy model, and Audit does not grant permission or make the business decision.</a:t>
            </a:r>
          </a:p>
          <a:p xmlns:a="http://schemas.openxmlformats.org/drawingml/2006/main">
            <a:r>
              <a:t>How to read it: Read block A as the authority chain. Blocks B to D describe independent failure and evidence concerns.</a:t>
            </a:r>
          </a:p>
          <a:p xmlns:a="http://schemas.openxmlformats.org/drawingml/2006/main">
            <a:r>
              <a:t/>
            </a:r>
          </a:p>
          <a:p xmlns:a="http://schemas.openxmlformats.org/drawingml/2006/main">
            <a:r>
              <a:t>Spec phải giữ đúng không chỉ khi mọi thứ thuận lợi mà cả khi sai quyền, dữ liệu cũ, mất mạng hoặc Worker lỗi.</a:t>
            </a:r>
          </a:p>
          <a:p xmlns:a="http://schemas.openxmlformats.org/drawingml/2006/main">
            <a:r>
              <a:t>Server xác định current Principal, tìm Role Assignment gắn đúng Role Definition Version và Authorization Scope, rồi mới áp dụng Permission và business gates.</a:t>
            </a:r>
          </a:p>
          <a:p xmlns:a="http://schemas.openxmlformats.org/drawingml/2006/main">
            <a:r>
              <a:t>Khi baseline cục bộ cũ hơn Server, hệ thống chặn ghi và giữ local work thay vì tự merge CAD hoặc Office.</a:t>
            </a:r>
          </a:p>
          <a:p xmlns:a="http://schemas.openxmlformats.org/drawingml/2006/main">
            <a:r>
              <a:t>OperationId giúp retry không tạo thêm Generation hay quyết định nghiệp vụ trùng lặp khi response bị mất.</a:t>
            </a:r>
          </a:p>
          <a:p xmlns:a="http://schemas.openxmlformats.org/drawingml/2006/main">
            <a:r>
              <a:t>Audit trả lời ai làm gì trên baseline nào, theo policy nào và kết quả ra sao để phục vụ điều tra và phục hồi.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presentation synthesis of the requirement-to-verification chain.</a:t>
            </a:r>
          </a:p>
          <a:p xmlns:a="http://schemas.openxmlformats.org/drawingml/2006/main">
            <a:r>
              <a:t>Why was this diagram selected? It shows how management decisions become testable obligations rather than descriptive prose.</a:t>
            </a:r>
          </a:p>
          <a:p xmlns:a="http://schemas.openxmlformats.org/drawingml/2006/main">
            <a:r>
              <a:t>What should management notice? Executed evidence is separate from requirements, acceptance criteria and planned verification.</a:t>
            </a:r>
          </a:p>
          <a:p xmlns:a="http://schemas.openxmlformats.org/drawingml/2006/main">
            <a:r>
              <a:t>What should management NOT infer? A written verification method is not a PASS result, and the slide does not claim current implementation evidence.</a:t>
            </a:r>
          </a:p>
          <a:p xmlns:a="http://schemas.openxmlformats.org/drawingml/2006/main">
            <a:r>
              <a:t>How to read it: Read the top chain left to right, then use the lower Release example to see one requirement traced end to end.</a:t>
            </a:r>
          </a:p>
          <a:p xmlns:a="http://schemas.openxmlformats.org/drawingml/2006/main">
            <a:r>
              <a:t/>
            </a:r>
          </a:p>
          <a:p xmlns:a="http://schemas.openxmlformats.org/drawingml/2006/main">
            <a:r>
              <a:t>Một requirement chỉ đủ chất lượng khi có tiêu chí chấp nhận và phương pháp kiểm chứng rõ ràng.</a:t>
            </a:r>
          </a:p>
          <a:p xmlns:a="http://schemas.openxmlformats.org/drawingml/2006/main">
            <a:r>
              <a:t>Ví dụ về Release không dừng ở câu phải tái tạo được; acceptance chỉ ra đúng dữ liệu phải trả và verification chỉ ra cách tạo bằng chứng.</a:t>
            </a:r>
          </a:p>
          <a:p xmlns:a="http://schemas.openxmlformats.org/drawingml/2006/main">
            <a:r>
              <a:t>Kết quả thực thi sau này phải ghi PASS, FAIL hoặc BLOCKED, không được suy ra từ việc tài liệu đã được viết.</a:t>
            </a:r>
          </a:p>
          <a:p xmlns:a="http://schemas.openxmlformats.org/drawingml/2006/main">
            <a:r>
              <a:t>Chuỗi truy vết này giúp management biết điều gì đang được yêu cầu, điều gì đã thiết kế và điều gì thật sự đã được chứng minh.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simplification of TECH-D01 and deployment concerns from TECH-D05.</a:t>
            </a:r>
          </a:p>
          <a:p xmlns:a="http://schemas.openxmlformats.org/drawingml/2006/main">
            <a:r>
              <a:t>Why was this diagram selected? It shows the principal runtime boundaries without forcing management to read the detailed deployment view.</a:t>
            </a:r>
          </a:p>
          <a:p xmlns:a="http://schemas.openxmlformats.org/drawingml/2006/main">
            <a:r>
              <a:t>What should management notice? React supplies the shared business UI, the Server keeps product authority, and the Format Worker boundary is selected while its exact runtime remains unselected.</a:t>
            </a:r>
          </a:p>
          <a:p xmlns:a="http://schemas.openxmlformats.org/drawingml/2006/main">
            <a:r>
              <a:t>What should management NOT infer? It is not a final host topology, capacity design, HA design or proof that the selected technologies passed qualification.</a:t>
            </a:r>
          </a:p>
          <a:p xmlns:a="http://schemas.openxmlformats.org/drawingml/2006/main">
            <a:r>
              <a:t>How to read it: Read from the Windows engineering PC to the Server. Treat the Format Worker as a separate conditional-use boundary.</a:t>
            </a:r>
          </a:p>
          <a:p xmlns:a="http://schemas.openxmlformats.org/drawingml/2006/main">
            <a:r>
              <a:t/>
            </a:r>
          </a:p>
          <a:p xmlns:a="http://schemas.openxmlformats.org/drawingml/2006/main">
            <a:r>
              <a:t>Kiến trúc tách rõ máy kỹ sư Windows, Server Linux và Windows Format Worker khi cần xử lý theo ứng dụng hoặc license.</a:t>
            </a:r>
          </a:p>
          <a:p xmlns:a="http://schemas.openxmlformats.org/drawingml/2006/main">
            <a:r>
              <a:t>React là business UI dùng chung; WPF chỉ bọc Desktop và kết nối tới Workspace .NET chịu trách nhiệm với file cục bộ, journal và CAD/Office.</a:t>
            </a:r>
          </a:p>
          <a:p xmlns:a="http://schemas.openxmlformats.org/drawingml/2006/main">
            <a:r>
              <a:t>Server Java giữ product authority, PostgreSQL giữ metadata và state, còn Artifact Store giữ bytes bất biến.</a:t>
            </a:r>
          </a:p>
          <a:p xmlns:a="http://schemas.openxmlformats.org/drawingml/2006/main">
            <a:r>
              <a:t>Format Worker boundary đã được chọn cho Core v0, nhưng chỉ triển khai hoặc dùng khi CAD, Office hay license yêu cầu.</a:t>
            </a:r>
          </a:p>
          <a:p xmlns:a="http://schemas.openxmlformats.org/drawingml/2006/main">
            <a:r>
              <a:t>Runtime và toolchain chính xác của Worker vẫn qualification-dependent và chưa được tài liệu này tự chọn.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simplification of TECH-D03 Technology Layer Mapping.</a:t>
            </a:r>
          </a:p>
          <a:p xmlns:a="http://schemas.openxmlformats.org/drawingml/2006/main">
            <a:r>
              <a:t>Why was this diagram selected? It explains why the stack contains different technology families without assigning duplicate product authority.</a:t>
            </a:r>
          </a:p>
          <a:p xmlns:a="http://schemas.openxmlformats.org/drawingml/2006/main">
            <a:r>
              <a:t>What should management notice? Each row gives one technology family a bounded responsibility.</a:t>
            </a:r>
          </a:p>
          <a:p xmlns:a="http://schemas.openxmlformats.org/drawingml/2006/main">
            <a:r>
              <a:t>What should management NOT infer? The table does not select the exact Format Worker runtime/toolchain and does not prove compatibility or operational readiness.</a:t>
            </a:r>
          </a:p>
          <a:p xmlns:a="http://schemas.openxmlformats.org/drawingml/2006/main">
            <a:r>
              <a:t>How to read it: Read across each row from responsibility, to technology, to the boundary of work it owns.</a:t>
            </a:r>
          </a:p>
          <a:p xmlns:a="http://schemas.openxmlformats.org/drawingml/2006/main">
            <a:r>
              <a:t/>
            </a:r>
          </a:p>
          <a:p xmlns:a="http://schemas.openxmlformats.org/drawingml/2006/main">
            <a:r>
              <a:t>Slide này giải thích vì sao hệ thống có cả Java và .NET mà không phải hai backend cạnh tranh.</a:t>
            </a:r>
          </a:p>
          <a:p xmlns:a="http://schemas.openxmlformats.org/drawingml/2006/main">
            <a:r>
              <a:t>Java/Spring đảm nhiệm Core Server, còn .NET nằm ở ranh giới Windows cần làm việc với file cục bộ, CAD, Office và Named Pipes.</a:t>
            </a:r>
          </a:p>
          <a:p xmlns:a="http://schemas.openxmlformats.org/drawingml/2006/main">
            <a:r>
              <a:t>React là business UI chung cho Web và Desktop, nên WPF không được phát triển thành một bộ giao diện nghiệp vụ thứ hai.</a:t>
            </a:r>
          </a:p>
          <a:p xmlns:a="http://schemas.openxmlformats.org/drawingml/2006/main">
            <a:r>
              <a:t>HTTPS JSON REST và OpenAPI 3.1 là hợp đồng versioned giữa Client, Workspace và Server; Ubuntu 26.04 là platform direction nhưng exact operational build còn Q-14 NOT-RUN.</a:t>
            </a:r>
          </a:p>
          <a:p xmlns:a="http://schemas.openxmlformats.org/drawingml/2006/main">
            <a:r>
              <a:t>PostgreSQL giữ metadata và state; Artifact Store giữ binary bất biến để không gắn danh tính sản phẩm vào đường dẫn lưu trữ.</a:t>
            </a:r>
          </a:p>
          <a:p xmlns:a="http://schemas.openxmlformats.org/drawingml/2006/main">
            <a:r>
              <a:t>Mỗi công nghệ có một trách nhiệm và một ranh giới rõ, giúp qualification và thay thế sau này có kiểm soát.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management simplification of TECH-D08 Technology Decision and Reopen Map.</a:t>
            </a:r>
          </a:p>
          <a:p xmlns:a="http://schemas.openxmlformats.org/drawingml/2006/main">
            <a:r>
              <a:t>Why was this diagram selected? It records selected baselines, qualified alternatives and neutral reopen logic in one view.</a:t>
            </a:r>
          </a:p>
          <a:p xmlns:a="http://schemas.openxmlformats.org/drawingml/2006/main">
            <a:r>
              <a:t>What should management notice? A trigger opens a successor decision that may retain the baseline or select an alternative.</a:t>
            </a:r>
          </a:p>
          <a:p xmlns:a="http://schemas.openxmlformats.org/drawingml/2006/main">
            <a:r>
              <a:t>What should management NOT infer? A trigger does not automatically select .NET, Flutter or Microservices, and Q-15 remains PARTIAL / NO WINNER.</a:t>
            </a:r>
          </a:p>
          <a:p xmlns:a="http://schemas.openxmlformats.org/drawingml/2006/main">
            <a:r>
              <a:t>How to read it: Read each row independently from current baseline and alternative to the reopen condition on the right.</a:t>
            </a:r>
          </a:p>
          <a:p xmlns:a="http://schemas.openxmlformats.org/drawingml/2006/main">
            <a:r>
              <a:t/>
            </a:r>
          </a:p>
          <a:p xmlns:a="http://schemas.openxmlformats.org/drawingml/2006/main">
            <a:r>
              <a:t>Engineering đã chọn một baseline để tiếp tục qualification, nhưng lựa chọn đó chưa phải Product Decision Authority approval.</a:t>
            </a:r>
          </a:p>
          <a:p xmlns:a="http://schemas.openxmlformats.org/drawingml/2006/main">
            <a:r>
              <a:t>Java được chọn hẹp cho Core Server; .NET Server vẫn là alternative nghiêm túc và có trigger mở lại rõ ràng.</a:t>
            </a:r>
          </a:p>
          <a:p xmlns:a="http://schemas.openxmlformats.org/drawingml/2006/main">
            <a:r>
              <a:t>Q-15 không chứng minh React thắng Flutter; kết luận vẫn là PARTIAL / NO WINNER và Flutter vẫn là phương án khả thi đã đánh giá.</a:t>
            </a:r>
          </a:p>
          <a:p xmlns:a="http://schemas.openxmlformats.org/drawingml/2006/main">
            <a:r>
              <a:t>React/WPF được chọn dựa trên phạm vi Web + Windows hiện tại, mức bằng chứng và opportunity cost, không dựa trên tuyên bố benchmark thắng.</a:t>
            </a:r>
          </a:p>
          <a:p xmlns:a="http://schemas.openxmlformats.org/drawingml/2006/main">
            <a:r>
              <a:t>Modular Monolith phù hợp ranh giới giao dịch và khả năng vận hành hiện tại; Microservices chỉ hợp lý khi có evidence đủ bù chi phí phân tán.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A presentation synthesis of the three decisions requested from Product Decision Authority.</a:t>
            </a:r>
          </a:p>
          <a:p xmlns:a="http://schemas.openxmlformats.org/drawingml/2006/main">
            <a:r>
              <a:t>Why was this diagram selected? It gives management a clear response format for FEATURE, SPEC and TECH without combining them into one approval.</a:t>
            </a:r>
          </a:p>
          <a:p xmlns:a="http://schemas.openxmlformats.org/drawingml/2006/main">
            <a:r>
              <a:t>What should management notice? Each decision can receive a different disposition or condition.</a:t>
            </a:r>
          </a:p>
          <a:p xmlns:a="http://schemas.openxmlformats.org/drawingml/2006/main">
            <a:r>
              <a:t>What should management NOT infer? The slide does not record approval. Product Decision Authority status remains NOT-RUN until an attributable decision is captured.</a:t>
            </a:r>
          </a:p>
          <a:p xmlns:a="http://schemas.openxmlformats.org/drawingml/2006/main">
            <a:r>
              <a:t>How to read it: Read the three columns independently, then follow the bottom sequence to see what approval enables next.</a:t>
            </a:r>
          </a:p>
          <a:p xmlns:a="http://schemas.openxmlformats.org/drawingml/2006/main">
            <a:r>
              <a:t/>
            </a:r>
          </a:p>
          <a:p xmlns:a="http://schemas.openxmlformats.org/drawingml/2006/main">
            <a:r>
              <a:t>Management cần đưa ra ba quyết định riêng thay vì phê duyệt chung một khối tài liệu.</a:t>
            </a:r>
          </a:p>
          <a:p xmlns:a="http://schemas.openxmlformats.org/drawingml/2006/main">
            <a:r>
              <a:t>Feature xác nhận đúng phạm vi; Spec xác nhận đúng các quy tắc kiểm soát và hành vi; Tech xác nhận baseline Engineering có thể tiếp tục qualification.</a:t>
            </a:r>
          </a:p>
          <a:p xmlns:a="http://schemas.openxmlformats.org/drawingml/2006/main">
            <a:r>
              <a:t>Kết quả mỗi trục có thể là đồng ý, đồng ý có điều kiện, yêu cầu sửa hoặc yêu cầu thêm bằng chứng.</a:t>
            </a:r>
          </a:p>
          <a:p xmlns:a="http://schemas.openxmlformats.org/drawingml/2006/main">
            <a:r>
              <a:t>Qualification và implementation chỉ đi tiếp trên baseline đã được quyết định; slide không ngụ ý các bước hiện đã PASS.</a:t>
            </a:r>
          </a:p>
          <a:p xmlns:a="http://schemas.openxmlformats.org/drawingml/2006/main">
            <a:r>
              <a:t>Tại thời điểm lập bộ slide, Product Decision Authority approval vẫn NOT-RUN.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The current controlled UML-style authorization domain view.</a:t>
            </a:r>
          </a:p>
          <a:p xmlns:a="http://schemas.openxmlformats.org/drawingml/2006/main">
            <a:r>
              <a:t>Why was this diagram selected? It provides the exact controlled source behind the management simplification on slide 10.</a:t>
            </a:r>
          </a:p>
          <a:p xmlns:a="http://schemas.openxmlformats.org/drawingml/2006/main">
            <a:r>
              <a:t>What should management notice? RoleAssignment binds a SecurityPrincipal, exact RoleDefinitionVersion and AuthorizationScope and contributes to an attributable decision.</a:t>
            </a:r>
          </a:p>
          <a:p xmlns:a="http://schemas.openxmlformats.org/drawingml/2006/main">
            <a:r>
              <a:t>What should management NOT infer? The class layout is not a user workflow, UI design or database schema, and line position does not imply evaluation order.</a:t>
            </a:r>
          </a:p>
          <a:p xmlns:a="http://schemas.openxmlformats.org/drawingml/2006/main">
            <a:r>
              <a:t>How to read it: Start with SecurityPrincipal, RoleDefinitionVersion and AuthorizationScope, then trace their links into RoleAssignment and AuthorizationDecision.</a:t>
            </a:r>
          </a:p>
          <a:p xmlns:a="http://schemas.openxmlformats.org/drawingml/2006/main">
            <a:r>
              <a:t/>
            </a:r>
          </a:p>
          <a:p xmlns:a="http://schemas.openxmlformats.org/drawingml/2006/main">
            <a:r>
              <a:t>This appendix slide reuses the current controlled rendering without redrawing or changing its semantics.</a:t>
            </a:r>
          </a:p>
          <a:p xmlns:a="http://schemas.openxmlformats.org/drawingml/2006/main">
            <a:r>
              <a:t>Use the hyperlink on the slide to open the commit-pinned SVG when small labels need full-resolution inspection.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The current controlled runtime and protocol view.</a:t>
            </a:r>
          </a:p>
          <a:p xmlns:a="http://schemas.openxmlformats.org/drawingml/2006/main">
            <a:r>
              <a:t>Why was this diagram selected? It answers detailed questions about process boundaries and protocols without loading the main management narrative.</a:t>
            </a:r>
          </a:p>
          <a:p xmlns:a="http://schemas.openxmlformats.org/drawingml/2006/main">
            <a:r>
              <a:t>What should management notice? Web, Windows user, Server and Worker run in separate trust zones connected by named, versioned contracts.</a:t>
            </a:r>
          </a:p>
          <a:p xmlns:a="http://schemas.openxmlformats.org/drawingml/2006/main">
            <a:r>
              <a:t>What should management NOT infer? It does not set ports, host counts, firewall rules, capacity, HA or a final Format Worker runtime/toolchain.</a:t>
            </a:r>
          </a:p>
          <a:p xmlns:a="http://schemas.openxmlformats.org/drawingml/2006/main">
            <a:r>
              <a:t>How to read it: Read from the Web and Windows user zones down to the Server trust zone, then follow the separate Worker contract on the right.</a:t>
            </a:r>
          </a:p>
          <a:p xmlns:a="http://schemas.openxmlformats.org/drawingml/2006/main">
            <a:r>
              <a:t/>
            </a:r>
          </a:p>
          <a:p xmlns:a="http://schemas.openxmlformats.org/drawingml/2006/main">
            <a:r>
              <a:t>This appendix slide reuses the current controlled rendering without redrawing or changing its semantics.</a:t>
            </a:r>
          </a:p>
          <a:p xmlns:a="http://schemas.openxmlformats.org/drawingml/2006/main">
            <a:r>
              <a:t>Use the hyperlink on the slide to open the commit-pinned SVG when small labels need full-resolution inspection.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this diagram? The current controlled deployment view for the selected Engineering baseline.</a:t>
            </a:r>
          </a:p>
          <a:p xmlns:a="http://schemas.openxmlformats.org/drawingml/2006/main">
            <a:r>
              <a:t>Why was this diagram selected? It shows machine and failure boundaries when management asks how the system will be deployed and recovered.</a:t>
            </a:r>
          </a:p>
          <a:p xmlns:a="http://schemas.openxmlformats.org/drawingml/2006/main">
            <a:r>
              <a:t>What should management notice? The Server VM is a single failure domain, backup is separated, and the Windows Format Worker remains isolated.</a:t>
            </a:r>
          </a:p>
          <a:p xmlns:a="http://schemas.openxmlformats.org/drawingml/2006/main">
            <a:r>
              <a:t>What should management NOT infer? It is not an approved production topology, capacity result, HA commitment or Product Decision Authority approval.</a:t>
            </a:r>
          </a:p>
          <a:p xmlns:a="http://schemas.openxmlformats.org/drawingml/2006/main">
            <a:r>
              <a:t>How to read it: Read the Server VM in the centre, then the Engineer PC, isolated Worker and separate backup target around it.</a:t>
            </a:r>
          </a:p>
          <a:p xmlns:a="http://schemas.openxmlformats.org/drawingml/2006/main">
            <a:r>
              <a:t/>
            </a:r>
          </a:p>
          <a:p xmlns:a="http://schemas.openxmlformats.org/drawingml/2006/main">
            <a:r>
              <a:t>This appendix slide reuses the current controlled rendering without redrawing or changing its semantics.</a:t>
            </a:r>
          </a:p>
          <a:p xmlns:a="http://schemas.openxmlformats.org/drawingml/2006/main">
            <a:r>
              <a:t>Use the hyperlink on the slide to open the commit-pinned SVG when small labels need full-resolution inspection.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b1b869bebd42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3a1c5220294c3b" /><Relationship Type="http://schemas.openxmlformats.org/officeDocument/2006/relationships/slideLayout" Target="/ppt/slideLayouts/slideLayout1.xml" Id="R45561b93b17547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561b93b17547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96803cc8474521" /><Relationship Type="http://schemas.openxmlformats.org/officeDocument/2006/relationships/notesSlide" Target="/ppt/notesSlides/notesSlide1.xml" Id="Re8dfe82993c246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b3eea5504c4d02" /><Relationship Type="http://schemas.openxmlformats.org/officeDocument/2006/relationships/notesSlide" Target="/ppt/notesSlides/notesSlide2.xml" Id="R620cb1053d684e55" /><Relationship Id="rId1" Type="http://schemas.openxmlformats.org/officeDocument/2006/relationships/hyperlink" Target="https://github.com/devphuclam/IDEAEngineering/blob/f269a0445737a7efd7f406ee51517149a8967afa/docs/product/instances/idea-engineering/evidence/IE-VEV-ARCH-CORR-005/DATA-VIEW-CORE-001.svg" TargetMode="External"/><Relationship Id="rId2" Type="http://schemas.openxmlformats.org/officeDocument/2006/relationships/hyperlink" Target="https://github.com/devphuclam/IDEAEngineering/blob/f269a0445737a7efd7f406ee51517149a8967afa/docs/product/instances/idea-engineering/evidence/IE-VEV-ARCH-CORR-005/ARCH-VIEW-MOD-002.svg" TargetMode="External"/><Relationship Id="rId3" Type="http://schemas.openxmlformats.org/officeDocument/2006/relationships/hyperlink" Target="https://github.com/devphuclam/IDEAEngineering/blob/f269a0445737a7efd7f406ee51517149a8967afa/docs/product/instances/idea-engineering/evidence/IE-VEV-ARCH-CORR-005/ARCH-VIEW-SEQ-002.svg" TargetMode="External"/><Relationship Id="rId4" Type="http://schemas.openxmlformats.org/officeDocument/2006/relationships/hyperlink" Target="https://github.com/devphuclam/IDEAEngineering/blob/f269a0445737a7efd7f406ee51517149a8967afa/docs/product/instances/idea-engineering/evidence/IE-VEV-ARCH-CORR-005/DATA-VIEW-WS-001.svg" TargetMode="External"/><Relationship Id="rId5" Type="http://schemas.openxmlformats.org/officeDocument/2006/relationships/hyperlink" Target="https://github.com/devphuclam/IDEAEngineering/blob/f269a0445737a7efd7f406ee51517149a8967afa/docs/product/instances/idea-engineering/evidence/IE-VEV-ARCH-CORR-005/ARCH-VIEW-SEQ-003.svg" TargetMode="External"/><Relationship Id="rId6" Type="http://schemas.openxmlformats.org/officeDocument/2006/relationships/hyperlink" Target="https://github.com/devphuclam/IDEAEngineering/blob/f269a0445737a7efd7f406ee51517149a8967afa/docs/product/instances/idea-engineering/evidence/IE-VEV-ARCH-CORR-005/ARCH-VIEW-RBAC-001.svg" TargetMode="External"/><Relationship Id="rId7" Type="http://schemas.openxmlformats.org/officeDocument/2006/relationships/hyperlink" Target="https://github.com/devphuclam/IDEAEngineering/blob/f269a0445737a7efd7f406ee51517149a8967afa/docs/product/instances/idea-engineering/evidence/IE-VEV-ARCH-CORR-005/DATA-VIEW-AUTH-001.svg" TargetMode="External"/><Relationship Id="rId8" Type="http://schemas.openxmlformats.org/officeDocument/2006/relationships/hyperlink" Target="https://github.com/devphuclam/IDEAEngineering/blob/f269a0445737a7efd7f406ee51517149a8967afa/docs/product/instances/idea-engineering/evidence/IE-VEV-TECH-VIEW-002/TECH-D01.svg" TargetMode="External"/><Relationship Id="rId9" Type="http://schemas.openxmlformats.org/officeDocument/2006/relationships/hyperlink" Target="https://github.com/devphuclam/IDEAEngineering/blob/f269a0445737a7efd7f406ee51517149a8967afa/docs/product/instances/idea-engineering/evidence/IE-VEV-TECH-VIEW-002/TECH-D03.svg" TargetMode="External"/><Relationship Id="rId10" Type="http://schemas.openxmlformats.org/officeDocument/2006/relationships/hyperlink" Target="https://github.com/devphuclam/IDEAEngineering/blob/f269a0445737a7efd7f406ee51517149a8967afa/docs/product/instances/idea-engineering/evidence/IE-VEV-TECH-VIEW-002/TECH-D08.svg" TargetMode="External"/><Relationship Id="rId11" Type="http://schemas.openxmlformats.org/officeDocument/2006/relationships/hyperlink" Target="https://github.com/devphuclam/IDEAEngineering/blob/f269a0445737a7efd7f406ee51517149a8967afa/docs/product/instances/idea-engineering/evidence/IE-VEV-TECH-VIEW-002/TECH-D04.svg" TargetMode="External"/><Relationship Id="rId12" Type="http://schemas.openxmlformats.org/officeDocument/2006/relationships/hyperlink" Target="https://github.com/devphuclam/IDEAEngineering/blob/f269a0445737a7efd7f406ee51517149a8967afa/docs/product/instances/idea-engineering/evidence/IE-VEV-TECH-VIEW-002/TECH-D05.svg" TargetMode="External"/></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167e0d286f4603" /><Relationship Type="http://schemas.openxmlformats.org/officeDocument/2006/relationships/notesSlide" Target="/ppt/notesSlides/notesSlide3.xml" Id="R7e4375fff6e34f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67b83be46d470e" /><Relationship Type="http://schemas.openxmlformats.org/officeDocument/2006/relationships/notesSlide" Target="/ppt/notesSlides/notesSlide4.xml" Id="R3c71fa33ae734e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858e16ec814748" /><Relationship Type="http://schemas.openxmlformats.org/officeDocument/2006/relationships/notesSlide" Target="/ppt/notesSlides/notesSlide5.xml" Id="Rd6f792c0362645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c7a95b72344b95" /><Relationship Type="http://schemas.openxmlformats.org/officeDocument/2006/relationships/notesSlide" Target="/ppt/notesSlides/notesSlide6.xml" Id="R346b4145a9604569" /><Relationship Id="rId1" Type="http://schemas.openxmlformats.org/officeDocument/2006/relationships/hyperlink" Target="https://github.com/devphuclam/IDEAEngineering/blob/f269a0445737a7efd7f406ee51517149a8967afa/docs/product/instances/idea-engineering/evidence/IE-VEV-ARCH-CORR-005/DATA-VIEW-CORE-001.svg" TargetMode="External"/></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42eb57af904d1b" /><Relationship Type="http://schemas.openxmlformats.org/officeDocument/2006/relationships/notesSlide" Target="/ppt/notesSlides/notesSlide7.xml" Id="Rad23cd332c034868" /><Relationship Id="rId1" Type="http://schemas.openxmlformats.org/officeDocument/2006/relationships/hyperlink" Target="https://github.com/devphuclam/IDEAEngineering/blob/f269a0445737a7efd7f406ee51517149a8967afa/docs/product/instances/idea-engineering/evidence/IE-VEV-ARCH-CORR-005/ARCH-VIEW-SEQ-002.svg" TargetMode="External"/></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226c95a6c942e8" /><Relationship Type="http://schemas.openxmlformats.org/officeDocument/2006/relationships/notesSlide" Target="/ppt/notesSlides/notesSlide8.xml" Id="Rac0c9391ef5546a0" /><Relationship Id="rId1" Type="http://schemas.openxmlformats.org/officeDocument/2006/relationships/hyperlink" Target="https://github.com/devphuclam/IDEAEngineering/blob/f269a0445737a7efd7f406ee51517149a8967afa/docs/product/instances/idea-engineering/evidence/IE-VEV-ARCH-CORR-005/DATA-VIEW-CORE-001.svg" TargetMode="External"/></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335c36f3de44c8" /><Relationship Type="http://schemas.openxmlformats.org/officeDocument/2006/relationships/notesSlide" Target="/ppt/notesSlides/notesSlide9.xml" Id="R77df670cac474748" /><Relationship Id="rId1" Type="http://schemas.openxmlformats.org/officeDocument/2006/relationships/hyperlink" Target="https://github.com/devphuclam/IDEAEngineering/blob/f269a0445737a7efd7f406ee51517149a8967afa/docs/product/instances/idea-engineering/evidence/IE-VEV-ARCH-CORR-005/ARCH-VIEW-SEQ-003.svg" TargetMode="External"/></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8acf0f26bbb4135" /><Relationship Type="http://schemas.openxmlformats.org/officeDocument/2006/relationships/notesSlide" Target="/ppt/notesSlides/notesSlide10.xml" Id="R5f6275eb590b479e" /><Relationship Id="rId1" Type="http://schemas.openxmlformats.org/officeDocument/2006/relationships/hyperlink" Target="https://github.com/devphuclam/IDEAEngineering/blob/f269a0445737a7efd7f406ee51517149a8967afa/docs/product/instances/idea-engineering/evidence/IE-VEV-ARCH-CORR-005/DATA-VIEW-AUTH-001.svg" TargetMode="External"/></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be1ea5dc134cc5" /><Relationship Type="http://schemas.openxmlformats.org/officeDocument/2006/relationships/notesSlide" Target="/ppt/notesSlides/notesSlide11.xml" Id="R2c808b090f034f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1c5264cd7c4d78" /><Relationship Type="http://schemas.openxmlformats.org/officeDocument/2006/relationships/notesSlide" Target="/ppt/notesSlides/notesSlide12.xml" Id="R29dc48d91f8c4b0c" /><Relationship Id="rId1" Type="http://schemas.openxmlformats.org/officeDocument/2006/relationships/hyperlink" Target="https://github.com/devphuclam/IDEAEngineering/blob/f269a0445737a7efd7f406ee51517149a8967afa/docs/product/instances/idea-engineering/evidence/IE-VEV-TECH-VIEW-002/TECH-D01.svg" TargetMode="External"/></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cf0699faa64515" /><Relationship Type="http://schemas.openxmlformats.org/officeDocument/2006/relationships/notesSlide" Target="/ppt/notesSlides/notesSlide13.xml" Id="R9a35af6a383e40a7" /><Relationship Id="rId1" Type="http://schemas.openxmlformats.org/officeDocument/2006/relationships/hyperlink" Target="https://github.com/devphuclam/IDEAEngineering/blob/f269a0445737a7efd7f406ee51517149a8967afa/docs/product/instances/idea-engineering/evidence/IE-VEV-TECH-VIEW-002/TECH-D03.svg" TargetMode="External"/></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aad10fad0114b0b" /><Relationship Type="http://schemas.openxmlformats.org/officeDocument/2006/relationships/notesSlide" Target="/ppt/notesSlides/notesSlide14.xml" Id="Rbc92514283d14526" /><Relationship Id="rId1" Type="http://schemas.openxmlformats.org/officeDocument/2006/relationships/hyperlink" Target="https://github.com/devphuclam/IDEAEngineering/blob/f269a0445737a7efd7f406ee51517149a8967afa/docs/product/instances/idea-engineering/evidence/IE-VEV-TECH-VIEW-002/TECH-D08.svg" TargetMode="External"/></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cdc7c0aaba4692" /><Relationship Type="http://schemas.openxmlformats.org/officeDocument/2006/relationships/notesSlide" Target="/ppt/notesSlides/notesSlide15.xml" Id="R6428ad0a39e54c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bf2db65b26947c4" /><Relationship Type="http://schemas.openxmlformats.org/officeDocument/2006/relationships/image" Target="/ppt/media/image.png" Id="R9bd770d0cc1e4f49" /><Relationship Type="http://schemas.openxmlformats.org/officeDocument/2006/relationships/notesSlide" Target="/ppt/notesSlides/notesSlide16.xml" Id="R2fae7fa892044620" /><Relationship Id="rId1" Type="http://schemas.openxmlformats.org/officeDocument/2006/relationships/hyperlink" Target="https://github.com/devphuclam/IDEAEngineering/blob/f269a0445737a7efd7f406ee51517149a8967afa/docs/product/instances/idea-engineering/evidence/IE-VEV-ARCH-CORR-005/ARCH-VIEW-RBAC-001.svg" TargetMode="External"/></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452627603ae4123" /><Relationship Type="http://schemas.openxmlformats.org/officeDocument/2006/relationships/image" Target="/ppt/media/image2.png" Id="R0aefde2d5ae24f0e" /><Relationship Type="http://schemas.openxmlformats.org/officeDocument/2006/relationships/notesSlide" Target="/ppt/notesSlides/notesSlide17.xml" Id="R6914b449005c4ce8" /><Relationship Id="rId1" Type="http://schemas.openxmlformats.org/officeDocument/2006/relationships/hyperlink" Target="https://github.com/devphuclam/IDEAEngineering/blob/f269a0445737a7efd7f406ee51517149a8967afa/docs/product/instances/idea-engineering/evidence/IE-VEV-TECH-VIEW-002/TECH-D04.svg" TargetMode="External"/></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804e9a300714946" /><Relationship Type="http://schemas.openxmlformats.org/officeDocument/2006/relationships/image" Target="/ppt/media/image3.png" Id="R80919d0390e840d2" /><Relationship Type="http://schemas.openxmlformats.org/officeDocument/2006/relationships/notesSlide" Target="/ppt/notesSlides/notesSlide18.xml" Id="R956771e84ba54713" /><Relationship Id="rId1" Type="http://schemas.openxmlformats.org/officeDocument/2006/relationships/hyperlink" Target="https://github.com/devphuclam/IDEAEngineering/blob/f269a0445737a7efd7f406ee51517149a8967afa/docs/product/instances/idea-engineering/evidence/IE-VEV-TECH-VIEW-002/TECH-D05.svg" TargetMode="External"/></Relationships>
</file>

<file path=ppt/slides/slide1.xml><?xml version="1.0" encoding="utf-8"?>
<p:sld xmlns:p="http://schemas.openxmlformats.org/presentationml/2006/main">
  <p:cSld>
    <p:bg>
      <p:bgPr>
        <a:solidFill xmlns:a="http://schemas.openxmlformats.org/drawingml/2006/main">
          <a:srgbClr val="102744"/>
        </a:solidFill>
      </p:bgPr>
    </p:bg>
    <p:spTree>
      <p:nvGrpSpPr>
        <p:cNvPr id="1" name=""/>
        <p:cNvGrpSpPr/>
        <p:nvPr/>
      </p:nvGrpSpPr>
      <p:grpSpPr>
        <a:xfrm xmlns:a="http://schemas.openxmlformats.org/drawingml/2006/main"/>
      </p:grpSpPr>
      <p:sp>
        <p:nvSpPr>
          <p:cNvPr id="29" name="box-0-0">
            <a:extLst xmlns:a="http://schemas.openxmlformats.org/drawingml/2006/main">
              <a:ext uri="{FF2B5EF4-FFF2-40B4-BE49-F238E27FC236}">
                <a16:creationId xmlns:a16="http://schemas.microsoft.com/office/drawing/2014/main" id="{318062AC-F9D6-4D59-9685-AA15B1E0E91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8FC2"/>
          </a:solidFill>
          <a:ln xmlns:a="http://schemas.openxmlformats.org/drawingml/2006/main" w="0">
            <a:solidFill>
              <a:srgbClr val="2F8FC2"/>
            </a:solidFill>
            <a:prstDash val="solid"/>
          </a:ln>
        </p:spPr>
      </p:sp>
      <p:sp>
        <p:nvSpPr>
          <p:cNvPr id="2" name="text-72-38-IDEA">
            <a:extLst xmlns:a="http://schemas.openxmlformats.org/drawingml/2006/main">
              <a:ext uri="{FF2B5EF4-FFF2-40B4-BE49-F238E27FC236}">
                <a16:creationId xmlns:a16="http://schemas.microsoft.com/office/drawing/2014/main" id="{EDD69A72-8AD0-48DE-A67E-A5ACD9532B90}"/>
              </a:ext>
            </a:extLst>
          </p:cNvPr>
          <p:cNvSpPr>
            <a:spLocks xmlns:a="http://schemas.openxmlformats.org/drawingml/2006/main" noGrp="1"/>
          </p:cNvSpPr>
          <p:nvPr/>
        </p:nvSpPr>
        <p:spPr>
          <a:xfrm xmlns:a="http://schemas.openxmlformats.org/drawingml/2006/main">
            <a:off x="685800" y="361950"/>
            <a:ext cx="161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IDEA</a:t>
            </a:r>
          </a:p>
        </p:txBody>
      </p:sp>
      <p:sp>
        <p:nvSpPr>
          <p:cNvPr id="3" name="box-49-42">
            <a:extLst xmlns:a="http://schemas.openxmlformats.org/drawingml/2006/main">
              <a:ext uri="{FF2B5EF4-FFF2-40B4-BE49-F238E27FC236}">
                <a16:creationId xmlns:a16="http://schemas.microsoft.com/office/drawing/2014/main" id="{A117A7F6-10AC-48FE-BE23-5397F2A92ABF}"/>
              </a:ext>
            </a:extLst>
          </p:cNvPr>
          <p:cNvSpPr>
            <a:spLocks xmlns:a="http://schemas.openxmlformats.org/drawingml/2006/main" noGrp="1"/>
          </p:cNvSpPr>
          <p:nvPr/>
        </p:nvSpPr>
        <p:spPr>
          <a:xfrm xmlns:a="http://schemas.openxmlformats.org/drawingml/2006/main">
            <a:off x="466725" y="400050"/>
            <a:ext cx="133350" cy="133350"/>
          </a:xfrm>
          <a:prstGeom xmlns:a="http://schemas.openxmlformats.org/drawingml/2006/main" prst="ellipse">
            <a:avLst/>
          </a:prstGeom>
          <a:solidFill xmlns:a="http://schemas.openxmlformats.org/drawingml/2006/main">
            <a:srgbClr val="E1262D"/>
          </a:solidFill>
          <a:ln xmlns:a="http://schemas.openxmlformats.org/drawingml/2006/main" w="0">
            <a:solidFill>
              <a:srgbClr val="E1262D"/>
            </a:solidFill>
            <a:prstDash val="solid"/>
          </a:ln>
        </p:spPr>
      </p:sp>
      <p:sp>
        <p:nvSpPr>
          <p:cNvPr id="4" name="text-72-128-IDEA Engineering">
            <a:extLst xmlns:a="http://schemas.openxmlformats.org/drawingml/2006/main">
              <a:ext uri="{FF2B5EF4-FFF2-40B4-BE49-F238E27FC236}">
                <a16:creationId xmlns:a16="http://schemas.microsoft.com/office/drawing/2014/main" id="{9A4A6DBF-0C16-4E93-9EC6-55537E07DF32}"/>
              </a:ext>
            </a:extLst>
          </p:cNvPr>
          <p:cNvSpPr>
            <a:spLocks xmlns:a="http://schemas.openxmlformats.org/drawingml/2006/main" noGrp="1"/>
          </p:cNvSpPr>
          <p:nvPr/>
        </p:nvSpPr>
        <p:spPr>
          <a:xfrm xmlns:a="http://schemas.openxmlformats.org/drawingml/2006/main">
            <a:off x="685800" y="1219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IDEA Engineering Core v0</a:t>
            </a:r>
          </a:p>
        </p:txBody>
      </p:sp>
      <p:sp>
        <p:nvSpPr>
          <p:cNvPr id="5" name="text-72-188-Product &amp; Techno">
            <a:extLst xmlns:a="http://schemas.openxmlformats.org/drawingml/2006/main">
              <a:ext uri="{FF2B5EF4-FFF2-40B4-BE49-F238E27FC236}">
                <a16:creationId xmlns:a16="http://schemas.microsoft.com/office/drawing/2014/main" id="{8F69CC05-4B32-488E-98EC-A9458ADC64C9}"/>
              </a:ext>
            </a:extLst>
          </p:cNvPr>
          <p:cNvSpPr>
            <a:spLocks xmlns:a="http://schemas.openxmlformats.org/drawingml/2006/main" noGrp="1"/>
          </p:cNvSpPr>
          <p:nvPr/>
        </p:nvSpPr>
        <p:spPr>
          <a:xfrm xmlns:a="http://schemas.openxmlformats.org/drawingml/2006/main">
            <a:off x="685800" y="17907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BFD7EA"/>
                </a:solidFill>
                <a:latin typeface="Arial"/>
                <a:ea typeface="Arial"/>
                <a:cs typeface="Arial"/>
              </a:defRPr>
            </a:pPr>
            <a:r>
              <a:rPr sz="1950" b="0">
                <a:solidFill>
                  <a:srgbClr val="BFD7EA"/>
                </a:solidFill>
                <a:latin typeface="Arial"/>
                <a:ea typeface="Arial"/>
                <a:cs typeface="Arial"/>
              </a:rPr>
              <a:t>Product &amp; Technology Decision Framework</a:t>
            </a:r>
          </a:p>
        </p:txBody>
      </p:sp>
      <p:sp>
        <p:nvSpPr>
          <p:cNvPr id="6" name="box-72-254">
            <a:extLst xmlns:a="http://schemas.openxmlformats.org/drawingml/2006/main">
              <a:ext uri="{FF2B5EF4-FFF2-40B4-BE49-F238E27FC236}">
                <a16:creationId xmlns:a16="http://schemas.microsoft.com/office/drawing/2014/main" id="{BEA2E528-5327-4539-A408-4421FE74479E}"/>
              </a:ext>
            </a:extLst>
          </p:cNvPr>
          <p:cNvSpPr>
            <a:spLocks xmlns:a="http://schemas.openxmlformats.org/drawingml/2006/main" noGrp="1"/>
          </p:cNvSpPr>
          <p:nvPr/>
        </p:nvSpPr>
        <p:spPr>
          <a:xfrm xmlns:a="http://schemas.openxmlformats.org/drawingml/2006/main">
            <a:off x="685800" y="2419350"/>
            <a:ext cx="3905250" cy="285750"/>
          </a:xfrm>
          <a:prstGeom xmlns:a="http://schemas.openxmlformats.org/drawingml/2006/main" prst="roundRect">
            <a:avLst>
              <a:gd name="adj" fmla="val 26667"/>
            </a:avLst>
          </a:prstGeom>
          <a:solidFill xmlns:a="http://schemas.openxmlformats.org/drawingml/2006/main">
            <a:srgbClr val="1B3C61"/>
          </a:solidFill>
          <a:ln xmlns:a="http://schemas.openxmlformats.org/drawingml/2006/main" w="7620">
            <a:solidFill>
              <a:srgbClr val="42698D"/>
            </a:solidFill>
            <a:prstDash val="solid"/>
          </a:ln>
        </p:spPr>
        <p:txBody>
          <a:bodyPr xmlns:a="http://schemas.openxmlformats.org/drawingml/2006/main">
            <a:noAutofit/>
          </a:bodyPr>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Presentation synthesis · DOC-01 + DOC-04 + DOC-05</a:t>
            </a:r>
          </a:p>
        </p:txBody>
      </p:sp>
      <p:sp>
        <p:nvSpPr>
          <p:cNvPr id="7" name="box-72-310">
            <a:extLst xmlns:a="http://schemas.openxmlformats.org/drawingml/2006/main">
              <a:ext uri="{FF2B5EF4-FFF2-40B4-BE49-F238E27FC236}">
                <a16:creationId xmlns:a16="http://schemas.microsoft.com/office/drawing/2014/main" id="{53F3AB9A-84AB-4503-A95B-D00476ACD3D4}"/>
              </a:ext>
            </a:extLst>
          </p:cNvPr>
          <p:cNvSpPr>
            <a:spLocks xmlns:a="http://schemas.openxmlformats.org/drawingml/2006/main" noGrp="1"/>
          </p:cNvSpPr>
          <p:nvPr/>
        </p:nvSpPr>
        <p:spPr>
          <a:xfrm xmlns:a="http://schemas.openxmlformats.org/drawingml/2006/main">
            <a:off x="685800" y="2952750"/>
            <a:ext cx="1657350" cy="1371600"/>
          </a:xfrm>
          <a:prstGeom xmlns:a="http://schemas.openxmlformats.org/drawingml/2006/main" prst="roundRect">
            <a:avLst>
              <a:gd name="adj" fmla="val 5556"/>
            </a:avLst>
          </a:prstGeom>
          <a:solidFill xmlns:a="http://schemas.openxmlformats.org/drawingml/2006/main">
            <a:srgbClr val="17385F"/>
          </a:solidFill>
          <a:ln xmlns:a="http://schemas.openxmlformats.org/drawingml/2006/main" w="19050">
            <a:solidFill>
              <a:srgbClr val="7890A6"/>
            </a:solidFill>
            <a:prstDash val="solid"/>
          </a:ln>
        </p:spPr>
      </p:sp>
      <p:sp>
        <p:nvSpPr>
          <p:cNvPr id="8" name="text-86-335-Nhu cầu">
            <a:extLst xmlns:a="http://schemas.openxmlformats.org/drawingml/2006/main">
              <a:ext uri="{FF2B5EF4-FFF2-40B4-BE49-F238E27FC236}">
                <a16:creationId xmlns:a16="http://schemas.microsoft.com/office/drawing/2014/main" id="{3576BCB9-B491-4DB1-8B32-0D989CB6BF27}"/>
              </a:ext>
            </a:extLst>
          </p:cNvPr>
          <p:cNvSpPr>
            <a:spLocks xmlns:a="http://schemas.openxmlformats.org/drawingml/2006/main" noGrp="1"/>
          </p:cNvSpPr>
          <p:nvPr/>
        </p:nvSpPr>
        <p:spPr>
          <a:xfrm xmlns:a="http://schemas.openxmlformats.org/drawingml/2006/main">
            <a:off x="819150" y="3190875"/>
            <a:ext cx="1390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Nhu cầu</a:t>
            </a:r>
          </a:p>
        </p:txBody>
      </p:sp>
      <p:sp>
        <p:nvSpPr>
          <p:cNvPr id="9" name="text-87-385-Business / Engin">
            <a:extLst xmlns:a="http://schemas.openxmlformats.org/drawingml/2006/main">
              <a:ext uri="{FF2B5EF4-FFF2-40B4-BE49-F238E27FC236}">
                <a16:creationId xmlns:a16="http://schemas.microsoft.com/office/drawing/2014/main" id="{3E28EA5A-0F95-44AF-B6A8-D9BDC07C2173}"/>
              </a:ext>
            </a:extLst>
          </p:cNvPr>
          <p:cNvSpPr>
            <a:spLocks xmlns:a="http://schemas.openxmlformats.org/drawingml/2006/main" noGrp="1"/>
          </p:cNvSpPr>
          <p:nvPr/>
        </p:nvSpPr>
        <p:spPr>
          <a:xfrm xmlns:a="http://schemas.openxmlformats.org/drawingml/2006/main">
            <a:off x="828675" y="3667125"/>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CADCEB"/>
                </a:solidFill>
                <a:latin typeface="Arial"/>
                <a:ea typeface="Arial"/>
                <a:cs typeface="Arial"/>
              </a:defRPr>
            </a:pPr>
            <a:r>
              <a:rPr sz="1125" b="0">
                <a:solidFill>
                  <a:srgbClr val="CADCEB"/>
                </a:solidFill>
                <a:latin typeface="Arial"/>
                <a:ea typeface="Arial"/>
                <a:cs typeface="Arial"/>
              </a:rPr>
              <a:t>Business / Engineering</a:t>
            </a:r>
          </a:p>
        </p:txBody>
      </p:sp>
      <p:sp>
        <p:nvSpPr>
          <p:cNvPr id="10" name="text-252-355-→">
            <a:extLst xmlns:a="http://schemas.openxmlformats.org/drawingml/2006/main">
              <a:ext uri="{FF2B5EF4-FFF2-40B4-BE49-F238E27FC236}">
                <a16:creationId xmlns:a16="http://schemas.microsoft.com/office/drawing/2014/main" id="{21CB21AD-822A-4601-8DDE-F3E6993276E0}"/>
              </a:ext>
            </a:extLst>
          </p:cNvPr>
          <p:cNvSpPr>
            <a:spLocks xmlns:a="http://schemas.openxmlformats.org/drawingml/2006/main" noGrp="1"/>
          </p:cNvSpPr>
          <p:nvPr/>
        </p:nvSpPr>
        <p:spPr>
          <a:xfrm xmlns:a="http://schemas.openxmlformats.org/drawingml/2006/main">
            <a:off x="2400300" y="33813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8EC7E7"/>
                </a:solidFill>
                <a:latin typeface="Arial"/>
                <a:ea typeface="Arial"/>
                <a:cs typeface="Arial"/>
              </a:defRPr>
            </a:pPr>
            <a:r>
              <a:rPr sz="2550" b="1">
                <a:solidFill>
                  <a:srgbClr val="8EC7E7"/>
                </a:solidFill>
                <a:latin typeface="Arial"/>
                <a:ea typeface="Arial"/>
                <a:cs typeface="Arial"/>
              </a:rPr>
              <a:t>→</a:t>
            </a:r>
          </a:p>
        </p:txBody>
      </p:sp>
      <p:sp>
        <p:nvSpPr>
          <p:cNvPr id="11" name="box-304-310">
            <a:extLst xmlns:a="http://schemas.openxmlformats.org/drawingml/2006/main">
              <a:ext uri="{FF2B5EF4-FFF2-40B4-BE49-F238E27FC236}">
                <a16:creationId xmlns:a16="http://schemas.microsoft.com/office/drawing/2014/main" id="{D8D19814-1EC7-4F77-B1D1-0B343DA5B85D}"/>
              </a:ext>
            </a:extLst>
          </p:cNvPr>
          <p:cNvSpPr>
            <a:spLocks xmlns:a="http://schemas.openxmlformats.org/drawingml/2006/main" noGrp="1"/>
          </p:cNvSpPr>
          <p:nvPr/>
        </p:nvSpPr>
        <p:spPr>
          <a:xfrm xmlns:a="http://schemas.openxmlformats.org/drawingml/2006/main">
            <a:off x="2895600" y="2952750"/>
            <a:ext cx="1657350" cy="1371600"/>
          </a:xfrm>
          <a:prstGeom xmlns:a="http://schemas.openxmlformats.org/drawingml/2006/main" prst="roundRect">
            <a:avLst>
              <a:gd name="adj" fmla="val 5556"/>
            </a:avLst>
          </a:prstGeom>
          <a:solidFill xmlns:a="http://schemas.openxmlformats.org/drawingml/2006/main">
            <a:srgbClr val="16314F"/>
          </a:solidFill>
          <a:ln xmlns:a="http://schemas.openxmlformats.org/drawingml/2006/main" w="19050">
            <a:solidFill>
              <a:srgbClr val="2F8FC2"/>
            </a:solidFill>
            <a:prstDash val="solid"/>
          </a:ln>
        </p:spPr>
      </p:sp>
      <p:sp>
        <p:nvSpPr>
          <p:cNvPr id="12" name="text-318-335-FEATURE">
            <a:extLst xmlns:a="http://schemas.openxmlformats.org/drawingml/2006/main">
              <a:ext uri="{FF2B5EF4-FFF2-40B4-BE49-F238E27FC236}">
                <a16:creationId xmlns:a16="http://schemas.microsoft.com/office/drawing/2014/main" id="{6C2FDB83-13E9-48F5-B0FA-7A9E624FDE09}"/>
              </a:ext>
            </a:extLst>
          </p:cNvPr>
          <p:cNvSpPr>
            <a:spLocks xmlns:a="http://schemas.openxmlformats.org/drawingml/2006/main" noGrp="1"/>
          </p:cNvSpPr>
          <p:nvPr/>
        </p:nvSpPr>
        <p:spPr>
          <a:xfrm xmlns:a="http://schemas.openxmlformats.org/drawingml/2006/main">
            <a:off x="3028950" y="3190875"/>
            <a:ext cx="1390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FEATURE</a:t>
            </a:r>
          </a:p>
        </p:txBody>
      </p:sp>
      <p:sp>
        <p:nvSpPr>
          <p:cNvPr id="13" name="text-319-385-Phạm vi cần có">
            <a:extLst xmlns:a="http://schemas.openxmlformats.org/drawingml/2006/main">
              <a:ext uri="{FF2B5EF4-FFF2-40B4-BE49-F238E27FC236}">
                <a16:creationId xmlns:a16="http://schemas.microsoft.com/office/drawing/2014/main" id="{F20545CE-E0E1-42DB-B347-A97E7C6C5ECE}"/>
              </a:ext>
            </a:extLst>
          </p:cNvPr>
          <p:cNvSpPr>
            <a:spLocks xmlns:a="http://schemas.openxmlformats.org/drawingml/2006/main" noGrp="1"/>
          </p:cNvSpPr>
          <p:nvPr/>
        </p:nvSpPr>
        <p:spPr>
          <a:xfrm xmlns:a="http://schemas.openxmlformats.org/drawingml/2006/main">
            <a:off x="3038475" y="3667125"/>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CADCEB"/>
                </a:solidFill>
                <a:latin typeface="Arial"/>
                <a:ea typeface="Arial"/>
                <a:cs typeface="Arial"/>
              </a:defRPr>
            </a:pPr>
            <a:r>
              <a:rPr sz="1125" b="0">
                <a:solidFill>
                  <a:srgbClr val="CADCEB"/>
                </a:solidFill>
                <a:latin typeface="Arial"/>
                <a:ea typeface="Arial"/>
                <a:cs typeface="Arial"/>
              </a:rPr>
              <a:t>Phạm vi cần có</a:t>
            </a:r>
          </a:p>
        </p:txBody>
      </p:sp>
      <p:sp>
        <p:nvSpPr>
          <p:cNvPr id="14" name="text-484-355-→">
            <a:extLst xmlns:a="http://schemas.openxmlformats.org/drawingml/2006/main">
              <a:ext uri="{FF2B5EF4-FFF2-40B4-BE49-F238E27FC236}">
                <a16:creationId xmlns:a16="http://schemas.microsoft.com/office/drawing/2014/main" id="{783A5E1E-F6B1-40EE-8E82-F0764B831BB5}"/>
              </a:ext>
            </a:extLst>
          </p:cNvPr>
          <p:cNvSpPr>
            <a:spLocks xmlns:a="http://schemas.openxmlformats.org/drawingml/2006/main" noGrp="1"/>
          </p:cNvSpPr>
          <p:nvPr/>
        </p:nvSpPr>
        <p:spPr>
          <a:xfrm xmlns:a="http://schemas.openxmlformats.org/drawingml/2006/main">
            <a:off x="4610100" y="33813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8EC7E7"/>
                </a:solidFill>
                <a:latin typeface="Arial"/>
                <a:ea typeface="Arial"/>
                <a:cs typeface="Arial"/>
              </a:defRPr>
            </a:pPr>
            <a:r>
              <a:rPr sz="2550" b="1">
                <a:solidFill>
                  <a:srgbClr val="8EC7E7"/>
                </a:solidFill>
                <a:latin typeface="Arial"/>
                <a:ea typeface="Arial"/>
                <a:cs typeface="Arial"/>
              </a:rPr>
              <a:t>→</a:t>
            </a:r>
          </a:p>
        </p:txBody>
      </p:sp>
      <p:sp>
        <p:nvSpPr>
          <p:cNvPr id="15" name="box-536-310">
            <a:extLst xmlns:a="http://schemas.openxmlformats.org/drawingml/2006/main">
              <a:ext uri="{FF2B5EF4-FFF2-40B4-BE49-F238E27FC236}">
                <a16:creationId xmlns:a16="http://schemas.microsoft.com/office/drawing/2014/main" id="{E81E54E0-1D87-41B2-9025-3240CDBCB698}"/>
              </a:ext>
            </a:extLst>
          </p:cNvPr>
          <p:cNvSpPr>
            <a:spLocks xmlns:a="http://schemas.openxmlformats.org/drawingml/2006/main" noGrp="1"/>
          </p:cNvSpPr>
          <p:nvPr/>
        </p:nvSpPr>
        <p:spPr>
          <a:xfrm xmlns:a="http://schemas.openxmlformats.org/drawingml/2006/main">
            <a:off x="5105400" y="2952750"/>
            <a:ext cx="1657350" cy="1371600"/>
          </a:xfrm>
          <a:prstGeom xmlns:a="http://schemas.openxmlformats.org/drawingml/2006/main" prst="roundRect">
            <a:avLst>
              <a:gd name="adj" fmla="val 5556"/>
            </a:avLst>
          </a:prstGeom>
          <a:solidFill xmlns:a="http://schemas.openxmlformats.org/drawingml/2006/main">
            <a:srgbClr val="16314F"/>
          </a:solidFill>
          <a:ln xmlns:a="http://schemas.openxmlformats.org/drawingml/2006/main" w="19050">
            <a:solidFill>
              <a:srgbClr val="5EA5D8"/>
            </a:solidFill>
            <a:prstDash val="solid"/>
          </a:ln>
        </p:spPr>
      </p:sp>
      <p:sp>
        <p:nvSpPr>
          <p:cNvPr id="16" name="text-550-335-SPEC">
            <a:extLst xmlns:a="http://schemas.openxmlformats.org/drawingml/2006/main">
              <a:ext uri="{FF2B5EF4-FFF2-40B4-BE49-F238E27FC236}">
                <a16:creationId xmlns:a16="http://schemas.microsoft.com/office/drawing/2014/main" id="{EE7FEF6A-1CB1-4B07-941A-65124AF77B50}"/>
              </a:ext>
            </a:extLst>
          </p:cNvPr>
          <p:cNvSpPr>
            <a:spLocks xmlns:a="http://schemas.openxmlformats.org/drawingml/2006/main" noGrp="1"/>
          </p:cNvSpPr>
          <p:nvPr/>
        </p:nvSpPr>
        <p:spPr>
          <a:xfrm xmlns:a="http://schemas.openxmlformats.org/drawingml/2006/main">
            <a:off x="5238750" y="3190875"/>
            <a:ext cx="1390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SPEC</a:t>
            </a:r>
          </a:p>
        </p:txBody>
      </p:sp>
      <p:sp>
        <p:nvSpPr>
          <p:cNvPr id="17" name="text-551-385-Điều gì phải luô">
            <a:extLst xmlns:a="http://schemas.openxmlformats.org/drawingml/2006/main">
              <a:ext uri="{FF2B5EF4-FFF2-40B4-BE49-F238E27FC236}">
                <a16:creationId xmlns:a16="http://schemas.microsoft.com/office/drawing/2014/main" id="{A3746391-DF25-4D66-9BC6-51EE8DE7C64D}"/>
              </a:ext>
            </a:extLst>
          </p:cNvPr>
          <p:cNvSpPr>
            <a:spLocks xmlns:a="http://schemas.openxmlformats.org/drawingml/2006/main" noGrp="1"/>
          </p:cNvSpPr>
          <p:nvPr/>
        </p:nvSpPr>
        <p:spPr>
          <a:xfrm xmlns:a="http://schemas.openxmlformats.org/drawingml/2006/main">
            <a:off x="5248275" y="3667125"/>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CADCEB"/>
                </a:solidFill>
                <a:latin typeface="Arial"/>
                <a:ea typeface="Arial"/>
                <a:cs typeface="Arial"/>
              </a:defRPr>
            </a:pPr>
            <a:r>
              <a:rPr sz="1125" b="0">
                <a:solidFill>
                  <a:srgbClr val="CADCEB"/>
                </a:solidFill>
                <a:latin typeface="Arial"/>
                <a:ea typeface="Arial"/>
                <a:cs typeface="Arial"/>
              </a:rPr>
              <a:t>Điều gì phải luôn đúng</a:t>
            </a:r>
          </a:p>
        </p:txBody>
      </p:sp>
      <p:sp>
        <p:nvSpPr>
          <p:cNvPr id="18" name="text-716-355-→">
            <a:extLst xmlns:a="http://schemas.openxmlformats.org/drawingml/2006/main">
              <a:ext uri="{FF2B5EF4-FFF2-40B4-BE49-F238E27FC236}">
                <a16:creationId xmlns:a16="http://schemas.microsoft.com/office/drawing/2014/main" id="{93C5B6AC-94EA-42C0-B83E-8E4A7D13FF54}"/>
              </a:ext>
            </a:extLst>
          </p:cNvPr>
          <p:cNvSpPr>
            <a:spLocks xmlns:a="http://schemas.openxmlformats.org/drawingml/2006/main" noGrp="1"/>
          </p:cNvSpPr>
          <p:nvPr/>
        </p:nvSpPr>
        <p:spPr>
          <a:xfrm xmlns:a="http://schemas.openxmlformats.org/drawingml/2006/main">
            <a:off x="6819900" y="33813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8EC7E7"/>
                </a:solidFill>
                <a:latin typeface="Arial"/>
                <a:ea typeface="Arial"/>
                <a:cs typeface="Arial"/>
              </a:defRPr>
            </a:pPr>
            <a:r>
              <a:rPr sz="2550" b="1">
                <a:solidFill>
                  <a:srgbClr val="8EC7E7"/>
                </a:solidFill>
                <a:latin typeface="Arial"/>
                <a:ea typeface="Arial"/>
                <a:cs typeface="Arial"/>
              </a:rPr>
              <a:t>→</a:t>
            </a:r>
          </a:p>
        </p:txBody>
      </p:sp>
      <p:sp>
        <p:nvSpPr>
          <p:cNvPr id="19" name="box-768-310">
            <a:extLst xmlns:a="http://schemas.openxmlformats.org/drawingml/2006/main">
              <a:ext uri="{FF2B5EF4-FFF2-40B4-BE49-F238E27FC236}">
                <a16:creationId xmlns:a16="http://schemas.microsoft.com/office/drawing/2014/main" id="{70376F0E-E32F-47C2-AAC2-711F4DB97FA3}"/>
              </a:ext>
            </a:extLst>
          </p:cNvPr>
          <p:cNvSpPr>
            <a:spLocks xmlns:a="http://schemas.openxmlformats.org/drawingml/2006/main" noGrp="1"/>
          </p:cNvSpPr>
          <p:nvPr/>
        </p:nvSpPr>
        <p:spPr>
          <a:xfrm xmlns:a="http://schemas.openxmlformats.org/drawingml/2006/main">
            <a:off x="7315200" y="2952750"/>
            <a:ext cx="1657350" cy="1371600"/>
          </a:xfrm>
          <a:prstGeom xmlns:a="http://schemas.openxmlformats.org/drawingml/2006/main" prst="roundRect">
            <a:avLst>
              <a:gd name="adj" fmla="val 5556"/>
            </a:avLst>
          </a:prstGeom>
          <a:solidFill xmlns:a="http://schemas.openxmlformats.org/drawingml/2006/main">
            <a:srgbClr val="16314F"/>
          </a:solidFill>
          <a:ln xmlns:a="http://schemas.openxmlformats.org/drawingml/2006/main" w="19050">
            <a:solidFill>
              <a:srgbClr val="A69ADE"/>
            </a:solidFill>
            <a:prstDash val="solid"/>
          </a:ln>
        </p:spPr>
      </p:sp>
      <p:sp>
        <p:nvSpPr>
          <p:cNvPr id="20" name="text-782-335-TECH">
            <a:extLst xmlns:a="http://schemas.openxmlformats.org/drawingml/2006/main">
              <a:ext uri="{FF2B5EF4-FFF2-40B4-BE49-F238E27FC236}">
                <a16:creationId xmlns:a16="http://schemas.microsoft.com/office/drawing/2014/main" id="{67848267-2A65-45A6-8864-23075552B644}"/>
              </a:ext>
            </a:extLst>
          </p:cNvPr>
          <p:cNvSpPr>
            <a:spLocks xmlns:a="http://schemas.openxmlformats.org/drawingml/2006/main" noGrp="1"/>
          </p:cNvSpPr>
          <p:nvPr/>
        </p:nvSpPr>
        <p:spPr>
          <a:xfrm xmlns:a="http://schemas.openxmlformats.org/drawingml/2006/main">
            <a:off x="7448550" y="3190875"/>
            <a:ext cx="1390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TECH</a:t>
            </a:r>
          </a:p>
        </p:txBody>
      </p:sp>
      <p:sp>
        <p:nvSpPr>
          <p:cNvPr id="21" name="text-783-385-Cách Engineering">
            <a:extLst xmlns:a="http://schemas.openxmlformats.org/drawingml/2006/main">
              <a:ext uri="{FF2B5EF4-FFF2-40B4-BE49-F238E27FC236}">
                <a16:creationId xmlns:a16="http://schemas.microsoft.com/office/drawing/2014/main" id="{026BB1F9-2FC1-40AA-AB96-9E8F5A8AF83C}"/>
              </a:ext>
            </a:extLst>
          </p:cNvPr>
          <p:cNvSpPr>
            <a:spLocks xmlns:a="http://schemas.openxmlformats.org/drawingml/2006/main" noGrp="1"/>
          </p:cNvSpPr>
          <p:nvPr/>
        </p:nvSpPr>
        <p:spPr>
          <a:xfrm xmlns:a="http://schemas.openxmlformats.org/drawingml/2006/main">
            <a:off x="7458075" y="3667125"/>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CADCEB"/>
                </a:solidFill>
                <a:latin typeface="Arial"/>
                <a:ea typeface="Arial"/>
                <a:cs typeface="Arial"/>
              </a:defRPr>
            </a:pPr>
            <a:r>
              <a:rPr sz="1125" b="0">
                <a:solidFill>
                  <a:srgbClr val="CADCEB"/>
                </a:solidFill>
                <a:latin typeface="Arial"/>
                <a:ea typeface="Arial"/>
                <a:cs typeface="Arial"/>
              </a:rPr>
              <a:t>Cách Engineering xây dựng</a:t>
            </a:r>
          </a:p>
        </p:txBody>
      </p:sp>
      <p:sp>
        <p:nvSpPr>
          <p:cNvPr id="22" name="text-948-355-→">
            <a:extLst xmlns:a="http://schemas.openxmlformats.org/drawingml/2006/main">
              <a:ext uri="{FF2B5EF4-FFF2-40B4-BE49-F238E27FC236}">
                <a16:creationId xmlns:a16="http://schemas.microsoft.com/office/drawing/2014/main" id="{F0960EDF-C77F-47E0-BDAB-F9A4500C138D}"/>
              </a:ext>
            </a:extLst>
          </p:cNvPr>
          <p:cNvSpPr>
            <a:spLocks xmlns:a="http://schemas.openxmlformats.org/drawingml/2006/main" noGrp="1"/>
          </p:cNvSpPr>
          <p:nvPr/>
        </p:nvSpPr>
        <p:spPr>
          <a:xfrm xmlns:a="http://schemas.openxmlformats.org/drawingml/2006/main">
            <a:off x="9029700" y="33813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8EC7E7"/>
                </a:solidFill>
                <a:latin typeface="Arial"/>
                <a:ea typeface="Arial"/>
                <a:cs typeface="Arial"/>
              </a:defRPr>
            </a:pPr>
            <a:r>
              <a:rPr sz="2550" b="1">
                <a:solidFill>
                  <a:srgbClr val="8EC7E7"/>
                </a:solidFill>
                <a:latin typeface="Arial"/>
                <a:ea typeface="Arial"/>
                <a:cs typeface="Arial"/>
              </a:rPr>
              <a:t>→</a:t>
            </a:r>
          </a:p>
        </p:txBody>
      </p:sp>
      <p:sp>
        <p:nvSpPr>
          <p:cNvPr id="23" name="box-1000-310">
            <a:extLst xmlns:a="http://schemas.openxmlformats.org/drawingml/2006/main">
              <a:ext uri="{FF2B5EF4-FFF2-40B4-BE49-F238E27FC236}">
                <a16:creationId xmlns:a16="http://schemas.microsoft.com/office/drawing/2014/main" id="{42C64684-25E0-485F-86D1-A56E0607D403}"/>
              </a:ext>
            </a:extLst>
          </p:cNvPr>
          <p:cNvSpPr>
            <a:spLocks xmlns:a="http://schemas.openxmlformats.org/drawingml/2006/main" noGrp="1"/>
          </p:cNvSpPr>
          <p:nvPr/>
        </p:nvSpPr>
        <p:spPr>
          <a:xfrm xmlns:a="http://schemas.openxmlformats.org/drawingml/2006/main">
            <a:off x="9525000" y="2952750"/>
            <a:ext cx="1657350" cy="1371600"/>
          </a:xfrm>
          <a:prstGeom xmlns:a="http://schemas.openxmlformats.org/drawingml/2006/main" prst="roundRect">
            <a:avLst>
              <a:gd name="adj" fmla="val 5556"/>
            </a:avLst>
          </a:prstGeom>
          <a:solidFill xmlns:a="http://schemas.openxmlformats.org/drawingml/2006/main">
            <a:srgbClr val="16314F"/>
          </a:solidFill>
          <a:ln xmlns:a="http://schemas.openxmlformats.org/drawingml/2006/main" w="19050">
            <a:solidFill>
              <a:srgbClr val="2D8A62"/>
            </a:solidFill>
            <a:prstDash val="solid"/>
          </a:ln>
        </p:spPr>
      </p:sp>
      <p:sp>
        <p:nvSpPr>
          <p:cNvPr id="24" name="text-1014-335-Thực hiện">
            <a:extLst xmlns:a="http://schemas.openxmlformats.org/drawingml/2006/main">
              <a:ext uri="{FF2B5EF4-FFF2-40B4-BE49-F238E27FC236}">
                <a16:creationId xmlns:a16="http://schemas.microsoft.com/office/drawing/2014/main" id="{2F949A2D-35A9-4BE0-8E03-D040921BC31B}"/>
              </a:ext>
            </a:extLst>
          </p:cNvPr>
          <p:cNvSpPr>
            <a:spLocks xmlns:a="http://schemas.openxmlformats.org/drawingml/2006/main" noGrp="1"/>
          </p:cNvSpPr>
          <p:nvPr/>
        </p:nvSpPr>
        <p:spPr>
          <a:xfrm xmlns:a="http://schemas.openxmlformats.org/drawingml/2006/main">
            <a:off x="9658350" y="3190875"/>
            <a:ext cx="1390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Thực hiện</a:t>
            </a:r>
          </a:p>
        </p:txBody>
      </p:sp>
      <p:sp>
        <p:nvSpPr>
          <p:cNvPr id="25" name="text-1015-385-Qualification + ">
            <a:extLst xmlns:a="http://schemas.openxmlformats.org/drawingml/2006/main">
              <a:ext uri="{FF2B5EF4-FFF2-40B4-BE49-F238E27FC236}">
                <a16:creationId xmlns:a16="http://schemas.microsoft.com/office/drawing/2014/main" id="{64A5EE13-9B07-4B3E-A275-23C750133ABB}"/>
              </a:ext>
            </a:extLst>
          </p:cNvPr>
          <p:cNvSpPr>
            <a:spLocks xmlns:a="http://schemas.openxmlformats.org/drawingml/2006/main" noGrp="1"/>
          </p:cNvSpPr>
          <p:nvPr/>
        </p:nvSpPr>
        <p:spPr>
          <a:xfrm xmlns:a="http://schemas.openxmlformats.org/drawingml/2006/main">
            <a:off x="9667875" y="3667125"/>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CADCEB"/>
                </a:solidFill>
                <a:latin typeface="Arial"/>
                <a:ea typeface="Arial"/>
                <a:cs typeface="Arial"/>
              </a:defRPr>
            </a:pPr>
            <a:r>
              <a:rPr sz="1125" b="0">
                <a:solidFill>
                  <a:srgbClr val="CADCEB"/>
                </a:solidFill>
                <a:latin typeface="Arial"/>
                <a:ea typeface="Arial"/>
                <a:cs typeface="Arial"/>
              </a:rPr>
              <a:t>Qualification + Implementation</a:t>
            </a:r>
          </a:p>
        </p:txBody>
      </p:sp>
      <p:sp>
        <p:nvSpPr>
          <p:cNvPr id="26" name="text-72-525-Tách ba tầng để ">
            <a:extLst xmlns:a="http://schemas.openxmlformats.org/drawingml/2006/main">
              <a:ext uri="{FF2B5EF4-FFF2-40B4-BE49-F238E27FC236}">
                <a16:creationId xmlns:a16="http://schemas.microsoft.com/office/drawing/2014/main" id="{0B1DAF67-F1C8-4730-90CC-7B5FBD4EF979}"/>
              </a:ext>
            </a:extLst>
          </p:cNvPr>
          <p:cNvSpPr>
            <a:spLocks xmlns:a="http://schemas.openxmlformats.org/drawingml/2006/main" noGrp="1"/>
          </p:cNvSpPr>
          <p:nvPr/>
        </p:nvSpPr>
        <p:spPr>
          <a:xfrm xmlns:a="http://schemas.openxmlformats.org/drawingml/2006/main">
            <a:off x="685800" y="50006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Tách ba tầng để phạm vi, quy tắc đúng và giải pháp kỹ thuật không lẫn vai trò.</a:t>
            </a:r>
          </a:p>
        </p:txBody>
      </p:sp>
      <p:sp>
        <p:nvSpPr>
          <p:cNvPr id="27" name="text-72-659-Management revie">
            <a:extLst xmlns:a="http://schemas.openxmlformats.org/drawingml/2006/main">
              <a:ext uri="{FF2B5EF4-FFF2-40B4-BE49-F238E27FC236}">
                <a16:creationId xmlns:a16="http://schemas.microsoft.com/office/drawing/2014/main" id="{90312151-00C7-44E1-AC72-18867846DC69}"/>
              </a:ext>
            </a:extLst>
          </p:cNvPr>
          <p:cNvSpPr>
            <a:spLocks xmlns:a="http://schemas.openxmlformats.org/drawingml/2006/main" noGrp="1"/>
          </p:cNvSpPr>
          <p:nvPr/>
        </p:nvSpPr>
        <p:spPr>
          <a:xfrm xmlns:a="http://schemas.openxmlformats.org/drawingml/2006/main">
            <a:off x="685800" y="627697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9FB8CB"/>
                </a:solidFill>
                <a:latin typeface="Arial"/>
                <a:ea typeface="Arial"/>
                <a:cs typeface="Arial"/>
              </a:defRPr>
            </a:pPr>
            <a:r>
              <a:rPr sz="975" b="0">
                <a:solidFill>
                  <a:srgbClr val="9FB8CB"/>
                </a:solidFill>
                <a:latin typeface="Arial"/>
                <a:ea typeface="Arial"/>
                <a:cs typeface="Arial"/>
              </a:rPr>
              <a:t>Management review · 16/09/2026</a:t>
            </a:r>
          </a:p>
        </p:txBody>
      </p:sp>
      <p:sp>
        <p:nvSpPr>
          <p:cNvPr id="28" name="text-745-659-Source: DOC-01@0">
            <a:extLst xmlns:a="http://schemas.openxmlformats.org/drawingml/2006/main">
              <a:ext uri="{FF2B5EF4-FFF2-40B4-BE49-F238E27FC236}">
                <a16:creationId xmlns:a16="http://schemas.microsoft.com/office/drawing/2014/main" id="{0DBE10E8-182B-48CE-807C-DB1349B3EAA4}"/>
              </a:ext>
            </a:extLst>
          </p:cNvPr>
          <p:cNvSpPr>
            <a:spLocks xmlns:a="http://schemas.openxmlformats.org/drawingml/2006/main" noGrp="1"/>
          </p:cNvSpPr>
          <p:nvPr/>
        </p:nvSpPr>
        <p:spPr>
          <a:xfrm xmlns:a="http://schemas.openxmlformats.org/drawingml/2006/main">
            <a:off x="7096125" y="6276975"/>
            <a:ext cx="4410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25" b="0">
                <a:solidFill>
                  <a:srgbClr val="9FB8CB"/>
                </a:solidFill>
                <a:latin typeface="Arial"/>
                <a:ea typeface="Arial"/>
                <a:cs typeface="Arial"/>
              </a:defRPr>
            </a:pPr>
            <a:r>
              <a:rPr sz="825" b="0">
                <a:solidFill>
                  <a:srgbClr val="9FB8CB"/>
                </a:solidFill>
                <a:latin typeface="Arial"/>
                <a:ea typeface="Arial"/>
                <a:cs typeface="Arial"/>
              </a:rPr>
              <a:t>Source: DOC-01@0.6 · DOC-04@0.13 · DOC-05@0.20</a:t>
            </a:r>
          </a:p>
        </p:txBody>
      </p:sp>
    </p:spTree>
    <p:extLst>
      <p:ext uri="{BB962C8B-B14F-4D97-AF65-F5344CB8AC3E}">
        <p14:creationId xmlns:p14="http://schemas.microsoft.com/office/powerpoint/2010/main" val="7014404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box-0-0">
            <a:extLst xmlns:a="http://schemas.openxmlformats.org/drawingml/2006/main">
              <a:ext uri="{FF2B5EF4-FFF2-40B4-BE49-F238E27FC236}">
                <a16:creationId xmlns:a16="http://schemas.microsoft.com/office/drawing/2014/main" id="{B18874E2-B5C5-4006-BBF6-30E11361278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02744"/>
          </a:solidFill>
          <a:ln xmlns:a="http://schemas.openxmlformats.org/drawingml/2006/main" w="0">
            <a:noFill/>
            <a:prstDash val="solid"/>
          </a:ln>
        </p:spPr>
      </p:sp>
      <p:sp>
        <p:nvSpPr>
          <p:cNvPr id="2" name="text-54-28-DECISION FRAME">
            <a:extLst xmlns:a="http://schemas.openxmlformats.org/drawingml/2006/main">
              <a:ext uri="{FF2B5EF4-FFF2-40B4-BE49-F238E27FC236}">
                <a16:creationId xmlns:a16="http://schemas.microsoft.com/office/drawing/2014/main" id="{8A6A1154-96E2-4D6C-BB82-BAE9060DC933}"/>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02744"/>
                </a:solidFill>
                <a:latin typeface="Arial"/>
                <a:ea typeface="Arial"/>
                <a:cs typeface="Arial"/>
              </a:defRPr>
            </a:pPr>
            <a:r>
              <a:rPr sz="1050" b="1">
                <a:solidFill>
                  <a:srgbClr val="102744"/>
                </a:solidFill>
                <a:latin typeface="Arial"/>
                <a:ea typeface="Arial"/>
                <a:cs typeface="Arial"/>
              </a:rPr>
              <a:t>DECISION FRAME</a:t>
            </a:r>
          </a:p>
        </p:txBody>
      </p:sp>
      <p:sp>
        <p:nvSpPr>
          <p:cNvPr id="3" name="text-54-56-Controlled Views">
            <a:extLst xmlns:a="http://schemas.openxmlformats.org/drawingml/2006/main">
              <a:ext uri="{FF2B5EF4-FFF2-40B4-BE49-F238E27FC236}">
                <a16:creationId xmlns:a16="http://schemas.microsoft.com/office/drawing/2014/main" id="{73D6B6F0-8538-4333-9C79-EEDDD3FECFD1}"/>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Controlled Views Used in This Management Review</a:t>
            </a:r>
          </a:p>
        </p:txBody>
      </p:sp>
      <p:sp>
        <p:nvSpPr>
          <p:cNvPr id="4" name="line-54-116">
            <a:extLst xmlns:a="http://schemas.openxmlformats.org/drawingml/2006/main">
              <a:ext uri="{FF2B5EF4-FFF2-40B4-BE49-F238E27FC236}">
                <a16:creationId xmlns:a16="http://schemas.microsoft.com/office/drawing/2014/main" id="{AC831898-991A-4344-86B8-36989F28F64D}"/>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5@0">
            <a:extLst xmlns:a="http://schemas.openxmlformats.org/drawingml/2006/main">
              <a:ext uri="{FF2B5EF4-FFF2-40B4-BE49-F238E27FC236}">
                <a16:creationId xmlns:a16="http://schemas.microsoft.com/office/drawing/2014/main" id="{1284E7B4-9CB6-49CB-A03B-A4A0707FC291}"/>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DOC-05@0.20 · DOC-06@0.16 · TECH-VIEWS@0.2</a:t>
            </a:r>
          </a:p>
        </p:txBody>
      </p:sp>
      <p:sp>
        <p:nvSpPr>
          <p:cNvPr id="6" name="text-1170-680-02">
            <a:extLst xmlns:a="http://schemas.openxmlformats.org/drawingml/2006/main">
              <a:ext uri="{FF2B5EF4-FFF2-40B4-BE49-F238E27FC236}">
                <a16:creationId xmlns:a16="http://schemas.microsoft.com/office/drawing/2014/main" id="{D9FB879C-C3A2-4A6B-9CB2-619D66AED2D7}"/>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02</a:t>
            </a:r>
          </a:p>
        </p:txBody>
      </p:sp>
      <p:sp>
        <p:nvSpPr>
          <p:cNvPr id="7" name="text-62-132-Chỉ các view giú">
            <a:extLst xmlns:a="http://schemas.openxmlformats.org/drawingml/2006/main">
              <a:ext uri="{FF2B5EF4-FFF2-40B4-BE49-F238E27FC236}">
                <a16:creationId xmlns:a16="http://schemas.microsoft.com/office/drawing/2014/main" id="{68F14863-08D6-4D69-8948-EC67BE0D531E}"/>
              </a:ext>
            </a:extLst>
          </p:cNvPr>
          <p:cNvSpPr>
            <a:spLocks xmlns:a="http://schemas.openxmlformats.org/drawingml/2006/main" noGrp="1"/>
          </p:cNvSpPr>
          <p:nvPr/>
        </p:nvSpPr>
        <p:spPr>
          <a:xfrm xmlns:a="http://schemas.openxmlformats.org/drawingml/2006/main">
            <a:off x="590550" y="12573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4B6075"/>
                </a:solidFill>
                <a:latin typeface="Arial"/>
                <a:ea typeface="Arial"/>
                <a:cs typeface="Arial"/>
              </a:defRPr>
            </a:pPr>
            <a:r>
              <a:rPr sz="1050" b="0">
                <a:solidFill>
                  <a:srgbClr val="4B6075"/>
                </a:solidFill>
                <a:latin typeface="Arial"/>
                <a:ea typeface="Arial"/>
                <a:cs typeface="Arial"/>
              </a:rPr>
              <a:t>Chỉ các view giúp giải thích hoặc ra quyết định trong buổi review. Inventory đầy đủ 38 view nằm ở deliverable riêng.</a:t>
            </a:r>
          </a:p>
        </p:txBody>
      </p:sp>
      <p:sp>
        <p:nvSpPr>
          <p:cNvPr id="8" name="box-62-174">
            <a:extLst xmlns:a="http://schemas.openxmlformats.org/drawingml/2006/main">
              <a:ext uri="{FF2B5EF4-FFF2-40B4-BE49-F238E27FC236}">
                <a16:creationId xmlns:a16="http://schemas.microsoft.com/office/drawing/2014/main" id="{510B0880-67DD-436E-8816-65935E2C5A32}"/>
              </a:ext>
            </a:extLst>
          </p:cNvPr>
          <p:cNvSpPr>
            <a:spLocks xmlns:a="http://schemas.openxmlformats.org/drawingml/2006/main" noGrp="1"/>
          </p:cNvSpPr>
          <p:nvPr/>
        </p:nvSpPr>
        <p:spPr>
          <a:xfrm xmlns:a="http://schemas.openxmlformats.org/drawingml/2006/main">
            <a:off x="590550" y="1657350"/>
            <a:ext cx="5334000" cy="581025"/>
          </a:xfrm>
          <a:prstGeom xmlns:a="http://schemas.openxmlformats.org/drawingml/2006/main" prst="roundRect">
            <a:avLst>
              <a:gd name="adj" fmla="val 13115"/>
            </a:avLst>
          </a:prstGeom>
          <a:solidFill xmlns:a="http://schemas.openxmlformats.org/drawingml/2006/main">
            <a:srgbClr val="F4F7FA"/>
          </a:solidFill>
          <a:ln xmlns:a="http://schemas.openxmlformats.org/drawingml/2006/main" w="9525">
            <a:solidFill>
              <a:srgbClr val="CBD8E3"/>
            </a:solidFill>
            <a:prstDash val="solid"/>
          </a:ln>
        </p:spPr>
      </p:sp>
      <p:sp>
        <p:nvSpPr>
          <p:cNvPr id="9" name="text-76-183-DATA-VIEW-CORE-0">
            <a:extLst xmlns:a="http://schemas.openxmlformats.org/drawingml/2006/main">
              <a:ext uri="{FF2B5EF4-FFF2-40B4-BE49-F238E27FC236}">
                <a16:creationId xmlns:a16="http://schemas.microsoft.com/office/drawing/2014/main" id="{D132565F-1A65-4065-9945-68F2174ED05A}"/>
              </a:ext>
            </a:extLst>
          </p:cNvPr>
          <p:cNvSpPr>
            <a:spLocks xmlns:a="http://schemas.openxmlformats.org/drawingml/2006/main" noGrp="1"/>
          </p:cNvSpPr>
          <p:nvPr/>
        </p:nvSpPr>
        <p:spPr>
          <a:xfrm xmlns:a="http://schemas.openxmlformats.org/drawingml/2006/main">
            <a:off x="723900" y="1743075"/>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DATA-VIEW-CORE-001</a:t>
            </a:r>
          </a:p>
        </p:txBody>
      </p:sp>
      <p:sp>
        <p:nvSpPr>
          <p:cNvPr id="10" name="text-76-205-Released-baselin">
            <a:extLst xmlns:a="http://schemas.openxmlformats.org/drawingml/2006/main">
              <a:ext uri="{FF2B5EF4-FFF2-40B4-BE49-F238E27FC236}">
                <a16:creationId xmlns:a16="http://schemas.microsoft.com/office/drawing/2014/main" id="{63DB86C9-A3D1-4A1F-9F78-8C9FC9B6EC2A}"/>
              </a:ext>
            </a:extLst>
          </p:cNvPr>
          <p:cNvSpPr>
            <a:spLocks xmlns:a="http://schemas.openxmlformats.org/drawingml/2006/main" noGrp="1"/>
          </p:cNvSpPr>
          <p:nvPr/>
        </p:nvSpPr>
        <p:spPr>
          <a:xfrm xmlns:a="http://schemas.openxmlformats.org/drawingml/2006/main">
            <a:off x="723900" y="1952625"/>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Released-baseline identity</a:t>
            </a:r>
          </a:p>
        </p:txBody>
      </p:sp>
      <p:sp>
        <p:nvSpPr>
          <p:cNvPr id="11" name="text-486-183-Slide 6">
            <a:extLst xmlns:a="http://schemas.openxmlformats.org/drawingml/2006/main">
              <a:ext uri="{FF2B5EF4-FFF2-40B4-BE49-F238E27FC236}">
                <a16:creationId xmlns:a16="http://schemas.microsoft.com/office/drawing/2014/main" id="{6AF8B617-AEC0-47EB-A80F-5AD458F125B7}"/>
              </a:ext>
            </a:extLst>
          </p:cNvPr>
          <p:cNvSpPr>
            <a:spLocks xmlns:a="http://schemas.openxmlformats.org/drawingml/2006/main" noGrp="1"/>
          </p:cNvSpPr>
          <p:nvPr/>
        </p:nvSpPr>
        <p:spPr>
          <a:xfrm xmlns:a="http://schemas.openxmlformats.org/drawingml/2006/main">
            <a:off x="4629150" y="1743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6</a:t>
            </a:r>
          </a:p>
        </p:txBody>
      </p:sp>
      <p:sp>
        <p:nvSpPr>
          <p:cNvPr id="12" name="source-link-2-DATA-VIEW-CORE-001">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0D0E536B-1196-48F4-A5E5-BE7C21F8933F}"/>
              </a:ext>
            </a:extLst>
          </p:cNvPr>
          <p:cNvSpPr>
            <a:spLocks xmlns:a="http://schemas.openxmlformats.org/drawingml/2006/main" noGrp="1"/>
          </p:cNvSpPr>
          <p:nvPr/>
        </p:nvSpPr>
        <p:spPr>
          <a:xfrm xmlns:a="http://schemas.openxmlformats.org/drawingml/2006/main">
            <a:off x="4305300" y="1971675"/>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13" name="box-62-247">
            <a:extLst xmlns:a="http://schemas.openxmlformats.org/drawingml/2006/main">
              <a:ext uri="{FF2B5EF4-FFF2-40B4-BE49-F238E27FC236}">
                <a16:creationId xmlns:a16="http://schemas.microsoft.com/office/drawing/2014/main" id="{AFA390F6-2EC8-4537-97FC-D3727E071367}"/>
              </a:ext>
            </a:extLst>
          </p:cNvPr>
          <p:cNvSpPr>
            <a:spLocks xmlns:a="http://schemas.openxmlformats.org/drawingml/2006/main" noGrp="1"/>
          </p:cNvSpPr>
          <p:nvPr/>
        </p:nvSpPr>
        <p:spPr>
          <a:xfrm xmlns:a="http://schemas.openxmlformats.org/drawingml/2006/main">
            <a:off x="590550" y="2352675"/>
            <a:ext cx="5334000" cy="581025"/>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CBD8E3"/>
            </a:solidFill>
            <a:prstDash val="solid"/>
          </a:ln>
        </p:spPr>
      </p:sp>
      <p:sp>
        <p:nvSpPr>
          <p:cNvPr id="14" name="text-76-256-ARCH-VIEW-MOD-00">
            <a:extLst xmlns:a="http://schemas.openxmlformats.org/drawingml/2006/main">
              <a:ext uri="{FF2B5EF4-FFF2-40B4-BE49-F238E27FC236}">
                <a16:creationId xmlns:a16="http://schemas.microsoft.com/office/drawing/2014/main" id="{5A8F863A-4285-4C75-AE1C-EC6DC7F6F685}"/>
              </a:ext>
            </a:extLst>
          </p:cNvPr>
          <p:cNvSpPr>
            <a:spLocks xmlns:a="http://schemas.openxmlformats.org/drawingml/2006/main" noGrp="1"/>
          </p:cNvSpPr>
          <p:nvPr/>
        </p:nvSpPr>
        <p:spPr>
          <a:xfrm xmlns:a="http://schemas.openxmlformats.org/drawingml/2006/main">
            <a:off x="723900" y="2438400"/>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ARCH-VIEW-MOD-002</a:t>
            </a:r>
          </a:p>
        </p:txBody>
      </p:sp>
      <p:sp>
        <p:nvSpPr>
          <p:cNvPr id="15" name="text-76-278-Controlled Works">
            <a:extLst xmlns:a="http://schemas.openxmlformats.org/drawingml/2006/main">
              <a:ext uri="{FF2B5EF4-FFF2-40B4-BE49-F238E27FC236}">
                <a16:creationId xmlns:a16="http://schemas.microsoft.com/office/drawing/2014/main" id="{D60E7E8C-9BA9-4C50-B5B3-60B0A2DDD449}"/>
              </a:ext>
            </a:extLst>
          </p:cNvPr>
          <p:cNvSpPr>
            <a:spLocks xmlns:a="http://schemas.openxmlformats.org/drawingml/2006/main" noGrp="1"/>
          </p:cNvSpPr>
          <p:nvPr/>
        </p:nvSpPr>
        <p:spPr>
          <a:xfrm xmlns:a="http://schemas.openxmlformats.org/drawingml/2006/main">
            <a:off x="723900" y="2647950"/>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Controlled Workspace responsibilities</a:t>
            </a:r>
          </a:p>
        </p:txBody>
      </p:sp>
      <p:sp>
        <p:nvSpPr>
          <p:cNvPr id="16" name="text-486-256-Slide 7">
            <a:extLst xmlns:a="http://schemas.openxmlformats.org/drawingml/2006/main">
              <a:ext uri="{FF2B5EF4-FFF2-40B4-BE49-F238E27FC236}">
                <a16:creationId xmlns:a16="http://schemas.microsoft.com/office/drawing/2014/main" id="{EE13D535-A22E-494C-9878-2DC1B57582FA}"/>
              </a:ext>
            </a:extLst>
          </p:cNvPr>
          <p:cNvSpPr>
            <a:spLocks xmlns:a="http://schemas.openxmlformats.org/drawingml/2006/main" noGrp="1"/>
          </p:cNvSpPr>
          <p:nvPr/>
        </p:nvSpPr>
        <p:spPr>
          <a:xfrm xmlns:a="http://schemas.openxmlformats.org/drawingml/2006/main">
            <a:off x="4629150" y="2438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7</a:t>
            </a:r>
          </a:p>
        </p:txBody>
      </p:sp>
      <p:sp>
        <p:nvSpPr>
          <p:cNvPr id="17" name="source-link-2-ARCH-VIEW-MOD-002">
            <a:hlinkClick xmlns:a="http://schemas.openxmlformats.org/drawingml/2006/main" xmlns:r="http://schemas.openxmlformats.org/officeDocument/2006/relationships" r:id="rId2"/>
            <a:extLst xmlns:a="http://schemas.openxmlformats.org/drawingml/2006/main">
              <a:ext uri="{FF2B5EF4-FFF2-40B4-BE49-F238E27FC236}">
                <a16:creationId xmlns:a16="http://schemas.microsoft.com/office/drawing/2014/main" id="{857129E8-C4FE-4EC0-B09B-9730AEC843AC}"/>
              </a:ext>
            </a:extLst>
          </p:cNvPr>
          <p:cNvSpPr>
            <a:spLocks xmlns:a="http://schemas.openxmlformats.org/drawingml/2006/main" noGrp="1"/>
          </p:cNvSpPr>
          <p:nvPr/>
        </p:nvSpPr>
        <p:spPr>
          <a:xfrm xmlns:a="http://schemas.openxmlformats.org/drawingml/2006/main">
            <a:off x="4305300" y="2667000"/>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18" name="box-62-320">
            <a:extLst xmlns:a="http://schemas.openxmlformats.org/drawingml/2006/main">
              <a:ext uri="{FF2B5EF4-FFF2-40B4-BE49-F238E27FC236}">
                <a16:creationId xmlns:a16="http://schemas.microsoft.com/office/drawing/2014/main" id="{CCD3F75B-D8AF-4046-89CF-07D57692E733}"/>
              </a:ext>
            </a:extLst>
          </p:cNvPr>
          <p:cNvSpPr>
            <a:spLocks xmlns:a="http://schemas.openxmlformats.org/drawingml/2006/main" noGrp="1"/>
          </p:cNvSpPr>
          <p:nvPr/>
        </p:nvSpPr>
        <p:spPr>
          <a:xfrm xmlns:a="http://schemas.openxmlformats.org/drawingml/2006/main">
            <a:off x="590550" y="3048000"/>
            <a:ext cx="5334000" cy="581025"/>
          </a:xfrm>
          <a:prstGeom xmlns:a="http://schemas.openxmlformats.org/drawingml/2006/main" prst="roundRect">
            <a:avLst>
              <a:gd name="adj" fmla="val 13115"/>
            </a:avLst>
          </a:prstGeom>
          <a:solidFill xmlns:a="http://schemas.openxmlformats.org/drawingml/2006/main">
            <a:srgbClr val="F4F7FA"/>
          </a:solidFill>
          <a:ln xmlns:a="http://schemas.openxmlformats.org/drawingml/2006/main" w="9525">
            <a:solidFill>
              <a:srgbClr val="CBD8E3"/>
            </a:solidFill>
            <a:prstDash val="solid"/>
          </a:ln>
        </p:spPr>
      </p:sp>
      <p:sp>
        <p:nvSpPr>
          <p:cNvPr id="19" name="text-76-329-ARCH-VIEW-SEQ-00">
            <a:extLst xmlns:a="http://schemas.openxmlformats.org/drawingml/2006/main">
              <a:ext uri="{FF2B5EF4-FFF2-40B4-BE49-F238E27FC236}">
                <a16:creationId xmlns:a16="http://schemas.microsoft.com/office/drawing/2014/main" id="{436E456E-1317-49E3-9CD4-7E7BB07DC8F0}"/>
              </a:ext>
            </a:extLst>
          </p:cNvPr>
          <p:cNvSpPr>
            <a:spLocks xmlns:a="http://schemas.openxmlformats.org/drawingml/2006/main" noGrp="1"/>
          </p:cNvSpPr>
          <p:nvPr/>
        </p:nvSpPr>
        <p:spPr>
          <a:xfrm xmlns:a="http://schemas.openxmlformats.org/drawingml/2006/main">
            <a:off x="723900" y="3133725"/>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ARCH-VIEW-SEQ-002</a:t>
            </a:r>
          </a:p>
        </p:txBody>
      </p:sp>
      <p:sp>
        <p:nvSpPr>
          <p:cNvPr id="20" name="text-76-351-Atomic Check-in ">
            <a:extLst xmlns:a="http://schemas.openxmlformats.org/drawingml/2006/main">
              <a:ext uri="{FF2B5EF4-FFF2-40B4-BE49-F238E27FC236}">
                <a16:creationId xmlns:a16="http://schemas.microsoft.com/office/drawing/2014/main" id="{0E09620B-B881-4ED1-8211-08A8F60C94EE}"/>
              </a:ext>
            </a:extLst>
          </p:cNvPr>
          <p:cNvSpPr>
            <a:spLocks xmlns:a="http://schemas.openxmlformats.org/drawingml/2006/main" noGrp="1"/>
          </p:cNvSpPr>
          <p:nvPr/>
        </p:nvSpPr>
        <p:spPr>
          <a:xfrm xmlns:a="http://schemas.openxmlformats.org/drawingml/2006/main">
            <a:off x="723900" y="3343275"/>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Atomic Check-in publication</a:t>
            </a:r>
          </a:p>
        </p:txBody>
      </p:sp>
      <p:sp>
        <p:nvSpPr>
          <p:cNvPr id="21" name="text-486-329-Slide 7">
            <a:extLst xmlns:a="http://schemas.openxmlformats.org/drawingml/2006/main">
              <a:ext uri="{FF2B5EF4-FFF2-40B4-BE49-F238E27FC236}">
                <a16:creationId xmlns:a16="http://schemas.microsoft.com/office/drawing/2014/main" id="{53CCAB68-B24C-4D5B-8054-790E80A03CD9}"/>
              </a:ext>
            </a:extLst>
          </p:cNvPr>
          <p:cNvSpPr>
            <a:spLocks xmlns:a="http://schemas.openxmlformats.org/drawingml/2006/main" noGrp="1"/>
          </p:cNvSpPr>
          <p:nvPr/>
        </p:nvSpPr>
        <p:spPr>
          <a:xfrm xmlns:a="http://schemas.openxmlformats.org/drawingml/2006/main">
            <a:off x="4629150" y="31337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7</a:t>
            </a:r>
          </a:p>
        </p:txBody>
      </p:sp>
      <p:sp>
        <p:nvSpPr>
          <p:cNvPr id="22" name="source-link-2-ARCH-VIEW-SEQ-002">
            <a:hlinkClick xmlns:a="http://schemas.openxmlformats.org/drawingml/2006/main" xmlns:r="http://schemas.openxmlformats.org/officeDocument/2006/relationships" r:id="rId3"/>
            <a:extLst xmlns:a="http://schemas.openxmlformats.org/drawingml/2006/main">
              <a:ext uri="{FF2B5EF4-FFF2-40B4-BE49-F238E27FC236}">
                <a16:creationId xmlns:a16="http://schemas.microsoft.com/office/drawing/2014/main" id="{0B2DF583-AAB9-4929-89C4-22D28647863D}"/>
              </a:ext>
            </a:extLst>
          </p:cNvPr>
          <p:cNvSpPr>
            <a:spLocks xmlns:a="http://schemas.openxmlformats.org/drawingml/2006/main" noGrp="1"/>
          </p:cNvSpPr>
          <p:nvPr/>
        </p:nvSpPr>
        <p:spPr>
          <a:xfrm xmlns:a="http://schemas.openxmlformats.org/drawingml/2006/main">
            <a:off x="4305300" y="3362325"/>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23" name="box-62-393">
            <a:extLst xmlns:a="http://schemas.openxmlformats.org/drawingml/2006/main">
              <a:ext uri="{FF2B5EF4-FFF2-40B4-BE49-F238E27FC236}">
                <a16:creationId xmlns:a16="http://schemas.microsoft.com/office/drawing/2014/main" id="{4807F075-89B1-4116-8FB4-08F5E686098C}"/>
              </a:ext>
            </a:extLst>
          </p:cNvPr>
          <p:cNvSpPr>
            <a:spLocks xmlns:a="http://schemas.openxmlformats.org/drawingml/2006/main" noGrp="1"/>
          </p:cNvSpPr>
          <p:nvPr/>
        </p:nvSpPr>
        <p:spPr>
          <a:xfrm xmlns:a="http://schemas.openxmlformats.org/drawingml/2006/main">
            <a:off x="590550" y="3743325"/>
            <a:ext cx="5334000" cy="581025"/>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CBD8E3"/>
            </a:solidFill>
            <a:prstDash val="solid"/>
          </a:ln>
        </p:spPr>
      </p:sp>
      <p:sp>
        <p:nvSpPr>
          <p:cNvPr id="24" name="text-76-402-DATA-VIEW-WS-001">
            <a:extLst xmlns:a="http://schemas.openxmlformats.org/drawingml/2006/main">
              <a:ext uri="{FF2B5EF4-FFF2-40B4-BE49-F238E27FC236}">
                <a16:creationId xmlns:a16="http://schemas.microsoft.com/office/drawing/2014/main" id="{176F5BCC-25F8-4601-B1B2-E4E69E2FDBE0}"/>
              </a:ext>
            </a:extLst>
          </p:cNvPr>
          <p:cNvSpPr>
            <a:spLocks xmlns:a="http://schemas.openxmlformats.org/drawingml/2006/main" noGrp="1"/>
          </p:cNvSpPr>
          <p:nvPr/>
        </p:nvSpPr>
        <p:spPr>
          <a:xfrm xmlns:a="http://schemas.openxmlformats.org/drawingml/2006/main">
            <a:off x="723900" y="3829050"/>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DATA-VIEW-WS-001</a:t>
            </a:r>
          </a:p>
        </p:txBody>
      </p:sp>
      <p:sp>
        <p:nvSpPr>
          <p:cNvPr id="25" name="text-76-424-Workspace and Ch">
            <a:extLst xmlns:a="http://schemas.openxmlformats.org/drawingml/2006/main">
              <a:ext uri="{FF2B5EF4-FFF2-40B4-BE49-F238E27FC236}">
                <a16:creationId xmlns:a16="http://schemas.microsoft.com/office/drawing/2014/main" id="{AF024B8A-0B50-4FD0-85E6-531C819AEB21}"/>
              </a:ext>
            </a:extLst>
          </p:cNvPr>
          <p:cNvSpPr>
            <a:spLocks xmlns:a="http://schemas.openxmlformats.org/drawingml/2006/main" noGrp="1"/>
          </p:cNvSpPr>
          <p:nvPr/>
        </p:nvSpPr>
        <p:spPr>
          <a:xfrm xmlns:a="http://schemas.openxmlformats.org/drawingml/2006/main">
            <a:off x="723900" y="4038600"/>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Workspace and Check-in evidence</a:t>
            </a:r>
          </a:p>
        </p:txBody>
      </p:sp>
      <p:sp>
        <p:nvSpPr>
          <p:cNvPr id="26" name="text-486-402-Slide 7">
            <a:extLst xmlns:a="http://schemas.openxmlformats.org/drawingml/2006/main">
              <a:ext uri="{FF2B5EF4-FFF2-40B4-BE49-F238E27FC236}">
                <a16:creationId xmlns:a16="http://schemas.microsoft.com/office/drawing/2014/main" id="{78621100-AFD9-49D8-B2CD-293570C05F7C}"/>
              </a:ext>
            </a:extLst>
          </p:cNvPr>
          <p:cNvSpPr>
            <a:spLocks xmlns:a="http://schemas.openxmlformats.org/drawingml/2006/main" noGrp="1"/>
          </p:cNvSpPr>
          <p:nvPr/>
        </p:nvSpPr>
        <p:spPr>
          <a:xfrm xmlns:a="http://schemas.openxmlformats.org/drawingml/2006/main">
            <a:off x="4629150" y="38290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7</a:t>
            </a:r>
          </a:p>
        </p:txBody>
      </p:sp>
      <p:sp>
        <p:nvSpPr>
          <p:cNvPr id="27" name="source-link-2-DATA-VIEW-WS-001">
            <a:hlinkClick xmlns:a="http://schemas.openxmlformats.org/drawingml/2006/main" xmlns:r="http://schemas.openxmlformats.org/officeDocument/2006/relationships" r:id="rId4"/>
            <a:extLst xmlns:a="http://schemas.openxmlformats.org/drawingml/2006/main">
              <a:ext uri="{FF2B5EF4-FFF2-40B4-BE49-F238E27FC236}">
                <a16:creationId xmlns:a16="http://schemas.microsoft.com/office/drawing/2014/main" id="{5A1EF21F-0B5F-496F-B18A-5194E311E051}"/>
              </a:ext>
            </a:extLst>
          </p:cNvPr>
          <p:cNvSpPr>
            <a:spLocks xmlns:a="http://schemas.openxmlformats.org/drawingml/2006/main" noGrp="1"/>
          </p:cNvSpPr>
          <p:nvPr/>
        </p:nvSpPr>
        <p:spPr>
          <a:xfrm xmlns:a="http://schemas.openxmlformats.org/drawingml/2006/main">
            <a:off x="4305300" y="4057650"/>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28" name="box-62-466">
            <a:extLst xmlns:a="http://schemas.openxmlformats.org/drawingml/2006/main">
              <a:ext uri="{FF2B5EF4-FFF2-40B4-BE49-F238E27FC236}">
                <a16:creationId xmlns:a16="http://schemas.microsoft.com/office/drawing/2014/main" id="{6DB957A6-C11E-4F0A-9231-30DFAD0699F4}"/>
              </a:ext>
            </a:extLst>
          </p:cNvPr>
          <p:cNvSpPr>
            <a:spLocks xmlns:a="http://schemas.openxmlformats.org/drawingml/2006/main" noGrp="1"/>
          </p:cNvSpPr>
          <p:nvPr/>
        </p:nvSpPr>
        <p:spPr>
          <a:xfrm xmlns:a="http://schemas.openxmlformats.org/drawingml/2006/main">
            <a:off x="590550" y="4438650"/>
            <a:ext cx="5334000" cy="581025"/>
          </a:xfrm>
          <a:prstGeom xmlns:a="http://schemas.openxmlformats.org/drawingml/2006/main" prst="roundRect">
            <a:avLst>
              <a:gd name="adj" fmla="val 13115"/>
            </a:avLst>
          </a:prstGeom>
          <a:solidFill xmlns:a="http://schemas.openxmlformats.org/drawingml/2006/main">
            <a:srgbClr val="F4F7FA"/>
          </a:solidFill>
          <a:ln xmlns:a="http://schemas.openxmlformats.org/drawingml/2006/main" w="9525">
            <a:solidFill>
              <a:srgbClr val="CBD8E3"/>
            </a:solidFill>
            <a:prstDash val="solid"/>
          </a:ln>
        </p:spPr>
      </p:sp>
      <p:sp>
        <p:nvSpPr>
          <p:cNvPr id="29" name="text-76-475-ARCH-VIEW-SEQ-00">
            <a:extLst xmlns:a="http://schemas.openxmlformats.org/drawingml/2006/main">
              <a:ext uri="{FF2B5EF4-FFF2-40B4-BE49-F238E27FC236}">
                <a16:creationId xmlns:a16="http://schemas.microsoft.com/office/drawing/2014/main" id="{B9768B14-F274-43EF-9745-D550EFAA52F7}"/>
              </a:ext>
            </a:extLst>
          </p:cNvPr>
          <p:cNvSpPr>
            <a:spLocks xmlns:a="http://schemas.openxmlformats.org/drawingml/2006/main" noGrp="1"/>
          </p:cNvSpPr>
          <p:nvPr/>
        </p:nvSpPr>
        <p:spPr>
          <a:xfrm xmlns:a="http://schemas.openxmlformats.org/drawingml/2006/main">
            <a:off x="723900" y="4524375"/>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ARCH-VIEW-SEQ-003</a:t>
            </a:r>
          </a:p>
        </p:txBody>
      </p:sp>
      <p:sp>
        <p:nvSpPr>
          <p:cNvPr id="30" name="text-76-497-Review and exact">
            <a:extLst xmlns:a="http://schemas.openxmlformats.org/drawingml/2006/main">
              <a:ext uri="{FF2B5EF4-FFF2-40B4-BE49-F238E27FC236}">
                <a16:creationId xmlns:a16="http://schemas.microsoft.com/office/drawing/2014/main" id="{39891698-9F1E-4C54-933C-A34043BBBA96}"/>
              </a:ext>
            </a:extLst>
          </p:cNvPr>
          <p:cNvSpPr>
            <a:spLocks xmlns:a="http://schemas.openxmlformats.org/drawingml/2006/main" noGrp="1"/>
          </p:cNvSpPr>
          <p:nvPr/>
        </p:nvSpPr>
        <p:spPr>
          <a:xfrm xmlns:a="http://schemas.openxmlformats.org/drawingml/2006/main">
            <a:off x="723900" y="4733925"/>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Review and exact Release</a:t>
            </a:r>
          </a:p>
        </p:txBody>
      </p:sp>
      <p:sp>
        <p:nvSpPr>
          <p:cNvPr id="31" name="text-486-475-Slide 9">
            <a:extLst xmlns:a="http://schemas.openxmlformats.org/drawingml/2006/main">
              <a:ext uri="{FF2B5EF4-FFF2-40B4-BE49-F238E27FC236}">
                <a16:creationId xmlns:a16="http://schemas.microsoft.com/office/drawing/2014/main" id="{9BA4F44D-2024-436B-BBC2-165EDD36B1D5}"/>
              </a:ext>
            </a:extLst>
          </p:cNvPr>
          <p:cNvSpPr>
            <a:spLocks xmlns:a="http://schemas.openxmlformats.org/drawingml/2006/main" noGrp="1"/>
          </p:cNvSpPr>
          <p:nvPr/>
        </p:nvSpPr>
        <p:spPr>
          <a:xfrm xmlns:a="http://schemas.openxmlformats.org/drawingml/2006/main">
            <a:off x="4629150" y="45243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9</a:t>
            </a:r>
          </a:p>
        </p:txBody>
      </p:sp>
      <p:sp>
        <p:nvSpPr>
          <p:cNvPr id="32" name="source-link-2-ARCH-VIEW-SEQ-003">
            <a:hlinkClick xmlns:a="http://schemas.openxmlformats.org/drawingml/2006/main" xmlns:r="http://schemas.openxmlformats.org/officeDocument/2006/relationships" r:id="rId5"/>
            <a:extLst xmlns:a="http://schemas.openxmlformats.org/drawingml/2006/main">
              <a:ext uri="{FF2B5EF4-FFF2-40B4-BE49-F238E27FC236}">
                <a16:creationId xmlns:a16="http://schemas.microsoft.com/office/drawing/2014/main" id="{EA7FFD4D-91CC-43FB-A828-B6DD9CFA87D6}"/>
              </a:ext>
            </a:extLst>
          </p:cNvPr>
          <p:cNvSpPr>
            <a:spLocks xmlns:a="http://schemas.openxmlformats.org/drawingml/2006/main" noGrp="1"/>
          </p:cNvSpPr>
          <p:nvPr/>
        </p:nvSpPr>
        <p:spPr>
          <a:xfrm xmlns:a="http://schemas.openxmlformats.org/drawingml/2006/main">
            <a:off x="4305300" y="4752975"/>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33" name="box-62-539">
            <a:extLst xmlns:a="http://schemas.openxmlformats.org/drawingml/2006/main">
              <a:ext uri="{FF2B5EF4-FFF2-40B4-BE49-F238E27FC236}">
                <a16:creationId xmlns:a16="http://schemas.microsoft.com/office/drawing/2014/main" id="{6F66A382-5C29-4C8A-AA25-7849A1CB9472}"/>
              </a:ext>
            </a:extLst>
          </p:cNvPr>
          <p:cNvSpPr>
            <a:spLocks xmlns:a="http://schemas.openxmlformats.org/drawingml/2006/main" noGrp="1"/>
          </p:cNvSpPr>
          <p:nvPr/>
        </p:nvSpPr>
        <p:spPr>
          <a:xfrm xmlns:a="http://schemas.openxmlformats.org/drawingml/2006/main">
            <a:off x="590550" y="5133975"/>
            <a:ext cx="5334000" cy="581025"/>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CBD8E3"/>
            </a:solidFill>
            <a:prstDash val="solid"/>
          </a:ln>
        </p:spPr>
      </p:sp>
      <p:sp>
        <p:nvSpPr>
          <p:cNvPr id="34" name="text-76-548-ARCH-VIEW-RBAC-0">
            <a:extLst xmlns:a="http://schemas.openxmlformats.org/drawingml/2006/main">
              <a:ext uri="{FF2B5EF4-FFF2-40B4-BE49-F238E27FC236}">
                <a16:creationId xmlns:a16="http://schemas.microsoft.com/office/drawing/2014/main" id="{4674C139-F103-44A6-805B-8D6CC624C351}"/>
              </a:ext>
            </a:extLst>
          </p:cNvPr>
          <p:cNvSpPr>
            <a:spLocks xmlns:a="http://schemas.openxmlformats.org/drawingml/2006/main" noGrp="1"/>
          </p:cNvSpPr>
          <p:nvPr/>
        </p:nvSpPr>
        <p:spPr>
          <a:xfrm xmlns:a="http://schemas.openxmlformats.org/drawingml/2006/main">
            <a:off x="723900" y="5219700"/>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ARCH-VIEW-RBAC-001</a:t>
            </a:r>
          </a:p>
        </p:txBody>
      </p:sp>
      <p:sp>
        <p:nvSpPr>
          <p:cNvPr id="35" name="text-76-570-Principal-role-s">
            <a:extLst xmlns:a="http://schemas.openxmlformats.org/drawingml/2006/main">
              <a:ext uri="{FF2B5EF4-FFF2-40B4-BE49-F238E27FC236}">
                <a16:creationId xmlns:a16="http://schemas.microsoft.com/office/drawing/2014/main" id="{9AFC99C8-3783-457C-A494-09383DE162E0}"/>
              </a:ext>
            </a:extLst>
          </p:cNvPr>
          <p:cNvSpPr>
            <a:spLocks xmlns:a="http://schemas.openxmlformats.org/drawingml/2006/main" noGrp="1"/>
          </p:cNvSpPr>
          <p:nvPr/>
        </p:nvSpPr>
        <p:spPr>
          <a:xfrm xmlns:a="http://schemas.openxmlformats.org/drawingml/2006/main">
            <a:off x="723900" y="5429250"/>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Principal-role-scope model</a:t>
            </a:r>
          </a:p>
        </p:txBody>
      </p:sp>
      <p:sp>
        <p:nvSpPr>
          <p:cNvPr id="36" name="text-486-548-Slides 10, 16">
            <a:extLst xmlns:a="http://schemas.openxmlformats.org/drawingml/2006/main">
              <a:ext uri="{FF2B5EF4-FFF2-40B4-BE49-F238E27FC236}">
                <a16:creationId xmlns:a16="http://schemas.microsoft.com/office/drawing/2014/main" id="{36EAAC38-6B81-4DE9-A722-41BB7259975B}"/>
              </a:ext>
            </a:extLst>
          </p:cNvPr>
          <p:cNvSpPr>
            <a:spLocks xmlns:a="http://schemas.openxmlformats.org/drawingml/2006/main" noGrp="1"/>
          </p:cNvSpPr>
          <p:nvPr/>
        </p:nvSpPr>
        <p:spPr>
          <a:xfrm xmlns:a="http://schemas.openxmlformats.org/drawingml/2006/main">
            <a:off x="4629150" y="5219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Slides 10, 16</a:t>
            </a:r>
          </a:p>
        </p:txBody>
      </p:sp>
      <p:sp>
        <p:nvSpPr>
          <p:cNvPr id="37" name="source-link-2-ARCH-VIEW-RBAC-001">
            <a:hlinkClick xmlns:a="http://schemas.openxmlformats.org/drawingml/2006/main" xmlns:r="http://schemas.openxmlformats.org/officeDocument/2006/relationships" r:id="rId6"/>
            <a:extLst xmlns:a="http://schemas.openxmlformats.org/drawingml/2006/main">
              <a:ext uri="{FF2B5EF4-FFF2-40B4-BE49-F238E27FC236}">
                <a16:creationId xmlns:a16="http://schemas.microsoft.com/office/drawing/2014/main" id="{298F3410-CC68-4AD6-81CD-3F53780BE52E}"/>
              </a:ext>
            </a:extLst>
          </p:cNvPr>
          <p:cNvSpPr>
            <a:spLocks xmlns:a="http://schemas.openxmlformats.org/drawingml/2006/main" noGrp="1"/>
          </p:cNvSpPr>
          <p:nvPr/>
        </p:nvSpPr>
        <p:spPr>
          <a:xfrm xmlns:a="http://schemas.openxmlformats.org/drawingml/2006/main">
            <a:off x="4305300" y="5448300"/>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38" name="box-648-174">
            <a:extLst xmlns:a="http://schemas.openxmlformats.org/drawingml/2006/main">
              <a:ext uri="{FF2B5EF4-FFF2-40B4-BE49-F238E27FC236}">
                <a16:creationId xmlns:a16="http://schemas.microsoft.com/office/drawing/2014/main" id="{42EA2B26-3539-4D85-8DBA-A1B7C915CAB9}"/>
              </a:ext>
            </a:extLst>
          </p:cNvPr>
          <p:cNvSpPr>
            <a:spLocks xmlns:a="http://schemas.openxmlformats.org/drawingml/2006/main" noGrp="1"/>
          </p:cNvSpPr>
          <p:nvPr/>
        </p:nvSpPr>
        <p:spPr>
          <a:xfrm xmlns:a="http://schemas.openxmlformats.org/drawingml/2006/main">
            <a:off x="6172200" y="1657350"/>
            <a:ext cx="5334000" cy="581025"/>
          </a:xfrm>
          <a:prstGeom xmlns:a="http://schemas.openxmlformats.org/drawingml/2006/main" prst="roundRect">
            <a:avLst>
              <a:gd name="adj" fmla="val 13115"/>
            </a:avLst>
          </a:prstGeom>
          <a:solidFill xmlns:a="http://schemas.openxmlformats.org/drawingml/2006/main">
            <a:srgbClr val="F4F7FA"/>
          </a:solidFill>
          <a:ln xmlns:a="http://schemas.openxmlformats.org/drawingml/2006/main" w="9525">
            <a:solidFill>
              <a:srgbClr val="CBD8E3"/>
            </a:solidFill>
            <a:prstDash val="solid"/>
          </a:ln>
        </p:spPr>
      </p:sp>
      <p:sp>
        <p:nvSpPr>
          <p:cNvPr id="39" name="text-662-183-DATA-VIEW-AUTH-0">
            <a:extLst xmlns:a="http://schemas.openxmlformats.org/drawingml/2006/main">
              <a:ext uri="{FF2B5EF4-FFF2-40B4-BE49-F238E27FC236}">
                <a16:creationId xmlns:a16="http://schemas.microsoft.com/office/drawing/2014/main" id="{400F1CB5-2AD4-494E-9810-5186652BFB93}"/>
              </a:ext>
            </a:extLst>
          </p:cNvPr>
          <p:cNvSpPr>
            <a:spLocks xmlns:a="http://schemas.openxmlformats.org/drawingml/2006/main" noGrp="1"/>
          </p:cNvSpPr>
          <p:nvPr/>
        </p:nvSpPr>
        <p:spPr>
          <a:xfrm xmlns:a="http://schemas.openxmlformats.org/drawingml/2006/main">
            <a:off x="6305550" y="1743075"/>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DATA-VIEW-AUTH-001</a:t>
            </a:r>
          </a:p>
        </p:txBody>
      </p:sp>
      <p:sp>
        <p:nvSpPr>
          <p:cNvPr id="40" name="text-662-205-Role Definition,">
            <a:extLst xmlns:a="http://schemas.openxmlformats.org/drawingml/2006/main">
              <a:ext uri="{FF2B5EF4-FFF2-40B4-BE49-F238E27FC236}">
                <a16:creationId xmlns:a16="http://schemas.microsoft.com/office/drawing/2014/main" id="{C3A69C69-F37F-4FB6-B34D-F8B2F93AB9B9}"/>
              </a:ext>
            </a:extLst>
          </p:cNvPr>
          <p:cNvSpPr>
            <a:spLocks xmlns:a="http://schemas.openxmlformats.org/drawingml/2006/main" noGrp="1"/>
          </p:cNvSpPr>
          <p:nvPr/>
        </p:nvSpPr>
        <p:spPr>
          <a:xfrm xmlns:a="http://schemas.openxmlformats.org/drawingml/2006/main">
            <a:off x="6305550" y="1952625"/>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Role Definition, Scope and Assignment</a:t>
            </a:r>
          </a:p>
        </p:txBody>
      </p:sp>
      <p:sp>
        <p:nvSpPr>
          <p:cNvPr id="41" name="text-1072-183-Slide 10">
            <a:extLst xmlns:a="http://schemas.openxmlformats.org/drawingml/2006/main">
              <a:ext uri="{FF2B5EF4-FFF2-40B4-BE49-F238E27FC236}">
                <a16:creationId xmlns:a16="http://schemas.microsoft.com/office/drawing/2014/main" id="{A1085120-2138-463E-892E-F6C056760BC4}"/>
              </a:ext>
            </a:extLst>
          </p:cNvPr>
          <p:cNvSpPr>
            <a:spLocks xmlns:a="http://schemas.openxmlformats.org/drawingml/2006/main" noGrp="1"/>
          </p:cNvSpPr>
          <p:nvPr/>
        </p:nvSpPr>
        <p:spPr>
          <a:xfrm xmlns:a="http://schemas.openxmlformats.org/drawingml/2006/main">
            <a:off x="10210800" y="17430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10</a:t>
            </a:r>
          </a:p>
        </p:txBody>
      </p:sp>
      <p:sp>
        <p:nvSpPr>
          <p:cNvPr id="42" name="source-link-2-DATA-VIEW-AUTH-001">
            <a:hlinkClick xmlns:a="http://schemas.openxmlformats.org/drawingml/2006/main" xmlns:r="http://schemas.openxmlformats.org/officeDocument/2006/relationships" r:id="rId7"/>
            <a:extLst xmlns:a="http://schemas.openxmlformats.org/drawingml/2006/main">
              <a:ext uri="{FF2B5EF4-FFF2-40B4-BE49-F238E27FC236}">
                <a16:creationId xmlns:a16="http://schemas.microsoft.com/office/drawing/2014/main" id="{B0B1F6F6-9FD2-47F3-9C3C-50048F209A86}"/>
              </a:ext>
            </a:extLst>
          </p:cNvPr>
          <p:cNvSpPr>
            <a:spLocks xmlns:a="http://schemas.openxmlformats.org/drawingml/2006/main" noGrp="1"/>
          </p:cNvSpPr>
          <p:nvPr/>
        </p:nvSpPr>
        <p:spPr>
          <a:xfrm xmlns:a="http://schemas.openxmlformats.org/drawingml/2006/main">
            <a:off x="9886950" y="1971675"/>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43" name="box-648-247">
            <a:extLst xmlns:a="http://schemas.openxmlformats.org/drawingml/2006/main">
              <a:ext uri="{FF2B5EF4-FFF2-40B4-BE49-F238E27FC236}">
                <a16:creationId xmlns:a16="http://schemas.microsoft.com/office/drawing/2014/main" id="{5A7DE2BB-4A34-4270-97E8-0E16AE1B6231}"/>
              </a:ext>
            </a:extLst>
          </p:cNvPr>
          <p:cNvSpPr>
            <a:spLocks xmlns:a="http://schemas.openxmlformats.org/drawingml/2006/main" noGrp="1"/>
          </p:cNvSpPr>
          <p:nvPr/>
        </p:nvSpPr>
        <p:spPr>
          <a:xfrm xmlns:a="http://schemas.openxmlformats.org/drawingml/2006/main">
            <a:off x="6172200" y="2352675"/>
            <a:ext cx="5334000" cy="581025"/>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CBD8E3"/>
            </a:solidFill>
            <a:prstDash val="solid"/>
          </a:ln>
        </p:spPr>
      </p:sp>
      <p:sp>
        <p:nvSpPr>
          <p:cNvPr id="44" name="text-662-256-TECH-D01">
            <a:extLst xmlns:a="http://schemas.openxmlformats.org/drawingml/2006/main">
              <a:ext uri="{FF2B5EF4-FFF2-40B4-BE49-F238E27FC236}">
                <a16:creationId xmlns:a16="http://schemas.microsoft.com/office/drawing/2014/main" id="{4856E05C-99A6-4A6C-90E2-33F6B1A3C48D}"/>
              </a:ext>
            </a:extLst>
          </p:cNvPr>
          <p:cNvSpPr>
            <a:spLocks xmlns:a="http://schemas.openxmlformats.org/drawingml/2006/main" noGrp="1"/>
          </p:cNvSpPr>
          <p:nvPr/>
        </p:nvSpPr>
        <p:spPr>
          <a:xfrm xmlns:a="http://schemas.openxmlformats.org/drawingml/2006/main">
            <a:off x="6305550" y="2438400"/>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TECH-D01</a:t>
            </a:r>
          </a:p>
        </p:txBody>
      </p:sp>
      <p:sp>
        <p:nvSpPr>
          <p:cNvPr id="45" name="text-662-278-Technology Stack">
            <a:extLst xmlns:a="http://schemas.openxmlformats.org/drawingml/2006/main">
              <a:ext uri="{FF2B5EF4-FFF2-40B4-BE49-F238E27FC236}">
                <a16:creationId xmlns:a16="http://schemas.microsoft.com/office/drawing/2014/main" id="{E781C823-659A-438C-869C-922F41BACE20}"/>
              </a:ext>
            </a:extLst>
          </p:cNvPr>
          <p:cNvSpPr>
            <a:spLocks xmlns:a="http://schemas.openxmlformats.org/drawingml/2006/main" noGrp="1"/>
          </p:cNvSpPr>
          <p:nvPr/>
        </p:nvSpPr>
        <p:spPr>
          <a:xfrm xmlns:a="http://schemas.openxmlformats.org/drawingml/2006/main">
            <a:off x="6305550" y="2647950"/>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Technology Stack Overview</a:t>
            </a:r>
          </a:p>
        </p:txBody>
      </p:sp>
      <p:sp>
        <p:nvSpPr>
          <p:cNvPr id="46" name="text-1072-256-Slide 12">
            <a:extLst xmlns:a="http://schemas.openxmlformats.org/drawingml/2006/main">
              <a:ext uri="{FF2B5EF4-FFF2-40B4-BE49-F238E27FC236}">
                <a16:creationId xmlns:a16="http://schemas.microsoft.com/office/drawing/2014/main" id="{B1645DB2-1511-4AE7-B589-DD5FEC8C1E66}"/>
              </a:ext>
            </a:extLst>
          </p:cNvPr>
          <p:cNvSpPr>
            <a:spLocks xmlns:a="http://schemas.openxmlformats.org/drawingml/2006/main" noGrp="1"/>
          </p:cNvSpPr>
          <p:nvPr/>
        </p:nvSpPr>
        <p:spPr>
          <a:xfrm xmlns:a="http://schemas.openxmlformats.org/drawingml/2006/main">
            <a:off x="10210800" y="2438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12</a:t>
            </a:r>
          </a:p>
        </p:txBody>
      </p:sp>
      <p:sp>
        <p:nvSpPr>
          <p:cNvPr id="47" name="source-link-2-TECH-D01">
            <a:hlinkClick xmlns:a="http://schemas.openxmlformats.org/drawingml/2006/main" xmlns:r="http://schemas.openxmlformats.org/officeDocument/2006/relationships" r:id="rId8"/>
            <a:extLst xmlns:a="http://schemas.openxmlformats.org/drawingml/2006/main">
              <a:ext uri="{FF2B5EF4-FFF2-40B4-BE49-F238E27FC236}">
                <a16:creationId xmlns:a16="http://schemas.microsoft.com/office/drawing/2014/main" id="{8D1E9B38-4B93-431B-8704-D2888DE748F2}"/>
              </a:ext>
            </a:extLst>
          </p:cNvPr>
          <p:cNvSpPr>
            <a:spLocks xmlns:a="http://schemas.openxmlformats.org/drawingml/2006/main" noGrp="1"/>
          </p:cNvSpPr>
          <p:nvPr/>
        </p:nvSpPr>
        <p:spPr>
          <a:xfrm xmlns:a="http://schemas.openxmlformats.org/drawingml/2006/main">
            <a:off x="9886950" y="2667000"/>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48" name="box-648-320">
            <a:extLst xmlns:a="http://schemas.openxmlformats.org/drawingml/2006/main">
              <a:ext uri="{FF2B5EF4-FFF2-40B4-BE49-F238E27FC236}">
                <a16:creationId xmlns:a16="http://schemas.microsoft.com/office/drawing/2014/main" id="{AD028D66-D323-4EF6-AC2F-6A5FBF2126A5}"/>
              </a:ext>
            </a:extLst>
          </p:cNvPr>
          <p:cNvSpPr>
            <a:spLocks xmlns:a="http://schemas.openxmlformats.org/drawingml/2006/main" noGrp="1"/>
          </p:cNvSpPr>
          <p:nvPr/>
        </p:nvSpPr>
        <p:spPr>
          <a:xfrm xmlns:a="http://schemas.openxmlformats.org/drawingml/2006/main">
            <a:off x="6172200" y="3048000"/>
            <a:ext cx="5334000" cy="581025"/>
          </a:xfrm>
          <a:prstGeom xmlns:a="http://schemas.openxmlformats.org/drawingml/2006/main" prst="roundRect">
            <a:avLst>
              <a:gd name="adj" fmla="val 13115"/>
            </a:avLst>
          </a:prstGeom>
          <a:solidFill xmlns:a="http://schemas.openxmlformats.org/drawingml/2006/main">
            <a:srgbClr val="F4F7FA"/>
          </a:solidFill>
          <a:ln xmlns:a="http://schemas.openxmlformats.org/drawingml/2006/main" w="9525">
            <a:solidFill>
              <a:srgbClr val="CBD8E3"/>
            </a:solidFill>
            <a:prstDash val="solid"/>
          </a:ln>
        </p:spPr>
      </p:sp>
      <p:sp>
        <p:nvSpPr>
          <p:cNvPr id="49" name="text-662-329-TECH-D03">
            <a:extLst xmlns:a="http://schemas.openxmlformats.org/drawingml/2006/main">
              <a:ext uri="{FF2B5EF4-FFF2-40B4-BE49-F238E27FC236}">
                <a16:creationId xmlns:a16="http://schemas.microsoft.com/office/drawing/2014/main" id="{803D1173-287E-40D7-9582-9B569ADF4BC8}"/>
              </a:ext>
            </a:extLst>
          </p:cNvPr>
          <p:cNvSpPr>
            <a:spLocks xmlns:a="http://schemas.openxmlformats.org/drawingml/2006/main" noGrp="1"/>
          </p:cNvSpPr>
          <p:nvPr/>
        </p:nvSpPr>
        <p:spPr>
          <a:xfrm xmlns:a="http://schemas.openxmlformats.org/drawingml/2006/main">
            <a:off x="6305550" y="3133725"/>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TECH-D03</a:t>
            </a:r>
          </a:p>
        </p:txBody>
      </p:sp>
      <p:sp>
        <p:nvSpPr>
          <p:cNvPr id="50" name="text-662-351-Technology Layer">
            <a:extLst xmlns:a="http://schemas.openxmlformats.org/drawingml/2006/main">
              <a:ext uri="{FF2B5EF4-FFF2-40B4-BE49-F238E27FC236}">
                <a16:creationId xmlns:a16="http://schemas.microsoft.com/office/drawing/2014/main" id="{8679CB6A-F8CF-4246-AEF1-570126FCFF37}"/>
              </a:ext>
            </a:extLst>
          </p:cNvPr>
          <p:cNvSpPr>
            <a:spLocks xmlns:a="http://schemas.openxmlformats.org/drawingml/2006/main" noGrp="1"/>
          </p:cNvSpPr>
          <p:nvPr/>
        </p:nvSpPr>
        <p:spPr>
          <a:xfrm xmlns:a="http://schemas.openxmlformats.org/drawingml/2006/main">
            <a:off x="6305550" y="3343275"/>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Technology Layer Mapping</a:t>
            </a:r>
          </a:p>
        </p:txBody>
      </p:sp>
      <p:sp>
        <p:nvSpPr>
          <p:cNvPr id="51" name="text-1072-329-Slide 13">
            <a:extLst xmlns:a="http://schemas.openxmlformats.org/drawingml/2006/main">
              <a:ext uri="{FF2B5EF4-FFF2-40B4-BE49-F238E27FC236}">
                <a16:creationId xmlns:a16="http://schemas.microsoft.com/office/drawing/2014/main" id="{5176F2F3-AC68-4A10-ACC3-5F35C7954E28}"/>
              </a:ext>
            </a:extLst>
          </p:cNvPr>
          <p:cNvSpPr>
            <a:spLocks xmlns:a="http://schemas.openxmlformats.org/drawingml/2006/main" noGrp="1"/>
          </p:cNvSpPr>
          <p:nvPr/>
        </p:nvSpPr>
        <p:spPr>
          <a:xfrm xmlns:a="http://schemas.openxmlformats.org/drawingml/2006/main">
            <a:off x="10210800" y="31337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13</a:t>
            </a:r>
          </a:p>
        </p:txBody>
      </p:sp>
      <p:sp>
        <p:nvSpPr>
          <p:cNvPr id="52" name="source-link-2-TECH-D03">
            <a:hlinkClick xmlns:a="http://schemas.openxmlformats.org/drawingml/2006/main" xmlns:r="http://schemas.openxmlformats.org/officeDocument/2006/relationships" r:id="rId9"/>
            <a:extLst xmlns:a="http://schemas.openxmlformats.org/drawingml/2006/main">
              <a:ext uri="{FF2B5EF4-FFF2-40B4-BE49-F238E27FC236}">
                <a16:creationId xmlns:a16="http://schemas.microsoft.com/office/drawing/2014/main" id="{E766DB9A-E31F-48DB-B04E-5B7A7C13E71F}"/>
              </a:ext>
            </a:extLst>
          </p:cNvPr>
          <p:cNvSpPr>
            <a:spLocks xmlns:a="http://schemas.openxmlformats.org/drawingml/2006/main" noGrp="1"/>
          </p:cNvSpPr>
          <p:nvPr/>
        </p:nvSpPr>
        <p:spPr>
          <a:xfrm xmlns:a="http://schemas.openxmlformats.org/drawingml/2006/main">
            <a:off x="9886950" y="3362325"/>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53" name="box-648-393">
            <a:extLst xmlns:a="http://schemas.openxmlformats.org/drawingml/2006/main">
              <a:ext uri="{FF2B5EF4-FFF2-40B4-BE49-F238E27FC236}">
                <a16:creationId xmlns:a16="http://schemas.microsoft.com/office/drawing/2014/main" id="{4D087E78-50D6-484D-8506-4A0134EE339E}"/>
              </a:ext>
            </a:extLst>
          </p:cNvPr>
          <p:cNvSpPr>
            <a:spLocks xmlns:a="http://schemas.openxmlformats.org/drawingml/2006/main" noGrp="1"/>
          </p:cNvSpPr>
          <p:nvPr/>
        </p:nvSpPr>
        <p:spPr>
          <a:xfrm xmlns:a="http://schemas.openxmlformats.org/drawingml/2006/main">
            <a:off x="6172200" y="3743325"/>
            <a:ext cx="5334000" cy="581025"/>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CBD8E3"/>
            </a:solidFill>
            <a:prstDash val="solid"/>
          </a:ln>
        </p:spPr>
      </p:sp>
      <p:sp>
        <p:nvSpPr>
          <p:cNvPr id="54" name="text-662-402-TECH-D08">
            <a:extLst xmlns:a="http://schemas.openxmlformats.org/drawingml/2006/main">
              <a:ext uri="{FF2B5EF4-FFF2-40B4-BE49-F238E27FC236}">
                <a16:creationId xmlns:a16="http://schemas.microsoft.com/office/drawing/2014/main" id="{FD532FC1-E1AC-4B2F-A529-18568E7FE49B}"/>
              </a:ext>
            </a:extLst>
          </p:cNvPr>
          <p:cNvSpPr>
            <a:spLocks xmlns:a="http://schemas.openxmlformats.org/drawingml/2006/main" noGrp="1"/>
          </p:cNvSpPr>
          <p:nvPr/>
        </p:nvSpPr>
        <p:spPr>
          <a:xfrm xmlns:a="http://schemas.openxmlformats.org/drawingml/2006/main">
            <a:off x="6305550" y="3829050"/>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TECH-D08</a:t>
            </a:r>
          </a:p>
        </p:txBody>
      </p:sp>
      <p:sp>
        <p:nvSpPr>
          <p:cNvPr id="55" name="text-662-424-Decision and Reo">
            <a:extLst xmlns:a="http://schemas.openxmlformats.org/drawingml/2006/main">
              <a:ext uri="{FF2B5EF4-FFF2-40B4-BE49-F238E27FC236}">
                <a16:creationId xmlns:a16="http://schemas.microsoft.com/office/drawing/2014/main" id="{54A2F29C-7ABB-4DFA-9540-1E15489644FC}"/>
              </a:ext>
            </a:extLst>
          </p:cNvPr>
          <p:cNvSpPr>
            <a:spLocks xmlns:a="http://schemas.openxmlformats.org/drawingml/2006/main" noGrp="1"/>
          </p:cNvSpPr>
          <p:nvPr/>
        </p:nvSpPr>
        <p:spPr>
          <a:xfrm xmlns:a="http://schemas.openxmlformats.org/drawingml/2006/main">
            <a:off x="6305550" y="4038600"/>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Decision and Reopen Map</a:t>
            </a:r>
          </a:p>
        </p:txBody>
      </p:sp>
      <p:sp>
        <p:nvSpPr>
          <p:cNvPr id="56" name="text-1072-402-Slide 14">
            <a:extLst xmlns:a="http://schemas.openxmlformats.org/drawingml/2006/main">
              <a:ext uri="{FF2B5EF4-FFF2-40B4-BE49-F238E27FC236}">
                <a16:creationId xmlns:a16="http://schemas.microsoft.com/office/drawing/2014/main" id="{695B3329-8B6C-4F30-A365-2ABE0DD4CBBB}"/>
              </a:ext>
            </a:extLst>
          </p:cNvPr>
          <p:cNvSpPr>
            <a:spLocks xmlns:a="http://schemas.openxmlformats.org/drawingml/2006/main" noGrp="1"/>
          </p:cNvSpPr>
          <p:nvPr/>
        </p:nvSpPr>
        <p:spPr>
          <a:xfrm xmlns:a="http://schemas.openxmlformats.org/drawingml/2006/main">
            <a:off x="10210800" y="38290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14</a:t>
            </a:r>
          </a:p>
        </p:txBody>
      </p:sp>
      <p:sp>
        <p:nvSpPr>
          <p:cNvPr id="57" name="source-link-2-TECH-D08">
            <a:hlinkClick xmlns:a="http://schemas.openxmlformats.org/drawingml/2006/main" xmlns:r="http://schemas.openxmlformats.org/officeDocument/2006/relationships" r:id="rId10"/>
            <a:extLst xmlns:a="http://schemas.openxmlformats.org/drawingml/2006/main">
              <a:ext uri="{FF2B5EF4-FFF2-40B4-BE49-F238E27FC236}">
                <a16:creationId xmlns:a16="http://schemas.microsoft.com/office/drawing/2014/main" id="{8EE63DC6-C067-4E15-B12A-19F9E1492034}"/>
              </a:ext>
            </a:extLst>
          </p:cNvPr>
          <p:cNvSpPr>
            <a:spLocks xmlns:a="http://schemas.openxmlformats.org/drawingml/2006/main" noGrp="1"/>
          </p:cNvSpPr>
          <p:nvPr/>
        </p:nvSpPr>
        <p:spPr>
          <a:xfrm xmlns:a="http://schemas.openxmlformats.org/drawingml/2006/main">
            <a:off x="9886950" y="4057650"/>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58" name="box-648-466">
            <a:extLst xmlns:a="http://schemas.openxmlformats.org/drawingml/2006/main">
              <a:ext uri="{FF2B5EF4-FFF2-40B4-BE49-F238E27FC236}">
                <a16:creationId xmlns:a16="http://schemas.microsoft.com/office/drawing/2014/main" id="{B147FD07-34AF-475C-AEA9-DCCAAD338E2E}"/>
              </a:ext>
            </a:extLst>
          </p:cNvPr>
          <p:cNvSpPr>
            <a:spLocks xmlns:a="http://schemas.openxmlformats.org/drawingml/2006/main" noGrp="1"/>
          </p:cNvSpPr>
          <p:nvPr/>
        </p:nvSpPr>
        <p:spPr>
          <a:xfrm xmlns:a="http://schemas.openxmlformats.org/drawingml/2006/main">
            <a:off x="6172200" y="4438650"/>
            <a:ext cx="5334000" cy="581025"/>
          </a:xfrm>
          <a:prstGeom xmlns:a="http://schemas.openxmlformats.org/drawingml/2006/main" prst="roundRect">
            <a:avLst>
              <a:gd name="adj" fmla="val 13115"/>
            </a:avLst>
          </a:prstGeom>
          <a:solidFill xmlns:a="http://schemas.openxmlformats.org/drawingml/2006/main">
            <a:srgbClr val="F4F7FA"/>
          </a:solidFill>
          <a:ln xmlns:a="http://schemas.openxmlformats.org/drawingml/2006/main" w="9525">
            <a:solidFill>
              <a:srgbClr val="CBD8E3"/>
            </a:solidFill>
            <a:prstDash val="solid"/>
          </a:ln>
        </p:spPr>
      </p:sp>
      <p:sp>
        <p:nvSpPr>
          <p:cNvPr id="59" name="text-662-475-TECH-D04">
            <a:extLst xmlns:a="http://schemas.openxmlformats.org/drawingml/2006/main">
              <a:ext uri="{FF2B5EF4-FFF2-40B4-BE49-F238E27FC236}">
                <a16:creationId xmlns:a16="http://schemas.microsoft.com/office/drawing/2014/main" id="{4059B185-1F5B-4DDE-A4A4-C274BCA3F422}"/>
              </a:ext>
            </a:extLst>
          </p:cNvPr>
          <p:cNvSpPr>
            <a:spLocks xmlns:a="http://schemas.openxmlformats.org/drawingml/2006/main" noGrp="1"/>
          </p:cNvSpPr>
          <p:nvPr/>
        </p:nvSpPr>
        <p:spPr>
          <a:xfrm xmlns:a="http://schemas.openxmlformats.org/drawingml/2006/main">
            <a:off x="6305550" y="4524375"/>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TECH-D04</a:t>
            </a:r>
          </a:p>
        </p:txBody>
      </p:sp>
      <p:sp>
        <p:nvSpPr>
          <p:cNvPr id="60" name="text-662-497-Runtime and Prot">
            <a:extLst xmlns:a="http://schemas.openxmlformats.org/drawingml/2006/main">
              <a:ext uri="{FF2B5EF4-FFF2-40B4-BE49-F238E27FC236}">
                <a16:creationId xmlns:a16="http://schemas.microsoft.com/office/drawing/2014/main" id="{6B93EBE7-6DE5-45D4-A3C0-9DEED3A6E665}"/>
              </a:ext>
            </a:extLst>
          </p:cNvPr>
          <p:cNvSpPr>
            <a:spLocks xmlns:a="http://schemas.openxmlformats.org/drawingml/2006/main" noGrp="1"/>
          </p:cNvSpPr>
          <p:nvPr/>
        </p:nvSpPr>
        <p:spPr>
          <a:xfrm xmlns:a="http://schemas.openxmlformats.org/drawingml/2006/main">
            <a:off x="6305550" y="4733925"/>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Runtime and Protocol View</a:t>
            </a:r>
          </a:p>
        </p:txBody>
      </p:sp>
      <p:sp>
        <p:nvSpPr>
          <p:cNvPr id="61" name="text-1072-475-Slide 17">
            <a:extLst xmlns:a="http://schemas.openxmlformats.org/drawingml/2006/main">
              <a:ext uri="{FF2B5EF4-FFF2-40B4-BE49-F238E27FC236}">
                <a16:creationId xmlns:a16="http://schemas.microsoft.com/office/drawing/2014/main" id="{9A9E8051-50D5-48D7-8347-CAD9ECFBE206}"/>
              </a:ext>
            </a:extLst>
          </p:cNvPr>
          <p:cNvSpPr>
            <a:spLocks xmlns:a="http://schemas.openxmlformats.org/drawingml/2006/main" noGrp="1"/>
          </p:cNvSpPr>
          <p:nvPr/>
        </p:nvSpPr>
        <p:spPr>
          <a:xfrm xmlns:a="http://schemas.openxmlformats.org/drawingml/2006/main">
            <a:off x="10210800" y="45243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17</a:t>
            </a:r>
          </a:p>
        </p:txBody>
      </p:sp>
      <p:sp>
        <p:nvSpPr>
          <p:cNvPr id="62" name="source-link-2-TECH-D04">
            <a:hlinkClick xmlns:a="http://schemas.openxmlformats.org/drawingml/2006/main" xmlns:r="http://schemas.openxmlformats.org/officeDocument/2006/relationships" r:id="rId11"/>
            <a:extLst xmlns:a="http://schemas.openxmlformats.org/drawingml/2006/main">
              <a:ext uri="{FF2B5EF4-FFF2-40B4-BE49-F238E27FC236}">
                <a16:creationId xmlns:a16="http://schemas.microsoft.com/office/drawing/2014/main" id="{F3D00D63-52E9-4458-8302-875150343A73}"/>
              </a:ext>
            </a:extLst>
          </p:cNvPr>
          <p:cNvSpPr>
            <a:spLocks xmlns:a="http://schemas.openxmlformats.org/drawingml/2006/main" noGrp="1"/>
          </p:cNvSpPr>
          <p:nvPr/>
        </p:nvSpPr>
        <p:spPr>
          <a:xfrm xmlns:a="http://schemas.openxmlformats.org/drawingml/2006/main">
            <a:off x="9886950" y="4752975"/>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63" name="box-648-539">
            <a:extLst xmlns:a="http://schemas.openxmlformats.org/drawingml/2006/main">
              <a:ext uri="{FF2B5EF4-FFF2-40B4-BE49-F238E27FC236}">
                <a16:creationId xmlns:a16="http://schemas.microsoft.com/office/drawing/2014/main" id="{AEE7C440-A6F9-4D72-A56A-C520B801A2EE}"/>
              </a:ext>
            </a:extLst>
          </p:cNvPr>
          <p:cNvSpPr>
            <a:spLocks xmlns:a="http://schemas.openxmlformats.org/drawingml/2006/main" noGrp="1"/>
          </p:cNvSpPr>
          <p:nvPr/>
        </p:nvSpPr>
        <p:spPr>
          <a:xfrm xmlns:a="http://schemas.openxmlformats.org/drawingml/2006/main">
            <a:off x="6172200" y="5133975"/>
            <a:ext cx="5334000" cy="581025"/>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CBD8E3"/>
            </a:solidFill>
            <a:prstDash val="solid"/>
          </a:ln>
        </p:spPr>
      </p:sp>
      <p:sp>
        <p:nvSpPr>
          <p:cNvPr id="64" name="text-662-548-TECH-D05">
            <a:extLst xmlns:a="http://schemas.openxmlformats.org/drawingml/2006/main">
              <a:ext uri="{FF2B5EF4-FFF2-40B4-BE49-F238E27FC236}">
                <a16:creationId xmlns:a16="http://schemas.microsoft.com/office/drawing/2014/main" id="{343BC262-9AD9-4A19-B5FE-97DD0C084143}"/>
              </a:ext>
            </a:extLst>
          </p:cNvPr>
          <p:cNvSpPr>
            <a:spLocks xmlns:a="http://schemas.openxmlformats.org/drawingml/2006/main" noGrp="1"/>
          </p:cNvSpPr>
          <p:nvPr/>
        </p:nvSpPr>
        <p:spPr>
          <a:xfrm xmlns:a="http://schemas.openxmlformats.org/drawingml/2006/main">
            <a:off x="6305550" y="5219700"/>
            <a:ext cx="1866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02744"/>
                </a:solidFill>
                <a:latin typeface="Arial"/>
                <a:ea typeface="Arial"/>
                <a:cs typeface="Arial"/>
              </a:defRPr>
            </a:pPr>
            <a:r>
              <a:rPr sz="975" b="1">
                <a:solidFill>
                  <a:srgbClr val="102744"/>
                </a:solidFill>
                <a:latin typeface="Arial"/>
                <a:ea typeface="Arial"/>
                <a:cs typeface="Arial"/>
              </a:rPr>
              <a:t>TECH-D05</a:t>
            </a:r>
          </a:p>
        </p:txBody>
      </p:sp>
      <p:sp>
        <p:nvSpPr>
          <p:cNvPr id="65" name="text-662-570-Deployment View">
            <a:extLst xmlns:a="http://schemas.openxmlformats.org/drawingml/2006/main">
              <a:ext uri="{FF2B5EF4-FFF2-40B4-BE49-F238E27FC236}">
                <a16:creationId xmlns:a16="http://schemas.microsoft.com/office/drawing/2014/main" id="{8894680C-41E7-404C-90AD-311C69553444}"/>
              </a:ext>
            </a:extLst>
          </p:cNvPr>
          <p:cNvSpPr>
            <a:spLocks xmlns:a="http://schemas.openxmlformats.org/drawingml/2006/main" noGrp="1"/>
          </p:cNvSpPr>
          <p:nvPr/>
        </p:nvSpPr>
        <p:spPr>
          <a:xfrm xmlns:a="http://schemas.openxmlformats.org/drawingml/2006/main">
            <a:off x="6305550" y="5429250"/>
            <a:ext cx="3714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4B6075"/>
                </a:solidFill>
                <a:latin typeface="Arial"/>
                <a:ea typeface="Arial"/>
                <a:cs typeface="Arial"/>
              </a:defRPr>
            </a:pPr>
            <a:r>
              <a:rPr sz="975" b="0">
                <a:solidFill>
                  <a:srgbClr val="4B6075"/>
                </a:solidFill>
                <a:latin typeface="Arial"/>
                <a:ea typeface="Arial"/>
                <a:cs typeface="Arial"/>
              </a:rPr>
              <a:t>Deployment View</a:t>
            </a:r>
          </a:p>
        </p:txBody>
      </p:sp>
      <p:sp>
        <p:nvSpPr>
          <p:cNvPr id="66" name="text-1072-548-Slide 18">
            <a:extLst xmlns:a="http://schemas.openxmlformats.org/drawingml/2006/main">
              <a:ext uri="{FF2B5EF4-FFF2-40B4-BE49-F238E27FC236}">
                <a16:creationId xmlns:a16="http://schemas.microsoft.com/office/drawing/2014/main" id="{98B88BF7-E1CF-4706-BB0F-04C833B1F657}"/>
              </a:ext>
            </a:extLst>
          </p:cNvPr>
          <p:cNvSpPr>
            <a:spLocks xmlns:a="http://schemas.openxmlformats.org/drawingml/2006/main" noGrp="1"/>
          </p:cNvSpPr>
          <p:nvPr/>
        </p:nvSpPr>
        <p:spPr>
          <a:xfrm xmlns:a="http://schemas.openxmlformats.org/drawingml/2006/main">
            <a:off x="10210800" y="5219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7890A6"/>
                </a:solidFill>
                <a:latin typeface="Arial"/>
                <a:ea typeface="Arial"/>
                <a:cs typeface="Arial"/>
              </a:defRPr>
            </a:pPr>
            <a:r>
              <a:rPr sz="863" b="1">
                <a:solidFill>
                  <a:srgbClr val="7890A6"/>
                </a:solidFill>
                <a:latin typeface="Arial"/>
                <a:ea typeface="Arial"/>
                <a:cs typeface="Arial"/>
              </a:rPr>
              <a:t>Slide 18</a:t>
            </a:r>
          </a:p>
        </p:txBody>
      </p:sp>
      <p:sp>
        <p:nvSpPr>
          <p:cNvPr id="67" name="source-link-2-TECH-D05">
            <a:hlinkClick xmlns:a="http://schemas.openxmlformats.org/drawingml/2006/main" xmlns:r="http://schemas.openxmlformats.org/officeDocument/2006/relationships" r:id="rId12"/>
            <a:extLst xmlns:a="http://schemas.openxmlformats.org/drawingml/2006/main">
              <a:ext uri="{FF2B5EF4-FFF2-40B4-BE49-F238E27FC236}">
                <a16:creationId xmlns:a16="http://schemas.microsoft.com/office/drawing/2014/main" id="{7B53F020-3160-4A24-A43D-E6F75439C112}"/>
              </a:ext>
            </a:extLst>
          </p:cNvPr>
          <p:cNvSpPr>
            <a:spLocks xmlns:a="http://schemas.openxmlformats.org/drawingml/2006/main" noGrp="1"/>
          </p:cNvSpPr>
          <p:nvPr/>
        </p:nvSpPr>
        <p:spPr>
          <a:xfrm xmlns:a="http://schemas.openxmlformats.org/drawingml/2006/main">
            <a:off x="9886950" y="5448300"/>
            <a:ext cx="1466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63" b="1">
                <a:solidFill>
                  <a:srgbClr val="2169A8"/>
                </a:solidFill>
                <a:latin typeface="Arial"/>
                <a:ea typeface="Arial"/>
                <a:cs typeface="Arial"/>
              </a:defRPr>
            </a:pPr>
            <a:r>
              <a:rPr sz="863" b="1">
                <a:solidFill>
                  <a:srgbClr val="2169A8"/>
                </a:solidFill>
                <a:latin typeface="Arial"/>
                <a:ea typeface="Arial"/>
                <a:cs typeface="Arial"/>
              </a:rPr>
              <a:t>Mở controlled view ↗</a:t>
            </a:r>
          </a:p>
        </p:txBody>
      </p:sp>
      <p:sp>
        <p:nvSpPr>
          <p:cNvPr id="68" name="box-326-630">
            <a:extLst xmlns:a="http://schemas.openxmlformats.org/drawingml/2006/main">
              <a:ext uri="{FF2B5EF4-FFF2-40B4-BE49-F238E27FC236}">
                <a16:creationId xmlns:a16="http://schemas.microsoft.com/office/drawing/2014/main" id="{45A58920-4F65-4941-8496-DBF1ACD1F839}"/>
              </a:ext>
            </a:extLst>
          </p:cNvPr>
          <p:cNvSpPr>
            <a:spLocks xmlns:a="http://schemas.openxmlformats.org/drawingml/2006/main" noGrp="1"/>
          </p:cNvSpPr>
          <p:nvPr/>
        </p:nvSpPr>
        <p:spPr>
          <a:xfrm xmlns:a="http://schemas.openxmlformats.org/drawingml/2006/main">
            <a:off x="3105150" y="6000750"/>
            <a:ext cx="5981700" cy="323850"/>
          </a:xfrm>
          <a:prstGeom xmlns:a="http://schemas.openxmlformats.org/drawingml/2006/main" prst="roundRect">
            <a:avLst>
              <a:gd name="adj" fmla="val 23529"/>
            </a:avLst>
          </a:prstGeom>
          <a:solidFill xmlns:a="http://schemas.openxmlformats.org/drawingml/2006/main">
            <a:srgbClr val="102744"/>
          </a:solidFill>
          <a:ln xmlns:a="http://schemas.openxmlformats.org/drawingml/2006/main" w="762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12 view được dùng · 26 view giữ lại trong controlled package để tra cứu chuyên sâu</a:t>
            </a:r>
          </a:p>
        </p:txBody>
      </p:sp>
    </p:spTree>
    <p:extLst>
      <p:ext uri="{BB962C8B-B14F-4D97-AF65-F5344CB8AC3E}">
        <p14:creationId xmlns:p14="http://schemas.microsoft.com/office/powerpoint/2010/main" val="11149402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box-0-0">
            <a:extLst xmlns:a="http://schemas.openxmlformats.org/drawingml/2006/main">
              <a:ext uri="{FF2B5EF4-FFF2-40B4-BE49-F238E27FC236}">
                <a16:creationId xmlns:a16="http://schemas.microsoft.com/office/drawing/2014/main" id="{09734478-C917-4771-801C-2C428CF3B3C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8FC2"/>
          </a:solidFill>
          <a:ln xmlns:a="http://schemas.openxmlformats.org/drawingml/2006/main" w="0">
            <a:noFill/>
            <a:prstDash val="solid"/>
          </a:ln>
        </p:spPr>
      </p:sp>
      <p:sp>
        <p:nvSpPr>
          <p:cNvPr id="2" name="text-54-28-FEATURE">
            <a:extLst xmlns:a="http://schemas.openxmlformats.org/drawingml/2006/main">
              <a:ext uri="{FF2B5EF4-FFF2-40B4-BE49-F238E27FC236}">
                <a16:creationId xmlns:a16="http://schemas.microsoft.com/office/drawing/2014/main" id="{526C54EB-2437-49DC-9851-3187673533D0}"/>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F8FC2"/>
                </a:solidFill>
                <a:latin typeface="Arial"/>
                <a:ea typeface="Arial"/>
                <a:cs typeface="Arial"/>
              </a:defRPr>
            </a:pPr>
            <a:r>
              <a:rPr sz="1050" b="1">
                <a:solidFill>
                  <a:srgbClr val="2F8FC2"/>
                </a:solidFill>
                <a:latin typeface="Arial"/>
                <a:ea typeface="Arial"/>
                <a:cs typeface="Arial"/>
              </a:rPr>
              <a:t>FEATURE</a:t>
            </a:r>
          </a:p>
        </p:txBody>
      </p:sp>
      <p:sp>
        <p:nvSpPr>
          <p:cNvPr id="3" name="text-54-56-Feature — Core v">
            <a:extLst xmlns:a="http://schemas.openxmlformats.org/drawingml/2006/main">
              <a:ext uri="{FF2B5EF4-FFF2-40B4-BE49-F238E27FC236}">
                <a16:creationId xmlns:a16="http://schemas.microsoft.com/office/drawing/2014/main" id="{742FD472-4C64-44AC-A07B-FB3E1C780266}"/>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Feature — Core v0 cung cấp những năng lực gì?</a:t>
            </a:r>
          </a:p>
        </p:txBody>
      </p:sp>
      <p:sp>
        <p:nvSpPr>
          <p:cNvPr id="4" name="line-54-116">
            <a:extLst xmlns:a="http://schemas.openxmlformats.org/drawingml/2006/main">
              <a:ext uri="{FF2B5EF4-FFF2-40B4-BE49-F238E27FC236}">
                <a16:creationId xmlns:a16="http://schemas.microsoft.com/office/drawing/2014/main" id="{7B7FE34B-6A68-474E-BDA9-AA0EF4A4DF0D}"/>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1@0">
            <a:extLst xmlns:a="http://schemas.openxmlformats.org/drawingml/2006/main">
              <a:ext uri="{FF2B5EF4-FFF2-40B4-BE49-F238E27FC236}">
                <a16:creationId xmlns:a16="http://schemas.microsoft.com/office/drawing/2014/main" id="{7C885280-5028-45E4-92F0-2F521EEE24B1}"/>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DOC-01@0.6 · DOC-03@0.7 · FEATURE-001@0.12</a:t>
            </a:r>
          </a:p>
        </p:txBody>
      </p:sp>
      <p:sp>
        <p:nvSpPr>
          <p:cNvPr id="6" name="text-1170-680-03">
            <a:extLst xmlns:a="http://schemas.openxmlformats.org/drawingml/2006/main">
              <a:ext uri="{FF2B5EF4-FFF2-40B4-BE49-F238E27FC236}">
                <a16:creationId xmlns:a16="http://schemas.microsoft.com/office/drawing/2014/main" id="{C39AAACD-6B76-4CAC-8E71-51F764C8C788}"/>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03</a:t>
            </a:r>
          </a:p>
        </p:txBody>
      </p:sp>
      <p:sp>
        <p:nvSpPr>
          <p:cNvPr id="7" name="diagram-meta-3">
            <a:extLst xmlns:a="http://schemas.openxmlformats.org/drawingml/2006/main">
              <a:ext uri="{FF2B5EF4-FFF2-40B4-BE49-F238E27FC236}">
                <a16:creationId xmlns:a16="http://schemas.microsoft.com/office/drawing/2014/main" id="{270F7CB5-D19C-42E4-8C8F-F0BA9F459065}"/>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3">
            <a:extLst xmlns:a="http://schemas.openxmlformats.org/drawingml/2006/main">
              <a:ext uri="{FF2B5EF4-FFF2-40B4-BE49-F238E27FC236}">
                <a16:creationId xmlns:a16="http://schemas.microsoft.com/office/drawing/2014/main" id="{E13475D7-F186-4E77-BC75-9E0BB6C180D7}"/>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Presentation synthesis</a:t>
            </a:r>
          </a:p>
        </p:txBody>
      </p:sp>
      <p:sp>
        <p:nvSpPr>
          <p:cNvPr id="9" name="diagram-source-3">
            <a:extLst xmlns:a="http://schemas.openxmlformats.org/drawingml/2006/main">
              <a:ext uri="{FF2B5EF4-FFF2-40B4-BE49-F238E27FC236}">
                <a16:creationId xmlns:a16="http://schemas.microsoft.com/office/drawing/2014/main" id="{7383FDB6-8A93-47A1-8A82-CE473FEBCD4D}"/>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FEATURE-001 + DOC-03</a:t>
            </a:r>
          </a:p>
        </p:txBody>
      </p:sp>
      <p:sp>
        <p:nvSpPr>
          <p:cNvPr id="10" name="diagram-why-3">
            <a:extLst xmlns:a="http://schemas.openxmlformats.org/drawingml/2006/main">
              <a:ext uri="{FF2B5EF4-FFF2-40B4-BE49-F238E27FC236}">
                <a16:creationId xmlns:a16="http://schemas.microsoft.com/office/drawing/2014/main" id="{9079CCBF-B614-44C6-B258-B7A8AE8A8700}"/>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Tóm tắt 14 nhóm năng lực</a:t>
            </a:r>
          </a:p>
        </p:txBody>
      </p:sp>
      <p:sp>
        <p:nvSpPr>
          <p:cNvPr id="11" name="box-493-258">
            <a:extLst xmlns:a="http://schemas.openxmlformats.org/drawingml/2006/main">
              <a:ext uri="{FF2B5EF4-FFF2-40B4-BE49-F238E27FC236}">
                <a16:creationId xmlns:a16="http://schemas.microsoft.com/office/drawing/2014/main" id="{3DFE7299-9243-45A5-AE6A-25A9571C0871}"/>
              </a:ext>
            </a:extLst>
          </p:cNvPr>
          <p:cNvSpPr>
            <a:spLocks xmlns:a="http://schemas.openxmlformats.org/drawingml/2006/main" noGrp="1"/>
          </p:cNvSpPr>
          <p:nvPr/>
        </p:nvSpPr>
        <p:spPr>
          <a:xfrm xmlns:a="http://schemas.openxmlformats.org/drawingml/2006/main">
            <a:off x="4695825" y="2457450"/>
            <a:ext cx="2800350" cy="1562100"/>
          </a:xfrm>
          <a:prstGeom xmlns:a="http://schemas.openxmlformats.org/drawingml/2006/main" prst="roundRect">
            <a:avLst>
              <a:gd name="adj" fmla="val 4878"/>
            </a:avLst>
          </a:prstGeom>
          <a:solidFill xmlns:a="http://schemas.openxmlformats.org/drawingml/2006/main">
            <a:srgbClr val="102744"/>
          </a:solidFill>
          <a:ln xmlns:a="http://schemas.openxmlformats.org/drawingml/2006/main" w="1143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IDEA ENGINEERING</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CORE v0</a:t>
            </a:r>
          </a:p>
        </p:txBody>
      </p:sp>
      <p:sp>
        <p:nvSpPr>
          <p:cNvPr id="12" name="box-74-160">
            <a:extLst xmlns:a="http://schemas.openxmlformats.org/drawingml/2006/main">
              <a:ext uri="{FF2B5EF4-FFF2-40B4-BE49-F238E27FC236}">
                <a16:creationId xmlns:a16="http://schemas.microsoft.com/office/drawing/2014/main" id="{3C778B79-55B0-4CBA-B020-59BF01CDDC6F}"/>
              </a:ext>
            </a:extLst>
          </p:cNvPr>
          <p:cNvSpPr>
            <a:spLocks xmlns:a="http://schemas.openxmlformats.org/drawingml/2006/main" noGrp="1"/>
          </p:cNvSpPr>
          <p:nvPr/>
        </p:nvSpPr>
        <p:spPr>
          <a:xfrm xmlns:a="http://schemas.openxmlformats.org/drawingml/2006/main">
            <a:off x="704850" y="1524000"/>
            <a:ext cx="2914650" cy="1219200"/>
          </a:xfrm>
          <a:prstGeom xmlns:a="http://schemas.openxmlformats.org/drawingml/2006/main" prst="roundRect">
            <a:avLst>
              <a:gd name="adj" fmla="val 6250"/>
            </a:avLst>
          </a:prstGeom>
          <a:solidFill xmlns:a="http://schemas.openxmlformats.org/drawingml/2006/main">
            <a:srgbClr val="EAF3F9"/>
          </a:solidFill>
          <a:ln xmlns:a="http://schemas.openxmlformats.org/drawingml/2006/main" w="14288">
            <a:solidFill>
              <a:srgbClr val="2169A8"/>
            </a:solidFill>
            <a:prstDash val="solid"/>
          </a:ln>
        </p:spPr>
      </p:sp>
      <p:sp>
        <p:nvSpPr>
          <p:cNvPr id="13" name="text-90-176-Controlled Produ">
            <a:extLst xmlns:a="http://schemas.openxmlformats.org/drawingml/2006/main">
              <a:ext uri="{FF2B5EF4-FFF2-40B4-BE49-F238E27FC236}">
                <a16:creationId xmlns:a16="http://schemas.microsoft.com/office/drawing/2014/main" id="{EE20ACEC-5E8F-483E-AB91-07AD9308323E}"/>
              </a:ext>
            </a:extLst>
          </p:cNvPr>
          <p:cNvSpPr>
            <a:spLocks xmlns:a="http://schemas.openxmlformats.org/drawingml/2006/main" noGrp="1"/>
          </p:cNvSpPr>
          <p:nvPr/>
        </p:nvSpPr>
        <p:spPr>
          <a:xfrm xmlns:a="http://schemas.openxmlformats.org/drawingml/2006/main">
            <a:off x="857250" y="1676400"/>
            <a:ext cx="2609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Controlled Product Data</a:t>
            </a:r>
          </a:p>
        </p:txBody>
      </p:sp>
      <p:sp>
        <p:nvSpPr>
          <p:cNvPr id="14" name="text-92-218-Identity · Revis">
            <a:extLst xmlns:a="http://schemas.openxmlformats.org/drawingml/2006/main">
              <a:ext uri="{FF2B5EF4-FFF2-40B4-BE49-F238E27FC236}">
                <a16:creationId xmlns:a16="http://schemas.microsoft.com/office/drawing/2014/main" id="{E3F81B25-A2D3-4CC6-876D-B91ABFE35EEE}"/>
              </a:ext>
            </a:extLst>
          </p:cNvPr>
          <p:cNvSpPr>
            <a:spLocks xmlns:a="http://schemas.openxmlformats.org/drawingml/2006/main" noGrp="1"/>
          </p:cNvSpPr>
          <p:nvPr/>
        </p:nvSpPr>
        <p:spPr>
          <a:xfrm xmlns:a="http://schemas.openxmlformats.org/drawingml/2006/main">
            <a:off x="876300" y="20764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Identity · Revision · Version</a:t>
            </a:r>
          </a:p>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Generation · Metadata · History</a:t>
            </a:r>
          </a:p>
        </p:txBody>
      </p:sp>
      <p:sp>
        <p:nvSpPr>
          <p:cNvPr id="15" name="box-74-444">
            <a:extLst xmlns:a="http://schemas.openxmlformats.org/drawingml/2006/main">
              <a:ext uri="{FF2B5EF4-FFF2-40B4-BE49-F238E27FC236}">
                <a16:creationId xmlns:a16="http://schemas.microsoft.com/office/drawing/2014/main" id="{72D077D5-30FA-48C8-8CCD-5884389E9944}"/>
              </a:ext>
            </a:extLst>
          </p:cNvPr>
          <p:cNvSpPr>
            <a:spLocks xmlns:a="http://schemas.openxmlformats.org/drawingml/2006/main" noGrp="1"/>
          </p:cNvSpPr>
          <p:nvPr/>
        </p:nvSpPr>
        <p:spPr>
          <a:xfrm xmlns:a="http://schemas.openxmlformats.org/drawingml/2006/main">
            <a:off x="704850" y="4229100"/>
            <a:ext cx="2914650" cy="1219200"/>
          </a:xfrm>
          <a:prstGeom xmlns:a="http://schemas.openxmlformats.org/drawingml/2006/main" prst="roundRect">
            <a:avLst>
              <a:gd name="adj" fmla="val 6250"/>
            </a:avLst>
          </a:prstGeom>
          <a:solidFill xmlns:a="http://schemas.openxmlformats.org/drawingml/2006/main">
            <a:srgbClr val="E8F7F9"/>
          </a:solidFill>
          <a:ln xmlns:a="http://schemas.openxmlformats.org/drawingml/2006/main" w="14288">
            <a:solidFill>
              <a:srgbClr val="2F8FC2"/>
            </a:solidFill>
            <a:prstDash val="solid"/>
          </a:ln>
        </p:spPr>
      </p:sp>
      <p:sp>
        <p:nvSpPr>
          <p:cNvPr id="16" name="text-90-460-Engineering Work">
            <a:extLst xmlns:a="http://schemas.openxmlformats.org/drawingml/2006/main">
              <a:ext uri="{FF2B5EF4-FFF2-40B4-BE49-F238E27FC236}">
                <a16:creationId xmlns:a16="http://schemas.microsoft.com/office/drawing/2014/main" id="{ECBAFBF2-AE2A-4FD9-9D59-3CD9DE35238D}"/>
              </a:ext>
            </a:extLst>
          </p:cNvPr>
          <p:cNvSpPr>
            <a:spLocks xmlns:a="http://schemas.openxmlformats.org/drawingml/2006/main" noGrp="1"/>
          </p:cNvSpPr>
          <p:nvPr/>
        </p:nvSpPr>
        <p:spPr>
          <a:xfrm xmlns:a="http://schemas.openxmlformats.org/drawingml/2006/main">
            <a:off x="857250" y="4381500"/>
            <a:ext cx="2609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Engineering Workspace</a:t>
            </a:r>
          </a:p>
        </p:txBody>
      </p:sp>
      <p:sp>
        <p:nvSpPr>
          <p:cNvPr id="17" name="text-92-502-Checkout · Refer">
            <a:extLst xmlns:a="http://schemas.openxmlformats.org/drawingml/2006/main">
              <a:ext uri="{FF2B5EF4-FFF2-40B4-BE49-F238E27FC236}">
                <a16:creationId xmlns:a16="http://schemas.microsoft.com/office/drawing/2014/main" id="{1BECAA9D-D5FE-4C20-9433-A7A7CBEDB5A3}"/>
              </a:ext>
            </a:extLst>
          </p:cNvPr>
          <p:cNvSpPr>
            <a:spLocks xmlns:a="http://schemas.openxmlformats.org/drawingml/2006/main" noGrp="1"/>
          </p:cNvSpPr>
          <p:nvPr/>
        </p:nvSpPr>
        <p:spPr>
          <a:xfrm xmlns:a="http://schemas.openxmlformats.org/drawingml/2006/main">
            <a:off x="876300" y="47815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Checkout · Reference · Workspace</a:t>
            </a:r>
          </a:p>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Check-in · Conflict recovery</a:t>
            </a:r>
          </a:p>
        </p:txBody>
      </p:sp>
      <p:sp>
        <p:nvSpPr>
          <p:cNvPr id="18" name="box-900-160">
            <a:extLst xmlns:a="http://schemas.openxmlformats.org/drawingml/2006/main">
              <a:ext uri="{FF2B5EF4-FFF2-40B4-BE49-F238E27FC236}">
                <a16:creationId xmlns:a16="http://schemas.microsoft.com/office/drawing/2014/main" id="{BDAFE1EB-47B9-4995-A4F2-5DB88EECEF34}"/>
              </a:ext>
            </a:extLst>
          </p:cNvPr>
          <p:cNvSpPr>
            <a:spLocks xmlns:a="http://schemas.openxmlformats.org/drawingml/2006/main" noGrp="1"/>
          </p:cNvSpPr>
          <p:nvPr/>
        </p:nvSpPr>
        <p:spPr>
          <a:xfrm xmlns:a="http://schemas.openxmlformats.org/drawingml/2006/main">
            <a:off x="8572500" y="1524000"/>
            <a:ext cx="2914650" cy="1219200"/>
          </a:xfrm>
          <a:prstGeom xmlns:a="http://schemas.openxmlformats.org/drawingml/2006/main" prst="roundRect">
            <a:avLst>
              <a:gd name="adj" fmla="val 6250"/>
            </a:avLst>
          </a:prstGeom>
          <a:solidFill xmlns:a="http://schemas.openxmlformats.org/drawingml/2006/main">
            <a:srgbClr val="FFF4DD"/>
          </a:solidFill>
          <a:ln xmlns:a="http://schemas.openxmlformats.org/drawingml/2006/main" w="14288">
            <a:solidFill>
              <a:srgbClr val="C58A1E"/>
            </a:solidFill>
            <a:prstDash val="solid"/>
          </a:ln>
        </p:spPr>
      </p:sp>
      <p:sp>
        <p:nvSpPr>
          <p:cNvPr id="19" name="text-916-176-Product Structur">
            <a:extLst xmlns:a="http://schemas.openxmlformats.org/drawingml/2006/main">
              <a:ext uri="{FF2B5EF4-FFF2-40B4-BE49-F238E27FC236}">
                <a16:creationId xmlns:a16="http://schemas.microsoft.com/office/drawing/2014/main" id="{27D15651-B5CB-4BF0-84D5-FA7C8EC0D4FE}"/>
              </a:ext>
            </a:extLst>
          </p:cNvPr>
          <p:cNvSpPr>
            <a:spLocks xmlns:a="http://schemas.openxmlformats.org/drawingml/2006/main" noGrp="1"/>
          </p:cNvSpPr>
          <p:nvPr/>
        </p:nvSpPr>
        <p:spPr>
          <a:xfrm xmlns:a="http://schemas.openxmlformats.org/drawingml/2006/main">
            <a:off x="8724900" y="1676400"/>
            <a:ext cx="2609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Product Structure</a:t>
            </a:r>
          </a:p>
        </p:txBody>
      </p:sp>
      <p:sp>
        <p:nvSpPr>
          <p:cNvPr id="20" name="text-918-218-Relations · Occu">
            <a:extLst xmlns:a="http://schemas.openxmlformats.org/drawingml/2006/main">
              <a:ext uri="{FF2B5EF4-FFF2-40B4-BE49-F238E27FC236}">
                <a16:creationId xmlns:a16="http://schemas.microsoft.com/office/drawing/2014/main" id="{FF5545D7-2126-495B-8E82-E671DC9914F8}"/>
              </a:ext>
            </a:extLst>
          </p:cNvPr>
          <p:cNvSpPr>
            <a:spLocks xmlns:a="http://schemas.openxmlformats.org/drawingml/2006/main" noGrp="1"/>
          </p:cNvSpPr>
          <p:nvPr/>
        </p:nvSpPr>
        <p:spPr>
          <a:xfrm xmlns:a="http://schemas.openxmlformats.org/drawingml/2006/main">
            <a:off x="8743950" y="20764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Relations · Occurrences · BOM</a:t>
            </a:r>
          </a:p>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Immutable Structure Snapshot</a:t>
            </a:r>
          </a:p>
        </p:txBody>
      </p:sp>
      <p:sp>
        <p:nvSpPr>
          <p:cNvPr id="21" name="box-900-444">
            <a:extLst xmlns:a="http://schemas.openxmlformats.org/drawingml/2006/main">
              <a:ext uri="{FF2B5EF4-FFF2-40B4-BE49-F238E27FC236}">
                <a16:creationId xmlns:a16="http://schemas.microsoft.com/office/drawing/2014/main" id="{C276E933-39D5-4B9C-BE29-182488EC4018}"/>
              </a:ext>
            </a:extLst>
          </p:cNvPr>
          <p:cNvSpPr>
            <a:spLocks xmlns:a="http://schemas.openxmlformats.org/drawingml/2006/main" noGrp="1"/>
          </p:cNvSpPr>
          <p:nvPr/>
        </p:nvSpPr>
        <p:spPr>
          <a:xfrm xmlns:a="http://schemas.openxmlformats.org/drawingml/2006/main">
            <a:off x="8572500" y="4229100"/>
            <a:ext cx="2914650" cy="1219200"/>
          </a:xfrm>
          <a:prstGeom xmlns:a="http://schemas.openxmlformats.org/drawingml/2006/main" prst="roundRect">
            <a:avLst>
              <a:gd name="adj" fmla="val 6250"/>
            </a:avLst>
          </a:prstGeom>
          <a:solidFill xmlns:a="http://schemas.openxmlformats.org/drawingml/2006/main">
            <a:srgbClr val="E7F5EE"/>
          </a:solidFill>
          <a:ln xmlns:a="http://schemas.openxmlformats.org/drawingml/2006/main" w="14288">
            <a:solidFill>
              <a:srgbClr val="2D8A62"/>
            </a:solidFill>
            <a:prstDash val="solid"/>
          </a:ln>
        </p:spPr>
      </p:sp>
      <p:sp>
        <p:nvSpPr>
          <p:cNvPr id="22" name="text-916-460-Governance">
            <a:extLst xmlns:a="http://schemas.openxmlformats.org/drawingml/2006/main">
              <a:ext uri="{FF2B5EF4-FFF2-40B4-BE49-F238E27FC236}">
                <a16:creationId xmlns:a16="http://schemas.microsoft.com/office/drawing/2014/main" id="{FB5C2949-27A3-46C9-A7C5-6EB05837CF94}"/>
              </a:ext>
            </a:extLst>
          </p:cNvPr>
          <p:cNvSpPr>
            <a:spLocks xmlns:a="http://schemas.openxmlformats.org/drawingml/2006/main" noGrp="1"/>
          </p:cNvSpPr>
          <p:nvPr/>
        </p:nvSpPr>
        <p:spPr>
          <a:xfrm xmlns:a="http://schemas.openxmlformats.org/drawingml/2006/main">
            <a:off x="8724900" y="4381500"/>
            <a:ext cx="2609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Governance</a:t>
            </a:r>
          </a:p>
        </p:txBody>
      </p:sp>
      <p:sp>
        <p:nvSpPr>
          <p:cNvPr id="23" name="text-918-502-Review · Approva">
            <a:extLst xmlns:a="http://schemas.openxmlformats.org/drawingml/2006/main">
              <a:ext uri="{FF2B5EF4-FFF2-40B4-BE49-F238E27FC236}">
                <a16:creationId xmlns:a16="http://schemas.microsoft.com/office/drawing/2014/main" id="{F998921F-E23D-4F1F-84E7-D02D9698F049}"/>
              </a:ext>
            </a:extLst>
          </p:cNvPr>
          <p:cNvSpPr>
            <a:spLocks xmlns:a="http://schemas.openxmlformats.org/drawingml/2006/main" noGrp="1"/>
          </p:cNvSpPr>
          <p:nvPr/>
        </p:nvSpPr>
        <p:spPr>
          <a:xfrm xmlns:a="http://schemas.openxmlformats.org/drawingml/2006/main">
            <a:off x="8743950" y="47815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Review · Approval · Release</a:t>
            </a:r>
          </a:p>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Authorization · Audit</a:t>
            </a:r>
          </a:p>
        </p:txBody>
      </p:sp>
      <p:sp>
        <p:nvSpPr>
          <p:cNvPr id="24" name="box-424-500">
            <a:extLst xmlns:a="http://schemas.openxmlformats.org/drawingml/2006/main">
              <a:ext uri="{FF2B5EF4-FFF2-40B4-BE49-F238E27FC236}">
                <a16:creationId xmlns:a16="http://schemas.microsoft.com/office/drawing/2014/main" id="{231B47DA-29D5-465A-A925-569EC79ACCEE}"/>
              </a:ext>
            </a:extLst>
          </p:cNvPr>
          <p:cNvSpPr>
            <a:spLocks xmlns:a="http://schemas.openxmlformats.org/drawingml/2006/main" noGrp="1"/>
          </p:cNvSpPr>
          <p:nvPr/>
        </p:nvSpPr>
        <p:spPr>
          <a:xfrm xmlns:a="http://schemas.openxmlformats.org/drawingml/2006/main">
            <a:off x="4038600" y="4762500"/>
            <a:ext cx="4114800" cy="1219200"/>
          </a:xfrm>
          <a:prstGeom xmlns:a="http://schemas.openxmlformats.org/drawingml/2006/main" prst="roundRect">
            <a:avLst>
              <a:gd name="adj" fmla="val 6250"/>
            </a:avLst>
          </a:prstGeom>
          <a:solidFill xmlns:a="http://schemas.openxmlformats.org/drawingml/2006/main">
            <a:srgbClr val="F0EDFA"/>
          </a:solidFill>
          <a:ln xmlns:a="http://schemas.openxmlformats.org/drawingml/2006/main" w="14288">
            <a:solidFill>
              <a:srgbClr val="6C5AA8"/>
            </a:solidFill>
            <a:prstDash val="solid"/>
          </a:ln>
        </p:spPr>
      </p:sp>
      <p:sp>
        <p:nvSpPr>
          <p:cNvPr id="25" name="text-440-516-Integration &amp; Ac">
            <a:extLst xmlns:a="http://schemas.openxmlformats.org/drawingml/2006/main">
              <a:ext uri="{FF2B5EF4-FFF2-40B4-BE49-F238E27FC236}">
                <a16:creationId xmlns:a16="http://schemas.microsoft.com/office/drawing/2014/main" id="{3DBDA897-6214-4078-8BCF-7449C7668763}"/>
              </a:ext>
            </a:extLst>
          </p:cNvPr>
          <p:cNvSpPr>
            <a:spLocks xmlns:a="http://schemas.openxmlformats.org/drawingml/2006/main" noGrp="1"/>
          </p:cNvSpPr>
          <p:nvPr/>
        </p:nvSpPr>
        <p:spPr>
          <a:xfrm xmlns:a="http://schemas.openxmlformats.org/drawingml/2006/main">
            <a:off x="4191000" y="49149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Integration &amp; Access</a:t>
            </a:r>
          </a:p>
        </p:txBody>
      </p:sp>
      <p:sp>
        <p:nvSpPr>
          <p:cNvPr id="26" name="text-442-558-IRONCAD / Office">
            <a:extLst xmlns:a="http://schemas.openxmlformats.org/drawingml/2006/main">
              <a:ext uri="{FF2B5EF4-FFF2-40B4-BE49-F238E27FC236}">
                <a16:creationId xmlns:a16="http://schemas.microsoft.com/office/drawing/2014/main" id="{235E765E-07DF-4C3E-92F5-ED95785C580A}"/>
              </a:ext>
            </a:extLst>
          </p:cNvPr>
          <p:cNvSpPr>
            <a:spLocks xmlns:a="http://schemas.openxmlformats.org/drawingml/2006/main" noGrp="1"/>
          </p:cNvSpPr>
          <p:nvPr/>
        </p:nvSpPr>
        <p:spPr>
          <a:xfrm xmlns:a="http://schemas.openxmlformats.org/drawingml/2006/main">
            <a:off x="4210050" y="5314950"/>
            <a:ext cx="377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IRONCAD / Office · Search / Browse</a:t>
            </a:r>
          </a:p>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Web / Windows · EN / VI / JA</a:t>
            </a:r>
          </a:p>
        </p:txBody>
      </p:sp>
      <p:sp>
        <p:nvSpPr>
          <p:cNvPr id="27" name="text-405-212-↖">
            <a:extLst xmlns:a="http://schemas.openxmlformats.org/drawingml/2006/main">
              <a:ext uri="{FF2B5EF4-FFF2-40B4-BE49-F238E27FC236}">
                <a16:creationId xmlns:a16="http://schemas.microsoft.com/office/drawing/2014/main" id="{9D7A0309-576D-472D-BCAC-434FAC462B73}"/>
              </a:ext>
            </a:extLst>
          </p:cNvPr>
          <p:cNvSpPr>
            <a:spLocks xmlns:a="http://schemas.openxmlformats.org/drawingml/2006/main" noGrp="1"/>
          </p:cNvSpPr>
          <p:nvPr/>
        </p:nvSpPr>
        <p:spPr>
          <a:xfrm xmlns:a="http://schemas.openxmlformats.org/drawingml/2006/main">
            <a:off x="3857625" y="2019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28" name="text-405-407-↙">
            <a:extLst xmlns:a="http://schemas.openxmlformats.org/drawingml/2006/main">
              <a:ext uri="{FF2B5EF4-FFF2-40B4-BE49-F238E27FC236}">
                <a16:creationId xmlns:a16="http://schemas.microsoft.com/office/drawing/2014/main" id="{DFD927A5-A879-42D9-A571-A215434B6CC6}"/>
              </a:ext>
            </a:extLst>
          </p:cNvPr>
          <p:cNvSpPr>
            <a:spLocks xmlns:a="http://schemas.openxmlformats.org/drawingml/2006/main" noGrp="1"/>
          </p:cNvSpPr>
          <p:nvPr/>
        </p:nvSpPr>
        <p:spPr>
          <a:xfrm xmlns:a="http://schemas.openxmlformats.org/drawingml/2006/main">
            <a:off x="3857625" y="38766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29" name="text-803-212-↗">
            <a:extLst xmlns:a="http://schemas.openxmlformats.org/drawingml/2006/main">
              <a:ext uri="{FF2B5EF4-FFF2-40B4-BE49-F238E27FC236}">
                <a16:creationId xmlns:a16="http://schemas.microsoft.com/office/drawing/2014/main" id="{6C3A0587-6BBA-4D40-9775-7AC5D2666C71}"/>
              </a:ext>
            </a:extLst>
          </p:cNvPr>
          <p:cNvSpPr>
            <a:spLocks xmlns:a="http://schemas.openxmlformats.org/drawingml/2006/main" noGrp="1"/>
          </p:cNvSpPr>
          <p:nvPr/>
        </p:nvSpPr>
        <p:spPr>
          <a:xfrm xmlns:a="http://schemas.openxmlformats.org/drawingml/2006/main">
            <a:off x="7648575" y="2019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30" name="text-803-407-↘">
            <a:extLst xmlns:a="http://schemas.openxmlformats.org/drawingml/2006/main">
              <a:ext uri="{FF2B5EF4-FFF2-40B4-BE49-F238E27FC236}">
                <a16:creationId xmlns:a16="http://schemas.microsoft.com/office/drawing/2014/main" id="{79EC6F5A-28FD-4FE6-A6C3-A141D61F72F1}"/>
              </a:ext>
            </a:extLst>
          </p:cNvPr>
          <p:cNvSpPr>
            <a:spLocks xmlns:a="http://schemas.openxmlformats.org/drawingml/2006/main" noGrp="1"/>
          </p:cNvSpPr>
          <p:nvPr/>
        </p:nvSpPr>
        <p:spPr>
          <a:xfrm xmlns:a="http://schemas.openxmlformats.org/drawingml/2006/main">
            <a:off x="7648575" y="38766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31" name="text-605-427-↓">
            <a:extLst xmlns:a="http://schemas.openxmlformats.org/drawingml/2006/main">
              <a:ext uri="{FF2B5EF4-FFF2-40B4-BE49-F238E27FC236}">
                <a16:creationId xmlns:a16="http://schemas.microsoft.com/office/drawing/2014/main" id="{C1B555DB-5937-4890-9058-8907066A4AE4}"/>
              </a:ext>
            </a:extLst>
          </p:cNvPr>
          <p:cNvSpPr>
            <a:spLocks xmlns:a="http://schemas.openxmlformats.org/drawingml/2006/main" noGrp="1"/>
          </p:cNvSpPr>
          <p:nvPr/>
        </p:nvSpPr>
        <p:spPr>
          <a:xfrm xmlns:a="http://schemas.openxmlformats.org/drawingml/2006/main">
            <a:off x="5762625" y="40671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32" name="box-386-636">
            <a:extLst xmlns:a="http://schemas.openxmlformats.org/drawingml/2006/main">
              <a:ext uri="{FF2B5EF4-FFF2-40B4-BE49-F238E27FC236}">
                <a16:creationId xmlns:a16="http://schemas.microsoft.com/office/drawing/2014/main" id="{4B9A49E5-62D7-4694-A198-1E3D0CDFEED8}"/>
              </a:ext>
            </a:extLst>
          </p:cNvPr>
          <p:cNvSpPr>
            <a:spLocks xmlns:a="http://schemas.openxmlformats.org/drawingml/2006/main" noGrp="1"/>
          </p:cNvSpPr>
          <p:nvPr/>
        </p:nvSpPr>
        <p:spPr>
          <a:xfrm xmlns:a="http://schemas.openxmlformats.org/drawingml/2006/main">
            <a:off x="3676650" y="6057900"/>
            <a:ext cx="4838700" cy="323850"/>
          </a:xfrm>
          <a:prstGeom xmlns:a="http://schemas.openxmlformats.org/drawingml/2006/main" prst="roundRect">
            <a:avLst>
              <a:gd name="adj" fmla="val 23529"/>
            </a:avLst>
          </a:prstGeom>
          <a:solidFill xmlns:a="http://schemas.openxmlformats.org/drawingml/2006/main">
            <a:srgbClr val="F4F7FA"/>
          </a:solidFill>
          <a:ln xmlns:a="http://schemas.openxmlformats.org/drawingml/2006/main" w="7620">
            <a:solidFill>
              <a:srgbClr val="F4F7FA"/>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4B6075"/>
                </a:solidFill>
                <a:latin typeface="Arial"/>
                <a:ea typeface="Arial"/>
                <a:cs typeface="Arial"/>
              </a:defRPr>
            </a:pPr>
            <a:r>
              <a:rPr sz="1125" b="1">
                <a:solidFill>
                  <a:srgbClr val="4B6075"/>
                </a:solidFill>
                <a:latin typeface="Arial"/>
                <a:ea typeface="Arial"/>
                <a:cs typeface="Arial"/>
              </a:rPr>
              <a:t>14 nhóm Feature được kiểm soát dưới bản đồ năng lực này</a:t>
            </a:r>
          </a:p>
        </p:txBody>
      </p:sp>
    </p:spTree>
    <p:extLst>
      <p:ext uri="{BB962C8B-B14F-4D97-AF65-F5344CB8AC3E}">
        <p14:creationId xmlns:p14="http://schemas.microsoft.com/office/powerpoint/2010/main" val="7746530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box-0-0">
            <a:extLst xmlns:a="http://schemas.openxmlformats.org/drawingml/2006/main">
              <a:ext uri="{FF2B5EF4-FFF2-40B4-BE49-F238E27FC236}">
                <a16:creationId xmlns:a16="http://schemas.microsoft.com/office/drawing/2014/main" id="{B2CC1743-D535-4AF2-B30B-C92B3649C62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8FC2"/>
          </a:solidFill>
          <a:ln xmlns:a="http://schemas.openxmlformats.org/drawingml/2006/main" w="0">
            <a:noFill/>
            <a:prstDash val="solid"/>
          </a:ln>
        </p:spPr>
      </p:sp>
      <p:sp>
        <p:nvSpPr>
          <p:cNvPr id="2" name="text-54-28-FEATURE">
            <a:extLst xmlns:a="http://schemas.openxmlformats.org/drawingml/2006/main">
              <a:ext uri="{FF2B5EF4-FFF2-40B4-BE49-F238E27FC236}">
                <a16:creationId xmlns:a16="http://schemas.microsoft.com/office/drawing/2014/main" id="{3DB279A4-1762-4ABA-B3B7-7CF02708A04F}"/>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F8FC2"/>
                </a:solidFill>
                <a:latin typeface="Arial"/>
                <a:ea typeface="Arial"/>
                <a:cs typeface="Arial"/>
              </a:defRPr>
            </a:pPr>
            <a:r>
              <a:rPr sz="1050" b="1">
                <a:solidFill>
                  <a:srgbClr val="2F8FC2"/>
                </a:solidFill>
                <a:latin typeface="Arial"/>
                <a:ea typeface="Arial"/>
                <a:cs typeface="Arial"/>
              </a:rPr>
              <a:t>FEATURE</a:t>
            </a:r>
          </a:p>
        </p:txBody>
      </p:sp>
      <p:sp>
        <p:nvSpPr>
          <p:cNvPr id="3" name="text-54-56-Feature — Core v">
            <a:extLst xmlns:a="http://schemas.openxmlformats.org/drawingml/2006/main">
              <a:ext uri="{FF2B5EF4-FFF2-40B4-BE49-F238E27FC236}">
                <a16:creationId xmlns:a16="http://schemas.microsoft.com/office/drawing/2014/main" id="{9FCC6C43-C55E-42C4-8ED3-2CEFBA74419A}"/>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Feature — Core v0 làm gì và không làm gì?</a:t>
            </a:r>
          </a:p>
        </p:txBody>
      </p:sp>
      <p:sp>
        <p:nvSpPr>
          <p:cNvPr id="4" name="line-54-116">
            <a:extLst xmlns:a="http://schemas.openxmlformats.org/drawingml/2006/main">
              <a:ext uri="{FF2B5EF4-FFF2-40B4-BE49-F238E27FC236}">
                <a16:creationId xmlns:a16="http://schemas.microsoft.com/office/drawing/2014/main" id="{66085B66-832A-4E5E-A316-F1C3F2FE1DC9}"/>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1@0">
            <a:extLst xmlns:a="http://schemas.openxmlformats.org/drawingml/2006/main">
              <a:ext uri="{FF2B5EF4-FFF2-40B4-BE49-F238E27FC236}">
                <a16:creationId xmlns:a16="http://schemas.microsoft.com/office/drawing/2014/main" id="{6D18DA80-AD5A-45B6-8291-AB57DB96275E}"/>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DOC-01@0.6 · DOC-04@0.13</a:t>
            </a:r>
          </a:p>
        </p:txBody>
      </p:sp>
      <p:sp>
        <p:nvSpPr>
          <p:cNvPr id="6" name="text-1170-680-04">
            <a:extLst xmlns:a="http://schemas.openxmlformats.org/drawingml/2006/main">
              <a:ext uri="{FF2B5EF4-FFF2-40B4-BE49-F238E27FC236}">
                <a16:creationId xmlns:a16="http://schemas.microsoft.com/office/drawing/2014/main" id="{68357C3C-E00E-4524-8831-8950B1EC9E1B}"/>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04</a:t>
            </a:r>
          </a:p>
        </p:txBody>
      </p:sp>
      <p:sp>
        <p:nvSpPr>
          <p:cNvPr id="7" name="diagram-meta-4">
            <a:extLst xmlns:a="http://schemas.openxmlformats.org/drawingml/2006/main">
              <a:ext uri="{FF2B5EF4-FFF2-40B4-BE49-F238E27FC236}">
                <a16:creationId xmlns:a16="http://schemas.microsoft.com/office/drawing/2014/main" id="{A36ED063-A335-43F9-BF53-56C88536BD89}"/>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4">
            <a:extLst xmlns:a="http://schemas.openxmlformats.org/drawingml/2006/main">
              <a:ext uri="{FF2B5EF4-FFF2-40B4-BE49-F238E27FC236}">
                <a16:creationId xmlns:a16="http://schemas.microsoft.com/office/drawing/2014/main" id="{BA0734A9-1D30-48AB-8072-8424EF0BB5CB}"/>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Presentation synthesis</a:t>
            </a:r>
          </a:p>
        </p:txBody>
      </p:sp>
      <p:sp>
        <p:nvSpPr>
          <p:cNvPr id="9" name="diagram-source-4">
            <a:extLst xmlns:a="http://schemas.openxmlformats.org/drawingml/2006/main">
              <a:ext uri="{FF2B5EF4-FFF2-40B4-BE49-F238E27FC236}">
                <a16:creationId xmlns:a16="http://schemas.microsoft.com/office/drawing/2014/main" id="{E8068324-D1BE-4C8F-BA31-A2E9465A784A}"/>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DOC-01 + DOC-04</a:t>
            </a:r>
          </a:p>
        </p:txBody>
      </p:sp>
      <p:sp>
        <p:nvSpPr>
          <p:cNvPr id="10" name="diagram-why-4">
            <a:extLst xmlns:a="http://schemas.openxmlformats.org/drawingml/2006/main">
              <a:ext uri="{FF2B5EF4-FFF2-40B4-BE49-F238E27FC236}">
                <a16:creationId xmlns:a16="http://schemas.microsoft.com/office/drawing/2014/main" id="{82DD07FB-C564-4DD6-9BD2-8257A465FE34}"/>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Chốt ranh giới Core v0</a:t>
            </a:r>
          </a:p>
        </p:txBody>
      </p:sp>
      <p:sp>
        <p:nvSpPr>
          <p:cNvPr id="11" name="box-62-148">
            <a:extLst xmlns:a="http://schemas.openxmlformats.org/drawingml/2006/main">
              <a:ext uri="{FF2B5EF4-FFF2-40B4-BE49-F238E27FC236}">
                <a16:creationId xmlns:a16="http://schemas.microsoft.com/office/drawing/2014/main" id="{BAFDB74A-CD43-4AB1-B87E-9BB39BAD1F5E}"/>
              </a:ext>
            </a:extLst>
          </p:cNvPr>
          <p:cNvSpPr>
            <a:spLocks xmlns:a="http://schemas.openxmlformats.org/drawingml/2006/main" noGrp="1"/>
          </p:cNvSpPr>
          <p:nvPr/>
        </p:nvSpPr>
        <p:spPr>
          <a:xfrm xmlns:a="http://schemas.openxmlformats.org/drawingml/2006/main">
            <a:off x="590550" y="1409700"/>
            <a:ext cx="5276850" cy="4171950"/>
          </a:xfrm>
          <a:prstGeom xmlns:a="http://schemas.openxmlformats.org/drawingml/2006/main" prst="roundRect">
            <a:avLst>
              <a:gd name="adj" fmla="val 1826"/>
            </a:avLst>
          </a:prstGeom>
          <a:solidFill xmlns:a="http://schemas.openxmlformats.org/drawingml/2006/main">
            <a:srgbClr val="EAF3F9"/>
          </a:solidFill>
          <a:ln xmlns:a="http://schemas.openxmlformats.org/drawingml/2006/main" w="14288">
            <a:solidFill>
              <a:srgbClr val="2169A8"/>
            </a:solidFill>
            <a:prstDash val="solid"/>
          </a:ln>
        </p:spPr>
      </p:sp>
      <p:sp>
        <p:nvSpPr>
          <p:cNvPr id="12" name="box-664-148">
            <a:extLst xmlns:a="http://schemas.openxmlformats.org/drawingml/2006/main">
              <a:ext uri="{FF2B5EF4-FFF2-40B4-BE49-F238E27FC236}">
                <a16:creationId xmlns:a16="http://schemas.microsoft.com/office/drawing/2014/main" id="{56B32915-F167-448E-99BF-D5FEBC526178}"/>
              </a:ext>
            </a:extLst>
          </p:cNvPr>
          <p:cNvSpPr>
            <a:spLocks xmlns:a="http://schemas.openxmlformats.org/drawingml/2006/main" noGrp="1"/>
          </p:cNvSpPr>
          <p:nvPr/>
        </p:nvSpPr>
        <p:spPr>
          <a:xfrm xmlns:a="http://schemas.openxmlformats.org/drawingml/2006/main">
            <a:off x="6324600" y="1409700"/>
            <a:ext cx="5276850" cy="4171950"/>
          </a:xfrm>
          <a:prstGeom xmlns:a="http://schemas.openxmlformats.org/drawingml/2006/main" prst="roundRect">
            <a:avLst>
              <a:gd name="adj" fmla="val 1826"/>
            </a:avLst>
          </a:prstGeom>
          <a:solidFill xmlns:a="http://schemas.openxmlformats.org/drawingml/2006/main">
            <a:srgbClr val="F4F7FA"/>
          </a:solidFill>
          <a:ln xmlns:a="http://schemas.openxmlformats.org/drawingml/2006/main" w="14288">
            <a:solidFill>
              <a:srgbClr val="7890A6"/>
            </a:solidFill>
            <a:prstDash val="solid"/>
          </a:ln>
        </p:spPr>
      </p:sp>
      <p:sp>
        <p:nvSpPr>
          <p:cNvPr id="13" name="box-84-170">
            <a:extLst xmlns:a="http://schemas.openxmlformats.org/drawingml/2006/main">
              <a:ext uri="{FF2B5EF4-FFF2-40B4-BE49-F238E27FC236}">
                <a16:creationId xmlns:a16="http://schemas.microsoft.com/office/drawing/2014/main" id="{358A3CE8-2231-4D07-AECB-40ADF6825B34}"/>
              </a:ext>
            </a:extLst>
          </p:cNvPr>
          <p:cNvSpPr>
            <a:spLocks xmlns:a="http://schemas.openxmlformats.org/drawingml/2006/main" noGrp="1"/>
          </p:cNvSpPr>
          <p:nvPr/>
        </p:nvSpPr>
        <p:spPr>
          <a:xfrm xmlns:a="http://schemas.openxmlformats.org/drawingml/2006/main">
            <a:off x="800100" y="1619250"/>
            <a:ext cx="1809750" cy="323850"/>
          </a:xfrm>
          <a:prstGeom xmlns:a="http://schemas.openxmlformats.org/drawingml/2006/main" prst="roundRect">
            <a:avLst>
              <a:gd name="adj" fmla="val 23529"/>
            </a:avLst>
          </a:prstGeom>
          <a:solidFill xmlns:a="http://schemas.openxmlformats.org/drawingml/2006/main">
            <a:srgbClr val="2169A8"/>
          </a:solidFill>
          <a:ln xmlns:a="http://schemas.openxmlformats.org/drawingml/2006/main" w="762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TRONG CORE v0</a:t>
            </a:r>
          </a:p>
        </p:txBody>
      </p:sp>
      <p:sp>
        <p:nvSpPr>
          <p:cNvPr id="14" name="box-686-170">
            <a:extLst xmlns:a="http://schemas.openxmlformats.org/drawingml/2006/main">
              <a:ext uri="{FF2B5EF4-FFF2-40B4-BE49-F238E27FC236}">
                <a16:creationId xmlns:a16="http://schemas.microsoft.com/office/drawing/2014/main" id="{8ECF68D6-6C58-4A9C-855B-5B8C3867E82A}"/>
              </a:ext>
            </a:extLst>
          </p:cNvPr>
          <p:cNvSpPr>
            <a:spLocks xmlns:a="http://schemas.openxmlformats.org/drawingml/2006/main" noGrp="1"/>
          </p:cNvSpPr>
          <p:nvPr/>
        </p:nvSpPr>
        <p:spPr>
          <a:xfrm xmlns:a="http://schemas.openxmlformats.org/drawingml/2006/main">
            <a:off x="6534150" y="1619250"/>
            <a:ext cx="2438400" cy="323850"/>
          </a:xfrm>
          <a:prstGeom xmlns:a="http://schemas.openxmlformats.org/drawingml/2006/main" prst="roundRect">
            <a:avLst>
              <a:gd name="adj" fmla="val 23529"/>
            </a:avLst>
          </a:prstGeom>
          <a:solidFill xmlns:a="http://schemas.openxmlformats.org/drawingml/2006/main">
            <a:srgbClr val="7890A6"/>
          </a:solidFill>
          <a:ln xmlns:a="http://schemas.openxmlformats.org/drawingml/2006/main" w="7620">
            <a:solidFill>
              <a:srgbClr val="7890A6"/>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NGOÀI PHẠM VI / ĐỂ SAU</a:t>
            </a:r>
          </a:p>
        </p:txBody>
      </p:sp>
      <p:sp>
        <p:nvSpPr>
          <p:cNvPr id="15" name="box-92-240">
            <a:extLst xmlns:a="http://schemas.openxmlformats.org/drawingml/2006/main">
              <a:ext uri="{FF2B5EF4-FFF2-40B4-BE49-F238E27FC236}">
                <a16:creationId xmlns:a16="http://schemas.microsoft.com/office/drawing/2014/main" id="{4787FCDA-59A8-4055-991B-A1758F9DC42F}"/>
              </a:ext>
            </a:extLst>
          </p:cNvPr>
          <p:cNvSpPr>
            <a:spLocks xmlns:a="http://schemas.openxmlformats.org/drawingml/2006/main" noGrp="1"/>
          </p:cNvSpPr>
          <p:nvPr/>
        </p:nvSpPr>
        <p:spPr>
          <a:xfrm xmlns:a="http://schemas.openxmlformats.org/drawingml/2006/main">
            <a:off x="876300" y="2286000"/>
            <a:ext cx="85725" cy="85725"/>
          </a:xfrm>
          <a:prstGeom xmlns:a="http://schemas.openxmlformats.org/drawingml/2006/main" prst="ellipse">
            <a:avLst/>
          </a:prstGeom>
          <a:solidFill xmlns:a="http://schemas.openxmlformats.org/drawingml/2006/main">
            <a:srgbClr val="2169A8"/>
          </a:solidFill>
          <a:ln xmlns:a="http://schemas.openxmlformats.org/drawingml/2006/main" w="0">
            <a:solidFill>
              <a:srgbClr val="2169A8"/>
            </a:solidFill>
            <a:prstDash val="solid"/>
          </a:ln>
        </p:spPr>
      </p:sp>
      <p:sp>
        <p:nvSpPr>
          <p:cNvPr id="16" name="text-112-232-Controlled Produ">
            <a:extLst xmlns:a="http://schemas.openxmlformats.org/drawingml/2006/main">
              <a:ext uri="{FF2B5EF4-FFF2-40B4-BE49-F238E27FC236}">
                <a16:creationId xmlns:a16="http://schemas.microsoft.com/office/drawing/2014/main" id="{3684DA67-2225-4567-A153-8A2D64EFF85C}"/>
              </a:ext>
            </a:extLst>
          </p:cNvPr>
          <p:cNvSpPr>
            <a:spLocks xmlns:a="http://schemas.openxmlformats.org/drawingml/2006/main" noGrp="1"/>
          </p:cNvSpPr>
          <p:nvPr/>
        </p:nvSpPr>
        <p:spPr>
          <a:xfrm xmlns:a="http://schemas.openxmlformats.org/drawingml/2006/main">
            <a:off x="1066800" y="22098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Controlled Product Data và lịch sử bất biến</a:t>
            </a:r>
          </a:p>
        </p:txBody>
      </p:sp>
      <p:sp>
        <p:nvSpPr>
          <p:cNvPr id="17" name="box-92-298">
            <a:extLst xmlns:a="http://schemas.openxmlformats.org/drawingml/2006/main">
              <a:ext uri="{FF2B5EF4-FFF2-40B4-BE49-F238E27FC236}">
                <a16:creationId xmlns:a16="http://schemas.microsoft.com/office/drawing/2014/main" id="{407E4812-C795-4A5A-8051-B62351F9BC8B}"/>
              </a:ext>
            </a:extLst>
          </p:cNvPr>
          <p:cNvSpPr>
            <a:spLocks xmlns:a="http://schemas.openxmlformats.org/drawingml/2006/main" noGrp="1"/>
          </p:cNvSpPr>
          <p:nvPr/>
        </p:nvSpPr>
        <p:spPr>
          <a:xfrm xmlns:a="http://schemas.openxmlformats.org/drawingml/2006/main">
            <a:off x="876300" y="2838450"/>
            <a:ext cx="85725" cy="85725"/>
          </a:xfrm>
          <a:prstGeom xmlns:a="http://schemas.openxmlformats.org/drawingml/2006/main" prst="ellipse">
            <a:avLst/>
          </a:prstGeom>
          <a:solidFill xmlns:a="http://schemas.openxmlformats.org/drawingml/2006/main">
            <a:srgbClr val="2169A8"/>
          </a:solidFill>
          <a:ln xmlns:a="http://schemas.openxmlformats.org/drawingml/2006/main" w="0">
            <a:solidFill>
              <a:srgbClr val="2169A8"/>
            </a:solidFill>
            <a:prstDash val="solid"/>
          </a:ln>
        </p:spPr>
      </p:sp>
      <p:sp>
        <p:nvSpPr>
          <p:cNvPr id="18" name="text-112-290-Workspace, Check">
            <a:extLst xmlns:a="http://schemas.openxmlformats.org/drawingml/2006/main">
              <a:ext uri="{FF2B5EF4-FFF2-40B4-BE49-F238E27FC236}">
                <a16:creationId xmlns:a16="http://schemas.microsoft.com/office/drawing/2014/main" id="{7FDA1184-E704-44A6-A142-A1E9EA65BAFE}"/>
              </a:ext>
            </a:extLst>
          </p:cNvPr>
          <p:cNvSpPr>
            <a:spLocks xmlns:a="http://schemas.openxmlformats.org/drawingml/2006/main" noGrp="1"/>
          </p:cNvSpPr>
          <p:nvPr/>
        </p:nvSpPr>
        <p:spPr>
          <a:xfrm xmlns:a="http://schemas.openxmlformats.org/drawingml/2006/main">
            <a:off x="1066800" y="27622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Workspace, Checkout, Reference, Check-in</a:t>
            </a:r>
          </a:p>
        </p:txBody>
      </p:sp>
      <p:sp>
        <p:nvSpPr>
          <p:cNvPr id="19" name="box-92-356">
            <a:extLst xmlns:a="http://schemas.openxmlformats.org/drawingml/2006/main">
              <a:ext uri="{FF2B5EF4-FFF2-40B4-BE49-F238E27FC236}">
                <a16:creationId xmlns:a16="http://schemas.microsoft.com/office/drawing/2014/main" id="{DA6E9F6C-2CC5-4F4C-803E-FA2B60750C50}"/>
              </a:ext>
            </a:extLst>
          </p:cNvPr>
          <p:cNvSpPr>
            <a:spLocks xmlns:a="http://schemas.openxmlformats.org/drawingml/2006/main" noGrp="1"/>
          </p:cNvSpPr>
          <p:nvPr/>
        </p:nvSpPr>
        <p:spPr>
          <a:xfrm xmlns:a="http://schemas.openxmlformats.org/drawingml/2006/main">
            <a:off x="876300" y="3390900"/>
            <a:ext cx="85725" cy="85725"/>
          </a:xfrm>
          <a:prstGeom xmlns:a="http://schemas.openxmlformats.org/drawingml/2006/main" prst="ellipse">
            <a:avLst/>
          </a:prstGeom>
          <a:solidFill xmlns:a="http://schemas.openxmlformats.org/drawingml/2006/main">
            <a:srgbClr val="2169A8"/>
          </a:solidFill>
          <a:ln xmlns:a="http://schemas.openxmlformats.org/drawingml/2006/main" w="0">
            <a:solidFill>
              <a:srgbClr val="2169A8"/>
            </a:solidFill>
            <a:prstDash val="solid"/>
          </a:ln>
        </p:spPr>
      </p:sp>
      <p:sp>
        <p:nvSpPr>
          <p:cNvPr id="20" name="text-112-348-Product Structur">
            <a:extLst xmlns:a="http://schemas.openxmlformats.org/drawingml/2006/main">
              <a:ext uri="{FF2B5EF4-FFF2-40B4-BE49-F238E27FC236}">
                <a16:creationId xmlns:a16="http://schemas.microsoft.com/office/drawing/2014/main" id="{2E65F7E3-BC7C-4EB7-BAF7-F7C002973002}"/>
              </a:ext>
            </a:extLst>
          </p:cNvPr>
          <p:cNvSpPr>
            <a:spLocks xmlns:a="http://schemas.openxmlformats.org/drawingml/2006/main" noGrp="1"/>
          </p:cNvSpPr>
          <p:nvPr/>
        </p:nvSpPr>
        <p:spPr>
          <a:xfrm xmlns:a="http://schemas.openxmlformats.org/drawingml/2006/main">
            <a:off x="1066800" y="33147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Product Structure, BOM và Structure Snapshot</a:t>
            </a:r>
          </a:p>
        </p:txBody>
      </p:sp>
      <p:sp>
        <p:nvSpPr>
          <p:cNvPr id="21" name="box-92-414">
            <a:extLst xmlns:a="http://schemas.openxmlformats.org/drawingml/2006/main">
              <a:ext uri="{FF2B5EF4-FFF2-40B4-BE49-F238E27FC236}">
                <a16:creationId xmlns:a16="http://schemas.microsoft.com/office/drawing/2014/main" id="{736CB32B-6070-46E2-9788-B33A1AC5AF92}"/>
              </a:ext>
            </a:extLst>
          </p:cNvPr>
          <p:cNvSpPr>
            <a:spLocks xmlns:a="http://schemas.openxmlformats.org/drawingml/2006/main" noGrp="1"/>
          </p:cNvSpPr>
          <p:nvPr/>
        </p:nvSpPr>
        <p:spPr>
          <a:xfrm xmlns:a="http://schemas.openxmlformats.org/drawingml/2006/main">
            <a:off x="876300" y="3943350"/>
            <a:ext cx="85725" cy="85725"/>
          </a:xfrm>
          <a:prstGeom xmlns:a="http://schemas.openxmlformats.org/drawingml/2006/main" prst="ellipse">
            <a:avLst/>
          </a:prstGeom>
          <a:solidFill xmlns:a="http://schemas.openxmlformats.org/drawingml/2006/main">
            <a:srgbClr val="2169A8"/>
          </a:solidFill>
          <a:ln xmlns:a="http://schemas.openxmlformats.org/drawingml/2006/main" w="0">
            <a:solidFill>
              <a:srgbClr val="2169A8"/>
            </a:solidFill>
            <a:prstDash val="solid"/>
          </a:ln>
        </p:spPr>
      </p:sp>
      <p:sp>
        <p:nvSpPr>
          <p:cNvPr id="22" name="text-112-406-Review, Approval">
            <a:extLst xmlns:a="http://schemas.openxmlformats.org/drawingml/2006/main">
              <a:ext uri="{FF2B5EF4-FFF2-40B4-BE49-F238E27FC236}">
                <a16:creationId xmlns:a16="http://schemas.microsoft.com/office/drawing/2014/main" id="{6D802D5C-76D2-4828-8840-4AA98A6D78A9}"/>
              </a:ext>
            </a:extLst>
          </p:cNvPr>
          <p:cNvSpPr>
            <a:spLocks xmlns:a="http://schemas.openxmlformats.org/drawingml/2006/main" noGrp="1"/>
          </p:cNvSpPr>
          <p:nvPr/>
        </p:nvSpPr>
        <p:spPr>
          <a:xfrm xmlns:a="http://schemas.openxmlformats.org/drawingml/2006/main">
            <a:off x="1066800" y="38671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Review, Approval, Release và lấy lại đúng baseline</a:t>
            </a:r>
          </a:p>
        </p:txBody>
      </p:sp>
      <p:sp>
        <p:nvSpPr>
          <p:cNvPr id="23" name="box-92-472">
            <a:extLst xmlns:a="http://schemas.openxmlformats.org/drawingml/2006/main">
              <a:ext uri="{FF2B5EF4-FFF2-40B4-BE49-F238E27FC236}">
                <a16:creationId xmlns:a16="http://schemas.microsoft.com/office/drawing/2014/main" id="{91BABF1A-2837-4EE0-B699-89C5DE8E744B}"/>
              </a:ext>
            </a:extLst>
          </p:cNvPr>
          <p:cNvSpPr>
            <a:spLocks xmlns:a="http://schemas.openxmlformats.org/drawingml/2006/main" noGrp="1"/>
          </p:cNvSpPr>
          <p:nvPr/>
        </p:nvSpPr>
        <p:spPr>
          <a:xfrm xmlns:a="http://schemas.openxmlformats.org/drawingml/2006/main">
            <a:off x="876300" y="4495800"/>
            <a:ext cx="85725" cy="85725"/>
          </a:xfrm>
          <a:prstGeom xmlns:a="http://schemas.openxmlformats.org/drawingml/2006/main" prst="ellipse">
            <a:avLst/>
          </a:prstGeom>
          <a:solidFill xmlns:a="http://schemas.openxmlformats.org/drawingml/2006/main">
            <a:srgbClr val="2169A8"/>
          </a:solidFill>
          <a:ln xmlns:a="http://schemas.openxmlformats.org/drawingml/2006/main" w="0">
            <a:solidFill>
              <a:srgbClr val="2169A8"/>
            </a:solidFill>
            <a:prstDash val="solid"/>
          </a:ln>
        </p:spPr>
      </p:sp>
      <p:sp>
        <p:nvSpPr>
          <p:cNvPr id="24" name="text-112-464-Authorization, A">
            <a:extLst xmlns:a="http://schemas.openxmlformats.org/drawingml/2006/main">
              <a:ext uri="{FF2B5EF4-FFF2-40B4-BE49-F238E27FC236}">
                <a16:creationId xmlns:a16="http://schemas.microsoft.com/office/drawing/2014/main" id="{BE2274B2-7AB9-4079-9D75-0C95F7E65595}"/>
              </a:ext>
            </a:extLst>
          </p:cNvPr>
          <p:cNvSpPr>
            <a:spLocks xmlns:a="http://schemas.openxmlformats.org/drawingml/2006/main" noGrp="1"/>
          </p:cNvSpPr>
          <p:nvPr/>
        </p:nvSpPr>
        <p:spPr>
          <a:xfrm xmlns:a="http://schemas.openxmlformats.org/drawingml/2006/main">
            <a:off x="1066800" y="44196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Authorization, Audit, Search, CAD/Office và 3 ngôn ngữ</a:t>
            </a:r>
          </a:p>
        </p:txBody>
      </p:sp>
      <p:sp>
        <p:nvSpPr>
          <p:cNvPr id="25" name="box-694-240">
            <a:extLst xmlns:a="http://schemas.openxmlformats.org/drawingml/2006/main">
              <a:ext uri="{FF2B5EF4-FFF2-40B4-BE49-F238E27FC236}">
                <a16:creationId xmlns:a16="http://schemas.microsoft.com/office/drawing/2014/main" id="{3B0A6C69-D990-4990-B599-469F6C4CFFCA}"/>
              </a:ext>
            </a:extLst>
          </p:cNvPr>
          <p:cNvSpPr>
            <a:spLocks xmlns:a="http://schemas.openxmlformats.org/drawingml/2006/main" noGrp="1"/>
          </p:cNvSpPr>
          <p:nvPr/>
        </p:nvSpPr>
        <p:spPr>
          <a:xfrm xmlns:a="http://schemas.openxmlformats.org/drawingml/2006/main">
            <a:off x="6610350" y="2286000"/>
            <a:ext cx="85725" cy="85725"/>
          </a:xfrm>
          <a:prstGeom xmlns:a="http://schemas.openxmlformats.org/drawingml/2006/main" prst="ellipse">
            <a:avLst/>
          </a:prstGeom>
          <a:solidFill xmlns:a="http://schemas.openxmlformats.org/drawingml/2006/main">
            <a:srgbClr val="7890A6"/>
          </a:solidFill>
          <a:ln xmlns:a="http://schemas.openxmlformats.org/drawingml/2006/main" w="0">
            <a:solidFill>
              <a:srgbClr val="7890A6"/>
            </a:solidFill>
            <a:prstDash val="solid"/>
          </a:ln>
        </p:spPr>
      </p:sp>
      <p:sp>
        <p:nvSpPr>
          <p:cNvPr id="26" name="text-714-232-ERP / MRP và tíc">
            <a:extLst xmlns:a="http://schemas.openxmlformats.org/drawingml/2006/main">
              <a:ext uri="{FF2B5EF4-FFF2-40B4-BE49-F238E27FC236}">
                <a16:creationId xmlns:a16="http://schemas.microsoft.com/office/drawing/2014/main" id="{DC75AED2-AB71-4DE0-92B1-A33A5D6A4765}"/>
              </a:ext>
            </a:extLst>
          </p:cNvPr>
          <p:cNvSpPr>
            <a:spLocks xmlns:a="http://schemas.openxmlformats.org/drawingml/2006/main" noGrp="1"/>
          </p:cNvSpPr>
          <p:nvPr/>
        </p:nvSpPr>
        <p:spPr>
          <a:xfrm xmlns:a="http://schemas.openxmlformats.org/drawingml/2006/main">
            <a:off x="6800850" y="22098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ERP / MRP và tích hợp doanh nghiệp tổng quát</a:t>
            </a:r>
          </a:p>
        </p:txBody>
      </p:sp>
      <p:sp>
        <p:nvSpPr>
          <p:cNvPr id="27" name="box-694-298">
            <a:extLst xmlns:a="http://schemas.openxmlformats.org/drawingml/2006/main">
              <a:ext uri="{FF2B5EF4-FFF2-40B4-BE49-F238E27FC236}">
                <a16:creationId xmlns:a16="http://schemas.microsoft.com/office/drawing/2014/main" id="{2CD93026-DA51-4BC3-BA61-AD893799A617}"/>
              </a:ext>
            </a:extLst>
          </p:cNvPr>
          <p:cNvSpPr>
            <a:spLocks xmlns:a="http://schemas.openxmlformats.org/drawingml/2006/main" noGrp="1"/>
          </p:cNvSpPr>
          <p:nvPr/>
        </p:nvSpPr>
        <p:spPr>
          <a:xfrm xmlns:a="http://schemas.openxmlformats.org/drawingml/2006/main">
            <a:off x="6610350" y="2838450"/>
            <a:ext cx="85725" cy="85725"/>
          </a:xfrm>
          <a:prstGeom xmlns:a="http://schemas.openxmlformats.org/drawingml/2006/main" prst="ellipse">
            <a:avLst/>
          </a:prstGeom>
          <a:solidFill xmlns:a="http://schemas.openxmlformats.org/drawingml/2006/main">
            <a:srgbClr val="7890A6"/>
          </a:solidFill>
          <a:ln xmlns:a="http://schemas.openxmlformats.org/drawingml/2006/main" w="0">
            <a:solidFill>
              <a:srgbClr val="7890A6"/>
            </a:solidFill>
            <a:prstDash val="solid"/>
          </a:ln>
        </p:spPr>
      </p:sp>
      <p:sp>
        <p:nvSpPr>
          <p:cNvPr id="28" name="text-714-290-Mua hàng, chấm c">
            <a:extLst xmlns:a="http://schemas.openxmlformats.org/drawingml/2006/main">
              <a:ext uri="{FF2B5EF4-FFF2-40B4-BE49-F238E27FC236}">
                <a16:creationId xmlns:a16="http://schemas.microsoft.com/office/drawing/2014/main" id="{C5FAB223-6DFA-4169-8CCF-7C7717BF588F}"/>
              </a:ext>
            </a:extLst>
          </p:cNvPr>
          <p:cNvSpPr>
            <a:spLocks xmlns:a="http://schemas.openxmlformats.org/drawingml/2006/main" noGrp="1"/>
          </p:cNvSpPr>
          <p:nvPr/>
        </p:nvSpPr>
        <p:spPr>
          <a:xfrm xmlns:a="http://schemas.openxmlformats.org/drawingml/2006/main">
            <a:off x="6800850" y="27622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Mua hàng, chấm công, tính chi phí, điều hành sản xuất</a:t>
            </a:r>
          </a:p>
        </p:txBody>
      </p:sp>
      <p:sp>
        <p:nvSpPr>
          <p:cNvPr id="29" name="box-694-356">
            <a:extLst xmlns:a="http://schemas.openxmlformats.org/drawingml/2006/main">
              <a:ext uri="{FF2B5EF4-FFF2-40B4-BE49-F238E27FC236}">
                <a16:creationId xmlns:a16="http://schemas.microsoft.com/office/drawing/2014/main" id="{D9ADF660-32F6-4835-AB3E-5E3E70B3D91E}"/>
              </a:ext>
            </a:extLst>
          </p:cNvPr>
          <p:cNvSpPr>
            <a:spLocks xmlns:a="http://schemas.openxmlformats.org/drawingml/2006/main" noGrp="1"/>
          </p:cNvSpPr>
          <p:nvPr/>
        </p:nvSpPr>
        <p:spPr>
          <a:xfrm xmlns:a="http://schemas.openxmlformats.org/drawingml/2006/main">
            <a:off x="6610350" y="3390900"/>
            <a:ext cx="85725" cy="85725"/>
          </a:xfrm>
          <a:prstGeom xmlns:a="http://schemas.openxmlformats.org/drawingml/2006/main" prst="ellipse">
            <a:avLst/>
          </a:prstGeom>
          <a:solidFill xmlns:a="http://schemas.openxmlformats.org/drawingml/2006/main">
            <a:srgbClr val="7890A6"/>
          </a:solidFill>
          <a:ln xmlns:a="http://schemas.openxmlformats.org/drawingml/2006/main" w="0">
            <a:solidFill>
              <a:srgbClr val="7890A6"/>
            </a:solidFill>
            <a:prstDash val="solid"/>
          </a:ln>
        </p:spPr>
      </p:sp>
      <p:sp>
        <p:nvSpPr>
          <p:cNvPr id="30" name="text-714-348-Quản lý tiến độ ">
            <a:extLst xmlns:a="http://schemas.openxmlformats.org/drawingml/2006/main">
              <a:ext uri="{FF2B5EF4-FFF2-40B4-BE49-F238E27FC236}">
                <a16:creationId xmlns:a16="http://schemas.microsoft.com/office/drawing/2014/main" id="{4590C2E9-3C56-43B5-BE36-0A86F42B88F5}"/>
              </a:ext>
            </a:extLst>
          </p:cNvPr>
          <p:cNvSpPr>
            <a:spLocks xmlns:a="http://schemas.openxmlformats.org/drawingml/2006/main" noGrp="1"/>
          </p:cNvSpPr>
          <p:nvPr/>
        </p:nvSpPr>
        <p:spPr>
          <a:xfrm xmlns:a="http://schemas.openxmlformats.org/drawingml/2006/main">
            <a:off x="6800850" y="33147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Quản lý tiến độ dự án đầy đủ và ECR/ECO hoàn chỉnh</a:t>
            </a:r>
          </a:p>
        </p:txBody>
      </p:sp>
      <p:sp>
        <p:nvSpPr>
          <p:cNvPr id="31" name="box-694-414">
            <a:extLst xmlns:a="http://schemas.openxmlformats.org/drawingml/2006/main">
              <a:ext uri="{FF2B5EF4-FFF2-40B4-BE49-F238E27FC236}">
                <a16:creationId xmlns:a16="http://schemas.microsoft.com/office/drawing/2014/main" id="{BC5F00C1-2B40-4CB8-B0BD-B555FD44EC3D}"/>
              </a:ext>
            </a:extLst>
          </p:cNvPr>
          <p:cNvSpPr>
            <a:spLocks xmlns:a="http://schemas.openxmlformats.org/drawingml/2006/main" noGrp="1"/>
          </p:cNvSpPr>
          <p:nvPr/>
        </p:nvSpPr>
        <p:spPr>
          <a:xfrm xmlns:a="http://schemas.openxmlformats.org/drawingml/2006/main">
            <a:off x="6610350" y="3943350"/>
            <a:ext cx="85725" cy="85725"/>
          </a:xfrm>
          <a:prstGeom xmlns:a="http://schemas.openxmlformats.org/drawingml/2006/main" prst="ellipse">
            <a:avLst/>
          </a:prstGeom>
          <a:solidFill xmlns:a="http://schemas.openxmlformats.org/drawingml/2006/main">
            <a:srgbClr val="7890A6"/>
          </a:solidFill>
          <a:ln xmlns:a="http://schemas.openxmlformats.org/drawingml/2006/main" w="0">
            <a:solidFill>
              <a:srgbClr val="7890A6"/>
            </a:solidFill>
            <a:prstDash val="solid"/>
          </a:ln>
        </p:spPr>
      </p:sp>
      <p:sp>
        <p:nvSpPr>
          <p:cNvPr id="32" name="text-714-406-Multi-site, bulk">
            <a:extLst xmlns:a="http://schemas.openxmlformats.org/drawingml/2006/main">
              <a:ext uri="{FF2B5EF4-FFF2-40B4-BE49-F238E27FC236}">
                <a16:creationId xmlns:a16="http://schemas.microsoft.com/office/drawing/2014/main" id="{82B38FFB-9B6B-42AD-88DA-CDC910096D39}"/>
              </a:ext>
            </a:extLst>
          </p:cNvPr>
          <p:cNvSpPr>
            <a:spLocks xmlns:a="http://schemas.openxmlformats.org/drawingml/2006/main" noGrp="1"/>
          </p:cNvSpPr>
          <p:nvPr/>
        </p:nvSpPr>
        <p:spPr>
          <a:xfrm xmlns:a="http://schemas.openxmlformats.org/drawingml/2006/main">
            <a:off x="6800850" y="38671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Multi-site, bulk migration và bộ Purge tự động</a:t>
            </a:r>
          </a:p>
        </p:txBody>
      </p:sp>
      <p:sp>
        <p:nvSpPr>
          <p:cNvPr id="33" name="box-694-472">
            <a:extLst xmlns:a="http://schemas.openxmlformats.org/drawingml/2006/main">
              <a:ext uri="{FF2B5EF4-FFF2-40B4-BE49-F238E27FC236}">
                <a16:creationId xmlns:a16="http://schemas.microsoft.com/office/drawing/2014/main" id="{F46A17B3-CBD1-4AD2-881F-6726DDA8F260}"/>
              </a:ext>
            </a:extLst>
          </p:cNvPr>
          <p:cNvSpPr>
            <a:spLocks xmlns:a="http://schemas.openxmlformats.org/drawingml/2006/main" noGrp="1"/>
          </p:cNvSpPr>
          <p:nvPr/>
        </p:nvSpPr>
        <p:spPr>
          <a:xfrm xmlns:a="http://schemas.openxmlformats.org/drawingml/2006/main">
            <a:off x="6610350" y="4495800"/>
            <a:ext cx="85725" cy="85725"/>
          </a:xfrm>
          <a:prstGeom xmlns:a="http://schemas.openxmlformats.org/drawingml/2006/main" prst="ellipse">
            <a:avLst/>
          </a:prstGeom>
          <a:solidFill xmlns:a="http://schemas.openxmlformats.org/drawingml/2006/main">
            <a:srgbClr val="7890A6"/>
          </a:solidFill>
          <a:ln xmlns:a="http://schemas.openxmlformats.org/drawingml/2006/main" w="0">
            <a:solidFill>
              <a:srgbClr val="7890A6"/>
            </a:solidFill>
            <a:prstDash val="solid"/>
          </a:ln>
        </p:spPr>
      </p:sp>
      <p:sp>
        <p:nvSpPr>
          <p:cNvPr id="34" name="text-714-464-Trình thiết kế w">
            <a:extLst xmlns:a="http://schemas.openxmlformats.org/drawingml/2006/main">
              <a:ext uri="{FF2B5EF4-FFF2-40B4-BE49-F238E27FC236}">
                <a16:creationId xmlns:a16="http://schemas.microsoft.com/office/drawing/2014/main" id="{C2A998FD-598A-44EC-BE23-93F12D914D02}"/>
              </a:ext>
            </a:extLst>
          </p:cNvPr>
          <p:cNvSpPr>
            <a:spLocks xmlns:a="http://schemas.openxmlformats.org/drawingml/2006/main" noGrp="1"/>
          </p:cNvSpPr>
          <p:nvPr/>
        </p:nvSpPr>
        <p:spPr>
          <a:xfrm xmlns:a="http://schemas.openxmlformats.org/drawingml/2006/main">
            <a:off x="6800850" y="44196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Trình thiết kế workflow kéo-thả và thêm mọi CAD profile</a:t>
            </a:r>
          </a:p>
        </p:txBody>
      </p:sp>
      <p:sp>
        <p:nvSpPr>
          <p:cNvPr id="35" name="box-62-610">
            <a:extLst xmlns:a="http://schemas.openxmlformats.org/drawingml/2006/main">
              <a:ext uri="{FF2B5EF4-FFF2-40B4-BE49-F238E27FC236}">
                <a16:creationId xmlns:a16="http://schemas.microsoft.com/office/drawing/2014/main" id="{4E31F42C-949F-4F20-8B5F-27EF38D0714F}"/>
              </a:ext>
            </a:extLst>
          </p:cNvPr>
          <p:cNvSpPr>
            <a:spLocks xmlns:a="http://schemas.openxmlformats.org/drawingml/2006/main" noGrp="1"/>
          </p:cNvSpPr>
          <p:nvPr/>
        </p:nvSpPr>
        <p:spPr>
          <a:xfrm xmlns:a="http://schemas.openxmlformats.org/drawingml/2006/main">
            <a:off x="590550" y="5810250"/>
            <a:ext cx="11010900" cy="476250"/>
          </a:xfrm>
          <a:prstGeom xmlns:a="http://schemas.openxmlformats.org/drawingml/2006/main" prst="roundRect">
            <a:avLst>
              <a:gd name="adj" fmla="val 16000"/>
            </a:avLst>
          </a:prstGeom>
          <a:solidFill xmlns:a="http://schemas.openxmlformats.org/drawingml/2006/main">
            <a:srgbClr val="102744"/>
          </a:solidFill>
          <a:ln xmlns:a="http://schemas.openxmlformats.org/drawingml/2006/main" w="1143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Quyết định cần chốt: Đây có đúng là ranh giới năng lực Core v0 cần giải quyết trước không?</a:t>
            </a:r>
          </a:p>
        </p:txBody>
      </p:sp>
    </p:spTree>
    <p:extLst>
      <p:ext uri="{BB962C8B-B14F-4D97-AF65-F5344CB8AC3E}">
        <p14:creationId xmlns:p14="http://schemas.microsoft.com/office/powerpoint/2010/main" val="18832381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box-0-0">
            <a:extLst xmlns:a="http://schemas.openxmlformats.org/drawingml/2006/main">
              <a:ext uri="{FF2B5EF4-FFF2-40B4-BE49-F238E27FC236}">
                <a16:creationId xmlns:a16="http://schemas.microsoft.com/office/drawing/2014/main" id="{B7B344DC-18C9-4DE8-BBC3-888B46E7E85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169A8"/>
          </a:solidFill>
          <a:ln xmlns:a="http://schemas.openxmlformats.org/drawingml/2006/main" w="0">
            <a:noFill/>
            <a:prstDash val="solid"/>
          </a:ln>
        </p:spPr>
      </p:sp>
      <p:sp>
        <p:nvSpPr>
          <p:cNvPr id="2" name="text-54-28-SPEC">
            <a:extLst xmlns:a="http://schemas.openxmlformats.org/drawingml/2006/main">
              <a:ext uri="{FF2B5EF4-FFF2-40B4-BE49-F238E27FC236}">
                <a16:creationId xmlns:a16="http://schemas.microsoft.com/office/drawing/2014/main" id="{E8D35507-92A9-4149-9878-067C5D6CD2D2}"/>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Hệ thống ">
            <a:extLst xmlns:a="http://schemas.openxmlformats.org/drawingml/2006/main">
              <a:ext uri="{FF2B5EF4-FFF2-40B4-BE49-F238E27FC236}">
                <a16:creationId xmlns:a16="http://schemas.microsoft.com/office/drawing/2014/main" id="{AB52A751-2630-4EDE-B1E0-F78BDCC9CED3}"/>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Spec — Hệ thống bắt buộc phải vận hành đúng như thế nào?</a:t>
            </a:r>
          </a:p>
        </p:txBody>
      </p:sp>
      <p:sp>
        <p:nvSpPr>
          <p:cNvPr id="4" name="line-54-116">
            <a:extLst xmlns:a="http://schemas.openxmlformats.org/drawingml/2006/main">
              <a:ext uri="{FF2B5EF4-FFF2-40B4-BE49-F238E27FC236}">
                <a16:creationId xmlns:a16="http://schemas.microsoft.com/office/drawing/2014/main" id="{533F7723-00A8-4C79-B7FB-1423F29ABB2A}"/>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4@0">
            <a:extLst xmlns:a="http://schemas.openxmlformats.org/drawingml/2006/main">
              <a:ext uri="{FF2B5EF4-FFF2-40B4-BE49-F238E27FC236}">
                <a16:creationId xmlns:a16="http://schemas.microsoft.com/office/drawing/2014/main" id="{A1D50781-DF57-43BC-B1F8-DA449C56A49B}"/>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DOC-04@0.13 · VVP@0.16</a:t>
            </a:r>
          </a:p>
        </p:txBody>
      </p:sp>
      <p:sp>
        <p:nvSpPr>
          <p:cNvPr id="6" name="text-1170-680-05">
            <a:extLst xmlns:a="http://schemas.openxmlformats.org/drawingml/2006/main">
              <a:ext uri="{FF2B5EF4-FFF2-40B4-BE49-F238E27FC236}">
                <a16:creationId xmlns:a16="http://schemas.microsoft.com/office/drawing/2014/main" id="{5B69B3C3-2192-41B3-B1F1-B519FDE51E5A}"/>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05</a:t>
            </a:r>
          </a:p>
        </p:txBody>
      </p:sp>
      <p:sp>
        <p:nvSpPr>
          <p:cNvPr id="7" name="diagram-meta-5">
            <a:extLst xmlns:a="http://schemas.openxmlformats.org/drawingml/2006/main">
              <a:ext uri="{FF2B5EF4-FFF2-40B4-BE49-F238E27FC236}">
                <a16:creationId xmlns:a16="http://schemas.microsoft.com/office/drawing/2014/main" id="{B9B53906-98C5-4ABE-B20F-69700F7D0BB1}"/>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5">
            <a:extLst xmlns:a="http://schemas.openxmlformats.org/drawingml/2006/main">
              <a:ext uri="{FF2B5EF4-FFF2-40B4-BE49-F238E27FC236}">
                <a16:creationId xmlns:a16="http://schemas.microsoft.com/office/drawing/2014/main" id="{176FF4D7-DFEF-4B36-8E22-450420343F19}"/>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Presentation synthesis</a:t>
            </a:r>
          </a:p>
        </p:txBody>
      </p:sp>
      <p:sp>
        <p:nvSpPr>
          <p:cNvPr id="9" name="diagram-source-5">
            <a:extLst xmlns:a="http://schemas.openxmlformats.org/drawingml/2006/main">
              <a:ext uri="{FF2B5EF4-FFF2-40B4-BE49-F238E27FC236}">
                <a16:creationId xmlns:a16="http://schemas.microsoft.com/office/drawing/2014/main" id="{1BA56A64-0142-4F38-BB35-B25024F94A53}"/>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DOC-04 + VVP</a:t>
            </a:r>
          </a:p>
        </p:txBody>
      </p:sp>
      <p:sp>
        <p:nvSpPr>
          <p:cNvPr id="10" name="diagram-why-5">
            <a:extLst xmlns:a="http://schemas.openxmlformats.org/drawingml/2006/main">
              <a:ext uri="{FF2B5EF4-FFF2-40B4-BE49-F238E27FC236}">
                <a16:creationId xmlns:a16="http://schemas.microsoft.com/office/drawing/2014/main" id="{076CF2F4-99BF-4412-9703-8E2CE10CDC84}"/>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Phân biệt Feature, Spec và Tech</a:t>
            </a:r>
          </a:p>
        </p:txBody>
      </p:sp>
      <p:sp>
        <p:nvSpPr>
          <p:cNvPr id="11" name="box-64-210">
            <a:extLst xmlns:a="http://schemas.openxmlformats.org/drawingml/2006/main">
              <a:ext uri="{FF2B5EF4-FFF2-40B4-BE49-F238E27FC236}">
                <a16:creationId xmlns:a16="http://schemas.microsoft.com/office/drawing/2014/main" id="{F15470F3-8A00-4076-A568-6952EDAFB323}"/>
              </a:ext>
            </a:extLst>
          </p:cNvPr>
          <p:cNvSpPr>
            <a:spLocks xmlns:a="http://schemas.openxmlformats.org/drawingml/2006/main" noGrp="1"/>
          </p:cNvSpPr>
          <p:nvPr/>
        </p:nvSpPr>
        <p:spPr>
          <a:xfrm xmlns:a="http://schemas.openxmlformats.org/drawingml/2006/main">
            <a:off x="609600" y="2000250"/>
            <a:ext cx="2495550" cy="1371600"/>
          </a:xfrm>
          <a:prstGeom xmlns:a="http://schemas.openxmlformats.org/drawingml/2006/main" prst="roundRect">
            <a:avLst>
              <a:gd name="adj" fmla="val 5556"/>
            </a:avLst>
          </a:prstGeom>
          <a:solidFill xmlns:a="http://schemas.openxmlformats.org/drawingml/2006/main">
            <a:srgbClr val="E8F7F9"/>
          </a:solidFill>
          <a:ln xmlns:a="http://schemas.openxmlformats.org/drawingml/2006/main" w="14288">
            <a:solidFill>
              <a:srgbClr val="2F8FC2"/>
            </a:solidFill>
            <a:prstDash val="solid"/>
          </a:ln>
        </p:spPr>
      </p:sp>
      <p:sp>
        <p:nvSpPr>
          <p:cNvPr id="12" name="box-80-226">
            <a:extLst xmlns:a="http://schemas.openxmlformats.org/drawingml/2006/main">
              <a:ext uri="{FF2B5EF4-FFF2-40B4-BE49-F238E27FC236}">
                <a16:creationId xmlns:a16="http://schemas.microsoft.com/office/drawing/2014/main" id="{DC54E6CE-977F-494F-A653-451C2ED01B21}"/>
              </a:ext>
            </a:extLst>
          </p:cNvPr>
          <p:cNvSpPr>
            <a:spLocks xmlns:a="http://schemas.openxmlformats.org/drawingml/2006/main" noGrp="1"/>
          </p:cNvSpPr>
          <p:nvPr/>
        </p:nvSpPr>
        <p:spPr>
          <a:xfrm xmlns:a="http://schemas.openxmlformats.org/drawingml/2006/main">
            <a:off x="762000" y="2152650"/>
            <a:ext cx="361950" cy="361950"/>
          </a:xfrm>
          <a:prstGeom xmlns:a="http://schemas.openxmlformats.org/drawingml/2006/main" prst="ellipse">
            <a:avLst/>
          </a:prstGeom>
          <a:solidFill xmlns:a="http://schemas.openxmlformats.org/drawingml/2006/main">
            <a:srgbClr val="2F8FC2"/>
          </a:solidFill>
          <a:ln xmlns:a="http://schemas.openxmlformats.org/drawingml/2006/main" w="11430">
            <a:solidFill>
              <a:srgbClr val="2F8FC2"/>
            </a:solidFill>
            <a:prstDash val="solid"/>
          </a:ln>
        </p:spPr>
        <p:txBody>
          <a:bodyPr xmlns:a="http://schemas.openxmlformats.org/drawingml/2006/main">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3" name="text-132-225-FEATURE">
            <a:extLst xmlns:a="http://schemas.openxmlformats.org/drawingml/2006/main">
              <a:ext uri="{FF2B5EF4-FFF2-40B4-BE49-F238E27FC236}">
                <a16:creationId xmlns:a16="http://schemas.microsoft.com/office/drawing/2014/main" id="{EEC761B8-CB06-40F3-B292-36A0383F2D4B}"/>
              </a:ext>
            </a:extLst>
          </p:cNvPr>
          <p:cNvSpPr>
            <a:spLocks xmlns:a="http://schemas.openxmlformats.org/drawingml/2006/main" noGrp="1"/>
          </p:cNvSpPr>
          <p:nvPr/>
        </p:nvSpPr>
        <p:spPr>
          <a:xfrm xmlns:a="http://schemas.openxmlformats.org/drawingml/2006/main">
            <a:off x="1257300" y="2143125"/>
            <a:ext cx="1695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744"/>
                </a:solidFill>
                <a:latin typeface="Arial"/>
                <a:ea typeface="Arial"/>
                <a:cs typeface="Arial"/>
              </a:defRPr>
            </a:pPr>
            <a:r>
              <a:rPr sz="1800" b="1">
                <a:solidFill>
                  <a:srgbClr val="102744"/>
                </a:solidFill>
                <a:latin typeface="Arial"/>
                <a:ea typeface="Arial"/>
                <a:cs typeface="Arial"/>
              </a:rPr>
              <a:t>FEATURE</a:t>
            </a:r>
          </a:p>
        </p:txBody>
      </p:sp>
      <p:sp>
        <p:nvSpPr>
          <p:cNvPr id="14" name="text-84-276-Capability tồn t">
            <a:extLst xmlns:a="http://schemas.openxmlformats.org/drawingml/2006/main">
              <a:ext uri="{FF2B5EF4-FFF2-40B4-BE49-F238E27FC236}">
                <a16:creationId xmlns:a16="http://schemas.microsoft.com/office/drawing/2014/main" id="{3CF78A1A-A21D-4A08-92D5-D81C1F454CFB}"/>
              </a:ext>
            </a:extLst>
          </p:cNvPr>
          <p:cNvSpPr>
            <a:spLocks xmlns:a="http://schemas.openxmlformats.org/drawingml/2006/main" noGrp="1"/>
          </p:cNvSpPr>
          <p:nvPr/>
        </p:nvSpPr>
        <p:spPr>
          <a:xfrm xmlns:a="http://schemas.openxmlformats.org/drawingml/2006/main">
            <a:off x="800100" y="2628900"/>
            <a:ext cx="2114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75" b="0">
                <a:solidFill>
                  <a:srgbClr val="4B6075"/>
                </a:solidFill>
                <a:latin typeface="Arial"/>
                <a:ea typeface="Arial"/>
                <a:cs typeface="Arial"/>
              </a:defRPr>
            </a:pPr>
            <a:r>
              <a:rPr sz="1275" b="0">
                <a:solidFill>
                  <a:srgbClr val="4B6075"/>
                </a:solidFill>
                <a:latin typeface="Arial"/>
                <a:ea typeface="Arial"/>
                <a:cs typeface="Arial"/>
              </a:rPr>
              <a:t>Capability tồn tại và phạm vi được phép</a:t>
            </a:r>
          </a:p>
        </p:txBody>
      </p:sp>
      <p:sp>
        <p:nvSpPr>
          <p:cNvPr id="15" name="text-334-248-→">
            <a:extLst xmlns:a="http://schemas.openxmlformats.org/drawingml/2006/main">
              <a:ext uri="{FF2B5EF4-FFF2-40B4-BE49-F238E27FC236}">
                <a16:creationId xmlns:a16="http://schemas.microsoft.com/office/drawing/2014/main" id="{14F61A7E-3D60-4DC6-8DEF-144617C6A480}"/>
              </a:ext>
            </a:extLst>
          </p:cNvPr>
          <p:cNvSpPr>
            <a:spLocks xmlns:a="http://schemas.openxmlformats.org/drawingml/2006/main" noGrp="1"/>
          </p:cNvSpPr>
          <p:nvPr/>
        </p:nvSpPr>
        <p:spPr>
          <a:xfrm xmlns:a="http://schemas.openxmlformats.org/drawingml/2006/main">
            <a:off x="3181350" y="23622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2169A8"/>
                </a:solidFill>
                <a:latin typeface="Arial"/>
                <a:ea typeface="Arial"/>
                <a:cs typeface="Arial"/>
              </a:defRPr>
            </a:pPr>
            <a:r>
              <a:rPr sz="2550" b="1">
                <a:solidFill>
                  <a:srgbClr val="2169A8"/>
                </a:solidFill>
                <a:latin typeface="Arial"/>
                <a:ea typeface="Arial"/>
                <a:cs typeface="Arial"/>
              </a:rPr>
              <a:t>→</a:t>
            </a:r>
          </a:p>
        </p:txBody>
      </p:sp>
      <p:sp>
        <p:nvSpPr>
          <p:cNvPr id="16" name="box-396-150">
            <a:extLst xmlns:a="http://schemas.openxmlformats.org/drawingml/2006/main">
              <a:ext uri="{FF2B5EF4-FFF2-40B4-BE49-F238E27FC236}">
                <a16:creationId xmlns:a16="http://schemas.microsoft.com/office/drawing/2014/main" id="{485B67D4-BFDD-425A-BC18-F5A5948913C6}"/>
              </a:ext>
            </a:extLst>
          </p:cNvPr>
          <p:cNvSpPr>
            <a:spLocks xmlns:a="http://schemas.openxmlformats.org/drawingml/2006/main" noGrp="1"/>
          </p:cNvSpPr>
          <p:nvPr/>
        </p:nvSpPr>
        <p:spPr>
          <a:xfrm xmlns:a="http://schemas.openxmlformats.org/drawingml/2006/main">
            <a:off x="3771900" y="1428750"/>
            <a:ext cx="4648200" cy="3714750"/>
          </a:xfrm>
          <a:prstGeom xmlns:a="http://schemas.openxmlformats.org/drawingml/2006/main" prst="roundRect">
            <a:avLst>
              <a:gd name="adj" fmla="val 2051"/>
            </a:avLst>
          </a:prstGeom>
          <a:solidFill xmlns:a="http://schemas.openxmlformats.org/drawingml/2006/main">
            <a:srgbClr val="EAF3F9"/>
          </a:solidFill>
          <a:ln xmlns:a="http://schemas.openxmlformats.org/drawingml/2006/main" w="19050">
            <a:solidFill>
              <a:srgbClr val="2169A8"/>
            </a:solidFill>
            <a:prstDash val="solid"/>
          </a:ln>
        </p:spPr>
      </p:sp>
      <p:sp>
        <p:nvSpPr>
          <p:cNvPr id="17" name="box-454-170">
            <a:extLst xmlns:a="http://schemas.openxmlformats.org/drawingml/2006/main">
              <a:ext uri="{FF2B5EF4-FFF2-40B4-BE49-F238E27FC236}">
                <a16:creationId xmlns:a16="http://schemas.microsoft.com/office/drawing/2014/main" id="{80A4D024-6C8F-49EF-A3D6-7934044606C4}"/>
              </a:ext>
            </a:extLst>
          </p:cNvPr>
          <p:cNvSpPr>
            <a:spLocks xmlns:a="http://schemas.openxmlformats.org/drawingml/2006/main" noGrp="1"/>
          </p:cNvSpPr>
          <p:nvPr/>
        </p:nvSpPr>
        <p:spPr>
          <a:xfrm xmlns:a="http://schemas.openxmlformats.org/drawingml/2006/main">
            <a:off x="4324350" y="1619250"/>
            <a:ext cx="3543300" cy="323850"/>
          </a:xfrm>
          <a:prstGeom xmlns:a="http://schemas.openxmlformats.org/drawingml/2006/main" prst="roundRect">
            <a:avLst>
              <a:gd name="adj" fmla="val 23529"/>
            </a:avLst>
          </a:prstGeom>
          <a:solidFill xmlns:a="http://schemas.openxmlformats.org/drawingml/2006/main">
            <a:srgbClr val="2169A8"/>
          </a:solidFill>
          <a:ln xmlns:a="http://schemas.openxmlformats.org/drawingml/2006/main" w="762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SPEC = HỢP ĐỒNG ĐÚNG CỦA SẢN PHẨM</a:t>
            </a:r>
          </a:p>
        </p:txBody>
      </p:sp>
      <p:sp>
        <p:nvSpPr>
          <p:cNvPr id="18" name="box-426-232">
            <a:extLst xmlns:a="http://schemas.openxmlformats.org/drawingml/2006/main">
              <a:ext uri="{FF2B5EF4-FFF2-40B4-BE49-F238E27FC236}">
                <a16:creationId xmlns:a16="http://schemas.microsoft.com/office/drawing/2014/main" id="{988C92D7-9744-4B8B-87BF-6F3317838E0E}"/>
              </a:ext>
            </a:extLst>
          </p:cNvPr>
          <p:cNvSpPr>
            <a:spLocks xmlns:a="http://schemas.openxmlformats.org/drawingml/2006/main" noGrp="1"/>
          </p:cNvSpPr>
          <p:nvPr/>
        </p:nvSpPr>
        <p:spPr>
          <a:xfrm xmlns:a="http://schemas.openxmlformats.org/drawingml/2006/main">
            <a:off x="4057650" y="2209800"/>
            <a:ext cx="18859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75" b="0">
                <a:solidFill>
                  <a:srgbClr val="162638"/>
                </a:solidFill>
                <a:latin typeface="Arial"/>
                <a:ea typeface="Arial"/>
                <a:cs typeface="Arial"/>
              </a:defRPr>
            </a:pPr>
            <a:r>
              <a:rPr sz="1275" b="0">
                <a:solidFill>
                  <a:srgbClr val="162638"/>
                </a:solidFill>
                <a:latin typeface="Arial"/>
                <a:ea typeface="Arial"/>
                <a:cs typeface="Arial"/>
              </a:rPr>
              <a:t>Ngữ nghĩa thông tin</a:t>
            </a:r>
          </a:p>
        </p:txBody>
      </p:sp>
      <p:sp>
        <p:nvSpPr>
          <p:cNvPr id="19" name="box-646-232">
            <a:extLst xmlns:a="http://schemas.openxmlformats.org/drawingml/2006/main">
              <a:ext uri="{FF2B5EF4-FFF2-40B4-BE49-F238E27FC236}">
                <a16:creationId xmlns:a16="http://schemas.microsoft.com/office/drawing/2014/main" id="{5304BA69-4E98-435B-B751-88F583AD4962}"/>
              </a:ext>
            </a:extLst>
          </p:cNvPr>
          <p:cNvSpPr>
            <a:spLocks xmlns:a="http://schemas.openxmlformats.org/drawingml/2006/main" noGrp="1"/>
          </p:cNvSpPr>
          <p:nvPr/>
        </p:nvSpPr>
        <p:spPr>
          <a:xfrm xmlns:a="http://schemas.openxmlformats.org/drawingml/2006/main">
            <a:off x="6153150" y="2209800"/>
            <a:ext cx="18859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75" b="0">
                <a:solidFill>
                  <a:srgbClr val="162638"/>
                </a:solidFill>
                <a:latin typeface="Arial"/>
                <a:ea typeface="Arial"/>
                <a:cs typeface="Arial"/>
              </a:defRPr>
            </a:pPr>
            <a:r>
              <a:rPr sz="1275" b="0">
                <a:solidFill>
                  <a:srgbClr val="162638"/>
                </a:solidFill>
                <a:latin typeface="Arial"/>
                <a:ea typeface="Arial"/>
                <a:cs typeface="Arial"/>
              </a:rPr>
              <a:t>Chuyển trạng thái</a:t>
            </a:r>
          </a:p>
        </p:txBody>
      </p:sp>
      <p:sp>
        <p:nvSpPr>
          <p:cNvPr id="20" name="box-426-297">
            <a:extLst xmlns:a="http://schemas.openxmlformats.org/drawingml/2006/main">
              <a:ext uri="{FF2B5EF4-FFF2-40B4-BE49-F238E27FC236}">
                <a16:creationId xmlns:a16="http://schemas.microsoft.com/office/drawing/2014/main" id="{06AD927A-C22C-4E7A-BAB6-ED7E1267AB3E}"/>
              </a:ext>
            </a:extLst>
          </p:cNvPr>
          <p:cNvSpPr>
            <a:spLocks xmlns:a="http://schemas.openxmlformats.org/drawingml/2006/main" noGrp="1"/>
          </p:cNvSpPr>
          <p:nvPr/>
        </p:nvSpPr>
        <p:spPr>
          <a:xfrm xmlns:a="http://schemas.openxmlformats.org/drawingml/2006/main">
            <a:off x="4057650" y="2828925"/>
            <a:ext cx="18859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75" b="0">
                <a:solidFill>
                  <a:srgbClr val="162638"/>
                </a:solidFill>
                <a:latin typeface="Arial"/>
                <a:ea typeface="Arial"/>
                <a:cs typeface="Arial"/>
              </a:defRPr>
            </a:pPr>
            <a:r>
              <a:rPr sz="1275" b="0">
                <a:solidFill>
                  <a:srgbClr val="162638"/>
                </a:solidFill>
                <a:latin typeface="Arial"/>
                <a:ea typeface="Arial"/>
                <a:cs typeface="Arial"/>
              </a:rPr>
              <a:t>Quy tắc nghiệp vụ</a:t>
            </a:r>
          </a:p>
        </p:txBody>
      </p:sp>
      <p:sp>
        <p:nvSpPr>
          <p:cNvPr id="21" name="box-646-297">
            <a:extLst xmlns:a="http://schemas.openxmlformats.org/drawingml/2006/main">
              <a:ext uri="{FF2B5EF4-FFF2-40B4-BE49-F238E27FC236}">
                <a16:creationId xmlns:a16="http://schemas.microsoft.com/office/drawing/2014/main" id="{81E183C2-6D0C-499D-8354-BE090BCF003B}"/>
              </a:ext>
            </a:extLst>
          </p:cNvPr>
          <p:cNvSpPr>
            <a:spLocks xmlns:a="http://schemas.openxmlformats.org/drawingml/2006/main" noGrp="1"/>
          </p:cNvSpPr>
          <p:nvPr/>
        </p:nvSpPr>
        <p:spPr>
          <a:xfrm xmlns:a="http://schemas.openxmlformats.org/drawingml/2006/main">
            <a:off x="6153150" y="2828925"/>
            <a:ext cx="18859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75" b="0">
                <a:solidFill>
                  <a:srgbClr val="162638"/>
                </a:solidFill>
                <a:latin typeface="Arial"/>
                <a:ea typeface="Arial"/>
                <a:cs typeface="Arial"/>
              </a:defRPr>
            </a:pPr>
            <a:r>
              <a:rPr sz="1275" b="0">
                <a:solidFill>
                  <a:srgbClr val="162638"/>
                </a:solidFill>
                <a:latin typeface="Arial"/>
                <a:ea typeface="Arial"/>
                <a:cs typeface="Arial"/>
              </a:rPr>
              <a:t>Quyền và policy</a:t>
            </a:r>
          </a:p>
        </p:txBody>
      </p:sp>
      <p:sp>
        <p:nvSpPr>
          <p:cNvPr id="22" name="box-426-362">
            <a:extLst xmlns:a="http://schemas.openxmlformats.org/drawingml/2006/main">
              <a:ext uri="{FF2B5EF4-FFF2-40B4-BE49-F238E27FC236}">
                <a16:creationId xmlns:a16="http://schemas.microsoft.com/office/drawing/2014/main" id="{D1F9B517-9279-48E3-9B79-88E123280862}"/>
              </a:ext>
            </a:extLst>
          </p:cNvPr>
          <p:cNvSpPr>
            <a:spLocks xmlns:a="http://schemas.openxmlformats.org/drawingml/2006/main" noGrp="1"/>
          </p:cNvSpPr>
          <p:nvPr/>
        </p:nvSpPr>
        <p:spPr>
          <a:xfrm xmlns:a="http://schemas.openxmlformats.org/drawingml/2006/main">
            <a:off x="4057650" y="3448050"/>
            <a:ext cx="18859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75" b="0">
                <a:solidFill>
                  <a:srgbClr val="162638"/>
                </a:solidFill>
                <a:latin typeface="Arial"/>
                <a:ea typeface="Arial"/>
                <a:cs typeface="Arial"/>
              </a:defRPr>
            </a:pPr>
            <a:r>
              <a:rPr sz="1275" b="0">
                <a:solidFill>
                  <a:srgbClr val="162638"/>
                </a:solidFill>
                <a:latin typeface="Arial"/>
                <a:ea typeface="Arial"/>
                <a:cs typeface="Arial"/>
              </a:rPr>
              <a:t>Hành vi khi lỗi</a:t>
            </a:r>
          </a:p>
        </p:txBody>
      </p:sp>
      <p:sp>
        <p:nvSpPr>
          <p:cNvPr id="23" name="box-646-362">
            <a:extLst xmlns:a="http://schemas.openxmlformats.org/drawingml/2006/main">
              <a:ext uri="{FF2B5EF4-FFF2-40B4-BE49-F238E27FC236}">
                <a16:creationId xmlns:a16="http://schemas.microsoft.com/office/drawing/2014/main" id="{A3859E09-6AFF-4417-8157-F85F4C1F8B20}"/>
              </a:ext>
            </a:extLst>
          </p:cNvPr>
          <p:cNvSpPr>
            <a:spLocks xmlns:a="http://schemas.openxmlformats.org/drawingml/2006/main" noGrp="1"/>
          </p:cNvSpPr>
          <p:nvPr/>
        </p:nvSpPr>
        <p:spPr>
          <a:xfrm xmlns:a="http://schemas.openxmlformats.org/drawingml/2006/main">
            <a:off x="6153150" y="3448050"/>
            <a:ext cx="18859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75" b="0">
                <a:solidFill>
                  <a:srgbClr val="162638"/>
                </a:solidFill>
                <a:latin typeface="Arial"/>
                <a:ea typeface="Arial"/>
                <a:cs typeface="Arial"/>
              </a:defRPr>
            </a:pPr>
            <a:r>
              <a:rPr sz="1275" b="0">
                <a:solidFill>
                  <a:srgbClr val="162638"/>
                </a:solidFill>
                <a:latin typeface="Arial"/>
                <a:ea typeface="Arial"/>
                <a:cs typeface="Arial"/>
              </a:rPr>
              <a:t>Phục hồi và retry</a:t>
            </a:r>
          </a:p>
        </p:txBody>
      </p:sp>
      <p:sp>
        <p:nvSpPr>
          <p:cNvPr id="24" name="box-426-427">
            <a:extLst xmlns:a="http://schemas.openxmlformats.org/drawingml/2006/main">
              <a:ext uri="{FF2B5EF4-FFF2-40B4-BE49-F238E27FC236}">
                <a16:creationId xmlns:a16="http://schemas.microsoft.com/office/drawing/2014/main" id="{1EA57A6D-CDFE-4A96-A9AD-BC0657E837B4}"/>
              </a:ext>
            </a:extLst>
          </p:cNvPr>
          <p:cNvSpPr>
            <a:spLocks xmlns:a="http://schemas.openxmlformats.org/drawingml/2006/main" noGrp="1"/>
          </p:cNvSpPr>
          <p:nvPr/>
        </p:nvSpPr>
        <p:spPr>
          <a:xfrm xmlns:a="http://schemas.openxmlformats.org/drawingml/2006/main">
            <a:off x="4057650" y="4067175"/>
            <a:ext cx="407670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162638"/>
                </a:solidFill>
                <a:latin typeface="Arial"/>
                <a:ea typeface="Arial"/>
                <a:cs typeface="Arial"/>
              </a:defRPr>
            </a:pPr>
            <a:r>
              <a:rPr sz="1275" b="1">
                <a:solidFill>
                  <a:srgbClr val="162638"/>
                </a:solidFill>
                <a:latin typeface="Arial"/>
                <a:ea typeface="Arial"/>
                <a:cs typeface="Arial"/>
              </a:rPr>
              <a:t>Acceptance + Verification</a:t>
            </a:r>
          </a:p>
        </p:txBody>
      </p:sp>
      <p:sp>
        <p:nvSpPr>
          <p:cNvPr id="25" name="text-894-248-→">
            <a:extLst xmlns:a="http://schemas.openxmlformats.org/drawingml/2006/main">
              <a:ext uri="{FF2B5EF4-FFF2-40B4-BE49-F238E27FC236}">
                <a16:creationId xmlns:a16="http://schemas.microsoft.com/office/drawing/2014/main" id="{A3A46AE2-CE10-4628-93AC-4D6DA21C2B6E}"/>
              </a:ext>
            </a:extLst>
          </p:cNvPr>
          <p:cNvSpPr>
            <a:spLocks xmlns:a="http://schemas.openxmlformats.org/drawingml/2006/main" noGrp="1"/>
          </p:cNvSpPr>
          <p:nvPr/>
        </p:nvSpPr>
        <p:spPr>
          <a:xfrm xmlns:a="http://schemas.openxmlformats.org/drawingml/2006/main">
            <a:off x="8515350" y="23622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6C5AA8"/>
                </a:solidFill>
                <a:latin typeface="Arial"/>
                <a:ea typeface="Arial"/>
                <a:cs typeface="Arial"/>
              </a:defRPr>
            </a:pPr>
            <a:r>
              <a:rPr sz="2550" b="1">
                <a:solidFill>
                  <a:srgbClr val="6C5AA8"/>
                </a:solidFill>
                <a:latin typeface="Arial"/>
                <a:ea typeface="Arial"/>
                <a:cs typeface="Arial"/>
              </a:rPr>
              <a:t>→</a:t>
            </a:r>
          </a:p>
        </p:txBody>
      </p:sp>
      <p:sp>
        <p:nvSpPr>
          <p:cNvPr id="26" name="box-956-210">
            <a:extLst xmlns:a="http://schemas.openxmlformats.org/drawingml/2006/main">
              <a:ext uri="{FF2B5EF4-FFF2-40B4-BE49-F238E27FC236}">
                <a16:creationId xmlns:a16="http://schemas.microsoft.com/office/drawing/2014/main" id="{FB59B335-FC9B-4BB6-98FD-DD2D527B332E}"/>
              </a:ext>
            </a:extLst>
          </p:cNvPr>
          <p:cNvSpPr>
            <a:spLocks xmlns:a="http://schemas.openxmlformats.org/drawingml/2006/main" noGrp="1"/>
          </p:cNvSpPr>
          <p:nvPr/>
        </p:nvSpPr>
        <p:spPr>
          <a:xfrm xmlns:a="http://schemas.openxmlformats.org/drawingml/2006/main">
            <a:off x="9105900" y="2000250"/>
            <a:ext cx="2495550" cy="1371600"/>
          </a:xfrm>
          <a:prstGeom xmlns:a="http://schemas.openxmlformats.org/drawingml/2006/main" prst="roundRect">
            <a:avLst>
              <a:gd name="adj" fmla="val 5556"/>
            </a:avLst>
          </a:prstGeom>
          <a:solidFill xmlns:a="http://schemas.openxmlformats.org/drawingml/2006/main">
            <a:srgbClr val="F0EDFA"/>
          </a:solidFill>
          <a:ln xmlns:a="http://schemas.openxmlformats.org/drawingml/2006/main" w="14288">
            <a:solidFill>
              <a:srgbClr val="6C5AA8"/>
            </a:solidFill>
            <a:prstDash val="solid"/>
          </a:ln>
        </p:spPr>
      </p:sp>
      <p:sp>
        <p:nvSpPr>
          <p:cNvPr id="27" name="box-972-226">
            <a:extLst xmlns:a="http://schemas.openxmlformats.org/drawingml/2006/main">
              <a:ext uri="{FF2B5EF4-FFF2-40B4-BE49-F238E27FC236}">
                <a16:creationId xmlns:a16="http://schemas.microsoft.com/office/drawing/2014/main" id="{DB41D4FA-B4CF-4487-9377-484603C052A0}"/>
              </a:ext>
            </a:extLst>
          </p:cNvPr>
          <p:cNvSpPr>
            <a:spLocks xmlns:a="http://schemas.openxmlformats.org/drawingml/2006/main" noGrp="1"/>
          </p:cNvSpPr>
          <p:nvPr/>
        </p:nvSpPr>
        <p:spPr>
          <a:xfrm xmlns:a="http://schemas.openxmlformats.org/drawingml/2006/main">
            <a:off x="9258300" y="2152650"/>
            <a:ext cx="361950" cy="361950"/>
          </a:xfrm>
          <a:prstGeom xmlns:a="http://schemas.openxmlformats.org/drawingml/2006/main" prst="ellipse">
            <a:avLst/>
          </a:prstGeom>
          <a:solidFill xmlns:a="http://schemas.openxmlformats.org/drawingml/2006/main">
            <a:srgbClr val="6C5AA8"/>
          </a:solidFill>
          <a:ln xmlns:a="http://schemas.openxmlformats.org/drawingml/2006/main" w="11430">
            <a:solidFill>
              <a:srgbClr val="6C5AA8"/>
            </a:solidFill>
            <a:prstDash val="solid"/>
          </a:ln>
        </p:spPr>
        <p:txBody>
          <a:bodyPr xmlns:a="http://schemas.openxmlformats.org/drawingml/2006/main">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28" name="text-1024-225-TECH">
            <a:extLst xmlns:a="http://schemas.openxmlformats.org/drawingml/2006/main">
              <a:ext uri="{FF2B5EF4-FFF2-40B4-BE49-F238E27FC236}">
                <a16:creationId xmlns:a16="http://schemas.microsoft.com/office/drawing/2014/main" id="{58DD5649-B0E1-4FC7-91BB-DDB4ACE8DD29}"/>
              </a:ext>
            </a:extLst>
          </p:cNvPr>
          <p:cNvSpPr>
            <a:spLocks xmlns:a="http://schemas.openxmlformats.org/drawingml/2006/main" noGrp="1"/>
          </p:cNvSpPr>
          <p:nvPr/>
        </p:nvSpPr>
        <p:spPr>
          <a:xfrm xmlns:a="http://schemas.openxmlformats.org/drawingml/2006/main">
            <a:off x="9753600" y="2143125"/>
            <a:ext cx="1695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744"/>
                </a:solidFill>
                <a:latin typeface="Arial"/>
                <a:ea typeface="Arial"/>
                <a:cs typeface="Arial"/>
              </a:defRPr>
            </a:pPr>
            <a:r>
              <a:rPr sz="1800" b="1">
                <a:solidFill>
                  <a:srgbClr val="102744"/>
                </a:solidFill>
                <a:latin typeface="Arial"/>
                <a:ea typeface="Arial"/>
                <a:cs typeface="Arial"/>
              </a:rPr>
              <a:t>TECH</a:t>
            </a:r>
          </a:p>
        </p:txBody>
      </p:sp>
      <p:sp>
        <p:nvSpPr>
          <p:cNvPr id="29" name="text-976-276-Kiến trúc và côn">
            <a:extLst xmlns:a="http://schemas.openxmlformats.org/drawingml/2006/main">
              <a:ext uri="{FF2B5EF4-FFF2-40B4-BE49-F238E27FC236}">
                <a16:creationId xmlns:a16="http://schemas.microsoft.com/office/drawing/2014/main" id="{D77AD624-FFA7-4321-B14E-E8A992AE3718}"/>
              </a:ext>
            </a:extLst>
          </p:cNvPr>
          <p:cNvSpPr>
            <a:spLocks xmlns:a="http://schemas.openxmlformats.org/drawingml/2006/main" noGrp="1"/>
          </p:cNvSpPr>
          <p:nvPr/>
        </p:nvSpPr>
        <p:spPr>
          <a:xfrm xmlns:a="http://schemas.openxmlformats.org/drawingml/2006/main">
            <a:off x="9296400" y="2628900"/>
            <a:ext cx="2114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75" b="0">
                <a:solidFill>
                  <a:srgbClr val="4B6075"/>
                </a:solidFill>
                <a:latin typeface="Arial"/>
                <a:ea typeface="Arial"/>
                <a:cs typeface="Arial"/>
              </a:defRPr>
            </a:pPr>
            <a:r>
              <a:rPr sz="1275" b="0">
                <a:solidFill>
                  <a:srgbClr val="4B6075"/>
                </a:solidFill>
                <a:latin typeface="Arial"/>
                <a:ea typeface="Arial"/>
                <a:cs typeface="Arial"/>
              </a:rPr>
              <a:t>Kiến trúc và công nghệ đáp ứng contract</a:t>
            </a:r>
          </a:p>
        </p:txBody>
      </p:sp>
      <p:sp>
        <p:nvSpPr>
          <p:cNvPr id="30" name="box-410-568">
            <a:extLst xmlns:a="http://schemas.openxmlformats.org/drawingml/2006/main">
              <a:ext uri="{FF2B5EF4-FFF2-40B4-BE49-F238E27FC236}">
                <a16:creationId xmlns:a16="http://schemas.microsoft.com/office/drawing/2014/main" id="{D8E28EEB-349B-4358-BA89-94C04B24EFEB}"/>
              </a:ext>
            </a:extLst>
          </p:cNvPr>
          <p:cNvSpPr>
            <a:spLocks xmlns:a="http://schemas.openxmlformats.org/drawingml/2006/main" noGrp="1"/>
          </p:cNvSpPr>
          <p:nvPr/>
        </p:nvSpPr>
        <p:spPr>
          <a:xfrm xmlns:a="http://schemas.openxmlformats.org/drawingml/2006/main">
            <a:off x="3905250" y="5410200"/>
            <a:ext cx="4381500" cy="400050"/>
          </a:xfrm>
          <a:prstGeom xmlns:a="http://schemas.openxmlformats.org/drawingml/2006/main" prst="roundRect">
            <a:avLst>
              <a:gd name="adj" fmla="val 19048"/>
            </a:avLst>
          </a:prstGeom>
          <a:solidFill xmlns:a="http://schemas.openxmlformats.org/drawingml/2006/main">
            <a:srgbClr val="102744"/>
          </a:solidFill>
          <a:ln xmlns:a="http://schemas.openxmlformats.org/drawingml/2006/main" w="762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87 yêu cầu có thể truy vết trong SRS hiện hành</a:t>
            </a:r>
          </a:p>
        </p:txBody>
      </p:sp>
    </p:spTree>
    <p:extLst>
      <p:ext uri="{BB962C8B-B14F-4D97-AF65-F5344CB8AC3E}">
        <p14:creationId xmlns:p14="http://schemas.microsoft.com/office/powerpoint/2010/main" val="1999906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box-0-0">
            <a:extLst xmlns:a="http://schemas.openxmlformats.org/drawingml/2006/main">
              <a:ext uri="{FF2B5EF4-FFF2-40B4-BE49-F238E27FC236}">
                <a16:creationId xmlns:a16="http://schemas.microsoft.com/office/drawing/2014/main" id="{3D25EC72-8761-4B5E-B2A4-A4C3F16E5E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169A8"/>
          </a:solidFill>
          <a:ln xmlns:a="http://schemas.openxmlformats.org/drawingml/2006/main" w="0">
            <a:noFill/>
            <a:prstDash val="solid"/>
          </a:ln>
        </p:spPr>
      </p:sp>
      <p:sp>
        <p:nvSpPr>
          <p:cNvPr id="2" name="text-54-28-SPEC">
            <a:extLst xmlns:a="http://schemas.openxmlformats.org/drawingml/2006/main">
              <a:ext uri="{FF2B5EF4-FFF2-40B4-BE49-F238E27FC236}">
                <a16:creationId xmlns:a16="http://schemas.microsoft.com/office/drawing/2014/main" id="{8F316B1C-B600-4D94-ABDF-7969C70E5C87}"/>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Danh tính">
            <a:extLst xmlns:a="http://schemas.openxmlformats.org/drawingml/2006/main">
              <a:ext uri="{FF2B5EF4-FFF2-40B4-BE49-F238E27FC236}">
                <a16:creationId xmlns:a16="http://schemas.microsoft.com/office/drawing/2014/main" id="{6396C95E-F299-4773-8B37-A04A361E1E2A}"/>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Spec — Danh tính và lịch sử dữ liệu</a:t>
            </a:r>
          </a:p>
        </p:txBody>
      </p:sp>
      <p:sp>
        <p:nvSpPr>
          <p:cNvPr id="4" name="line-54-116">
            <a:extLst xmlns:a="http://schemas.openxmlformats.org/drawingml/2006/main">
              <a:ext uri="{FF2B5EF4-FFF2-40B4-BE49-F238E27FC236}">
                <a16:creationId xmlns:a16="http://schemas.microsoft.com/office/drawing/2014/main" id="{1B4F9049-F430-495B-B39E-4A1D054C7EBF}"/>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4@0">
            <a:extLst xmlns:a="http://schemas.openxmlformats.org/drawingml/2006/main">
              <a:ext uri="{FF2B5EF4-FFF2-40B4-BE49-F238E27FC236}">
                <a16:creationId xmlns:a16="http://schemas.microsoft.com/office/drawing/2014/main" id="{08117F0C-B047-427F-A646-988DD8EB15E8}"/>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DOC-06@0.16</a:t>
            </a:r>
          </a:p>
        </p:txBody>
      </p:sp>
      <p:sp>
        <p:nvSpPr>
          <p:cNvPr id="6" name="text-1170-680-06">
            <a:extLst xmlns:a="http://schemas.openxmlformats.org/drawingml/2006/main">
              <a:ext uri="{FF2B5EF4-FFF2-40B4-BE49-F238E27FC236}">
                <a16:creationId xmlns:a16="http://schemas.microsoft.com/office/drawing/2014/main" id="{18B90DE9-5061-48D9-9BC1-89A30E2B99F0}"/>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06</a:t>
            </a:r>
          </a:p>
        </p:txBody>
      </p:sp>
      <p:sp>
        <p:nvSpPr>
          <p:cNvPr id="7" name="diagram-meta-6">
            <a:extLst xmlns:a="http://schemas.openxmlformats.org/drawingml/2006/main">
              <a:ext uri="{FF2B5EF4-FFF2-40B4-BE49-F238E27FC236}">
                <a16:creationId xmlns:a16="http://schemas.microsoft.com/office/drawing/2014/main" id="{813A710F-C134-4197-8B5A-01158F64D4EB}"/>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6">
            <a:extLst xmlns:a="http://schemas.openxmlformats.org/drawingml/2006/main">
              <a:ext uri="{FF2B5EF4-FFF2-40B4-BE49-F238E27FC236}">
                <a16:creationId xmlns:a16="http://schemas.microsoft.com/office/drawing/2014/main" id="{FEBB18C2-DE14-4898-9063-B1821210E0B4}"/>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Management simplification</a:t>
            </a:r>
          </a:p>
        </p:txBody>
      </p:sp>
      <p:sp>
        <p:nvSpPr>
          <p:cNvPr id="9" name="diagram-source-6">
            <a:extLst xmlns:a="http://schemas.openxmlformats.org/drawingml/2006/main">
              <a:ext uri="{FF2B5EF4-FFF2-40B4-BE49-F238E27FC236}">
                <a16:creationId xmlns:a16="http://schemas.microsoft.com/office/drawing/2014/main" id="{D037504F-E26C-44B7-9983-F777B8EA3E4E}"/>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DATA-VIEW-CORE-001</a:t>
            </a:r>
          </a:p>
        </p:txBody>
      </p:sp>
      <p:sp>
        <p:nvSpPr>
          <p:cNvPr id="10" name="diagram-why-6">
            <a:extLst xmlns:a="http://schemas.openxmlformats.org/drawingml/2006/main">
              <a:ext uri="{FF2B5EF4-FFF2-40B4-BE49-F238E27FC236}">
                <a16:creationId xmlns:a16="http://schemas.microsoft.com/office/drawing/2014/main" id="{35F9C09A-EFEB-4742-BEF2-2DAD454E9EE4}"/>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Giải thích lịch sử dữ liệu</a:t>
            </a:r>
          </a:p>
        </p:txBody>
      </p:sp>
      <p:sp>
        <p:nvSpPr>
          <p:cNvPr id="11" name="source-link-6-DATA-VIEW-CORE-001">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5A220372-5338-431C-8AD4-7136B1B75DAF}"/>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DATA-VIEW-CORE-001 — Released baseline identity</a:t>
            </a:r>
          </a:p>
        </p:txBody>
      </p:sp>
      <p:sp>
        <p:nvSpPr>
          <p:cNvPr id="12" name="box-64-154">
            <a:extLst xmlns:a="http://schemas.openxmlformats.org/drawingml/2006/main">
              <a:ext uri="{FF2B5EF4-FFF2-40B4-BE49-F238E27FC236}">
                <a16:creationId xmlns:a16="http://schemas.microsoft.com/office/drawing/2014/main" id="{930EFA6F-84B5-428A-9DC5-5B88D18D11DF}"/>
              </a:ext>
            </a:extLst>
          </p:cNvPr>
          <p:cNvSpPr>
            <a:spLocks xmlns:a="http://schemas.openxmlformats.org/drawingml/2006/main" noGrp="1"/>
          </p:cNvSpPr>
          <p:nvPr/>
        </p:nvSpPr>
        <p:spPr>
          <a:xfrm xmlns:a="http://schemas.openxmlformats.org/drawingml/2006/main">
            <a:off x="609600" y="1466850"/>
            <a:ext cx="2857500" cy="4381500"/>
          </a:xfrm>
          <a:prstGeom xmlns:a="http://schemas.openxmlformats.org/drawingml/2006/main" prst="roundRect">
            <a:avLst>
              <a:gd name="adj" fmla="val 2667"/>
            </a:avLst>
          </a:prstGeom>
          <a:solidFill xmlns:a="http://schemas.openxmlformats.org/drawingml/2006/main">
            <a:srgbClr val="102744"/>
          </a:solidFill>
          <a:ln xmlns:a="http://schemas.openxmlformats.org/drawingml/2006/main" w="11430">
            <a:solidFill>
              <a:srgbClr val="102744"/>
            </a:solidFill>
            <a:prstDash val="solid"/>
          </a:ln>
        </p:spPr>
      </p:sp>
      <p:sp>
        <p:nvSpPr>
          <p:cNvPr id="13" name="text-102-196-LOGICAL&#10;DOCUMENT">
            <a:extLst xmlns:a="http://schemas.openxmlformats.org/drawingml/2006/main">
              <a:ext uri="{FF2B5EF4-FFF2-40B4-BE49-F238E27FC236}">
                <a16:creationId xmlns:a16="http://schemas.microsoft.com/office/drawing/2014/main" id="{5A6416D4-84EA-4E32-A141-CCCD4A2287B7}"/>
              </a:ext>
            </a:extLst>
          </p:cNvPr>
          <p:cNvSpPr>
            <a:spLocks xmlns:a="http://schemas.openxmlformats.org/drawingml/2006/main" noGrp="1"/>
          </p:cNvSpPr>
          <p:nvPr/>
        </p:nvSpPr>
        <p:spPr>
          <a:xfrm xmlns:a="http://schemas.openxmlformats.org/drawingml/2006/main">
            <a:off x="971550" y="1866900"/>
            <a:ext cx="2133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LOGICAL</a:t>
            </a:r>
          </a:p>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DOCUMENT</a:t>
            </a:r>
          </a:p>
        </p:txBody>
      </p:sp>
      <p:sp>
        <p:nvSpPr>
          <p:cNvPr id="14" name="text-94-307-Danh tính ổn địn">
            <a:extLst xmlns:a="http://schemas.openxmlformats.org/drawingml/2006/main">
              <a:ext uri="{FF2B5EF4-FFF2-40B4-BE49-F238E27FC236}">
                <a16:creationId xmlns:a16="http://schemas.microsoft.com/office/drawing/2014/main" id="{2A56F801-2F21-4AFC-851B-C9CCB5053034}"/>
              </a:ext>
            </a:extLst>
          </p:cNvPr>
          <p:cNvSpPr>
            <a:spLocks xmlns:a="http://schemas.openxmlformats.org/drawingml/2006/main" noGrp="1"/>
          </p:cNvSpPr>
          <p:nvPr/>
        </p:nvSpPr>
        <p:spPr>
          <a:xfrm xmlns:a="http://schemas.openxmlformats.org/drawingml/2006/main">
            <a:off x="895350" y="2924175"/>
            <a:ext cx="228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0">
                <a:solidFill>
                  <a:srgbClr val="C9DBEA"/>
                </a:solidFill>
                <a:latin typeface="Arial"/>
                <a:ea typeface="Arial"/>
                <a:cs typeface="Arial"/>
              </a:defRPr>
            </a:pPr>
            <a:r>
              <a:rPr sz="1425" b="0">
                <a:solidFill>
                  <a:srgbClr val="C9DBEA"/>
                </a:solidFill>
                <a:latin typeface="Arial"/>
                <a:ea typeface="Arial"/>
                <a:cs typeface="Arial"/>
              </a:rPr>
              <a:t>Danh tính ổn định</a:t>
            </a:r>
          </a:p>
          <a:p xmlns:a="http://schemas.openxmlformats.org/drawingml/2006/main">
            <a:pPr algn="ctr">
              <a:defRPr sz="1425" b="0">
                <a:solidFill>
                  <a:srgbClr val="C9DBEA"/>
                </a:solidFill>
                <a:latin typeface="Arial"/>
                <a:ea typeface="Arial"/>
                <a:cs typeface="Arial"/>
              </a:defRPr>
            </a:pPr>
            <a:r>
              <a:rPr sz="1425" b="0">
                <a:solidFill>
                  <a:srgbClr val="C9DBEA"/>
                </a:solidFill>
                <a:latin typeface="Arial"/>
                <a:ea typeface="Arial"/>
                <a:cs typeface="Arial"/>
              </a:rPr>
              <a:t>qua toàn bộ lịch sử</a:t>
            </a:r>
          </a:p>
        </p:txBody>
      </p:sp>
      <p:sp>
        <p:nvSpPr>
          <p:cNvPr id="15" name="box-100-420">
            <a:extLst xmlns:a="http://schemas.openxmlformats.org/drawingml/2006/main">
              <a:ext uri="{FF2B5EF4-FFF2-40B4-BE49-F238E27FC236}">
                <a16:creationId xmlns:a16="http://schemas.microsoft.com/office/drawing/2014/main" id="{33BA2912-179B-408A-9019-33AC8A96F143}"/>
              </a:ext>
            </a:extLst>
          </p:cNvPr>
          <p:cNvSpPr>
            <a:spLocks xmlns:a="http://schemas.openxmlformats.org/drawingml/2006/main" noGrp="1"/>
          </p:cNvSpPr>
          <p:nvPr/>
        </p:nvSpPr>
        <p:spPr>
          <a:xfrm xmlns:a="http://schemas.openxmlformats.org/drawingml/2006/main">
            <a:off x="952500" y="4000500"/>
            <a:ext cx="2171700" cy="323850"/>
          </a:xfrm>
          <a:prstGeom xmlns:a="http://schemas.openxmlformats.org/drawingml/2006/main" prst="roundRect">
            <a:avLst>
              <a:gd name="adj" fmla="val 23529"/>
            </a:avLst>
          </a:prstGeom>
          <a:solidFill xmlns:a="http://schemas.openxmlformats.org/drawingml/2006/main">
            <a:srgbClr val="26496E"/>
          </a:solidFill>
          <a:ln xmlns:a="http://schemas.openxmlformats.org/drawingml/2006/main" w="7620">
            <a:solidFill>
              <a:srgbClr val="26496E"/>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Đổi tên ≠ tài liệu mới</a:t>
            </a:r>
          </a:p>
        </p:txBody>
      </p:sp>
      <p:sp>
        <p:nvSpPr>
          <p:cNvPr id="16" name="box-82-474">
            <a:extLst xmlns:a="http://schemas.openxmlformats.org/drawingml/2006/main">
              <a:ext uri="{FF2B5EF4-FFF2-40B4-BE49-F238E27FC236}">
                <a16:creationId xmlns:a16="http://schemas.microsoft.com/office/drawing/2014/main" id="{34A11FDA-DECB-4E18-8ED7-DF0EF102460E}"/>
              </a:ext>
            </a:extLst>
          </p:cNvPr>
          <p:cNvSpPr>
            <a:spLocks xmlns:a="http://schemas.openxmlformats.org/drawingml/2006/main" noGrp="1"/>
          </p:cNvSpPr>
          <p:nvPr/>
        </p:nvSpPr>
        <p:spPr>
          <a:xfrm xmlns:a="http://schemas.openxmlformats.org/drawingml/2006/main">
            <a:off x="781050" y="4514850"/>
            <a:ext cx="2514600" cy="323850"/>
          </a:xfrm>
          <a:prstGeom xmlns:a="http://schemas.openxmlformats.org/drawingml/2006/main" prst="roundRect">
            <a:avLst>
              <a:gd name="adj" fmla="val 23529"/>
            </a:avLst>
          </a:prstGeom>
          <a:solidFill xmlns:a="http://schemas.openxmlformats.org/drawingml/2006/main">
            <a:srgbClr val="26496E"/>
          </a:solidFill>
          <a:ln xmlns:a="http://schemas.openxmlformats.org/drawingml/2006/main" w="7620">
            <a:solidFill>
              <a:srgbClr val="26496E"/>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Published Generation bất biến</a:t>
            </a:r>
          </a:p>
        </p:txBody>
      </p:sp>
      <p:sp>
        <p:nvSpPr>
          <p:cNvPr id="17" name="text-370-330-→">
            <a:extLst xmlns:a="http://schemas.openxmlformats.org/drawingml/2006/main">
              <a:ext uri="{FF2B5EF4-FFF2-40B4-BE49-F238E27FC236}">
                <a16:creationId xmlns:a16="http://schemas.microsoft.com/office/drawing/2014/main" id="{D0DED99B-E6DE-4458-8654-4D03CD481D6B}"/>
              </a:ext>
            </a:extLst>
          </p:cNvPr>
          <p:cNvSpPr>
            <a:spLocks xmlns:a="http://schemas.openxmlformats.org/drawingml/2006/main" noGrp="1"/>
          </p:cNvSpPr>
          <p:nvPr/>
        </p:nvSpPr>
        <p:spPr>
          <a:xfrm xmlns:a="http://schemas.openxmlformats.org/drawingml/2006/main">
            <a:off x="3524250" y="31432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2169A8"/>
                </a:solidFill>
                <a:latin typeface="Arial"/>
                <a:ea typeface="Arial"/>
                <a:cs typeface="Arial"/>
              </a:defRPr>
            </a:pPr>
            <a:r>
              <a:rPr sz="2700" b="1">
                <a:solidFill>
                  <a:srgbClr val="2169A8"/>
                </a:solidFill>
                <a:latin typeface="Arial"/>
                <a:ea typeface="Arial"/>
                <a:cs typeface="Arial"/>
              </a:rPr>
              <a:t>→</a:t>
            </a:r>
          </a:p>
        </p:txBody>
      </p:sp>
      <p:sp>
        <p:nvSpPr>
          <p:cNvPr id="18" name="box-430-150">
            <a:extLst xmlns:a="http://schemas.openxmlformats.org/drawingml/2006/main">
              <a:ext uri="{FF2B5EF4-FFF2-40B4-BE49-F238E27FC236}">
                <a16:creationId xmlns:a16="http://schemas.microsoft.com/office/drawing/2014/main" id="{2F5FFDF3-4C1D-41F9-AAB4-381D23367805}"/>
              </a:ext>
            </a:extLst>
          </p:cNvPr>
          <p:cNvSpPr>
            <a:spLocks xmlns:a="http://schemas.openxmlformats.org/drawingml/2006/main" noGrp="1"/>
          </p:cNvSpPr>
          <p:nvPr/>
        </p:nvSpPr>
        <p:spPr>
          <a:xfrm xmlns:a="http://schemas.openxmlformats.org/drawingml/2006/main">
            <a:off x="4095750" y="1428750"/>
            <a:ext cx="3333750" cy="4419600"/>
          </a:xfrm>
          <a:prstGeom xmlns:a="http://schemas.openxmlformats.org/drawingml/2006/main" prst="roundRect">
            <a:avLst>
              <a:gd name="adj" fmla="val 2286"/>
            </a:avLst>
          </a:prstGeom>
          <a:solidFill xmlns:a="http://schemas.openxmlformats.org/drawingml/2006/main">
            <a:srgbClr val="EAF3F9"/>
          </a:solidFill>
          <a:ln xmlns:a="http://schemas.openxmlformats.org/drawingml/2006/main" w="14288">
            <a:solidFill>
              <a:srgbClr val="2169A8"/>
            </a:solidFill>
            <a:prstDash val="solid"/>
          </a:ln>
        </p:spPr>
      </p:sp>
      <p:sp>
        <p:nvSpPr>
          <p:cNvPr id="19" name="box-454-170">
            <a:extLst xmlns:a="http://schemas.openxmlformats.org/drawingml/2006/main">
              <a:ext uri="{FF2B5EF4-FFF2-40B4-BE49-F238E27FC236}">
                <a16:creationId xmlns:a16="http://schemas.microsoft.com/office/drawing/2014/main" id="{6023647C-B7CE-4EB5-9208-7B3EB92BA214}"/>
              </a:ext>
            </a:extLst>
          </p:cNvPr>
          <p:cNvSpPr>
            <a:spLocks xmlns:a="http://schemas.openxmlformats.org/drawingml/2006/main" noGrp="1"/>
          </p:cNvSpPr>
          <p:nvPr/>
        </p:nvSpPr>
        <p:spPr>
          <a:xfrm xmlns:a="http://schemas.openxmlformats.org/drawingml/2006/main">
            <a:off x="4324350" y="1619250"/>
            <a:ext cx="2876550" cy="323850"/>
          </a:xfrm>
          <a:prstGeom xmlns:a="http://schemas.openxmlformats.org/drawingml/2006/main" prst="roundRect">
            <a:avLst>
              <a:gd name="adj" fmla="val 23529"/>
            </a:avLst>
          </a:prstGeom>
          <a:solidFill xmlns:a="http://schemas.openxmlformats.org/drawingml/2006/main">
            <a:srgbClr val="2169A8"/>
          </a:solidFill>
          <a:ln xmlns:a="http://schemas.openxmlformats.org/drawingml/2006/main" w="762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BUSINESS REVISION A</a:t>
            </a:r>
          </a:p>
        </p:txBody>
      </p:sp>
      <p:sp>
        <p:nvSpPr>
          <p:cNvPr id="20" name="box-468-242">
            <a:extLst xmlns:a="http://schemas.openxmlformats.org/drawingml/2006/main">
              <a:ext uri="{FF2B5EF4-FFF2-40B4-BE49-F238E27FC236}">
                <a16:creationId xmlns:a16="http://schemas.microsoft.com/office/drawing/2014/main" id="{5855A8AC-6366-403D-8B8B-578448B0AEE3}"/>
              </a:ext>
            </a:extLst>
          </p:cNvPr>
          <p:cNvSpPr>
            <a:spLocks xmlns:a="http://schemas.openxmlformats.org/drawingml/2006/main" noGrp="1"/>
          </p:cNvSpPr>
          <p:nvPr/>
        </p:nvSpPr>
        <p:spPr>
          <a:xfrm xmlns:a="http://schemas.openxmlformats.org/drawingml/2006/main">
            <a:off x="4457700" y="2305050"/>
            <a:ext cx="12192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162638"/>
                </a:solidFill>
                <a:latin typeface="Arial"/>
                <a:ea typeface="Arial"/>
                <a:cs typeface="Arial"/>
              </a:defRPr>
            </a:pPr>
            <a:r>
              <a:rPr sz="1425" b="1">
                <a:solidFill>
                  <a:srgbClr val="162638"/>
                </a:solidFill>
                <a:latin typeface="Arial"/>
                <a:ea typeface="Arial"/>
                <a:cs typeface="Arial"/>
              </a:rPr>
              <a:t>Version 1</a:t>
            </a:r>
          </a:p>
        </p:txBody>
      </p:sp>
      <p:sp>
        <p:nvSpPr>
          <p:cNvPr id="21" name="text-600-248-→">
            <a:extLst xmlns:a="http://schemas.openxmlformats.org/drawingml/2006/main">
              <a:ext uri="{FF2B5EF4-FFF2-40B4-BE49-F238E27FC236}">
                <a16:creationId xmlns:a16="http://schemas.microsoft.com/office/drawing/2014/main" id="{75138AF2-FF60-4966-ABB6-368232669D16}"/>
              </a:ext>
            </a:extLst>
          </p:cNvPr>
          <p:cNvSpPr>
            <a:spLocks xmlns:a="http://schemas.openxmlformats.org/drawingml/2006/main" noGrp="1"/>
          </p:cNvSpPr>
          <p:nvPr/>
        </p:nvSpPr>
        <p:spPr>
          <a:xfrm xmlns:a="http://schemas.openxmlformats.org/drawingml/2006/main">
            <a:off x="5715000" y="23622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7890A6"/>
                </a:solidFill>
                <a:latin typeface="Arial"/>
                <a:ea typeface="Arial"/>
                <a:cs typeface="Arial"/>
              </a:defRPr>
            </a:pPr>
            <a:r>
              <a:rPr sz="2100" b="1">
                <a:solidFill>
                  <a:srgbClr val="7890A6"/>
                </a:solidFill>
                <a:latin typeface="Arial"/>
                <a:ea typeface="Arial"/>
                <a:cs typeface="Arial"/>
              </a:rPr>
              <a:t>→</a:t>
            </a:r>
          </a:p>
        </p:txBody>
      </p:sp>
      <p:sp>
        <p:nvSpPr>
          <p:cNvPr id="22" name="box-650-242">
            <a:extLst xmlns:a="http://schemas.openxmlformats.org/drawingml/2006/main">
              <a:ext uri="{FF2B5EF4-FFF2-40B4-BE49-F238E27FC236}">
                <a16:creationId xmlns:a16="http://schemas.microsoft.com/office/drawing/2014/main" id="{0D404A12-1BAE-46F3-BA17-5EF4A0FED944}"/>
              </a:ext>
            </a:extLst>
          </p:cNvPr>
          <p:cNvSpPr>
            <a:spLocks xmlns:a="http://schemas.openxmlformats.org/drawingml/2006/main" noGrp="1"/>
          </p:cNvSpPr>
          <p:nvPr/>
        </p:nvSpPr>
        <p:spPr>
          <a:xfrm xmlns:a="http://schemas.openxmlformats.org/drawingml/2006/main">
            <a:off x="6191250" y="2305050"/>
            <a:ext cx="895350" cy="590550"/>
          </a:xfrm>
          <a:prstGeom xmlns:a="http://schemas.openxmlformats.org/drawingml/2006/main" prst="roundRect">
            <a:avLst>
              <a:gd name="adj" fmla="val 12903"/>
            </a:avLst>
          </a:prstGeom>
          <a:solidFill xmlns:a="http://schemas.openxmlformats.org/drawingml/2006/main">
            <a:srgbClr val="E7F5EE"/>
          </a:solidFill>
          <a:ln xmlns:a="http://schemas.openxmlformats.org/drawingml/2006/main" w="1143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2D8A62"/>
                </a:solidFill>
                <a:latin typeface="Arial"/>
                <a:ea typeface="Arial"/>
                <a:cs typeface="Arial"/>
              </a:defRPr>
            </a:pPr>
            <a:r>
              <a:rPr sz="1425" b="1">
                <a:solidFill>
                  <a:srgbClr val="2D8A62"/>
                </a:solidFill>
                <a:latin typeface="Arial"/>
                <a:ea typeface="Arial"/>
                <a:cs typeface="Arial"/>
              </a:rPr>
              <a:t>G001</a:t>
            </a:r>
          </a:p>
        </p:txBody>
      </p:sp>
      <p:sp>
        <p:nvSpPr>
          <p:cNvPr id="23" name="box-468-346">
            <a:extLst xmlns:a="http://schemas.openxmlformats.org/drawingml/2006/main">
              <a:ext uri="{FF2B5EF4-FFF2-40B4-BE49-F238E27FC236}">
                <a16:creationId xmlns:a16="http://schemas.microsoft.com/office/drawing/2014/main" id="{6A73C57B-8866-48BB-935B-0CE0A097D315}"/>
              </a:ext>
            </a:extLst>
          </p:cNvPr>
          <p:cNvSpPr>
            <a:spLocks xmlns:a="http://schemas.openxmlformats.org/drawingml/2006/main" noGrp="1"/>
          </p:cNvSpPr>
          <p:nvPr/>
        </p:nvSpPr>
        <p:spPr>
          <a:xfrm xmlns:a="http://schemas.openxmlformats.org/drawingml/2006/main">
            <a:off x="4457700" y="3295650"/>
            <a:ext cx="12192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162638"/>
                </a:solidFill>
                <a:latin typeface="Arial"/>
                <a:ea typeface="Arial"/>
                <a:cs typeface="Arial"/>
              </a:defRPr>
            </a:pPr>
            <a:r>
              <a:rPr sz="1425" b="1">
                <a:solidFill>
                  <a:srgbClr val="162638"/>
                </a:solidFill>
                <a:latin typeface="Arial"/>
                <a:ea typeface="Arial"/>
                <a:cs typeface="Arial"/>
              </a:rPr>
              <a:t>Version 2</a:t>
            </a:r>
          </a:p>
        </p:txBody>
      </p:sp>
      <p:sp>
        <p:nvSpPr>
          <p:cNvPr id="24" name="text-600-352-→">
            <a:extLst xmlns:a="http://schemas.openxmlformats.org/drawingml/2006/main">
              <a:ext uri="{FF2B5EF4-FFF2-40B4-BE49-F238E27FC236}">
                <a16:creationId xmlns:a16="http://schemas.microsoft.com/office/drawing/2014/main" id="{C2F08622-AB7E-43D3-8B15-E27EE66C822C}"/>
              </a:ext>
            </a:extLst>
          </p:cNvPr>
          <p:cNvSpPr>
            <a:spLocks xmlns:a="http://schemas.openxmlformats.org/drawingml/2006/main" noGrp="1"/>
          </p:cNvSpPr>
          <p:nvPr/>
        </p:nvSpPr>
        <p:spPr>
          <a:xfrm xmlns:a="http://schemas.openxmlformats.org/drawingml/2006/main">
            <a:off x="5715000" y="33528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7890A6"/>
                </a:solidFill>
                <a:latin typeface="Arial"/>
                <a:ea typeface="Arial"/>
                <a:cs typeface="Arial"/>
              </a:defRPr>
            </a:pPr>
            <a:r>
              <a:rPr sz="2100" b="1">
                <a:solidFill>
                  <a:srgbClr val="7890A6"/>
                </a:solidFill>
                <a:latin typeface="Arial"/>
                <a:ea typeface="Arial"/>
                <a:cs typeface="Arial"/>
              </a:rPr>
              <a:t>→</a:t>
            </a:r>
          </a:p>
        </p:txBody>
      </p:sp>
      <p:sp>
        <p:nvSpPr>
          <p:cNvPr id="25" name="box-650-346">
            <a:extLst xmlns:a="http://schemas.openxmlformats.org/drawingml/2006/main">
              <a:ext uri="{FF2B5EF4-FFF2-40B4-BE49-F238E27FC236}">
                <a16:creationId xmlns:a16="http://schemas.microsoft.com/office/drawing/2014/main" id="{EA23FC5E-41FC-448E-9FB1-5E2FA14FD666}"/>
              </a:ext>
            </a:extLst>
          </p:cNvPr>
          <p:cNvSpPr>
            <a:spLocks xmlns:a="http://schemas.openxmlformats.org/drawingml/2006/main" noGrp="1"/>
          </p:cNvSpPr>
          <p:nvPr/>
        </p:nvSpPr>
        <p:spPr>
          <a:xfrm xmlns:a="http://schemas.openxmlformats.org/drawingml/2006/main">
            <a:off x="6191250" y="3295650"/>
            <a:ext cx="895350" cy="590550"/>
          </a:xfrm>
          <a:prstGeom xmlns:a="http://schemas.openxmlformats.org/drawingml/2006/main" prst="roundRect">
            <a:avLst>
              <a:gd name="adj" fmla="val 12903"/>
            </a:avLst>
          </a:prstGeom>
          <a:solidFill xmlns:a="http://schemas.openxmlformats.org/drawingml/2006/main">
            <a:srgbClr val="E7F5EE"/>
          </a:solidFill>
          <a:ln xmlns:a="http://schemas.openxmlformats.org/drawingml/2006/main" w="1143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2D8A62"/>
                </a:solidFill>
                <a:latin typeface="Arial"/>
                <a:ea typeface="Arial"/>
                <a:cs typeface="Arial"/>
              </a:defRPr>
            </a:pPr>
            <a:r>
              <a:rPr sz="1425" b="1">
                <a:solidFill>
                  <a:srgbClr val="2D8A62"/>
                </a:solidFill>
                <a:latin typeface="Arial"/>
                <a:ea typeface="Arial"/>
                <a:cs typeface="Arial"/>
              </a:rPr>
              <a:t>G002</a:t>
            </a:r>
          </a:p>
        </p:txBody>
      </p:sp>
      <p:sp>
        <p:nvSpPr>
          <p:cNvPr id="26" name="box-468-450">
            <a:extLst xmlns:a="http://schemas.openxmlformats.org/drawingml/2006/main">
              <a:ext uri="{FF2B5EF4-FFF2-40B4-BE49-F238E27FC236}">
                <a16:creationId xmlns:a16="http://schemas.microsoft.com/office/drawing/2014/main" id="{A991F899-8136-48A9-92B8-5CFA9FE92C05}"/>
              </a:ext>
            </a:extLst>
          </p:cNvPr>
          <p:cNvSpPr>
            <a:spLocks xmlns:a="http://schemas.openxmlformats.org/drawingml/2006/main" noGrp="1"/>
          </p:cNvSpPr>
          <p:nvPr/>
        </p:nvSpPr>
        <p:spPr>
          <a:xfrm xmlns:a="http://schemas.openxmlformats.org/drawingml/2006/main">
            <a:off x="4457700" y="4286250"/>
            <a:ext cx="12192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162638"/>
                </a:solidFill>
                <a:latin typeface="Arial"/>
                <a:ea typeface="Arial"/>
                <a:cs typeface="Arial"/>
              </a:defRPr>
            </a:pPr>
            <a:r>
              <a:rPr sz="1425" b="1">
                <a:solidFill>
                  <a:srgbClr val="162638"/>
                </a:solidFill>
                <a:latin typeface="Arial"/>
                <a:ea typeface="Arial"/>
                <a:cs typeface="Arial"/>
              </a:rPr>
              <a:t>Version 3</a:t>
            </a:r>
          </a:p>
        </p:txBody>
      </p:sp>
      <p:sp>
        <p:nvSpPr>
          <p:cNvPr id="27" name="text-600-456-→">
            <a:extLst xmlns:a="http://schemas.openxmlformats.org/drawingml/2006/main">
              <a:ext uri="{FF2B5EF4-FFF2-40B4-BE49-F238E27FC236}">
                <a16:creationId xmlns:a16="http://schemas.microsoft.com/office/drawing/2014/main" id="{E2F0FCCC-04D4-40A7-8BFD-CC0C5AE2DD5E}"/>
              </a:ext>
            </a:extLst>
          </p:cNvPr>
          <p:cNvSpPr>
            <a:spLocks xmlns:a="http://schemas.openxmlformats.org/drawingml/2006/main" noGrp="1"/>
          </p:cNvSpPr>
          <p:nvPr/>
        </p:nvSpPr>
        <p:spPr>
          <a:xfrm xmlns:a="http://schemas.openxmlformats.org/drawingml/2006/main">
            <a:off x="5715000" y="43434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7890A6"/>
                </a:solidFill>
                <a:latin typeface="Arial"/>
                <a:ea typeface="Arial"/>
                <a:cs typeface="Arial"/>
              </a:defRPr>
            </a:pPr>
            <a:r>
              <a:rPr sz="2100" b="1">
                <a:solidFill>
                  <a:srgbClr val="7890A6"/>
                </a:solidFill>
                <a:latin typeface="Arial"/>
                <a:ea typeface="Arial"/>
                <a:cs typeface="Arial"/>
              </a:rPr>
              <a:t>→</a:t>
            </a:r>
          </a:p>
        </p:txBody>
      </p:sp>
      <p:sp>
        <p:nvSpPr>
          <p:cNvPr id="28" name="box-650-450">
            <a:extLst xmlns:a="http://schemas.openxmlformats.org/drawingml/2006/main">
              <a:ext uri="{FF2B5EF4-FFF2-40B4-BE49-F238E27FC236}">
                <a16:creationId xmlns:a16="http://schemas.microsoft.com/office/drawing/2014/main" id="{1E0FC43A-02A6-4E00-8CE0-7EAEE1034E1C}"/>
              </a:ext>
            </a:extLst>
          </p:cNvPr>
          <p:cNvSpPr>
            <a:spLocks xmlns:a="http://schemas.openxmlformats.org/drawingml/2006/main" noGrp="1"/>
          </p:cNvSpPr>
          <p:nvPr/>
        </p:nvSpPr>
        <p:spPr>
          <a:xfrm xmlns:a="http://schemas.openxmlformats.org/drawingml/2006/main">
            <a:off x="6191250" y="4286250"/>
            <a:ext cx="895350" cy="590550"/>
          </a:xfrm>
          <a:prstGeom xmlns:a="http://schemas.openxmlformats.org/drawingml/2006/main" prst="roundRect">
            <a:avLst>
              <a:gd name="adj" fmla="val 12903"/>
            </a:avLst>
          </a:prstGeom>
          <a:solidFill xmlns:a="http://schemas.openxmlformats.org/drawingml/2006/main">
            <a:srgbClr val="E7F5EE"/>
          </a:solidFill>
          <a:ln xmlns:a="http://schemas.openxmlformats.org/drawingml/2006/main" w="1143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2D8A62"/>
                </a:solidFill>
                <a:latin typeface="Arial"/>
                <a:ea typeface="Arial"/>
                <a:cs typeface="Arial"/>
              </a:defRPr>
            </a:pPr>
            <a:r>
              <a:rPr sz="1425" b="1">
                <a:solidFill>
                  <a:srgbClr val="2D8A62"/>
                </a:solidFill>
                <a:latin typeface="Arial"/>
                <a:ea typeface="Arial"/>
                <a:cs typeface="Arial"/>
              </a:rPr>
              <a:t>G003</a:t>
            </a:r>
          </a:p>
        </p:txBody>
      </p:sp>
      <p:sp>
        <p:nvSpPr>
          <p:cNvPr id="29" name="text-474-558-Version tăng tro">
            <a:extLst xmlns:a="http://schemas.openxmlformats.org/drawingml/2006/main">
              <a:ext uri="{FF2B5EF4-FFF2-40B4-BE49-F238E27FC236}">
                <a16:creationId xmlns:a16="http://schemas.microsoft.com/office/drawing/2014/main" id="{EE6CA0D0-D0D9-4473-A7FD-9710E0E98176}"/>
              </a:ext>
            </a:extLst>
          </p:cNvPr>
          <p:cNvSpPr>
            <a:spLocks xmlns:a="http://schemas.openxmlformats.org/drawingml/2006/main" noGrp="1"/>
          </p:cNvSpPr>
          <p:nvPr/>
        </p:nvSpPr>
        <p:spPr>
          <a:xfrm xmlns:a="http://schemas.openxmlformats.org/drawingml/2006/main">
            <a:off x="4514850" y="53149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4B6075"/>
                </a:solidFill>
                <a:latin typeface="Arial"/>
                <a:ea typeface="Arial"/>
                <a:cs typeface="Arial"/>
              </a:defRPr>
            </a:pPr>
            <a:r>
              <a:rPr sz="1125" b="0">
                <a:solidFill>
                  <a:srgbClr val="4B6075"/>
                </a:solidFill>
                <a:latin typeface="Arial"/>
                <a:ea typeface="Arial"/>
                <a:cs typeface="Arial"/>
              </a:rPr>
              <a:t>Version tăng trong cùng Revision</a:t>
            </a:r>
          </a:p>
        </p:txBody>
      </p:sp>
      <p:sp>
        <p:nvSpPr>
          <p:cNvPr id="30" name="text-788-330-→">
            <a:extLst xmlns:a="http://schemas.openxmlformats.org/drawingml/2006/main">
              <a:ext uri="{FF2B5EF4-FFF2-40B4-BE49-F238E27FC236}">
                <a16:creationId xmlns:a16="http://schemas.microsoft.com/office/drawing/2014/main" id="{83BDF6DB-3271-41EA-BEE4-EEE1AC24D4DE}"/>
              </a:ext>
            </a:extLst>
          </p:cNvPr>
          <p:cNvSpPr>
            <a:spLocks xmlns:a="http://schemas.openxmlformats.org/drawingml/2006/main" noGrp="1"/>
          </p:cNvSpPr>
          <p:nvPr/>
        </p:nvSpPr>
        <p:spPr>
          <a:xfrm xmlns:a="http://schemas.openxmlformats.org/drawingml/2006/main">
            <a:off x="7505700" y="31432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2169A8"/>
                </a:solidFill>
                <a:latin typeface="Arial"/>
                <a:ea typeface="Arial"/>
                <a:cs typeface="Arial"/>
              </a:defRPr>
            </a:pPr>
            <a:r>
              <a:rPr sz="2700" b="1">
                <a:solidFill>
                  <a:srgbClr val="2169A8"/>
                </a:solidFill>
                <a:latin typeface="Arial"/>
                <a:ea typeface="Arial"/>
                <a:cs typeface="Arial"/>
              </a:rPr>
              <a:t>→</a:t>
            </a:r>
          </a:p>
        </p:txBody>
      </p:sp>
      <p:sp>
        <p:nvSpPr>
          <p:cNvPr id="31" name="box-848-150">
            <a:extLst xmlns:a="http://schemas.openxmlformats.org/drawingml/2006/main">
              <a:ext uri="{FF2B5EF4-FFF2-40B4-BE49-F238E27FC236}">
                <a16:creationId xmlns:a16="http://schemas.microsoft.com/office/drawing/2014/main" id="{4E2505DA-6A9B-4F5D-A71C-3F23C5B5B5CF}"/>
              </a:ext>
            </a:extLst>
          </p:cNvPr>
          <p:cNvSpPr>
            <a:spLocks xmlns:a="http://schemas.openxmlformats.org/drawingml/2006/main" noGrp="1"/>
          </p:cNvSpPr>
          <p:nvPr/>
        </p:nvSpPr>
        <p:spPr>
          <a:xfrm xmlns:a="http://schemas.openxmlformats.org/drawingml/2006/main">
            <a:off x="8077200" y="1428750"/>
            <a:ext cx="3524250" cy="4419600"/>
          </a:xfrm>
          <a:prstGeom xmlns:a="http://schemas.openxmlformats.org/drawingml/2006/main" prst="roundRect">
            <a:avLst>
              <a:gd name="adj" fmla="val 2162"/>
            </a:avLst>
          </a:prstGeom>
          <a:solidFill xmlns:a="http://schemas.openxmlformats.org/drawingml/2006/main">
            <a:srgbClr val="FFF4DD"/>
          </a:solidFill>
          <a:ln xmlns:a="http://schemas.openxmlformats.org/drawingml/2006/main" w="14288">
            <a:solidFill>
              <a:srgbClr val="C58A1E"/>
            </a:solidFill>
            <a:prstDash val="solid"/>
          </a:ln>
        </p:spPr>
      </p:sp>
      <p:sp>
        <p:nvSpPr>
          <p:cNvPr id="32" name="box-872-170">
            <a:extLst xmlns:a="http://schemas.openxmlformats.org/drawingml/2006/main">
              <a:ext uri="{FF2B5EF4-FFF2-40B4-BE49-F238E27FC236}">
                <a16:creationId xmlns:a16="http://schemas.microsoft.com/office/drawing/2014/main" id="{8B2584C8-713A-4C7D-A459-2C3FD734D85A}"/>
              </a:ext>
            </a:extLst>
          </p:cNvPr>
          <p:cNvSpPr>
            <a:spLocks xmlns:a="http://schemas.openxmlformats.org/drawingml/2006/main" noGrp="1"/>
          </p:cNvSpPr>
          <p:nvPr/>
        </p:nvSpPr>
        <p:spPr>
          <a:xfrm xmlns:a="http://schemas.openxmlformats.org/drawingml/2006/main">
            <a:off x="8305800" y="1619250"/>
            <a:ext cx="3067050" cy="323850"/>
          </a:xfrm>
          <a:prstGeom xmlns:a="http://schemas.openxmlformats.org/drawingml/2006/main" prst="roundRect">
            <a:avLst>
              <a:gd name="adj" fmla="val 23529"/>
            </a:avLst>
          </a:prstGeom>
          <a:solidFill xmlns:a="http://schemas.openxmlformats.org/drawingml/2006/main">
            <a:srgbClr val="C58A1E"/>
          </a:solidFill>
          <a:ln xmlns:a="http://schemas.openxmlformats.org/drawingml/2006/main" w="7620">
            <a:solidFill>
              <a:srgbClr val="C58A1E"/>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BUSINESS REVISION B</a:t>
            </a:r>
          </a:p>
        </p:txBody>
      </p:sp>
      <p:sp>
        <p:nvSpPr>
          <p:cNvPr id="33" name="box-912-292">
            <a:extLst xmlns:a="http://schemas.openxmlformats.org/drawingml/2006/main">
              <a:ext uri="{FF2B5EF4-FFF2-40B4-BE49-F238E27FC236}">
                <a16:creationId xmlns:a16="http://schemas.microsoft.com/office/drawing/2014/main" id="{9029DD6C-8869-4BF2-AF1E-F4B99035E083}"/>
              </a:ext>
            </a:extLst>
          </p:cNvPr>
          <p:cNvSpPr>
            <a:spLocks xmlns:a="http://schemas.openxmlformats.org/drawingml/2006/main" noGrp="1"/>
          </p:cNvSpPr>
          <p:nvPr/>
        </p:nvSpPr>
        <p:spPr>
          <a:xfrm xmlns:a="http://schemas.openxmlformats.org/drawingml/2006/main">
            <a:off x="8686800" y="2781300"/>
            <a:ext cx="12192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162638"/>
                </a:solidFill>
                <a:latin typeface="Arial"/>
                <a:ea typeface="Arial"/>
                <a:cs typeface="Arial"/>
              </a:defRPr>
            </a:pPr>
            <a:r>
              <a:rPr sz="1425" b="1">
                <a:solidFill>
                  <a:srgbClr val="162638"/>
                </a:solidFill>
                <a:latin typeface="Arial"/>
                <a:ea typeface="Arial"/>
                <a:cs typeface="Arial"/>
              </a:rPr>
              <a:t>Version 1</a:t>
            </a:r>
          </a:p>
        </p:txBody>
      </p:sp>
      <p:sp>
        <p:nvSpPr>
          <p:cNvPr id="34" name="text-1046-301-→">
            <a:extLst xmlns:a="http://schemas.openxmlformats.org/drawingml/2006/main">
              <a:ext uri="{FF2B5EF4-FFF2-40B4-BE49-F238E27FC236}">
                <a16:creationId xmlns:a16="http://schemas.microsoft.com/office/drawing/2014/main" id="{3B52A646-301A-47DB-93A3-0687842B42A6}"/>
              </a:ext>
            </a:extLst>
          </p:cNvPr>
          <p:cNvSpPr>
            <a:spLocks xmlns:a="http://schemas.openxmlformats.org/drawingml/2006/main" noGrp="1"/>
          </p:cNvSpPr>
          <p:nvPr/>
        </p:nvSpPr>
        <p:spPr>
          <a:xfrm xmlns:a="http://schemas.openxmlformats.org/drawingml/2006/main">
            <a:off x="9963150" y="286702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7890A6"/>
                </a:solidFill>
                <a:latin typeface="Arial"/>
                <a:ea typeface="Arial"/>
                <a:cs typeface="Arial"/>
              </a:defRPr>
            </a:pPr>
            <a:r>
              <a:rPr sz="2100" b="1">
                <a:solidFill>
                  <a:srgbClr val="7890A6"/>
                </a:solidFill>
                <a:latin typeface="Arial"/>
                <a:ea typeface="Arial"/>
                <a:cs typeface="Arial"/>
              </a:rPr>
              <a:t>→</a:t>
            </a:r>
          </a:p>
        </p:txBody>
      </p:sp>
      <p:sp>
        <p:nvSpPr>
          <p:cNvPr id="35" name="box-1096-292">
            <a:extLst xmlns:a="http://schemas.openxmlformats.org/drawingml/2006/main">
              <a:ext uri="{FF2B5EF4-FFF2-40B4-BE49-F238E27FC236}">
                <a16:creationId xmlns:a16="http://schemas.microsoft.com/office/drawing/2014/main" id="{7B27C484-9DC2-427B-82C8-2F21E922C63F}"/>
              </a:ext>
            </a:extLst>
          </p:cNvPr>
          <p:cNvSpPr>
            <a:spLocks xmlns:a="http://schemas.openxmlformats.org/drawingml/2006/main" noGrp="1"/>
          </p:cNvSpPr>
          <p:nvPr/>
        </p:nvSpPr>
        <p:spPr>
          <a:xfrm xmlns:a="http://schemas.openxmlformats.org/drawingml/2006/main">
            <a:off x="10439400" y="2781300"/>
            <a:ext cx="895350" cy="647700"/>
          </a:xfrm>
          <a:prstGeom xmlns:a="http://schemas.openxmlformats.org/drawingml/2006/main" prst="roundRect">
            <a:avLst>
              <a:gd name="adj" fmla="val 11765"/>
            </a:avLst>
          </a:prstGeom>
          <a:solidFill xmlns:a="http://schemas.openxmlformats.org/drawingml/2006/main">
            <a:srgbClr val="E7F5EE"/>
          </a:solidFill>
          <a:ln xmlns:a="http://schemas.openxmlformats.org/drawingml/2006/main" w="1143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2D8A62"/>
                </a:solidFill>
                <a:latin typeface="Arial"/>
                <a:ea typeface="Arial"/>
                <a:cs typeface="Arial"/>
              </a:defRPr>
            </a:pPr>
            <a:r>
              <a:rPr sz="1425" b="1">
                <a:solidFill>
                  <a:srgbClr val="2D8A62"/>
                </a:solidFill>
                <a:latin typeface="Arial"/>
                <a:ea typeface="Arial"/>
                <a:cs typeface="Arial"/>
              </a:rPr>
              <a:t>G004</a:t>
            </a:r>
          </a:p>
        </p:txBody>
      </p:sp>
      <p:sp>
        <p:nvSpPr>
          <p:cNvPr id="36" name="text-884-405-Revision mới bắt">
            <a:extLst xmlns:a="http://schemas.openxmlformats.org/drawingml/2006/main">
              <a:ext uri="{FF2B5EF4-FFF2-40B4-BE49-F238E27FC236}">
                <a16:creationId xmlns:a16="http://schemas.microsoft.com/office/drawing/2014/main" id="{D4E4D928-3621-4D36-9BB9-6C7348F57858}"/>
              </a:ext>
            </a:extLst>
          </p:cNvPr>
          <p:cNvSpPr>
            <a:spLocks xmlns:a="http://schemas.openxmlformats.org/drawingml/2006/main" noGrp="1"/>
          </p:cNvSpPr>
          <p:nvPr/>
        </p:nvSpPr>
        <p:spPr>
          <a:xfrm xmlns:a="http://schemas.openxmlformats.org/drawingml/2006/main">
            <a:off x="8420100" y="3857625"/>
            <a:ext cx="2876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0">
                <a:solidFill>
                  <a:srgbClr val="4B6075"/>
                </a:solidFill>
                <a:latin typeface="Arial"/>
                <a:ea typeface="Arial"/>
                <a:cs typeface="Arial"/>
              </a:defRPr>
            </a:pPr>
            <a:r>
              <a:rPr sz="1350" b="0">
                <a:solidFill>
                  <a:srgbClr val="4B6075"/>
                </a:solidFill>
                <a:latin typeface="Arial"/>
                <a:ea typeface="Arial"/>
                <a:cs typeface="Arial"/>
              </a:rPr>
              <a:t>Revision mới bắt đầu lại từ Version 1</a:t>
            </a:r>
          </a:p>
        </p:txBody>
      </p:sp>
      <p:sp>
        <p:nvSpPr>
          <p:cNvPr id="37" name="box-872-494">
            <a:extLst xmlns:a="http://schemas.openxmlformats.org/drawingml/2006/main">
              <a:ext uri="{FF2B5EF4-FFF2-40B4-BE49-F238E27FC236}">
                <a16:creationId xmlns:a16="http://schemas.microsoft.com/office/drawing/2014/main" id="{F6F681C9-AEB8-462D-BA35-546CE3FB9A4C}"/>
              </a:ext>
            </a:extLst>
          </p:cNvPr>
          <p:cNvSpPr>
            <a:spLocks xmlns:a="http://schemas.openxmlformats.org/drawingml/2006/main" noGrp="1"/>
          </p:cNvSpPr>
          <p:nvPr/>
        </p:nvSpPr>
        <p:spPr>
          <a:xfrm xmlns:a="http://schemas.openxmlformats.org/drawingml/2006/main">
            <a:off x="8305800" y="4705350"/>
            <a:ext cx="30670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C58A1E"/>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162638"/>
                </a:solidFill>
                <a:latin typeface="Arial"/>
                <a:ea typeface="Arial"/>
                <a:cs typeface="Arial"/>
              </a:defRPr>
            </a:pPr>
            <a:r>
              <a:rPr sz="1275" b="1">
                <a:solidFill>
                  <a:srgbClr val="162638"/>
                </a:solidFill>
                <a:latin typeface="Arial"/>
                <a:ea typeface="Arial"/>
                <a:cs typeface="Arial"/>
              </a:rPr>
              <a:t>Generation = snapshot nội dung</a:t>
            </a:r>
          </a:p>
          <a:p xmlns:a="http://schemas.openxmlformats.org/drawingml/2006/main">
            <a:pPr algn="ctr">
              <a:defRPr sz="1275" b="1">
                <a:solidFill>
                  <a:srgbClr val="162638"/>
                </a:solidFill>
                <a:latin typeface="Arial"/>
                <a:ea typeface="Arial"/>
                <a:cs typeface="Arial"/>
              </a:defRPr>
            </a:pPr>
            <a:r>
              <a:rPr sz="1275" b="1">
                <a:solidFill>
                  <a:srgbClr val="162638"/>
                </a:solidFill>
                <a:latin typeface="Arial"/>
                <a:ea typeface="Arial"/>
                <a:cs typeface="Arial"/>
              </a:rPr>
              <a:t>bất biến do hệ thống ghi nhận</a:t>
            </a:r>
          </a:p>
        </p:txBody>
      </p:sp>
      <p:sp>
        <p:nvSpPr>
          <p:cNvPr id="38" name="text-410-635-Hệ thống quản lý">
            <a:extLst xmlns:a="http://schemas.openxmlformats.org/drawingml/2006/main">
              <a:ext uri="{FF2B5EF4-FFF2-40B4-BE49-F238E27FC236}">
                <a16:creationId xmlns:a16="http://schemas.microsoft.com/office/drawing/2014/main" id="{E832ACC8-3E6C-4AE3-A276-3FC75D133F49}"/>
              </a:ext>
            </a:extLst>
          </p:cNvPr>
          <p:cNvSpPr>
            <a:spLocks xmlns:a="http://schemas.openxmlformats.org/drawingml/2006/main" noGrp="1"/>
          </p:cNvSpPr>
          <p:nvPr/>
        </p:nvSpPr>
        <p:spPr>
          <a:xfrm xmlns:a="http://schemas.openxmlformats.org/drawingml/2006/main">
            <a:off x="3905250" y="6048375"/>
            <a:ext cx="794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Hệ thống quản lý lịch sử kỹ thuật, không chỉ quản lý file.</a:t>
            </a:r>
          </a:p>
        </p:txBody>
      </p:sp>
    </p:spTree>
    <p:extLst>
      <p:ext uri="{BB962C8B-B14F-4D97-AF65-F5344CB8AC3E}">
        <p14:creationId xmlns:p14="http://schemas.microsoft.com/office/powerpoint/2010/main" val="350488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box-0-0">
            <a:extLst xmlns:a="http://schemas.openxmlformats.org/drawingml/2006/main">
              <a:ext uri="{FF2B5EF4-FFF2-40B4-BE49-F238E27FC236}">
                <a16:creationId xmlns:a16="http://schemas.microsoft.com/office/drawing/2014/main" id="{510E8DF7-2A3C-4434-8580-6CA28B6B6B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169A8"/>
          </a:solidFill>
          <a:ln xmlns:a="http://schemas.openxmlformats.org/drawingml/2006/main" w="0">
            <a:noFill/>
            <a:prstDash val="solid"/>
          </a:ln>
        </p:spPr>
      </p:sp>
      <p:sp>
        <p:nvSpPr>
          <p:cNvPr id="2" name="text-54-28-SPEC">
            <a:extLst xmlns:a="http://schemas.openxmlformats.org/drawingml/2006/main">
              <a:ext uri="{FF2B5EF4-FFF2-40B4-BE49-F238E27FC236}">
                <a16:creationId xmlns:a16="http://schemas.microsoft.com/office/drawing/2014/main" id="{2F85AF52-2C1A-41C3-9F6F-E05B3C04A330}"/>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Chỉnh sửa">
            <a:extLst xmlns:a="http://schemas.openxmlformats.org/drawingml/2006/main">
              <a:ext uri="{FF2B5EF4-FFF2-40B4-BE49-F238E27FC236}">
                <a16:creationId xmlns:a16="http://schemas.microsoft.com/office/drawing/2014/main" id="{9AE5C779-A2B6-4AD7-BB61-32F2A8FC9421}"/>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Spec — Chỉnh sửa tài liệu mà không phá lịch sử</a:t>
            </a:r>
          </a:p>
        </p:txBody>
      </p:sp>
      <p:sp>
        <p:nvSpPr>
          <p:cNvPr id="4" name="line-54-116">
            <a:extLst xmlns:a="http://schemas.openxmlformats.org/drawingml/2006/main">
              <a:ext uri="{FF2B5EF4-FFF2-40B4-BE49-F238E27FC236}">
                <a16:creationId xmlns:a16="http://schemas.microsoft.com/office/drawing/2014/main" id="{5B373662-2267-4B74-B507-8394600DB3FE}"/>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4@0">
            <a:extLst xmlns:a="http://schemas.openxmlformats.org/drawingml/2006/main">
              <a:ext uri="{FF2B5EF4-FFF2-40B4-BE49-F238E27FC236}">
                <a16:creationId xmlns:a16="http://schemas.microsoft.com/office/drawing/2014/main" id="{0EF31DCE-83A9-4A07-BD56-CAE7BE112EF1}"/>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DOC-05@0.20 · DOC-06@0.16 · DOC-08@0.12</a:t>
            </a:r>
          </a:p>
        </p:txBody>
      </p:sp>
      <p:sp>
        <p:nvSpPr>
          <p:cNvPr id="6" name="text-1170-680-07">
            <a:extLst xmlns:a="http://schemas.openxmlformats.org/drawingml/2006/main">
              <a:ext uri="{FF2B5EF4-FFF2-40B4-BE49-F238E27FC236}">
                <a16:creationId xmlns:a16="http://schemas.microsoft.com/office/drawing/2014/main" id="{7C80A536-CA2E-4726-9BD2-2221FB750AE9}"/>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07</a:t>
            </a:r>
          </a:p>
        </p:txBody>
      </p:sp>
      <p:sp>
        <p:nvSpPr>
          <p:cNvPr id="7" name="diagram-meta-7">
            <a:extLst xmlns:a="http://schemas.openxmlformats.org/drawingml/2006/main">
              <a:ext uri="{FF2B5EF4-FFF2-40B4-BE49-F238E27FC236}">
                <a16:creationId xmlns:a16="http://schemas.microsoft.com/office/drawing/2014/main" id="{8DAFFA7C-93CE-4BE8-896C-D8002D59418B}"/>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7">
            <a:extLst xmlns:a="http://schemas.openxmlformats.org/drawingml/2006/main">
              <a:ext uri="{FF2B5EF4-FFF2-40B4-BE49-F238E27FC236}">
                <a16:creationId xmlns:a16="http://schemas.microsoft.com/office/drawing/2014/main" id="{EA71144E-6291-4066-9DAC-76E59E583777}"/>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Management simplification</a:t>
            </a:r>
          </a:p>
        </p:txBody>
      </p:sp>
      <p:sp>
        <p:nvSpPr>
          <p:cNvPr id="9" name="diagram-source-7">
            <a:extLst xmlns:a="http://schemas.openxmlformats.org/drawingml/2006/main">
              <a:ext uri="{FF2B5EF4-FFF2-40B4-BE49-F238E27FC236}">
                <a16:creationId xmlns:a16="http://schemas.microsoft.com/office/drawing/2014/main" id="{2EC1D33A-D44A-4A77-9D4C-163962D848EE}"/>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MOD-002 + SEQ-002 + DATA-WS</a:t>
            </a:r>
          </a:p>
        </p:txBody>
      </p:sp>
      <p:sp>
        <p:nvSpPr>
          <p:cNvPr id="10" name="diagram-why-7">
            <a:extLst xmlns:a="http://schemas.openxmlformats.org/drawingml/2006/main">
              <a:ext uri="{FF2B5EF4-FFF2-40B4-BE49-F238E27FC236}">
                <a16:creationId xmlns:a16="http://schemas.microsoft.com/office/drawing/2014/main" id="{1B2FA3A4-57EA-46A6-8643-B57E91C14ABD}"/>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Nêu contract Checkout/Check-in</a:t>
            </a:r>
          </a:p>
        </p:txBody>
      </p:sp>
      <p:sp>
        <p:nvSpPr>
          <p:cNvPr id="11" name="source-link-7-ARCH-VIEW-SEQ-002">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5196F758-2DC9-4E63-888C-565572A3B77C}"/>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ARCH-VIEW-SEQ-002 — Atomic Check-in</a:t>
            </a:r>
          </a:p>
        </p:txBody>
      </p:sp>
      <p:sp>
        <p:nvSpPr>
          <p:cNvPr id="12" name="box-58-176">
            <a:extLst xmlns:a="http://schemas.openxmlformats.org/drawingml/2006/main">
              <a:ext uri="{FF2B5EF4-FFF2-40B4-BE49-F238E27FC236}">
                <a16:creationId xmlns:a16="http://schemas.microsoft.com/office/drawing/2014/main" id="{126CB7A5-807B-4336-ADBF-1DB9F5A46377}"/>
              </a:ext>
            </a:extLst>
          </p:cNvPr>
          <p:cNvSpPr>
            <a:spLocks xmlns:a="http://schemas.openxmlformats.org/drawingml/2006/main" noGrp="1"/>
          </p:cNvSpPr>
          <p:nvPr/>
        </p:nvSpPr>
        <p:spPr>
          <a:xfrm xmlns:a="http://schemas.openxmlformats.org/drawingml/2006/main">
            <a:off x="552450" y="1676400"/>
            <a:ext cx="1619250" cy="1276350"/>
          </a:xfrm>
          <a:prstGeom xmlns:a="http://schemas.openxmlformats.org/drawingml/2006/main" prst="roundRect">
            <a:avLst>
              <a:gd name="adj" fmla="val 5970"/>
            </a:avLst>
          </a:prstGeom>
          <a:solidFill xmlns:a="http://schemas.openxmlformats.org/drawingml/2006/main">
            <a:srgbClr val="102744"/>
          </a:solidFill>
          <a:ln xmlns:a="http://schemas.openxmlformats.org/drawingml/2006/main" w="1143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SERVER</a:t>
            </a:r>
          </a:p>
        </p:txBody>
      </p:sp>
      <p:sp>
        <p:nvSpPr>
          <p:cNvPr id="13" name="text-70-232-Current G005">
            <a:extLst xmlns:a="http://schemas.openxmlformats.org/drawingml/2006/main">
              <a:ext uri="{FF2B5EF4-FFF2-40B4-BE49-F238E27FC236}">
                <a16:creationId xmlns:a16="http://schemas.microsoft.com/office/drawing/2014/main" id="{0A8843F9-7C73-46DC-BE16-EE0E00F418EB}"/>
              </a:ext>
            </a:extLst>
          </p:cNvPr>
          <p:cNvSpPr>
            <a:spLocks xmlns:a="http://schemas.openxmlformats.org/drawingml/2006/main" noGrp="1"/>
          </p:cNvSpPr>
          <p:nvPr/>
        </p:nvSpPr>
        <p:spPr>
          <a:xfrm xmlns:a="http://schemas.openxmlformats.org/drawingml/2006/main">
            <a:off x="666750" y="2209800"/>
            <a:ext cx="1390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050" b="0">
                <a:solidFill>
                  <a:srgbClr val="C9DBEA"/>
                </a:solidFill>
                <a:latin typeface="Arial"/>
                <a:ea typeface="Arial"/>
                <a:cs typeface="Arial"/>
              </a:defRPr>
            </a:pPr>
            <a:r>
              <a:rPr sz="1050" b="0">
                <a:solidFill>
                  <a:srgbClr val="C9DBEA"/>
                </a:solidFill>
                <a:latin typeface="Arial"/>
                <a:ea typeface="Arial"/>
                <a:cs typeface="Arial"/>
              </a:rPr>
              <a:t>Current G005</a:t>
            </a:r>
          </a:p>
        </p:txBody>
      </p:sp>
      <p:sp>
        <p:nvSpPr>
          <p:cNvPr id="14" name="text-232-208-→">
            <a:extLst xmlns:a="http://schemas.openxmlformats.org/drawingml/2006/main">
              <a:ext uri="{FF2B5EF4-FFF2-40B4-BE49-F238E27FC236}">
                <a16:creationId xmlns:a16="http://schemas.microsoft.com/office/drawing/2014/main" id="{B59ADA0C-C8B4-4C6F-8891-4414941C0C6D}"/>
              </a:ext>
            </a:extLst>
          </p:cNvPr>
          <p:cNvSpPr>
            <a:spLocks xmlns:a="http://schemas.openxmlformats.org/drawingml/2006/main" noGrp="1"/>
          </p:cNvSpPr>
          <p:nvPr/>
        </p:nvSpPr>
        <p:spPr>
          <a:xfrm xmlns:a="http://schemas.openxmlformats.org/drawingml/2006/main">
            <a:off x="2209800" y="1981200"/>
            <a:ext cx="266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1">
                <a:solidFill>
                  <a:srgbClr val="2169A8"/>
                </a:solidFill>
                <a:latin typeface="Arial"/>
                <a:ea typeface="Arial"/>
                <a:cs typeface="Arial"/>
              </a:defRPr>
            </a:pPr>
            <a:r>
              <a:rPr sz="1875" b="1">
                <a:solidFill>
                  <a:srgbClr val="2169A8"/>
                </a:solidFill>
                <a:latin typeface="Arial"/>
                <a:ea typeface="Arial"/>
                <a:cs typeface="Arial"/>
              </a:rPr>
              <a:t>→</a:t>
            </a:r>
          </a:p>
        </p:txBody>
      </p:sp>
      <p:sp>
        <p:nvSpPr>
          <p:cNvPr id="15" name="box-260-176">
            <a:extLst xmlns:a="http://schemas.openxmlformats.org/drawingml/2006/main">
              <a:ext uri="{FF2B5EF4-FFF2-40B4-BE49-F238E27FC236}">
                <a16:creationId xmlns:a16="http://schemas.microsoft.com/office/drawing/2014/main" id="{2879080C-F7A0-4FB3-908A-921E215CE587}"/>
              </a:ext>
            </a:extLst>
          </p:cNvPr>
          <p:cNvSpPr>
            <a:spLocks xmlns:a="http://schemas.openxmlformats.org/drawingml/2006/main" noGrp="1"/>
          </p:cNvSpPr>
          <p:nvPr/>
        </p:nvSpPr>
        <p:spPr>
          <a:xfrm xmlns:a="http://schemas.openxmlformats.org/drawingml/2006/main">
            <a:off x="2476500" y="1676400"/>
            <a:ext cx="1619250" cy="1276350"/>
          </a:xfrm>
          <a:prstGeom xmlns:a="http://schemas.openxmlformats.org/drawingml/2006/main" prst="roundRect">
            <a:avLst>
              <a:gd name="adj" fmla="val 5970"/>
            </a:avLst>
          </a:prstGeom>
          <a:solidFill xmlns:a="http://schemas.openxmlformats.org/drawingml/2006/main">
            <a:srgbClr val="EAF3F9"/>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CHECKOUT</a:t>
            </a:r>
          </a:p>
        </p:txBody>
      </p:sp>
      <p:sp>
        <p:nvSpPr>
          <p:cNvPr id="16" name="text-272-232-Reservation&#10;Acto">
            <a:extLst xmlns:a="http://schemas.openxmlformats.org/drawingml/2006/main">
              <a:ext uri="{FF2B5EF4-FFF2-40B4-BE49-F238E27FC236}">
                <a16:creationId xmlns:a16="http://schemas.microsoft.com/office/drawing/2014/main" id="{022085B0-502B-4849-9116-41732CDEC5FC}"/>
              </a:ext>
            </a:extLst>
          </p:cNvPr>
          <p:cNvSpPr>
            <a:spLocks xmlns:a="http://schemas.openxmlformats.org/drawingml/2006/main" noGrp="1"/>
          </p:cNvSpPr>
          <p:nvPr/>
        </p:nvSpPr>
        <p:spPr>
          <a:xfrm xmlns:a="http://schemas.openxmlformats.org/drawingml/2006/main">
            <a:off x="2590800" y="2209800"/>
            <a:ext cx="1390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050" b="0">
                <a:solidFill>
                  <a:srgbClr val="4B6075"/>
                </a:solidFill>
                <a:latin typeface="Arial"/>
                <a:ea typeface="Arial"/>
                <a:cs typeface="Arial"/>
              </a:defRPr>
            </a:pPr>
            <a:r>
              <a:rPr sz="1050" b="0">
                <a:solidFill>
                  <a:srgbClr val="4B6075"/>
                </a:solidFill>
                <a:latin typeface="Arial"/>
                <a:ea typeface="Arial"/>
                <a:cs typeface="Arial"/>
              </a:rPr>
              <a:t>Reservation</a:t>
            </a:r>
          </a:p>
          <a:p xmlns:a="http://schemas.openxmlformats.org/drawingml/2006/main">
            <a:pPr algn="ctr">
              <a:defRPr sz="1050" b="0">
                <a:solidFill>
                  <a:srgbClr val="4B6075"/>
                </a:solidFill>
                <a:latin typeface="Arial"/>
                <a:ea typeface="Arial"/>
                <a:cs typeface="Arial"/>
              </a:defRPr>
            </a:pPr>
            <a:r>
              <a:rPr sz="1050" b="0">
                <a:solidFill>
                  <a:srgbClr val="4B6075"/>
                </a:solidFill>
                <a:latin typeface="Arial"/>
                <a:ea typeface="Arial"/>
                <a:cs typeface="Arial"/>
              </a:rPr>
              <a:t>Actor + Workspace + G005</a:t>
            </a:r>
          </a:p>
        </p:txBody>
      </p:sp>
      <p:sp>
        <p:nvSpPr>
          <p:cNvPr id="17" name="text-434-208-→">
            <a:extLst xmlns:a="http://schemas.openxmlformats.org/drawingml/2006/main">
              <a:ext uri="{FF2B5EF4-FFF2-40B4-BE49-F238E27FC236}">
                <a16:creationId xmlns:a16="http://schemas.microsoft.com/office/drawing/2014/main" id="{5722B2B9-0EDE-4BBF-9290-CB081D449A99}"/>
              </a:ext>
            </a:extLst>
          </p:cNvPr>
          <p:cNvSpPr>
            <a:spLocks xmlns:a="http://schemas.openxmlformats.org/drawingml/2006/main" noGrp="1"/>
          </p:cNvSpPr>
          <p:nvPr/>
        </p:nvSpPr>
        <p:spPr>
          <a:xfrm xmlns:a="http://schemas.openxmlformats.org/drawingml/2006/main">
            <a:off x="4133850" y="1981200"/>
            <a:ext cx="266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1">
                <a:solidFill>
                  <a:srgbClr val="2169A8"/>
                </a:solidFill>
                <a:latin typeface="Arial"/>
                <a:ea typeface="Arial"/>
                <a:cs typeface="Arial"/>
              </a:defRPr>
            </a:pPr>
            <a:r>
              <a:rPr sz="1875" b="1">
                <a:solidFill>
                  <a:srgbClr val="2169A8"/>
                </a:solidFill>
                <a:latin typeface="Arial"/>
                <a:ea typeface="Arial"/>
                <a:cs typeface="Arial"/>
              </a:rPr>
              <a:t>→</a:t>
            </a:r>
          </a:p>
        </p:txBody>
      </p:sp>
      <p:sp>
        <p:nvSpPr>
          <p:cNvPr id="18" name="box-462-176">
            <a:extLst xmlns:a="http://schemas.openxmlformats.org/drawingml/2006/main">
              <a:ext uri="{FF2B5EF4-FFF2-40B4-BE49-F238E27FC236}">
                <a16:creationId xmlns:a16="http://schemas.microsoft.com/office/drawing/2014/main" id="{A40312D0-14D9-4E42-945C-D2A755EF7AA5}"/>
              </a:ext>
            </a:extLst>
          </p:cNvPr>
          <p:cNvSpPr>
            <a:spLocks xmlns:a="http://schemas.openxmlformats.org/drawingml/2006/main" noGrp="1"/>
          </p:cNvSpPr>
          <p:nvPr/>
        </p:nvSpPr>
        <p:spPr>
          <a:xfrm xmlns:a="http://schemas.openxmlformats.org/drawingml/2006/main">
            <a:off x="4400550" y="1676400"/>
            <a:ext cx="1619250" cy="1276350"/>
          </a:xfrm>
          <a:prstGeom xmlns:a="http://schemas.openxmlformats.org/drawingml/2006/main" prst="roundRect">
            <a:avLst>
              <a:gd name="adj" fmla="val 5970"/>
            </a:avLst>
          </a:prstGeom>
          <a:solidFill xmlns:a="http://schemas.openxmlformats.org/drawingml/2006/main">
            <a:srgbClr val="E8F7F9"/>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WORKSPACE</a:t>
            </a:r>
          </a:p>
        </p:txBody>
      </p:sp>
      <p:sp>
        <p:nvSpPr>
          <p:cNvPr id="19" name="text-474-232-Chỉnh sửa cục bộ">
            <a:extLst xmlns:a="http://schemas.openxmlformats.org/drawingml/2006/main">
              <a:ext uri="{FF2B5EF4-FFF2-40B4-BE49-F238E27FC236}">
                <a16:creationId xmlns:a16="http://schemas.microsoft.com/office/drawing/2014/main" id="{63B1012E-501D-429B-BD72-4D17A31FEE86}"/>
              </a:ext>
            </a:extLst>
          </p:cNvPr>
          <p:cNvSpPr>
            <a:spLocks xmlns:a="http://schemas.openxmlformats.org/drawingml/2006/main" noGrp="1"/>
          </p:cNvSpPr>
          <p:nvPr/>
        </p:nvSpPr>
        <p:spPr>
          <a:xfrm xmlns:a="http://schemas.openxmlformats.org/drawingml/2006/main">
            <a:off x="4514850" y="2209800"/>
            <a:ext cx="1390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050" b="0">
                <a:solidFill>
                  <a:srgbClr val="4B6075"/>
                </a:solidFill>
                <a:latin typeface="Arial"/>
                <a:ea typeface="Arial"/>
                <a:cs typeface="Arial"/>
              </a:defRPr>
            </a:pPr>
            <a:r>
              <a:rPr sz="1050" b="0">
                <a:solidFill>
                  <a:srgbClr val="4B6075"/>
                </a:solidFill>
                <a:latin typeface="Arial"/>
                <a:ea typeface="Arial"/>
                <a:cs typeface="Arial"/>
              </a:rPr>
              <a:t>Chỉnh sửa cục bộ</a:t>
            </a:r>
          </a:p>
          <a:p xmlns:a="http://schemas.openxmlformats.org/drawingml/2006/main">
            <a:pPr algn="ctr">
              <a:defRPr sz="1050" b="0">
                <a:solidFill>
                  <a:srgbClr val="4B6075"/>
                </a:solidFill>
                <a:latin typeface="Arial"/>
                <a:ea typeface="Arial"/>
                <a:cs typeface="Arial"/>
              </a:defRPr>
            </a:pPr>
            <a:r>
              <a:rPr sz="1050" b="0">
                <a:solidFill>
                  <a:srgbClr val="4B6075"/>
                </a:solidFill>
                <a:latin typeface="Arial"/>
                <a:ea typeface="Arial"/>
                <a:cs typeface="Arial"/>
              </a:rPr>
              <a:t>trong Office / CAD</a:t>
            </a:r>
          </a:p>
        </p:txBody>
      </p:sp>
      <p:sp>
        <p:nvSpPr>
          <p:cNvPr id="20" name="text-636-208-→">
            <a:extLst xmlns:a="http://schemas.openxmlformats.org/drawingml/2006/main">
              <a:ext uri="{FF2B5EF4-FFF2-40B4-BE49-F238E27FC236}">
                <a16:creationId xmlns:a16="http://schemas.microsoft.com/office/drawing/2014/main" id="{17C489CA-4017-4CAB-8DE5-563034227178}"/>
              </a:ext>
            </a:extLst>
          </p:cNvPr>
          <p:cNvSpPr>
            <a:spLocks xmlns:a="http://schemas.openxmlformats.org/drawingml/2006/main" noGrp="1"/>
          </p:cNvSpPr>
          <p:nvPr/>
        </p:nvSpPr>
        <p:spPr>
          <a:xfrm xmlns:a="http://schemas.openxmlformats.org/drawingml/2006/main">
            <a:off x="6057900" y="1981200"/>
            <a:ext cx="266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1">
                <a:solidFill>
                  <a:srgbClr val="2169A8"/>
                </a:solidFill>
                <a:latin typeface="Arial"/>
                <a:ea typeface="Arial"/>
                <a:cs typeface="Arial"/>
              </a:defRPr>
            </a:pPr>
            <a:r>
              <a:rPr sz="1875" b="1">
                <a:solidFill>
                  <a:srgbClr val="2169A8"/>
                </a:solidFill>
                <a:latin typeface="Arial"/>
                <a:ea typeface="Arial"/>
                <a:cs typeface="Arial"/>
              </a:rPr>
              <a:t>→</a:t>
            </a:r>
          </a:p>
        </p:txBody>
      </p:sp>
      <p:sp>
        <p:nvSpPr>
          <p:cNvPr id="21" name="box-664-176">
            <a:extLst xmlns:a="http://schemas.openxmlformats.org/drawingml/2006/main">
              <a:ext uri="{FF2B5EF4-FFF2-40B4-BE49-F238E27FC236}">
                <a16:creationId xmlns:a16="http://schemas.microsoft.com/office/drawing/2014/main" id="{F3150696-087D-4506-A91C-6ED0A7465C1A}"/>
              </a:ext>
            </a:extLst>
          </p:cNvPr>
          <p:cNvSpPr>
            <a:spLocks xmlns:a="http://schemas.openxmlformats.org/drawingml/2006/main" noGrp="1"/>
          </p:cNvSpPr>
          <p:nvPr/>
        </p:nvSpPr>
        <p:spPr>
          <a:xfrm xmlns:a="http://schemas.openxmlformats.org/drawingml/2006/main">
            <a:off x="6324600" y="1676400"/>
            <a:ext cx="1619250" cy="1276350"/>
          </a:xfrm>
          <a:prstGeom xmlns:a="http://schemas.openxmlformats.org/drawingml/2006/main" prst="roundRect">
            <a:avLst>
              <a:gd name="adj" fmla="val 5970"/>
            </a:avLst>
          </a:prstGeom>
          <a:solidFill xmlns:a="http://schemas.openxmlformats.org/drawingml/2006/main">
            <a:srgbClr val="F0EDFA"/>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CHECK-IN</a:t>
            </a:r>
          </a:p>
        </p:txBody>
      </p:sp>
      <p:sp>
        <p:nvSpPr>
          <p:cNvPr id="22" name="text-676-232-Gửi thay đổi +&#10;O">
            <a:extLst xmlns:a="http://schemas.openxmlformats.org/drawingml/2006/main">
              <a:ext uri="{FF2B5EF4-FFF2-40B4-BE49-F238E27FC236}">
                <a16:creationId xmlns:a16="http://schemas.microsoft.com/office/drawing/2014/main" id="{FC7F76B4-4C63-40E1-9A92-8738E04D9EE5}"/>
              </a:ext>
            </a:extLst>
          </p:cNvPr>
          <p:cNvSpPr>
            <a:spLocks xmlns:a="http://schemas.openxmlformats.org/drawingml/2006/main" noGrp="1"/>
          </p:cNvSpPr>
          <p:nvPr/>
        </p:nvSpPr>
        <p:spPr>
          <a:xfrm xmlns:a="http://schemas.openxmlformats.org/drawingml/2006/main">
            <a:off x="6438900" y="2209800"/>
            <a:ext cx="1390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050" b="0">
                <a:solidFill>
                  <a:srgbClr val="4B6075"/>
                </a:solidFill>
                <a:latin typeface="Arial"/>
                <a:ea typeface="Arial"/>
                <a:cs typeface="Arial"/>
              </a:defRPr>
            </a:pPr>
            <a:r>
              <a:rPr sz="1050" b="0">
                <a:solidFill>
                  <a:srgbClr val="4B6075"/>
                </a:solidFill>
                <a:latin typeface="Arial"/>
                <a:ea typeface="Arial"/>
                <a:cs typeface="Arial"/>
              </a:rPr>
              <a:t>Gửi thay đổi +</a:t>
            </a:r>
          </a:p>
          <a:p xmlns:a="http://schemas.openxmlformats.org/drawingml/2006/main">
            <a:pPr algn="ctr">
              <a:defRPr sz="1050" b="0">
                <a:solidFill>
                  <a:srgbClr val="4B6075"/>
                </a:solidFill>
                <a:latin typeface="Arial"/>
                <a:ea typeface="Arial"/>
                <a:cs typeface="Arial"/>
              </a:defRPr>
            </a:pPr>
            <a:r>
              <a:rPr sz="1050" b="0">
                <a:solidFill>
                  <a:srgbClr val="4B6075"/>
                </a:solidFill>
                <a:latin typeface="Arial"/>
                <a:ea typeface="Arial"/>
                <a:cs typeface="Arial"/>
              </a:rPr>
              <a:t>OperationId + phạm vi</a:t>
            </a:r>
          </a:p>
        </p:txBody>
      </p:sp>
      <p:sp>
        <p:nvSpPr>
          <p:cNvPr id="23" name="text-838-208-→">
            <a:extLst xmlns:a="http://schemas.openxmlformats.org/drawingml/2006/main">
              <a:ext uri="{FF2B5EF4-FFF2-40B4-BE49-F238E27FC236}">
                <a16:creationId xmlns:a16="http://schemas.microsoft.com/office/drawing/2014/main" id="{ABAF7060-70EF-4C0D-B12F-AB2925F014D4}"/>
              </a:ext>
            </a:extLst>
          </p:cNvPr>
          <p:cNvSpPr>
            <a:spLocks xmlns:a="http://schemas.openxmlformats.org/drawingml/2006/main" noGrp="1"/>
          </p:cNvSpPr>
          <p:nvPr/>
        </p:nvSpPr>
        <p:spPr>
          <a:xfrm xmlns:a="http://schemas.openxmlformats.org/drawingml/2006/main">
            <a:off x="7981950" y="1981200"/>
            <a:ext cx="266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1">
                <a:solidFill>
                  <a:srgbClr val="2169A8"/>
                </a:solidFill>
                <a:latin typeface="Arial"/>
                <a:ea typeface="Arial"/>
                <a:cs typeface="Arial"/>
              </a:defRPr>
            </a:pPr>
            <a:r>
              <a:rPr sz="1875" b="1">
                <a:solidFill>
                  <a:srgbClr val="2169A8"/>
                </a:solidFill>
                <a:latin typeface="Arial"/>
                <a:ea typeface="Arial"/>
                <a:cs typeface="Arial"/>
              </a:rPr>
              <a:t>→</a:t>
            </a:r>
          </a:p>
        </p:txBody>
      </p:sp>
      <p:sp>
        <p:nvSpPr>
          <p:cNvPr id="24" name="box-866-176">
            <a:extLst xmlns:a="http://schemas.openxmlformats.org/drawingml/2006/main">
              <a:ext uri="{FF2B5EF4-FFF2-40B4-BE49-F238E27FC236}">
                <a16:creationId xmlns:a16="http://schemas.microsoft.com/office/drawing/2014/main" id="{B05ED818-C8F8-490F-B34A-511B9D2CFDCE}"/>
              </a:ext>
            </a:extLst>
          </p:cNvPr>
          <p:cNvSpPr>
            <a:spLocks xmlns:a="http://schemas.openxmlformats.org/drawingml/2006/main" noGrp="1"/>
          </p:cNvSpPr>
          <p:nvPr/>
        </p:nvSpPr>
        <p:spPr>
          <a:xfrm xmlns:a="http://schemas.openxmlformats.org/drawingml/2006/main">
            <a:off x="8248650" y="1676400"/>
            <a:ext cx="1619250" cy="1276350"/>
          </a:xfrm>
          <a:prstGeom xmlns:a="http://schemas.openxmlformats.org/drawingml/2006/main" prst="roundRect">
            <a:avLst>
              <a:gd name="adj" fmla="val 5970"/>
            </a:avLst>
          </a:prstGeom>
          <a:solidFill xmlns:a="http://schemas.openxmlformats.org/drawingml/2006/main">
            <a:srgbClr val="FFF4DD"/>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SERVER</a:t>
            </a:r>
          </a:p>
        </p:txBody>
      </p:sp>
      <p:sp>
        <p:nvSpPr>
          <p:cNvPr id="25" name="text-878-232-Revalidate tại l">
            <a:extLst xmlns:a="http://schemas.openxmlformats.org/drawingml/2006/main">
              <a:ext uri="{FF2B5EF4-FFF2-40B4-BE49-F238E27FC236}">
                <a16:creationId xmlns:a16="http://schemas.microsoft.com/office/drawing/2014/main" id="{A6BB4199-7D65-43D0-9E61-1A119BE1C799}"/>
              </a:ext>
            </a:extLst>
          </p:cNvPr>
          <p:cNvSpPr>
            <a:spLocks xmlns:a="http://schemas.openxmlformats.org/drawingml/2006/main" noGrp="1"/>
          </p:cNvSpPr>
          <p:nvPr/>
        </p:nvSpPr>
        <p:spPr>
          <a:xfrm xmlns:a="http://schemas.openxmlformats.org/drawingml/2006/main">
            <a:off x="8362950" y="2209800"/>
            <a:ext cx="1390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050" b="0">
                <a:solidFill>
                  <a:srgbClr val="4B6075"/>
                </a:solidFill>
                <a:latin typeface="Arial"/>
                <a:ea typeface="Arial"/>
                <a:cs typeface="Arial"/>
              </a:defRPr>
            </a:pPr>
            <a:r>
              <a:rPr sz="1050" b="0">
                <a:solidFill>
                  <a:srgbClr val="4B6075"/>
                </a:solidFill>
                <a:latin typeface="Arial"/>
                <a:ea typeface="Arial"/>
                <a:cs typeface="Arial"/>
              </a:rPr>
              <a:t>Revalidate tại lúc commit</a:t>
            </a:r>
          </a:p>
        </p:txBody>
      </p:sp>
      <p:sp>
        <p:nvSpPr>
          <p:cNvPr id="26" name="box-1048-151">
            <a:extLst xmlns:a="http://schemas.openxmlformats.org/drawingml/2006/main">
              <a:ext uri="{FF2B5EF4-FFF2-40B4-BE49-F238E27FC236}">
                <a16:creationId xmlns:a16="http://schemas.microsoft.com/office/drawing/2014/main" id="{90D1319D-90D8-4599-990E-704D58B74456}"/>
              </a:ext>
            </a:extLst>
          </p:cNvPr>
          <p:cNvSpPr>
            <a:spLocks xmlns:a="http://schemas.openxmlformats.org/drawingml/2006/main" noGrp="1"/>
          </p:cNvSpPr>
          <p:nvPr/>
        </p:nvSpPr>
        <p:spPr>
          <a:xfrm xmlns:a="http://schemas.openxmlformats.org/drawingml/2006/main">
            <a:off x="9982200" y="1438275"/>
            <a:ext cx="1600200" cy="1790700"/>
          </a:xfrm>
          <a:prstGeom xmlns:a="http://schemas.openxmlformats.org/drawingml/2006/main" prst="roundRect">
            <a:avLst>
              <a:gd name="adj" fmla="val 4762"/>
            </a:avLst>
          </a:prstGeom>
          <a:solidFill xmlns:a="http://schemas.openxmlformats.org/drawingml/2006/main">
            <a:srgbClr val="F4F7FA"/>
          </a:solidFill>
          <a:ln xmlns:a="http://schemas.openxmlformats.org/drawingml/2006/main" w="14288">
            <a:solidFill>
              <a:srgbClr val="C58A1E"/>
            </a:solidFill>
            <a:prstDash val="solid"/>
          </a:ln>
        </p:spPr>
      </p:sp>
      <p:sp>
        <p:nvSpPr>
          <p:cNvPr id="27" name="text-1062-170-• Đúng quyền?">
            <a:extLst xmlns:a="http://schemas.openxmlformats.org/drawingml/2006/main">
              <a:ext uri="{FF2B5EF4-FFF2-40B4-BE49-F238E27FC236}">
                <a16:creationId xmlns:a16="http://schemas.microsoft.com/office/drawing/2014/main" id="{A0749ACD-F1EB-43C1-8BC9-6A526602F75F}"/>
              </a:ext>
            </a:extLst>
          </p:cNvPr>
          <p:cNvSpPr>
            <a:spLocks xmlns:a="http://schemas.openxmlformats.org/drawingml/2006/main" noGrp="1"/>
          </p:cNvSpPr>
          <p:nvPr/>
        </p:nvSpPr>
        <p:spPr>
          <a:xfrm xmlns:a="http://schemas.openxmlformats.org/drawingml/2006/main">
            <a:off x="10115550" y="1619250"/>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162638"/>
                </a:solidFill>
                <a:latin typeface="Arial"/>
                <a:ea typeface="Arial"/>
                <a:cs typeface="Arial"/>
              </a:defRPr>
            </a:pPr>
            <a:r>
              <a:rPr sz="975" b="0">
                <a:solidFill>
                  <a:srgbClr val="162638"/>
                </a:solidFill>
                <a:latin typeface="Arial"/>
                <a:ea typeface="Arial"/>
                <a:cs typeface="Arial"/>
              </a:rPr>
              <a:t>• Đúng quyền?</a:t>
            </a:r>
          </a:p>
        </p:txBody>
      </p:sp>
      <p:sp>
        <p:nvSpPr>
          <p:cNvPr id="28" name="text-1062-200-• Reservation hợ">
            <a:extLst xmlns:a="http://schemas.openxmlformats.org/drawingml/2006/main">
              <a:ext uri="{FF2B5EF4-FFF2-40B4-BE49-F238E27FC236}">
                <a16:creationId xmlns:a16="http://schemas.microsoft.com/office/drawing/2014/main" id="{F6283AC6-B862-4D93-8967-6636A41E59D4}"/>
              </a:ext>
            </a:extLst>
          </p:cNvPr>
          <p:cNvSpPr>
            <a:spLocks xmlns:a="http://schemas.openxmlformats.org/drawingml/2006/main" noGrp="1"/>
          </p:cNvSpPr>
          <p:nvPr/>
        </p:nvSpPr>
        <p:spPr>
          <a:xfrm xmlns:a="http://schemas.openxmlformats.org/drawingml/2006/main">
            <a:off x="10115550" y="1905000"/>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162638"/>
                </a:solidFill>
                <a:latin typeface="Arial"/>
                <a:ea typeface="Arial"/>
                <a:cs typeface="Arial"/>
              </a:defRPr>
            </a:pPr>
            <a:r>
              <a:rPr sz="975" b="0">
                <a:solidFill>
                  <a:srgbClr val="162638"/>
                </a:solidFill>
                <a:latin typeface="Arial"/>
                <a:ea typeface="Arial"/>
                <a:cs typeface="Arial"/>
              </a:rPr>
              <a:t>• Reservation hợp lệ?</a:t>
            </a:r>
          </a:p>
        </p:txBody>
      </p:sp>
      <p:sp>
        <p:nvSpPr>
          <p:cNvPr id="29" name="text-1062-230-• Baseline hiện ">
            <a:extLst xmlns:a="http://schemas.openxmlformats.org/drawingml/2006/main">
              <a:ext uri="{FF2B5EF4-FFF2-40B4-BE49-F238E27FC236}">
                <a16:creationId xmlns:a16="http://schemas.microsoft.com/office/drawing/2014/main" id="{0C33C5C8-75F5-4CD6-80D4-3246FDE6C88E}"/>
              </a:ext>
            </a:extLst>
          </p:cNvPr>
          <p:cNvSpPr>
            <a:spLocks xmlns:a="http://schemas.openxmlformats.org/drawingml/2006/main" noGrp="1"/>
          </p:cNvSpPr>
          <p:nvPr/>
        </p:nvSpPr>
        <p:spPr>
          <a:xfrm xmlns:a="http://schemas.openxmlformats.org/drawingml/2006/main">
            <a:off x="10115550" y="2190750"/>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162638"/>
                </a:solidFill>
                <a:latin typeface="Arial"/>
                <a:ea typeface="Arial"/>
                <a:cs typeface="Arial"/>
              </a:defRPr>
            </a:pPr>
            <a:r>
              <a:rPr sz="975" b="0">
                <a:solidFill>
                  <a:srgbClr val="162638"/>
                </a:solidFill>
                <a:latin typeface="Arial"/>
                <a:ea typeface="Arial"/>
                <a:cs typeface="Arial"/>
              </a:rPr>
              <a:t>• Baseline hiện hành?</a:t>
            </a:r>
          </a:p>
        </p:txBody>
      </p:sp>
      <p:sp>
        <p:nvSpPr>
          <p:cNvPr id="30" name="text-1062-260-• Scope nhất quá">
            <a:extLst xmlns:a="http://schemas.openxmlformats.org/drawingml/2006/main">
              <a:ext uri="{FF2B5EF4-FFF2-40B4-BE49-F238E27FC236}">
                <a16:creationId xmlns:a16="http://schemas.microsoft.com/office/drawing/2014/main" id="{D1DFD174-863C-4AC9-85CF-BE0D0A9B5DF8}"/>
              </a:ext>
            </a:extLst>
          </p:cNvPr>
          <p:cNvSpPr>
            <a:spLocks xmlns:a="http://schemas.openxmlformats.org/drawingml/2006/main" noGrp="1"/>
          </p:cNvSpPr>
          <p:nvPr/>
        </p:nvSpPr>
        <p:spPr>
          <a:xfrm xmlns:a="http://schemas.openxmlformats.org/drawingml/2006/main">
            <a:off x="10115550" y="2476500"/>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162638"/>
                </a:solidFill>
                <a:latin typeface="Arial"/>
                <a:ea typeface="Arial"/>
                <a:cs typeface="Arial"/>
              </a:defRPr>
            </a:pPr>
            <a:r>
              <a:rPr sz="975" b="0">
                <a:solidFill>
                  <a:srgbClr val="162638"/>
                </a:solidFill>
                <a:latin typeface="Arial"/>
                <a:ea typeface="Arial"/>
                <a:cs typeface="Arial"/>
              </a:rPr>
              <a:t>• Scope nhất quán?</a:t>
            </a:r>
          </a:p>
        </p:txBody>
      </p:sp>
      <p:sp>
        <p:nvSpPr>
          <p:cNvPr id="31" name="text-1062-290-• Structure hợp ">
            <a:extLst xmlns:a="http://schemas.openxmlformats.org/drawingml/2006/main">
              <a:ext uri="{FF2B5EF4-FFF2-40B4-BE49-F238E27FC236}">
                <a16:creationId xmlns:a16="http://schemas.microsoft.com/office/drawing/2014/main" id="{53AA5B1A-5D5B-4069-A168-08EFF91E4EA4}"/>
              </a:ext>
            </a:extLst>
          </p:cNvPr>
          <p:cNvSpPr>
            <a:spLocks xmlns:a="http://schemas.openxmlformats.org/drawingml/2006/main" noGrp="1"/>
          </p:cNvSpPr>
          <p:nvPr/>
        </p:nvSpPr>
        <p:spPr>
          <a:xfrm xmlns:a="http://schemas.openxmlformats.org/drawingml/2006/main">
            <a:off x="10115550" y="2762250"/>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162638"/>
                </a:solidFill>
                <a:latin typeface="Arial"/>
                <a:ea typeface="Arial"/>
                <a:cs typeface="Arial"/>
              </a:defRPr>
            </a:pPr>
            <a:r>
              <a:rPr sz="975" b="0">
                <a:solidFill>
                  <a:srgbClr val="162638"/>
                </a:solidFill>
                <a:latin typeface="Arial"/>
                <a:ea typeface="Arial"/>
                <a:cs typeface="Arial"/>
              </a:rPr>
              <a:t>• Structure hợp lệ?</a:t>
            </a:r>
          </a:p>
        </p:txBody>
      </p:sp>
      <p:sp>
        <p:nvSpPr>
          <p:cNvPr id="32" name="box-742-388">
            <a:extLst xmlns:a="http://schemas.openxmlformats.org/drawingml/2006/main">
              <a:ext uri="{FF2B5EF4-FFF2-40B4-BE49-F238E27FC236}">
                <a16:creationId xmlns:a16="http://schemas.microsoft.com/office/drawing/2014/main" id="{5433EE7A-A06E-4C8B-B029-AE5400650EAF}"/>
              </a:ext>
            </a:extLst>
          </p:cNvPr>
          <p:cNvSpPr>
            <a:spLocks xmlns:a="http://schemas.openxmlformats.org/drawingml/2006/main" noGrp="1"/>
          </p:cNvSpPr>
          <p:nvPr/>
        </p:nvSpPr>
        <p:spPr>
          <a:xfrm xmlns:a="http://schemas.openxmlformats.org/drawingml/2006/main">
            <a:off x="7067550" y="3695700"/>
            <a:ext cx="2095500" cy="1257300"/>
          </a:xfrm>
          <a:prstGeom xmlns:a="http://schemas.openxmlformats.org/drawingml/2006/main" prst="roundRect">
            <a:avLst>
              <a:gd name="adj" fmla="val 6061"/>
            </a:avLst>
          </a:prstGeom>
          <a:solidFill xmlns:a="http://schemas.openxmlformats.org/drawingml/2006/main">
            <a:srgbClr val="E7F5EE"/>
          </a:solidFill>
          <a:ln xmlns:a="http://schemas.openxmlformats.org/drawingml/2006/main" w="15240">
            <a:solidFill>
              <a:srgbClr val="2D8A62"/>
            </a:solidFill>
            <a:prstDash val="solid"/>
          </a:ln>
        </p:spPr>
      </p:sp>
      <p:sp>
        <p:nvSpPr>
          <p:cNvPr id="33" name="text-760-402-PASS">
            <a:extLst xmlns:a="http://schemas.openxmlformats.org/drawingml/2006/main">
              <a:ext uri="{FF2B5EF4-FFF2-40B4-BE49-F238E27FC236}">
                <a16:creationId xmlns:a16="http://schemas.microsoft.com/office/drawing/2014/main" id="{33490CF1-87D2-48CF-BA1B-10BE24730210}"/>
              </a:ext>
            </a:extLst>
          </p:cNvPr>
          <p:cNvSpPr>
            <a:spLocks xmlns:a="http://schemas.openxmlformats.org/drawingml/2006/main" noGrp="1"/>
          </p:cNvSpPr>
          <p:nvPr/>
        </p:nvSpPr>
        <p:spPr>
          <a:xfrm xmlns:a="http://schemas.openxmlformats.org/drawingml/2006/main">
            <a:off x="7239000" y="382905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2D8A62"/>
                </a:solidFill>
                <a:latin typeface="Arial"/>
                <a:ea typeface="Arial"/>
                <a:cs typeface="Arial"/>
              </a:defRPr>
            </a:pPr>
            <a:r>
              <a:rPr sz="1575" b="1">
                <a:solidFill>
                  <a:srgbClr val="2D8A62"/>
                </a:solidFill>
                <a:latin typeface="Arial"/>
                <a:ea typeface="Arial"/>
                <a:cs typeface="Arial"/>
              </a:rPr>
              <a:t>PASS</a:t>
            </a:r>
          </a:p>
        </p:txBody>
      </p:sp>
      <p:sp>
        <p:nvSpPr>
          <p:cNvPr id="34" name="text-756-442-Tạo G006 cho nội">
            <a:extLst xmlns:a="http://schemas.openxmlformats.org/drawingml/2006/main">
              <a:ext uri="{FF2B5EF4-FFF2-40B4-BE49-F238E27FC236}">
                <a16:creationId xmlns:a16="http://schemas.microsoft.com/office/drawing/2014/main" id="{95AD6E14-B4B0-4FFB-BE03-A8748C94F217}"/>
              </a:ext>
            </a:extLst>
          </p:cNvPr>
          <p:cNvSpPr>
            <a:spLocks xmlns:a="http://schemas.openxmlformats.org/drawingml/2006/main" noGrp="1"/>
          </p:cNvSpPr>
          <p:nvPr/>
        </p:nvSpPr>
        <p:spPr>
          <a:xfrm xmlns:a="http://schemas.openxmlformats.org/drawingml/2006/main">
            <a:off x="7200900" y="4210050"/>
            <a:ext cx="1828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013" b="0">
                <a:solidFill>
                  <a:srgbClr val="4B6075"/>
                </a:solidFill>
                <a:latin typeface="Arial"/>
                <a:ea typeface="Arial"/>
                <a:cs typeface="Arial"/>
              </a:defRPr>
            </a:pPr>
            <a:r>
              <a:rPr sz="1013" b="0">
                <a:solidFill>
                  <a:srgbClr val="4B6075"/>
                </a:solidFill>
                <a:latin typeface="Arial"/>
                <a:ea typeface="Arial"/>
                <a:cs typeface="Arial"/>
              </a:rPr>
              <a:t>Tạo G006 cho nội dung đổi</a:t>
            </a:r>
          </a:p>
          <a:p xmlns:a="http://schemas.openxmlformats.org/drawingml/2006/main">
            <a:pPr algn="ctr">
              <a:defRPr sz="1013" b="0">
                <a:solidFill>
                  <a:srgbClr val="4B6075"/>
                </a:solidFill>
                <a:latin typeface="Arial"/>
                <a:ea typeface="Arial"/>
                <a:cs typeface="Arial"/>
              </a:defRPr>
            </a:pPr>
            <a:r>
              <a:rPr sz="1013" b="0">
                <a:solidFill>
                  <a:srgbClr val="4B6075"/>
                </a:solidFill>
                <a:latin typeface="Arial"/>
                <a:ea typeface="Arial"/>
                <a:cs typeface="Arial"/>
              </a:rPr>
              <a:t>Kết thúc Checkout trong phạm vi</a:t>
            </a:r>
          </a:p>
        </p:txBody>
      </p:sp>
      <p:sp>
        <p:nvSpPr>
          <p:cNvPr id="35" name="box-1000-388">
            <a:extLst xmlns:a="http://schemas.openxmlformats.org/drawingml/2006/main">
              <a:ext uri="{FF2B5EF4-FFF2-40B4-BE49-F238E27FC236}">
                <a16:creationId xmlns:a16="http://schemas.microsoft.com/office/drawing/2014/main" id="{510484F0-611B-45F7-937F-85A5564F3C9A}"/>
              </a:ext>
            </a:extLst>
          </p:cNvPr>
          <p:cNvSpPr>
            <a:spLocks xmlns:a="http://schemas.openxmlformats.org/drawingml/2006/main" noGrp="1"/>
          </p:cNvSpPr>
          <p:nvPr/>
        </p:nvSpPr>
        <p:spPr>
          <a:xfrm xmlns:a="http://schemas.openxmlformats.org/drawingml/2006/main">
            <a:off x="9525000" y="3695700"/>
            <a:ext cx="2095500" cy="1257300"/>
          </a:xfrm>
          <a:prstGeom xmlns:a="http://schemas.openxmlformats.org/drawingml/2006/main" prst="roundRect">
            <a:avLst>
              <a:gd name="adj" fmla="val 6061"/>
            </a:avLst>
          </a:prstGeom>
          <a:solidFill xmlns:a="http://schemas.openxmlformats.org/drawingml/2006/main">
            <a:srgbClr val="FBEAEC"/>
          </a:solidFill>
          <a:ln xmlns:a="http://schemas.openxmlformats.org/drawingml/2006/main" w="15240">
            <a:solidFill>
              <a:srgbClr val="B94A55"/>
            </a:solidFill>
            <a:prstDash val="solid"/>
          </a:ln>
        </p:spPr>
      </p:sp>
      <p:sp>
        <p:nvSpPr>
          <p:cNvPr id="36" name="text-1018-402-FAIL">
            <a:extLst xmlns:a="http://schemas.openxmlformats.org/drawingml/2006/main">
              <a:ext uri="{FF2B5EF4-FFF2-40B4-BE49-F238E27FC236}">
                <a16:creationId xmlns:a16="http://schemas.microsoft.com/office/drawing/2014/main" id="{4606E27A-5095-412F-85F4-F07A748EE4BD}"/>
              </a:ext>
            </a:extLst>
          </p:cNvPr>
          <p:cNvSpPr>
            <a:spLocks xmlns:a="http://schemas.openxmlformats.org/drawingml/2006/main" noGrp="1"/>
          </p:cNvSpPr>
          <p:nvPr/>
        </p:nvSpPr>
        <p:spPr>
          <a:xfrm xmlns:a="http://schemas.openxmlformats.org/drawingml/2006/main">
            <a:off x="9696450" y="382905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B94A55"/>
                </a:solidFill>
                <a:latin typeface="Arial"/>
                <a:ea typeface="Arial"/>
                <a:cs typeface="Arial"/>
              </a:defRPr>
            </a:pPr>
            <a:r>
              <a:rPr sz="1575" b="1">
                <a:solidFill>
                  <a:srgbClr val="B94A55"/>
                </a:solidFill>
                <a:latin typeface="Arial"/>
                <a:ea typeface="Arial"/>
                <a:cs typeface="Arial"/>
              </a:rPr>
              <a:t>FAIL</a:t>
            </a:r>
          </a:p>
        </p:txBody>
      </p:sp>
      <p:sp>
        <p:nvSpPr>
          <p:cNvPr id="37" name="text-1014-442-Chặn ghi không a">
            <a:extLst xmlns:a="http://schemas.openxmlformats.org/drawingml/2006/main">
              <a:ext uri="{FF2B5EF4-FFF2-40B4-BE49-F238E27FC236}">
                <a16:creationId xmlns:a16="http://schemas.microsoft.com/office/drawing/2014/main" id="{0861DE4F-A275-4B82-9D9E-0EC7BA4EE801}"/>
              </a:ext>
            </a:extLst>
          </p:cNvPr>
          <p:cNvSpPr>
            <a:spLocks xmlns:a="http://schemas.openxmlformats.org/drawingml/2006/main" noGrp="1"/>
          </p:cNvSpPr>
          <p:nvPr/>
        </p:nvSpPr>
        <p:spPr>
          <a:xfrm xmlns:a="http://schemas.openxmlformats.org/drawingml/2006/main">
            <a:off x="9658350" y="4210050"/>
            <a:ext cx="1828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013" b="0">
                <a:solidFill>
                  <a:srgbClr val="4B6075"/>
                </a:solidFill>
                <a:latin typeface="Arial"/>
                <a:ea typeface="Arial"/>
                <a:cs typeface="Arial"/>
              </a:defRPr>
            </a:pPr>
            <a:r>
              <a:rPr sz="1013" b="0">
                <a:solidFill>
                  <a:srgbClr val="4B6075"/>
                </a:solidFill>
                <a:latin typeface="Arial"/>
                <a:ea typeface="Arial"/>
                <a:cs typeface="Arial"/>
              </a:rPr>
              <a:t>Chặn ghi không an toàn</a:t>
            </a:r>
          </a:p>
          <a:p xmlns:a="http://schemas.openxmlformats.org/drawingml/2006/main">
            <a:pPr algn="ctr">
              <a:defRPr sz="1013" b="0">
                <a:solidFill>
                  <a:srgbClr val="4B6075"/>
                </a:solidFill>
                <a:latin typeface="Arial"/>
                <a:ea typeface="Arial"/>
                <a:cs typeface="Arial"/>
              </a:defRPr>
            </a:pPr>
            <a:r>
              <a:rPr sz="1013" b="0">
                <a:solidFill>
                  <a:srgbClr val="4B6075"/>
                </a:solidFill>
                <a:latin typeface="Arial"/>
                <a:ea typeface="Arial"/>
                <a:cs typeface="Arial"/>
              </a:rPr>
              <a:t>Giữ local work + giải thích</a:t>
            </a:r>
          </a:p>
        </p:txBody>
      </p:sp>
      <p:sp>
        <p:nvSpPr>
          <p:cNvPr id="38" name="text-890-338-↙">
            <a:extLst xmlns:a="http://schemas.openxmlformats.org/drawingml/2006/main">
              <a:ext uri="{FF2B5EF4-FFF2-40B4-BE49-F238E27FC236}">
                <a16:creationId xmlns:a16="http://schemas.microsoft.com/office/drawing/2014/main" id="{B7094129-89C8-4CE8-BC43-20BBCD75FFA6}"/>
              </a:ext>
            </a:extLst>
          </p:cNvPr>
          <p:cNvSpPr>
            <a:spLocks xmlns:a="http://schemas.openxmlformats.org/drawingml/2006/main" noGrp="1"/>
          </p:cNvSpPr>
          <p:nvPr/>
        </p:nvSpPr>
        <p:spPr>
          <a:xfrm xmlns:a="http://schemas.openxmlformats.org/drawingml/2006/main">
            <a:off x="8477250" y="3219450"/>
            <a:ext cx="514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2D8A62"/>
                </a:solidFill>
                <a:latin typeface="Arial"/>
                <a:ea typeface="Arial"/>
                <a:cs typeface="Arial"/>
              </a:defRPr>
            </a:pPr>
            <a:r>
              <a:rPr sz="2100" b="1">
                <a:solidFill>
                  <a:srgbClr val="2D8A62"/>
                </a:solidFill>
                <a:latin typeface="Arial"/>
                <a:ea typeface="Arial"/>
                <a:cs typeface="Arial"/>
              </a:rPr>
              <a:t>↙</a:t>
            </a:r>
          </a:p>
        </p:txBody>
      </p:sp>
      <p:sp>
        <p:nvSpPr>
          <p:cNvPr id="39" name="text-1090-338-↘">
            <a:extLst xmlns:a="http://schemas.openxmlformats.org/drawingml/2006/main">
              <a:ext uri="{FF2B5EF4-FFF2-40B4-BE49-F238E27FC236}">
                <a16:creationId xmlns:a16="http://schemas.microsoft.com/office/drawing/2014/main" id="{77CBDA5B-1550-4CE0-AD2D-90F1C907DA82}"/>
              </a:ext>
            </a:extLst>
          </p:cNvPr>
          <p:cNvSpPr>
            <a:spLocks xmlns:a="http://schemas.openxmlformats.org/drawingml/2006/main" noGrp="1"/>
          </p:cNvSpPr>
          <p:nvPr/>
        </p:nvSpPr>
        <p:spPr>
          <a:xfrm xmlns:a="http://schemas.openxmlformats.org/drawingml/2006/main">
            <a:off x="10382250" y="3219450"/>
            <a:ext cx="514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B94A55"/>
                </a:solidFill>
                <a:latin typeface="Arial"/>
                <a:ea typeface="Arial"/>
                <a:cs typeface="Arial"/>
              </a:defRPr>
            </a:pPr>
            <a:r>
              <a:rPr sz="2100" b="1">
                <a:solidFill>
                  <a:srgbClr val="B94A55"/>
                </a:solidFill>
                <a:latin typeface="Arial"/>
                <a:ea typeface="Arial"/>
                <a:cs typeface="Arial"/>
              </a:rPr>
              <a:t>↘</a:t>
            </a:r>
          </a:p>
        </p:txBody>
      </p:sp>
      <p:sp>
        <p:nvSpPr>
          <p:cNvPr id="40" name="box-58-374">
            <a:extLst xmlns:a="http://schemas.openxmlformats.org/drawingml/2006/main">
              <a:ext uri="{FF2B5EF4-FFF2-40B4-BE49-F238E27FC236}">
                <a16:creationId xmlns:a16="http://schemas.microsoft.com/office/drawing/2014/main" id="{D90E2658-5225-4A03-89A2-314EC0ECE987}"/>
              </a:ext>
            </a:extLst>
          </p:cNvPr>
          <p:cNvSpPr>
            <a:spLocks xmlns:a="http://schemas.openxmlformats.org/drawingml/2006/main" noGrp="1"/>
          </p:cNvSpPr>
          <p:nvPr/>
        </p:nvSpPr>
        <p:spPr>
          <a:xfrm xmlns:a="http://schemas.openxmlformats.org/drawingml/2006/main">
            <a:off x="552450" y="3562350"/>
            <a:ext cx="5619750" cy="1943100"/>
          </a:xfrm>
          <a:prstGeom xmlns:a="http://schemas.openxmlformats.org/drawingml/2006/main" prst="roundRect">
            <a:avLst>
              <a:gd name="adj" fmla="val 3922"/>
            </a:avLst>
          </a:prstGeom>
          <a:solidFill xmlns:a="http://schemas.openxmlformats.org/drawingml/2006/main">
            <a:srgbClr val="F4F7FA"/>
          </a:solidFill>
          <a:ln xmlns:a="http://schemas.openxmlformats.org/drawingml/2006/main" w="11430">
            <a:solidFill>
              <a:srgbClr val="CBD8E3"/>
            </a:solidFill>
            <a:prstDash val="solid"/>
          </a:ln>
        </p:spPr>
      </p:sp>
      <p:sp>
        <p:nvSpPr>
          <p:cNvPr id="41" name="box-82-394">
            <a:extLst xmlns:a="http://schemas.openxmlformats.org/drawingml/2006/main">
              <a:ext uri="{FF2B5EF4-FFF2-40B4-BE49-F238E27FC236}">
                <a16:creationId xmlns:a16="http://schemas.microsoft.com/office/drawing/2014/main" id="{3AEBB9AA-DE56-4CCF-AFF8-84301CBF1C54}"/>
              </a:ext>
            </a:extLst>
          </p:cNvPr>
          <p:cNvSpPr>
            <a:spLocks xmlns:a="http://schemas.openxmlformats.org/drawingml/2006/main" noGrp="1"/>
          </p:cNvSpPr>
          <p:nvPr/>
        </p:nvSpPr>
        <p:spPr>
          <a:xfrm xmlns:a="http://schemas.openxmlformats.org/drawingml/2006/main">
            <a:off x="781050" y="3752850"/>
            <a:ext cx="1295400" cy="323850"/>
          </a:xfrm>
          <a:prstGeom xmlns:a="http://schemas.openxmlformats.org/drawingml/2006/main" prst="roundRect">
            <a:avLst>
              <a:gd name="adj" fmla="val 23529"/>
            </a:avLst>
          </a:prstGeom>
          <a:solidFill xmlns:a="http://schemas.openxmlformats.org/drawingml/2006/main">
            <a:srgbClr val="7890A6"/>
          </a:solidFill>
          <a:ln xmlns:a="http://schemas.openxmlformats.org/drawingml/2006/main" w="7620">
            <a:solidFill>
              <a:srgbClr val="7890A6"/>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REFERENCE</a:t>
            </a:r>
          </a:p>
        </p:txBody>
      </p:sp>
      <p:sp>
        <p:nvSpPr>
          <p:cNvPr id="42" name="text-82-444-Mở bản tham khảo">
            <a:extLst xmlns:a="http://schemas.openxmlformats.org/drawingml/2006/main">
              <a:ext uri="{FF2B5EF4-FFF2-40B4-BE49-F238E27FC236}">
                <a16:creationId xmlns:a16="http://schemas.microsoft.com/office/drawing/2014/main" id="{A17321DE-D54B-4CD9-996B-20A4EAB7DDDE}"/>
              </a:ext>
            </a:extLst>
          </p:cNvPr>
          <p:cNvSpPr>
            <a:spLocks xmlns:a="http://schemas.openxmlformats.org/drawingml/2006/main" noGrp="1"/>
          </p:cNvSpPr>
          <p:nvPr/>
        </p:nvSpPr>
        <p:spPr>
          <a:xfrm xmlns:a="http://schemas.openxmlformats.org/drawingml/2006/main">
            <a:off x="781050" y="4229100"/>
            <a:ext cx="5029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Mở bản tham khảo theo đúng Generation nhưng không nhận quyền công bố vào tài liệu gốc.</a:t>
            </a:r>
          </a:p>
        </p:txBody>
      </p:sp>
      <p:sp>
        <p:nvSpPr>
          <p:cNvPr id="43" name="text-82-510-Nếu bản Referenc">
            <a:extLst xmlns:a="http://schemas.openxmlformats.org/drawingml/2006/main">
              <a:ext uri="{FF2B5EF4-FFF2-40B4-BE49-F238E27FC236}">
                <a16:creationId xmlns:a16="http://schemas.microsoft.com/office/drawing/2014/main" id="{C806B93C-DE7D-4244-93F0-0EACDFD3191C}"/>
              </a:ext>
            </a:extLst>
          </p:cNvPr>
          <p:cNvSpPr>
            <a:spLocks xmlns:a="http://schemas.openxmlformats.org/drawingml/2006/main" noGrp="1"/>
          </p:cNvSpPr>
          <p:nvPr/>
        </p:nvSpPr>
        <p:spPr>
          <a:xfrm xmlns:a="http://schemas.openxmlformats.org/drawingml/2006/main">
            <a:off x="781050" y="4857750"/>
            <a:ext cx="5029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4B6075"/>
                </a:solidFill>
                <a:latin typeface="Arial"/>
                <a:ea typeface="Arial"/>
                <a:cs typeface="Arial"/>
              </a:defRPr>
            </a:pPr>
            <a:r>
              <a:rPr sz="1200" b="0">
                <a:solidFill>
                  <a:srgbClr val="4B6075"/>
                </a:solidFill>
                <a:latin typeface="Arial"/>
                <a:ea typeface="Arial"/>
                <a:cs typeface="Arial"/>
              </a:rPr>
              <a:t>Nếu bản Reference bị sửa, UI phải đưa ra lựa chọn an toàn; không Check-in trực tiếp lên bản gốc.</a:t>
            </a:r>
          </a:p>
        </p:txBody>
      </p:sp>
      <p:sp>
        <p:nvSpPr>
          <p:cNvPr id="44" name="box-684-542">
            <a:extLst xmlns:a="http://schemas.openxmlformats.org/drawingml/2006/main">
              <a:ext uri="{FF2B5EF4-FFF2-40B4-BE49-F238E27FC236}">
                <a16:creationId xmlns:a16="http://schemas.microsoft.com/office/drawing/2014/main" id="{42CDF584-DE66-4225-AAE2-7738B789310B}"/>
              </a:ext>
            </a:extLst>
          </p:cNvPr>
          <p:cNvSpPr>
            <a:spLocks xmlns:a="http://schemas.openxmlformats.org/drawingml/2006/main" noGrp="1"/>
          </p:cNvSpPr>
          <p:nvPr/>
        </p:nvSpPr>
        <p:spPr>
          <a:xfrm xmlns:a="http://schemas.openxmlformats.org/drawingml/2006/main">
            <a:off x="6515100" y="5162550"/>
            <a:ext cx="5105400" cy="685800"/>
          </a:xfrm>
          <a:prstGeom xmlns:a="http://schemas.openxmlformats.org/drawingml/2006/main" prst="roundRect">
            <a:avLst>
              <a:gd name="adj" fmla="val 11111"/>
            </a:avLst>
          </a:prstGeom>
          <a:solidFill xmlns:a="http://schemas.openxmlformats.org/drawingml/2006/main">
            <a:srgbClr val="102744"/>
          </a:solidFill>
          <a:ln xmlns:a="http://schemas.openxmlformats.org/drawingml/2006/main" w="1143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Checkout không chỉ là download. Check-in không chỉ là upload.</a:t>
            </a:r>
          </a:p>
        </p:txBody>
      </p:sp>
    </p:spTree>
    <p:extLst>
      <p:ext uri="{BB962C8B-B14F-4D97-AF65-F5344CB8AC3E}">
        <p14:creationId xmlns:p14="http://schemas.microsoft.com/office/powerpoint/2010/main" val="207649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box-0-0">
            <a:extLst xmlns:a="http://schemas.openxmlformats.org/drawingml/2006/main">
              <a:ext uri="{FF2B5EF4-FFF2-40B4-BE49-F238E27FC236}">
                <a16:creationId xmlns:a16="http://schemas.microsoft.com/office/drawing/2014/main" id="{87651675-0029-4695-AF41-70784AB1DAC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169A8"/>
          </a:solidFill>
          <a:ln xmlns:a="http://schemas.openxmlformats.org/drawingml/2006/main" w="0">
            <a:noFill/>
            <a:prstDash val="solid"/>
          </a:ln>
        </p:spPr>
      </p:sp>
      <p:sp>
        <p:nvSpPr>
          <p:cNvPr id="2" name="text-54-28-SPEC">
            <a:extLst xmlns:a="http://schemas.openxmlformats.org/drawingml/2006/main">
              <a:ext uri="{FF2B5EF4-FFF2-40B4-BE49-F238E27FC236}">
                <a16:creationId xmlns:a16="http://schemas.microsoft.com/office/drawing/2014/main" id="{EBA537DE-492E-40C8-BDCB-38E552459760}"/>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Product S">
            <a:extLst xmlns:a="http://schemas.openxmlformats.org/drawingml/2006/main">
              <a:ext uri="{FF2B5EF4-FFF2-40B4-BE49-F238E27FC236}">
                <a16:creationId xmlns:a16="http://schemas.microsoft.com/office/drawing/2014/main" id="{6E7B5D5F-9E7C-4C0B-81AC-96C4014DCA5A}"/>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Spec — Product Structure phải tái tạo được lịch sử</a:t>
            </a:r>
          </a:p>
        </p:txBody>
      </p:sp>
      <p:sp>
        <p:nvSpPr>
          <p:cNvPr id="4" name="line-54-116">
            <a:extLst xmlns:a="http://schemas.openxmlformats.org/drawingml/2006/main">
              <a:ext uri="{FF2B5EF4-FFF2-40B4-BE49-F238E27FC236}">
                <a16:creationId xmlns:a16="http://schemas.microsoft.com/office/drawing/2014/main" id="{4567EB0A-53F6-40D5-BFD6-87DAB307359E}"/>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4@0">
            <a:extLst xmlns:a="http://schemas.openxmlformats.org/drawingml/2006/main">
              <a:ext uri="{FF2B5EF4-FFF2-40B4-BE49-F238E27FC236}">
                <a16:creationId xmlns:a16="http://schemas.microsoft.com/office/drawing/2014/main" id="{04E89362-2CCF-4DD4-80AB-4D108517917F}"/>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DOC-05@0.20 · DOC-06@0.16</a:t>
            </a:r>
          </a:p>
        </p:txBody>
      </p:sp>
      <p:sp>
        <p:nvSpPr>
          <p:cNvPr id="6" name="text-1170-680-08">
            <a:extLst xmlns:a="http://schemas.openxmlformats.org/drawingml/2006/main">
              <a:ext uri="{FF2B5EF4-FFF2-40B4-BE49-F238E27FC236}">
                <a16:creationId xmlns:a16="http://schemas.microsoft.com/office/drawing/2014/main" id="{32141A2C-C4B9-45F3-841C-81FF828BEF04}"/>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08</a:t>
            </a:r>
          </a:p>
        </p:txBody>
      </p:sp>
      <p:sp>
        <p:nvSpPr>
          <p:cNvPr id="7" name="diagram-meta-8">
            <a:extLst xmlns:a="http://schemas.openxmlformats.org/drawingml/2006/main">
              <a:ext uri="{FF2B5EF4-FFF2-40B4-BE49-F238E27FC236}">
                <a16:creationId xmlns:a16="http://schemas.microsoft.com/office/drawing/2014/main" id="{43CF5574-6884-4ECF-A300-D5FC53F9278D}"/>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8">
            <a:extLst xmlns:a="http://schemas.openxmlformats.org/drawingml/2006/main">
              <a:ext uri="{FF2B5EF4-FFF2-40B4-BE49-F238E27FC236}">
                <a16:creationId xmlns:a16="http://schemas.microsoft.com/office/drawing/2014/main" id="{29E1B6EA-04E3-427A-AEBF-FCE23C0118B0}"/>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Management simplification</a:t>
            </a:r>
          </a:p>
        </p:txBody>
      </p:sp>
      <p:sp>
        <p:nvSpPr>
          <p:cNvPr id="9" name="diagram-source-8">
            <a:extLst xmlns:a="http://schemas.openxmlformats.org/drawingml/2006/main">
              <a:ext uri="{FF2B5EF4-FFF2-40B4-BE49-F238E27FC236}">
                <a16:creationId xmlns:a16="http://schemas.microsoft.com/office/drawing/2014/main" id="{F040B492-B696-4E41-9C9D-41C3B23C34D1}"/>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DATA-VIEW-CORE-001</a:t>
            </a:r>
          </a:p>
        </p:txBody>
      </p:sp>
      <p:sp>
        <p:nvSpPr>
          <p:cNvPr id="10" name="diagram-why-8">
            <a:extLst xmlns:a="http://schemas.openxmlformats.org/drawingml/2006/main">
              <a:ext uri="{FF2B5EF4-FFF2-40B4-BE49-F238E27FC236}">
                <a16:creationId xmlns:a16="http://schemas.microsoft.com/office/drawing/2014/main" id="{F8A89548-B7EE-4411-9DC0-25D3B4988D75}"/>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Cho thấy Structure Snapshot ghim bản chính xác</a:t>
            </a:r>
          </a:p>
        </p:txBody>
      </p:sp>
      <p:sp>
        <p:nvSpPr>
          <p:cNvPr id="11" name="source-link-8-DATA-VIEW-CORE-001">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4F9D2BBB-CCB7-4CAE-B555-563DFD757C42}"/>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DATA-VIEW-CORE-001 — Released baseline identity</a:t>
            </a:r>
          </a:p>
        </p:txBody>
      </p:sp>
      <p:sp>
        <p:nvSpPr>
          <p:cNvPr id="12" name="box-64-154">
            <a:extLst xmlns:a="http://schemas.openxmlformats.org/drawingml/2006/main">
              <a:ext uri="{FF2B5EF4-FFF2-40B4-BE49-F238E27FC236}">
                <a16:creationId xmlns:a16="http://schemas.microsoft.com/office/drawing/2014/main" id="{41CF64F5-4779-4B4A-B53D-610C01A64B24}"/>
              </a:ext>
            </a:extLst>
          </p:cNvPr>
          <p:cNvSpPr>
            <a:spLocks xmlns:a="http://schemas.openxmlformats.org/drawingml/2006/main" noGrp="1"/>
          </p:cNvSpPr>
          <p:nvPr/>
        </p:nvSpPr>
        <p:spPr>
          <a:xfrm xmlns:a="http://schemas.openxmlformats.org/drawingml/2006/main">
            <a:off x="609600" y="1466850"/>
            <a:ext cx="3333750" cy="4248150"/>
          </a:xfrm>
          <a:prstGeom xmlns:a="http://schemas.openxmlformats.org/drawingml/2006/main" prst="roundRect">
            <a:avLst>
              <a:gd name="adj" fmla="val 2286"/>
            </a:avLst>
          </a:prstGeom>
          <a:solidFill xmlns:a="http://schemas.openxmlformats.org/drawingml/2006/main">
            <a:srgbClr val="F4F7FA"/>
          </a:solidFill>
          <a:ln xmlns:a="http://schemas.openxmlformats.org/drawingml/2006/main" w="11430">
            <a:solidFill>
              <a:srgbClr val="CBD8E3"/>
            </a:solidFill>
            <a:prstDash val="solid"/>
          </a:ln>
        </p:spPr>
      </p:sp>
      <p:sp>
        <p:nvSpPr>
          <p:cNvPr id="13" name="box-90-178">
            <a:extLst xmlns:a="http://schemas.openxmlformats.org/drawingml/2006/main">
              <a:ext uri="{FF2B5EF4-FFF2-40B4-BE49-F238E27FC236}">
                <a16:creationId xmlns:a16="http://schemas.microsoft.com/office/drawing/2014/main" id="{24C46D14-6A3A-4F91-AA49-6A5E09BD0B42}"/>
              </a:ext>
            </a:extLst>
          </p:cNvPr>
          <p:cNvSpPr>
            <a:spLocks xmlns:a="http://schemas.openxmlformats.org/drawingml/2006/main" noGrp="1"/>
          </p:cNvSpPr>
          <p:nvPr/>
        </p:nvSpPr>
        <p:spPr>
          <a:xfrm xmlns:a="http://schemas.openxmlformats.org/drawingml/2006/main">
            <a:off x="857250" y="1695450"/>
            <a:ext cx="2838450" cy="323850"/>
          </a:xfrm>
          <a:prstGeom xmlns:a="http://schemas.openxmlformats.org/drawingml/2006/main" prst="roundRect">
            <a:avLst>
              <a:gd name="adj" fmla="val 23529"/>
            </a:avLst>
          </a:prstGeom>
          <a:solidFill xmlns:a="http://schemas.openxmlformats.org/drawingml/2006/main">
            <a:srgbClr val="102744"/>
          </a:solidFill>
          <a:ln xmlns:a="http://schemas.openxmlformats.org/drawingml/2006/main" w="762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CẤU TRÚC TẠI THỜI ĐIỂM RELEASE</a:t>
            </a:r>
          </a:p>
        </p:txBody>
      </p:sp>
      <p:sp>
        <p:nvSpPr>
          <p:cNvPr id="14" name="box-136-242">
            <a:extLst xmlns:a="http://schemas.openxmlformats.org/drawingml/2006/main">
              <a:ext uri="{FF2B5EF4-FFF2-40B4-BE49-F238E27FC236}">
                <a16:creationId xmlns:a16="http://schemas.microsoft.com/office/drawing/2014/main" id="{0EB8A5B5-1A45-4877-B4B7-204776C5F725}"/>
              </a:ext>
            </a:extLst>
          </p:cNvPr>
          <p:cNvSpPr>
            <a:spLocks xmlns:a="http://schemas.openxmlformats.org/drawingml/2006/main" noGrp="1"/>
          </p:cNvSpPr>
          <p:nvPr/>
        </p:nvSpPr>
        <p:spPr>
          <a:xfrm xmlns:a="http://schemas.openxmlformats.org/drawingml/2006/main">
            <a:off x="1295400" y="2305050"/>
            <a:ext cx="1981200" cy="666750"/>
          </a:xfrm>
          <a:prstGeom xmlns:a="http://schemas.openxmlformats.org/drawingml/2006/main" prst="roundRect">
            <a:avLst>
              <a:gd name="adj" fmla="val 11429"/>
            </a:avLst>
          </a:prstGeom>
          <a:solidFill xmlns:a="http://schemas.openxmlformats.org/drawingml/2006/main">
            <a:srgbClr val="EAF3F9"/>
          </a:solidFill>
          <a:ln xmlns:a="http://schemas.openxmlformats.org/drawingml/2006/main" w="1143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725" b="1">
                <a:solidFill>
                  <a:srgbClr val="162638"/>
                </a:solidFill>
                <a:latin typeface="Arial"/>
                <a:ea typeface="Arial"/>
                <a:cs typeface="Arial"/>
              </a:defRPr>
            </a:pPr>
            <a:r>
              <a:rPr sz="1725" b="1">
                <a:solidFill>
                  <a:srgbClr val="162638"/>
                </a:solidFill>
                <a:latin typeface="Arial"/>
                <a:ea typeface="Arial"/>
                <a:cs typeface="Arial"/>
              </a:rPr>
              <a:t>Assembly A</a:t>
            </a:r>
          </a:p>
        </p:txBody>
      </p:sp>
      <p:sp>
        <p:nvSpPr>
          <p:cNvPr id="15" name="line-238-312">
            <a:extLst xmlns:a="http://schemas.openxmlformats.org/drawingml/2006/main">
              <a:ext uri="{FF2B5EF4-FFF2-40B4-BE49-F238E27FC236}">
                <a16:creationId xmlns:a16="http://schemas.microsoft.com/office/drawing/2014/main" id="{0CA40FE7-ED86-4D27-A6FE-320F66EC171C}"/>
              </a:ext>
            </a:extLst>
          </p:cNvPr>
          <p:cNvSpPr>
            <a:spLocks xmlns:a="http://schemas.openxmlformats.org/drawingml/2006/main" noGrp="1"/>
          </p:cNvSpPr>
          <p:nvPr/>
        </p:nvSpPr>
        <p:spPr>
          <a:xfrm xmlns:a="http://schemas.openxmlformats.org/drawingml/2006/main">
            <a:off x="2266950" y="2971800"/>
            <a:ext cx="28575" cy="609600"/>
          </a:xfrm>
          <a:prstGeom xmlns:a="http://schemas.openxmlformats.org/drawingml/2006/main" prst="rect">
            <a:avLst/>
          </a:prstGeom>
          <a:solidFill xmlns:a="http://schemas.openxmlformats.org/drawingml/2006/main">
            <a:srgbClr val="7890A6"/>
          </a:solidFill>
          <a:ln xmlns:a="http://schemas.openxmlformats.org/drawingml/2006/main" w="0">
            <a:solidFill>
              <a:srgbClr val="7890A6"/>
            </a:solidFill>
            <a:prstDash val="solid"/>
          </a:ln>
        </p:spPr>
      </p:sp>
      <p:sp>
        <p:nvSpPr>
          <p:cNvPr id="16" name="line-146-374">
            <a:extLst xmlns:a="http://schemas.openxmlformats.org/drawingml/2006/main">
              <a:ext uri="{FF2B5EF4-FFF2-40B4-BE49-F238E27FC236}">
                <a16:creationId xmlns:a16="http://schemas.microsoft.com/office/drawing/2014/main" id="{2D04097F-048B-4C69-A4FF-240339776DEE}"/>
              </a:ext>
            </a:extLst>
          </p:cNvPr>
          <p:cNvSpPr>
            <a:spLocks xmlns:a="http://schemas.openxmlformats.org/drawingml/2006/main" noGrp="1"/>
          </p:cNvSpPr>
          <p:nvPr/>
        </p:nvSpPr>
        <p:spPr>
          <a:xfrm xmlns:a="http://schemas.openxmlformats.org/drawingml/2006/main">
            <a:off x="1390650" y="3562350"/>
            <a:ext cx="1790700" cy="28575"/>
          </a:xfrm>
          <a:prstGeom xmlns:a="http://schemas.openxmlformats.org/drawingml/2006/main" prst="rect">
            <a:avLst/>
          </a:prstGeom>
          <a:solidFill xmlns:a="http://schemas.openxmlformats.org/drawingml/2006/main">
            <a:srgbClr val="7890A6"/>
          </a:solidFill>
          <a:ln xmlns:a="http://schemas.openxmlformats.org/drawingml/2006/main" w="0">
            <a:solidFill>
              <a:srgbClr val="7890A6"/>
            </a:solidFill>
            <a:prstDash val="solid"/>
          </a:ln>
        </p:spPr>
      </p:sp>
      <p:sp>
        <p:nvSpPr>
          <p:cNvPr id="17" name="line-134-374">
            <a:extLst xmlns:a="http://schemas.openxmlformats.org/drawingml/2006/main">
              <a:ext uri="{FF2B5EF4-FFF2-40B4-BE49-F238E27FC236}">
                <a16:creationId xmlns:a16="http://schemas.microsoft.com/office/drawing/2014/main" id="{575DEF10-8AFA-4559-9CCD-95944E276309}"/>
              </a:ext>
            </a:extLst>
          </p:cNvPr>
          <p:cNvSpPr>
            <a:spLocks xmlns:a="http://schemas.openxmlformats.org/drawingml/2006/main" noGrp="1"/>
          </p:cNvSpPr>
          <p:nvPr/>
        </p:nvSpPr>
        <p:spPr>
          <a:xfrm xmlns:a="http://schemas.openxmlformats.org/drawingml/2006/main">
            <a:off x="1276350" y="3562350"/>
            <a:ext cx="28575" cy="266700"/>
          </a:xfrm>
          <a:prstGeom xmlns:a="http://schemas.openxmlformats.org/drawingml/2006/main" prst="rect">
            <a:avLst/>
          </a:prstGeom>
          <a:solidFill xmlns:a="http://schemas.openxmlformats.org/drawingml/2006/main">
            <a:srgbClr val="7890A6"/>
          </a:solidFill>
          <a:ln xmlns:a="http://schemas.openxmlformats.org/drawingml/2006/main" w="0">
            <a:solidFill>
              <a:srgbClr val="7890A6"/>
            </a:solidFill>
            <a:prstDash val="solid"/>
          </a:ln>
        </p:spPr>
      </p:sp>
      <p:sp>
        <p:nvSpPr>
          <p:cNvPr id="18" name="box-78-402">
            <a:extLst xmlns:a="http://schemas.openxmlformats.org/drawingml/2006/main">
              <a:ext uri="{FF2B5EF4-FFF2-40B4-BE49-F238E27FC236}">
                <a16:creationId xmlns:a16="http://schemas.microsoft.com/office/drawing/2014/main" id="{04510762-529A-4208-B260-35A14169262D}"/>
              </a:ext>
            </a:extLst>
          </p:cNvPr>
          <p:cNvSpPr>
            <a:spLocks xmlns:a="http://schemas.openxmlformats.org/drawingml/2006/main" noGrp="1"/>
          </p:cNvSpPr>
          <p:nvPr/>
        </p:nvSpPr>
        <p:spPr>
          <a:xfrm xmlns:a="http://schemas.openxmlformats.org/drawingml/2006/main">
            <a:off x="742950" y="3829050"/>
            <a:ext cx="9906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Part B</a:t>
            </a:r>
          </a:p>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B3</a:t>
            </a:r>
          </a:p>
        </p:txBody>
      </p:sp>
      <p:sp>
        <p:nvSpPr>
          <p:cNvPr id="19" name="line-246-374">
            <a:extLst xmlns:a="http://schemas.openxmlformats.org/drawingml/2006/main">
              <a:ext uri="{FF2B5EF4-FFF2-40B4-BE49-F238E27FC236}">
                <a16:creationId xmlns:a16="http://schemas.microsoft.com/office/drawing/2014/main" id="{900C06E9-9D0F-4F18-B3F3-B50C8066454A}"/>
              </a:ext>
            </a:extLst>
          </p:cNvPr>
          <p:cNvSpPr>
            <a:spLocks xmlns:a="http://schemas.openxmlformats.org/drawingml/2006/main" noGrp="1"/>
          </p:cNvSpPr>
          <p:nvPr/>
        </p:nvSpPr>
        <p:spPr>
          <a:xfrm xmlns:a="http://schemas.openxmlformats.org/drawingml/2006/main">
            <a:off x="2343150" y="3562350"/>
            <a:ext cx="28575" cy="266700"/>
          </a:xfrm>
          <a:prstGeom xmlns:a="http://schemas.openxmlformats.org/drawingml/2006/main" prst="rect">
            <a:avLst/>
          </a:prstGeom>
          <a:solidFill xmlns:a="http://schemas.openxmlformats.org/drawingml/2006/main">
            <a:srgbClr val="7890A6"/>
          </a:solidFill>
          <a:ln xmlns:a="http://schemas.openxmlformats.org/drawingml/2006/main" w="0">
            <a:solidFill>
              <a:srgbClr val="7890A6"/>
            </a:solidFill>
            <a:prstDash val="solid"/>
          </a:ln>
        </p:spPr>
      </p:sp>
      <p:sp>
        <p:nvSpPr>
          <p:cNvPr id="20" name="box-190-402">
            <a:extLst xmlns:a="http://schemas.openxmlformats.org/drawingml/2006/main">
              <a:ext uri="{FF2B5EF4-FFF2-40B4-BE49-F238E27FC236}">
                <a16:creationId xmlns:a16="http://schemas.microsoft.com/office/drawing/2014/main" id="{375EB4E8-ED4C-472F-8114-78B060B4CABB}"/>
              </a:ext>
            </a:extLst>
          </p:cNvPr>
          <p:cNvSpPr>
            <a:spLocks xmlns:a="http://schemas.openxmlformats.org/drawingml/2006/main" noGrp="1"/>
          </p:cNvSpPr>
          <p:nvPr/>
        </p:nvSpPr>
        <p:spPr>
          <a:xfrm xmlns:a="http://schemas.openxmlformats.org/drawingml/2006/main">
            <a:off x="1809750" y="3829050"/>
            <a:ext cx="9906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Part C</a:t>
            </a:r>
          </a:p>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C9</a:t>
            </a:r>
          </a:p>
        </p:txBody>
      </p:sp>
      <p:sp>
        <p:nvSpPr>
          <p:cNvPr id="21" name="line-358-374">
            <a:extLst xmlns:a="http://schemas.openxmlformats.org/drawingml/2006/main">
              <a:ext uri="{FF2B5EF4-FFF2-40B4-BE49-F238E27FC236}">
                <a16:creationId xmlns:a16="http://schemas.microsoft.com/office/drawing/2014/main" id="{3237BCBD-EC2D-4FC9-8851-7416A193CF9F}"/>
              </a:ext>
            </a:extLst>
          </p:cNvPr>
          <p:cNvSpPr>
            <a:spLocks xmlns:a="http://schemas.openxmlformats.org/drawingml/2006/main" noGrp="1"/>
          </p:cNvSpPr>
          <p:nvPr/>
        </p:nvSpPr>
        <p:spPr>
          <a:xfrm xmlns:a="http://schemas.openxmlformats.org/drawingml/2006/main">
            <a:off x="3409950" y="3562350"/>
            <a:ext cx="28575" cy="266700"/>
          </a:xfrm>
          <a:prstGeom xmlns:a="http://schemas.openxmlformats.org/drawingml/2006/main" prst="rect">
            <a:avLst/>
          </a:prstGeom>
          <a:solidFill xmlns:a="http://schemas.openxmlformats.org/drawingml/2006/main">
            <a:srgbClr val="7890A6"/>
          </a:solidFill>
          <a:ln xmlns:a="http://schemas.openxmlformats.org/drawingml/2006/main" w="0">
            <a:solidFill>
              <a:srgbClr val="7890A6"/>
            </a:solidFill>
            <a:prstDash val="solid"/>
          </a:ln>
        </p:spPr>
      </p:sp>
      <p:sp>
        <p:nvSpPr>
          <p:cNvPr id="22" name="box-302-402">
            <a:extLst xmlns:a="http://schemas.openxmlformats.org/drawingml/2006/main">
              <a:ext uri="{FF2B5EF4-FFF2-40B4-BE49-F238E27FC236}">
                <a16:creationId xmlns:a16="http://schemas.microsoft.com/office/drawing/2014/main" id="{165DC51C-AEC6-4197-BDA3-87A42391818A}"/>
              </a:ext>
            </a:extLst>
          </p:cNvPr>
          <p:cNvSpPr>
            <a:spLocks xmlns:a="http://schemas.openxmlformats.org/drawingml/2006/main" noGrp="1"/>
          </p:cNvSpPr>
          <p:nvPr/>
        </p:nvSpPr>
        <p:spPr>
          <a:xfrm xmlns:a="http://schemas.openxmlformats.org/drawingml/2006/main">
            <a:off x="2876550" y="3829050"/>
            <a:ext cx="9906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Drawing D</a:t>
            </a:r>
          </a:p>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D2</a:t>
            </a:r>
          </a:p>
        </p:txBody>
      </p:sp>
      <p:sp>
        <p:nvSpPr>
          <p:cNvPr id="23" name="text-98-510-Quan hệ + occurr">
            <a:extLst xmlns:a="http://schemas.openxmlformats.org/drawingml/2006/main">
              <a:ext uri="{FF2B5EF4-FFF2-40B4-BE49-F238E27FC236}">
                <a16:creationId xmlns:a16="http://schemas.microsoft.com/office/drawing/2014/main" id="{6F0FC2B5-F656-4D86-8ED1-BE554CA19841}"/>
              </a:ext>
            </a:extLst>
          </p:cNvPr>
          <p:cNvSpPr>
            <a:spLocks xmlns:a="http://schemas.openxmlformats.org/drawingml/2006/main" noGrp="1"/>
          </p:cNvSpPr>
          <p:nvPr/>
        </p:nvSpPr>
        <p:spPr>
          <a:xfrm xmlns:a="http://schemas.openxmlformats.org/drawingml/2006/main">
            <a:off x="933450" y="4857750"/>
            <a:ext cx="2686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Quan hệ + occurrence + số lượng</a:t>
            </a:r>
          </a:p>
          <a:p xmlns:a="http://schemas.openxmlformats.org/drawingml/2006/main">
            <a:pPr algn="ctr">
              <a:defRPr sz="1200" b="0">
                <a:solidFill>
                  <a:srgbClr val="4B6075"/>
                </a:solidFill>
                <a:latin typeface="Arial"/>
                <a:ea typeface="Arial"/>
                <a:cs typeface="Arial"/>
              </a:defRPr>
            </a:pPr>
            <a:r>
              <a:rPr sz="1200" b="0">
                <a:solidFill>
                  <a:srgbClr val="4B6075"/>
                </a:solidFill>
                <a:latin typeface="Arial"/>
                <a:ea typeface="Arial"/>
                <a:cs typeface="Arial"/>
              </a:rPr>
              <a:t>được ghi nhận cùng baseline</a:t>
            </a:r>
          </a:p>
        </p:txBody>
      </p:sp>
      <p:sp>
        <p:nvSpPr>
          <p:cNvPr id="24" name="text-430-330-→">
            <a:extLst xmlns:a="http://schemas.openxmlformats.org/drawingml/2006/main">
              <a:ext uri="{FF2B5EF4-FFF2-40B4-BE49-F238E27FC236}">
                <a16:creationId xmlns:a16="http://schemas.microsoft.com/office/drawing/2014/main" id="{6C3F90F0-F78B-4C36-B275-877A46213CBA}"/>
              </a:ext>
            </a:extLst>
          </p:cNvPr>
          <p:cNvSpPr>
            <a:spLocks xmlns:a="http://schemas.openxmlformats.org/drawingml/2006/main" noGrp="1"/>
          </p:cNvSpPr>
          <p:nvPr/>
        </p:nvSpPr>
        <p:spPr>
          <a:xfrm xmlns:a="http://schemas.openxmlformats.org/drawingml/2006/main">
            <a:off x="4095750" y="3143250"/>
            <a:ext cx="55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2169A8"/>
                </a:solidFill>
                <a:latin typeface="Arial"/>
                <a:ea typeface="Arial"/>
                <a:cs typeface="Arial"/>
              </a:defRPr>
            </a:pPr>
            <a:r>
              <a:rPr sz="2700" b="1">
                <a:solidFill>
                  <a:srgbClr val="2169A8"/>
                </a:solidFill>
                <a:latin typeface="Arial"/>
                <a:ea typeface="Arial"/>
                <a:cs typeface="Arial"/>
              </a:rPr>
              <a:t>→</a:t>
            </a:r>
          </a:p>
        </p:txBody>
      </p:sp>
      <p:sp>
        <p:nvSpPr>
          <p:cNvPr id="25" name="box-500-150">
            <a:extLst xmlns:a="http://schemas.openxmlformats.org/drawingml/2006/main">
              <a:ext uri="{FF2B5EF4-FFF2-40B4-BE49-F238E27FC236}">
                <a16:creationId xmlns:a16="http://schemas.microsoft.com/office/drawing/2014/main" id="{9C010C3F-4730-4B63-A18F-82CB7D91B70B}"/>
              </a:ext>
            </a:extLst>
          </p:cNvPr>
          <p:cNvSpPr>
            <a:spLocks xmlns:a="http://schemas.openxmlformats.org/drawingml/2006/main" noGrp="1"/>
          </p:cNvSpPr>
          <p:nvPr/>
        </p:nvSpPr>
        <p:spPr>
          <a:xfrm xmlns:a="http://schemas.openxmlformats.org/drawingml/2006/main">
            <a:off x="4762500" y="1428750"/>
            <a:ext cx="3219450" cy="4286250"/>
          </a:xfrm>
          <a:prstGeom xmlns:a="http://schemas.openxmlformats.org/drawingml/2006/main" prst="roundRect">
            <a:avLst>
              <a:gd name="adj" fmla="val 2367"/>
            </a:avLst>
          </a:prstGeom>
          <a:solidFill xmlns:a="http://schemas.openxmlformats.org/drawingml/2006/main">
            <a:srgbClr val="E7F5EE"/>
          </a:solidFill>
          <a:ln xmlns:a="http://schemas.openxmlformats.org/drawingml/2006/main" w="19050">
            <a:solidFill>
              <a:srgbClr val="2D8A62"/>
            </a:solidFill>
            <a:prstDash val="solid"/>
          </a:ln>
        </p:spPr>
      </p:sp>
      <p:sp>
        <p:nvSpPr>
          <p:cNvPr id="26" name="box-530-176">
            <a:extLst xmlns:a="http://schemas.openxmlformats.org/drawingml/2006/main">
              <a:ext uri="{FF2B5EF4-FFF2-40B4-BE49-F238E27FC236}">
                <a16:creationId xmlns:a16="http://schemas.microsoft.com/office/drawing/2014/main" id="{C43D4483-AA0C-4290-A134-F16A3EA61167}"/>
              </a:ext>
            </a:extLst>
          </p:cNvPr>
          <p:cNvSpPr>
            <a:spLocks xmlns:a="http://schemas.openxmlformats.org/drawingml/2006/main" noGrp="1"/>
          </p:cNvSpPr>
          <p:nvPr/>
        </p:nvSpPr>
        <p:spPr>
          <a:xfrm xmlns:a="http://schemas.openxmlformats.org/drawingml/2006/main">
            <a:off x="5048250" y="1676400"/>
            <a:ext cx="2647950" cy="323850"/>
          </a:xfrm>
          <a:prstGeom xmlns:a="http://schemas.openxmlformats.org/drawingml/2006/main" prst="roundRect">
            <a:avLst>
              <a:gd name="adj" fmla="val 23529"/>
            </a:avLst>
          </a:prstGeom>
          <a:solidFill xmlns:a="http://schemas.openxmlformats.org/drawingml/2006/main">
            <a:srgbClr val="2D8A62"/>
          </a:solidFill>
          <a:ln xmlns:a="http://schemas.openxmlformats.org/drawingml/2006/main" w="762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STRUCTURE SNAPSHOT S12</a:t>
            </a:r>
          </a:p>
        </p:txBody>
      </p:sp>
      <p:sp>
        <p:nvSpPr>
          <p:cNvPr id="27" name="text-542-228-Exact immutable ">
            <a:extLst xmlns:a="http://schemas.openxmlformats.org/drawingml/2006/main">
              <a:ext uri="{FF2B5EF4-FFF2-40B4-BE49-F238E27FC236}">
                <a16:creationId xmlns:a16="http://schemas.microsoft.com/office/drawing/2014/main" id="{8F4AB810-7833-4863-87B1-0FF55350EEB0}"/>
              </a:ext>
            </a:extLst>
          </p:cNvPr>
          <p:cNvSpPr>
            <a:spLocks xmlns:a="http://schemas.openxmlformats.org/drawingml/2006/main" noGrp="1"/>
          </p:cNvSpPr>
          <p:nvPr/>
        </p:nvSpPr>
        <p:spPr>
          <a:xfrm xmlns:a="http://schemas.openxmlformats.org/drawingml/2006/main">
            <a:off x="5162550" y="2171700"/>
            <a:ext cx="2419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2D8A62"/>
                </a:solidFill>
                <a:latin typeface="Arial"/>
                <a:ea typeface="Arial"/>
                <a:cs typeface="Arial"/>
              </a:defRPr>
            </a:pPr>
            <a:r>
              <a:rPr sz="1500" b="1">
                <a:solidFill>
                  <a:srgbClr val="2D8A62"/>
                </a:solidFill>
                <a:latin typeface="Arial"/>
                <a:ea typeface="Arial"/>
                <a:cs typeface="Arial"/>
              </a:rPr>
              <a:t>Exact immutable pins</a:t>
            </a:r>
          </a:p>
        </p:txBody>
      </p:sp>
      <p:sp>
        <p:nvSpPr>
          <p:cNvPr id="28" name="box-546-286">
            <a:extLst xmlns:a="http://schemas.openxmlformats.org/drawingml/2006/main">
              <a:ext uri="{FF2B5EF4-FFF2-40B4-BE49-F238E27FC236}">
                <a16:creationId xmlns:a16="http://schemas.microsoft.com/office/drawing/2014/main" id="{B3E248B1-6C2A-4425-801D-CC3F7ED74117}"/>
              </a:ext>
            </a:extLst>
          </p:cNvPr>
          <p:cNvSpPr>
            <a:spLocks xmlns:a="http://schemas.openxmlformats.org/drawingml/2006/main" noGrp="1"/>
          </p:cNvSpPr>
          <p:nvPr/>
        </p:nvSpPr>
        <p:spPr>
          <a:xfrm xmlns:a="http://schemas.openxmlformats.org/drawingml/2006/main">
            <a:off x="5200650" y="2724150"/>
            <a:ext cx="2343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00" b="0">
                <a:solidFill>
                  <a:srgbClr val="162638"/>
                </a:solidFill>
                <a:latin typeface="Arial"/>
                <a:ea typeface="Arial"/>
                <a:cs typeface="Arial"/>
              </a:defRPr>
            </a:pPr>
            <a:r>
              <a:rPr sz="1200" b="0">
                <a:solidFill>
                  <a:srgbClr val="162638"/>
                </a:solidFill>
                <a:latin typeface="Arial"/>
                <a:ea typeface="Arial"/>
                <a:cs typeface="Arial"/>
              </a:rPr>
              <a:t>Assembly A  →  Generation hiện hành</a:t>
            </a:r>
          </a:p>
        </p:txBody>
      </p:sp>
      <p:sp>
        <p:nvSpPr>
          <p:cNvPr id="29" name="box-546-348">
            <a:extLst xmlns:a="http://schemas.openxmlformats.org/drawingml/2006/main">
              <a:ext uri="{FF2B5EF4-FFF2-40B4-BE49-F238E27FC236}">
                <a16:creationId xmlns:a16="http://schemas.microsoft.com/office/drawing/2014/main" id="{98D597DE-A882-4EDC-AF89-8186DD4605BF}"/>
              </a:ext>
            </a:extLst>
          </p:cNvPr>
          <p:cNvSpPr>
            <a:spLocks xmlns:a="http://schemas.openxmlformats.org/drawingml/2006/main" noGrp="1"/>
          </p:cNvSpPr>
          <p:nvPr/>
        </p:nvSpPr>
        <p:spPr>
          <a:xfrm xmlns:a="http://schemas.openxmlformats.org/drawingml/2006/main">
            <a:off x="5200650" y="3314700"/>
            <a:ext cx="2343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Part B  →  B3</a:t>
            </a:r>
          </a:p>
        </p:txBody>
      </p:sp>
      <p:sp>
        <p:nvSpPr>
          <p:cNvPr id="30" name="box-546-410">
            <a:extLst xmlns:a="http://schemas.openxmlformats.org/drawingml/2006/main">
              <a:ext uri="{FF2B5EF4-FFF2-40B4-BE49-F238E27FC236}">
                <a16:creationId xmlns:a16="http://schemas.microsoft.com/office/drawing/2014/main" id="{97696E69-4F86-4CAF-B95B-2C4AC2A81BEF}"/>
              </a:ext>
            </a:extLst>
          </p:cNvPr>
          <p:cNvSpPr>
            <a:spLocks xmlns:a="http://schemas.openxmlformats.org/drawingml/2006/main" noGrp="1"/>
          </p:cNvSpPr>
          <p:nvPr/>
        </p:nvSpPr>
        <p:spPr>
          <a:xfrm xmlns:a="http://schemas.openxmlformats.org/drawingml/2006/main">
            <a:off x="5200650" y="3905250"/>
            <a:ext cx="2343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Part C  →  C9</a:t>
            </a:r>
          </a:p>
        </p:txBody>
      </p:sp>
      <p:sp>
        <p:nvSpPr>
          <p:cNvPr id="31" name="box-546-472">
            <a:extLst xmlns:a="http://schemas.openxmlformats.org/drawingml/2006/main">
              <a:ext uri="{FF2B5EF4-FFF2-40B4-BE49-F238E27FC236}">
                <a16:creationId xmlns:a16="http://schemas.microsoft.com/office/drawing/2014/main" id="{D31FF50C-02BE-4273-BB95-D782EAE8112B}"/>
              </a:ext>
            </a:extLst>
          </p:cNvPr>
          <p:cNvSpPr>
            <a:spLocks xmlns:a="http://schemas.openxmlformats.org/drawingml/2006/main" noGrp="1"/>
          </p:cNvSpPr>
          <p:nvPr/>
        </p:nvSpPr>
        <p:spPr>
          <a:xfrm xmlns:a="http://schemas.openxmlformats.org/drawingml/2006/main">
            <a:off x="5200650" y="4495800"/>
            <a:ext cx="2343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62638"/>
                </a:solidFill>
                <a:latin typeface="Arial"/>
                <a:ea typeface="Arial"/>
                <a:cs typeface="Arial"/>
              </a:defRPr>
            </a:pPr>
            <a:r>
              <a:rPr sz="1200" b="1">
                <a:solidFill>
                  <a:srgbClr val="162638"/>
                </a:solidFill>
                <a:latin typeface="Arial"/>
                <a:ea typeface="Arial"/>
                <a:cs typeface="Arial"/>
              </a:rPr>
              <a:t>Drawing D  →  D2</a:t>
            </a:r>
          </a:p>
        </p:txBody>
      </p:sp>
      <p:sp>
        <p:nvSpPr>
          <p:cNvPr id="32" name="text-544-548-Snapshot không t">
            <a:extLst xmlns:a="http://schemas.openxmlformats.org/drawingml/2006/main">
              <a:ext uri="{FF2B5EF4-FFF2-40B4-BE49-F238E27FC236}">
                <a16:creationId xmlns:a16="http://schemas.microsoft.com/office/drawing/2014/main" id="{E56151B0-D457-415F-9F89-8AEECE462E57}"/>
              </a:ext>
            </a:extLst>
          </p:cNvPr>
          <p:cNvSpPr>
            <a:spLocks xmlns:a="http://schemas.openxmlformats.org/drawingml/2006/main" noGrp="1"/>
          </p:cNvSpPr>
          <p:nvPr/>
        </p:nvSpPr>
        <p:spPr>
          <a:xfrm xmlns:a="http://schemas.openxmlformats.org/drawingml/2006/main">
            <a:off x="5181600" y="52197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B94A55"/>
                </a:solidFill>
                <a:latin typeface="Arial"/>
                <a:ea typeface="Arial"/>
                <a:cs typeface="Arial"/>
              </a:defRPr>
            </a:pPr>
            <a:r>
              <a:rPr sz="1200" b="1">
                <a:solidFill>
                  <a:srgbClr val="B94A55"/>
                </a:solidFill>
                <a:latin typeface="Arial"/>
                <a:ea typeface="Arial"/>
                <a:cs typeface="Arial"/>
              </a:rPr>
              <a:t>Snapshot không trỏ tới “latest”</a:t>
            </a:r>
          </a:p>
        </p:txBody>
      </p:sp>
      <p:sp>
        <p:nvSpPr>
          <p:cNvPr id="33" name="text-850-330-→">
            <a:extLst xmlns:a="http://schemas.openxmlformats.org/drawingml/2006/main">
              <a:ext uri="{FF2B5EF4-FFF2-40B4-BE49-F238E27FC236}">
                <a16:creationId xmlns:a16="http://schemas.microsoft.com/office/drawing/2014/main" id="{2A2E9081-5138-4010-A915-108459AEF060}"/>
              </a:ext>
            </a:extLst>
          </p:cNvPr>
          <p:cNvSpPr>
            <a:spLocks xmlns:a="http://schemas.openxmlformats.org/drawingml/2006/main" noGrp="1"/>
          </p:cNvSpPr>
          <p:nvPr/>
        </p:nvSpPr>
        <p:spPr>
          <a:xfrm xmlns:a="http://schemas.openxmlformats.org/drawingml/2006/main">
            <a:off x="8096250" y="3143250"/>
            <a:ext cx="55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2169A8"/>
                </a:solidFill>
                <a:latin typeface="Arial"/>
                <a:ea typeface="Arial"/>
                <a:cs typeface="Arial"/>
              </a:defRPr>
            </a:pPr>
            <a:r>
              <a:rPr sz="2700" b="1">
                <a:solidFill>
                  <a:srgbClr val="2169A8"/>
                </a:solidFill>
                <a:latin typeface="Arial"/>
                <a:ea typeface="Arial"/>
                <a:cs typeface="Arial"/>
              </a:rPr>
              <a:t>→</a:t>
            </a:r>
          </a:p>
        </p:txBody>
      </p:sp>
      <p:sp>
        <p:nvSpPr>
          <p:cNvPr id="34" name="box-920-154">
            <a:extLst xmlns:a="http://schemas.openxmlformats.org/drawingml/2006/main">
              <a:ext uri="{FF2B5EF4-FFF2-40B4-BE49-F238E27FC236}">
                <a16:creationId xmlns:a16="http://schemas.microsoft.com/office/drawing/2014/main" id="{120ABCB0-36C5-4A47-96B3-4BF311EBE8C0}"/>
              </a:ext>
            </a:extLst>
          </p:cNvPr>
          <p:cNvSpPr>
            <a:spLocks xmlns:a="http://schemas.openxmlformats.org/drawingml/2006/main" noGrp="1"/>
          </p:cNvSpPr>
          <p:nvPr/>
        </p:nvSpPr>
        <p:spPr>
          <a:xfrm xmlns:a="http://schemas.openxmlformats.org/drawingml/2006/main">
            <a:off x="8763000" y="1466850"/>
            <a:ext cx="2838450" cy="4248150"/>
          </a:xfrm>
          <a:prstGeom xmlns:a="http://schemas.openxmlformats.org/drawingml/2006/main" prst="roundRect">
            <a:avLst>
              <a:gd name="adj" fmla="val 2685"/>
            </a:avLst>
          </a:prstGeom>
          <a:solidFill xmlns:a="http://schemas.openxmlformats.org/drawingml/2006/main">
            <a:srgbClr val="FFF4DD"/>
          </a:solidFill>
          <a:ln xmlns:a="http://schemas.openxmlformats.org/drawingml/2006/main" w="14288">
            <a:solidFill>
              <a:srgbClr val="C58A1E"/>
            </a:solidFill>
            <a:prstDash val="solid"/>
          </a:ln>
        </p:spPr>
      </p:sp>
      <p:sp>
        <p:nvSpPr>
          <p:cNvPr id="35" name="box-992-178">
            <a:extLst xmlns:a="http://schemas.openxmlformats.org/drawingml/2006/main">
              <a:ext uri="{FF2B5EF4-FFF2-40B4-BE49-F238E27FC236}">
                <a16:creationId xmlns:a16="http://schemas.microsoft.com/office/drawing/2014/main" id="{DA15047E-7FAA-4BB7-BE7C-6F89BD32FB4E}"/>
              </a:ext>
            </a:extLst>
          </p:cNvPr>
          <p:cNvSpPr>
            <a:spLocks xmlns:a="http://schemas.openxmlformats.org/drawingml/2006/main" noGrp="1"/>
          </p:cNvSpPr>
          <p:nvPr/>
        </p:nvSpPr>
        <p:spPr>
          <a:xfrm xmlns:a="http://schemas.openxmlformats.org/drawingml/2006/main">
            <a:off x="9448800" y="1695450"/>
            <a:ext cx="1466850" cy="323850"/>
          </a:xfrm>
          <a:prstGeom xmlns:a="http://schemas.openxmlformats.org/drawingml/2006/main" prst="roundRect">
            <a:avLst>
              <a:gd name="adj" fmla="val 23529"/>
            </a:avLst>
          </a:prstGeom>
          <a:solidFill xmlns:a="http://schemas.openxmlformats.org/drawingml/2006/main">
            <a:srgbClr val="C58A1E"/>
          </a:solidFill>
          <a:ln xmlns:a="http://schemas.openxmlformats.org/drawingml/2006/main" w="7620">
            <a:solidFill>
              <a:srgbClr val="C58A1E"/>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SAU NÀY</a:t>
            </a:r>
          </a:p>
        </p:txBody>
      </p:sp>
      <p:sp>
        <p:nvSpPr>
          <p:cNvPr id="36" name="text-964-260-Part B">
            <a:extLst xmlns:a="http://schemas.openxmlformats.org/drawingml/2006/main">
              <a:ext uri="{FF2B5EF4-FFF2-40B4-BE49-F238E27FC236}">
                <a16:creationId xmlns:a16="http://schemas.microsoft.com/office/drawing/2014/main" id="{471FAB66-894F-4736-B8CD-B14325BEBA4B}"/>
              </a:ext>
            </a:extLst>
          </p:cNvPr>
          <p:cNvSpPr>
            <a:spLocks xmlns:a="http://schemas.openxmlformats.org/drawingml/2006/main" noGrp="1"/>
          </p:cNvSpPr>
          <p:nvPr/>
        </p:nvSpPr>
        <p:spPr>
          <a:xfrm xmlns:a="http://schemas.openxmlformats.org/drawingml/2006/main">
            <a:off x="9182100" y="2476500"/>
            <a:ext cx="93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1">
                <a:solidFill>
                  <a:srgbClr val="162638"/>
                </a:solidFill>
                <a:latin typeface="Arial"/>
                <a:ea typeface="Arial"/>
                <a:cs typeface="Arial"/>
              </a:defRPr>
            </a:pPr>
            <a:r>
              <a:rPr sz="1350" b="1">
                <a:solidFill>
                  <a:srgbClr val="162638"/>
                </a:solidFill>
                <a:latin typeface="Arial"/>
                <a:ea typeface="Arial"/>
                <a:cs typeface="Arial"/>
              </a:rPr>
              <a:t>Part B</a:t>
            </a:r>
          </a:p>
        </p:txBody>
      </p:sp>
      <p:sp>
        <p:nvSpPr>
          <p:cNvPr id="37" name="text-1074-260-B3  →  B4">
            <a:extLst xmlns:a="http://schemas.openxmlformats.org/drawingml/2006/main">
              <a:ext uri="{FF2B5EF4-FFF2-40B4-BE49-F238E27FC236}">
                <a16:creationId xmlns:a16="http://schemas.microsoft.com/office/drawing/2014/main" id="{52C221EF-92CE-49D5-B30F-1D9B1D80B25F}"/>
              </a:ext>
            </a:extLst>
          </p:cNvPr>
          <p:cNvSpPr>
            <a:spLocks xmlns:a="http://schemas.openxmlformats.org/drawingml/2006/main" noGrp="1"/>
          </p:cNvSpPr>
          <p:nvPr/>
        </p:nvSpPr>
        <p:spPr>
          <a:xfrm xmlns:a="http://schemas.openxmlformats.org/drawingml/2006/main">
            <a:off x="10229850" y="2476500"/>
            <a:ext cx="102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169A8"/>
                </a:solidFill>
                <a:latin typeface="Arial"/>
                <a:ea typeface="Arial"/>
                <a:cs typeface="Arial"/>
              </a:defRPr>
            </a:pPr>
            <a:r>
              <a:rPr sz="1350" b="1">
                <a:solidFill>
                  <a:srgbClr val="2169A8"/>
                </a:solidFill>
                <a:latin typeface="Arial"/>
                <a:ea typeface="Arial"/>
                <a:cs typeface="Arial"/>
              </a:rPr>
              <a:t>B3  →  B4</a:t>
            </a:r>
          </a:p>
        </p:txBody>
      </p:sp>
      <p:sp>
        <p:nvSpPr>
          <p:cNvPr id="38" name="text-964-320-Part C">
            <a:extLst xmlns:a="http://schemas.openxmlformats.org/drawingml/2006/main">
              <a:ext uri="{FF2B5EF4-FFF2-40B4-BE49-F238E27FC236}">
                <a16:creationId xmlns:a16="http://schemas.microsoft.com/office/drawing/2014/main" id="{8188F751-C494-4C05-AB60-0F5F7EB89768}"/>
              </a:ext>
            </a:extLst>
          </p:cNvPr>
          <p:cNvSpPr>
            <a:spLocks xmlns:a="http://schemas.openxmlformats.org/drawingml/2006/main" noGrp="1"/>
          </p:cNvSpPr>
          <p:nvPr/>
        </p:nvSpPr>
        <p:spPr>
          <a:xfrm xmlns:a="http://schemas.openxmlformats.org/drawingml/2006/main">
            <a:off x="9182100" y="3048000"/>
            <a:ext cx="93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1">
                <a:solidFill>
                  <a:srgbClr val="162638"/>
                </a:solidFill>
                <a:latin typeface="Arial"/>
                <a:ea typeface="Arial"/>
                <a:cs typeface="Arial"/>
              </a:defRPr>
            </a:pPr>
            <a:r>
              <a:rPr sz="1350" b="1">
                <a:solidFill>
                  <a:srgbClr val="162638"/>
                </a:solidFill>
                <a:latin typeface="Arial"/>
                <a:ea typeface="Arial"/>
                <a:cs typeface="Arial"/>
              </a:rPr>
              <a:t>Part C</a:t>
            </a:r>
          </a:p>
        </p:txBody>
      </p:sp>
      <p:sp>
        <p:nvSpPr>
          <p:cNvPr id="39" name="text-1074-320-C9  →  C10">
            <a:extLst xmlns:a="http://schemas.openxmlformats.org/drawingml/2006/main">
              <a:ext uri="{FF2B5EF4-FFF2-40B4-BE49-F238E27FC236}">
                <a16:creationId xmlns:a16="http://schemas.microsoft.com/office/drawing/2014/main" id="{4CBD6D0A-293B-4C6A-988E-270FC4D602DC}"/>
              </a:ext>
            </a:extLst>
          </p:cNvPr>
          <p:cNvSpPr>
            <a:spLocks xmlns:a="http://schemas.openxmlformats.org/drawingml/2006/main" noGrp="1"/>
          </p:cNvSpPr>
          <p:nvPr/>
        </p:nvSpPr>
        <p:spPr>
          <a:xfrm xmlns:a="http://schemas.openxmlformats.org/drawingml/2006/main">
            <a:off x="10229850" y="3048000"/>
            <a:ext cx="102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169A8"/>
                </a:solidFill>
                <a:latin typeface="Arial"/>
                <a:ea typeface="Arial"/>
                <a:cs typeface="Arial"/>
              </a:defRPr>
            </a:pPr>
            <a:r>
              <a:rPr sz="1350" b="1">
                <a:solidFill>
                  <a:srgbClr val="2169A8"/>
                </a:solidFill>
                <a:latin typeface="Arial"/>
                <a:ea typeface="Arial"/>
                <a:cs typeface="Arial"/>
              </a:rPr>
              <a:t>C9  →  C10</a:t>
            </a:r>
          </a:p>
        </p:txBody>
      </p:sp>
      <p:sp>
        <p:nvSpPr>
          <p:cNvPr id="40" name="box-954-402">
            <a:extLst xmlns:a="http://schemas.openxmlformats.org/drawingml/2006/main">
              <a:ext uri="{FF2B5EF4-FFF2-40B4-BE49-F238E27FC236}">
                <a16:creationId xmlns:a16="http://schemas.microsoft.com/office/drawing/2014/main" id="{5F1DACFD-1594-4A83-87AF-5E2D548FE950}"/>
              </a:ext>
            </a:extLst>
          </p:cNvPr>
          <p:cNvSpPr>
            <a:spLocks xmlns:a="http://schemas.openxmlformats.org/drawingml/2006/main" noGrp="1"/>
          </p:cNvSpPr>
          <p:nvPr/>
        </p:nvSpPr>
        <p:spPr>
          <a:xfrm xmlns:a="http://schemas.openxmlformats.org/drawingml/2006/main">
            <a:off x="9086850" y="3829050"/>
            <a:ext cx="2190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11430">
            <a:solidFill>
              <a:srgbClr val="C58A1E"/>
            </a:solidFill>
            <a:prstDash val="solid"/>
          </a:ln>
        </p:spPr>
        <p:txBody>
          <a:bodyPr xmlns:a="http://schemas.openxmlformats.org/drawingml/2006/main">
            <a:noAutofit/>
          </a:bodyPr>
          <a:lstStyle xmlns:a="http://schemas.openxmlformats.org/drawingml/2006/main"/>
          <a:p xmlns:a="http://schemas.openxmlformats.org/drawingml/2006/main">
            <a:pPr algn="ctr">
              <a:defRPr sz="1725" b="1">
                <a:solidFill>
                  <a:srgbClr val="102744"/>
                </a:solidFill>
                <a:latin typeface="Arial"/>
                <a:ea typeface="Arial"/>
                <a:cs typeface="Arial"/>
              </a:defRPr>
            </a:pPr>
            <a:r>
              <a:rPr sz="1725" b="1">
                <a:solidFill>
                  <a:srgbClr val="102744"/>
                </a:solidFill>
                <a:latin typeface="Arial"/>
                <a:ea typeface="Arial"/>
                <a:cs typeface="Arial"/>
              </a:rPr>
              <a:t>S12 vẫn là</a:t>
            </a:r>
          </a:p>
          <a:p xmlns:a="http://schemas.openxmlformats.org/drawingml/2006/main">
            <a:pPr algn="ctr">
              <a:defRPr sz="1725" b="1">
                <a:solidFill>
                  <a:srgbClr val="102744"/>
                </a:solidFill>
                <a:latin typeface="Arial"/>
                <a:ea typeface="Arial"/>
                <a:cs typeface="Arial"/>
              </a:defRPr>
            </a:pPr>
            <a:r>
              <a:rPr sz="1725" b="1">
                <a:solidFill>
                  <a:srgbClr val="102744"/>
                </a:solidFill>
                <a:latin typeface="Arial"/>
                <a:ea typeface="Arial"/>
                <a:cs typeface="Arial"/>
              </a:rPr>
              <a:t>B3 + C9 + D2</a:t>
            </a:r>
          </a:p>
        </p:txBody>
      </p:sp>
      <p:sp>
        <p:nvSpPr>
          <p:cNvPr id="41" name="text-958-530-Lịch sử không tự">
            <a:extLst xmlns:a="http://schemas.openxmlformats.org/drawingml/2006/main">
              <a:ext uri="{FF2B5EF4-FFF2-40B4-BE49-F238E27FC236}">
                <a16:creationId xmlns:a16="http://schemas.microsoft.com/office/drawing/2014/main" id="{364959F3-E5AC-4AD5-8B5A-6291AD78C953}"/>
              </a:ext>
            </a:extLst>
          </p:cNvPr>
          <p:cNvSpPr>
            <a:spLocks xmlns:a="http://schemas.openxmlformats.org/drawingml/2006/main" noGrp="1"/>
          </p:cNvSpPr>
          <p:nvPr/>
        </p:nvSpPr>
        <p:spPr>
          <a:xfrm xmlns:a="http://schemas.openxmlformats.org/drawingml/2006/main">
            <a:off x="9124950" y="5048250"/>
            <a:ext cx="2114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4B6075"/>
                </a:solidFill>
                <a:latin typeface="Arial"/>
                <a:ea typeface="Arial"/>
                <a:cs typeface="Arial"/>
              </a:defRPr>
            </a:pPr>
            <a:r>
              <a:rPr sz="1125" b="0">
                <a:solidFill>
                  <a:srgbClr val="4B6075"/>
                </a:solidFill>
                <a:latin typeface="Arial"/>
                <a:ea typeface="Arial"/>
                <a:cs typeface="Arial"/>
              </a:rPr>
              <a:t>Lịch sử không tự đổi theo head hiện tại</a:t>
            </a:r>
          </a:p>
        </p:txBody>
      </p:sp>
    </p:spTree>
    <p:extLst>
      <p:ext uri="{BB962C8B-B14F-4D97-AF65-F5344CB8AC3E}">
        <p14:creationId xmlns:p14="http://schemas.microsoft.com/office/powerpoint/2010/main" val="19133344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box-0-0">
            <a:extLst xmlns:a="http://schemas.openxmlformats.org/drawingml/2006/main">
              <a:ext uri="{FF2B5EF4-FFF2-40B4-BE49-F238E27FC236}">
                <a16:creationId xmlns:a16="http://schemas.microsoft.com/office/drawing/2014/main" id="{CCE42635-EB6E-44BB-826E-7E30FD0B14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169A8"/>
          </a:solidFill>
          <a:ln xmlns:a="http://schemas.openxmlformats.org/drawingml/2006/main" w="0">
            <a:noFill/>
            <a:prstDash val="solid"/>
          </a:ln>
        </p:spPr>
      </p:sp>
      <p:sp>
        <p:nvSpPr>
          <p:cNvPr id="2" name="text-54-28-SPEC">
            <a:extLst xmlns:a="http://schemas.openxmlformats.org/drawingml/2006/main">
              <a:ext uri="{FF2B5EF4-FFF2-40B4-BE49-F238E27FC236}">
                <a16:creationId xmlns:a16="http://schemas.microsoft.com/office/drawing/2014/main" id="{364C475E-FFD5-4927-BAC3-5D25387D6F25}"/>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Release l">
            <a:extLst xmlns:a="http://schemas.openxmlformats.org/drawingml/2006/main">
              <a:ext uri="{FF2B5EF4-FFF2-40B4-BE49-F238E27FC236}">
                <a16:creationId xmlns:a16="http://schemas.microsoft.com/office/drawing/2014/main" id="{A5485D7A-F5B1-4AE1-A607-9F1DF42846F6}"/>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Spec — Release là một baseline chính xác</a:t>
            </a:r>
          </a:p>
        </p:txBody>
      </p:sp>
      <p:sp>
        <p:nvSpPr>
          <p:cNvPr id="4" name="line-54-116">
            <a:extLst xmlns:a="http://schemas.openxmlformats.org/drawingml/2006/main">
              <a:ext uri="{FF2B5EF4-FFF2-40B4-BE49-F238E27FC236}">
                <a16:creationId xmlns:a16="http://schemas.microsoft.com/office/drawing/2014/main" id="{85DD199D-39D0-4C2F-BB30-28DD413BA9B6}"/>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4@0">
            <a:extLst xmlns:a="http://schemas.openxmlformats.org/drawingml/2006/main">
              <a:ext uri="{FF2B5EF4-FFF2-40B4-BE49-F238E27FC236}">
                <a16:creationId xmlns:a16="http://schemas.microsoft.com/office/drawing/2014/main" id="{92919E93-677D-45A8-AC9D-EF3BEAC80249}"/>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DOC-05@0.20 · DOC-06@0.16</a:t>
            </a:r>
          </a:p>
        </p:txBody>
      </p:sp>
      <p:sp>
        <p:nvSpPr>
          <p:cNvPr id="6" name="text-1170-680-09">
            <a:extLst xmlns:a="http://schemas.openxmlformats.org/drawingml/2006/main">
              <a:ext uri="{FF2B5EF4-FFF2-40B4-BE49-F238E27FC236}">
                <a16:creationId xmlns:a16="http://schemas.microsoft.com/office/drawing/2014/main" id="{1C59CE86-C64E-4A8E-A1F1-FCF43DD2E703}"/>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09</a:t>
            </a:r>
          </a:p>
        </p:txBody>
      </p:sp>
      <p:sp>
        <p:nvSpPr>
          <p:cNvPr id="7" name="diagram-meta-9">
            <a:extLst xmlns:a="http://schemas.openxmlformats.org/drawingml/2006/main">
              <a:ext uri="{FF2B5EF4-FFF2-40B4-BE49-F238E27FC236}">
                <a16:creationId xmlns:a16="http://schemas.microsoft.com/office/drawing/2014/main" id="{0E6A8466-96AA-415D-891A-2861E40D04B5}"/>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9">
            <a:extLst xmlns:a="http://schemas.openxmlformats.org/drawingml/2006/main">
              <a:ext uri="{FF2B5EF4-FFF2-40B4-BE49-F238E27FC236}">
                <a16:creationId xmlns:a16="http://schemas.microsoft.com/office/drawing/2014/main" id="{73D67D1E-4D79-42D1-AA06-C7D3AA358D64}"/>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Management simplification</a:t>
            </a:r>
          </a:p>
        </p:txBody>
      </p:sp>
      <p:sp>
        <p:nvSpPr>
          <p:cNvPr id="9" name="diagram-source-9">
            <a:extLst xmlns:a="http://schemas.openxmlformats.org/drawingml/2006/main">
              <a:ext uri="{FF2B5EF4-FFF2-40B4-BE49-F238E27FC236}">
                <a16:creationId xmlns:a16="http://schemas.microsoft.com/office/drawing/2014/main" id="{AA15B45F-90B8-4A7A-AF21-3DB057F5774B}"/>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ARCH-VIEW-SEQ-003</a:t>
            </a:r>
          </a:p>
        </p:txBody>
      </p:sp>
      <p:sp>
        <p:nvSpPr>
          <p:cNvPr id="10" name="diagram-why-9">
            <a:extLst xmlns:a="http://schemas.openxmlformats.org/drawingml/2006/main">
              <a:ext uri="{FF2B5EF4-FFF2-40B4-BE49-F238E27FC236}">
                <a16:creationId xmlns:a16="http://schemas.microsoft.com/office/drawing/2014/main" id="{61B6537E-8E46-4F10-B21A-BC4412707842}"/>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Giải thích Release theo baseline</a:t>
            </a:r>
          </a:p>
        </p:txBody>
      </p:sp>
      <p:sp>
        <p:nvSpPr>
          <p:cNvPr id="11" name="source-link-9-ARCH-VIEW-SEQ-003">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D448A064-747A-42DC-944E-2C60F22DEA0C}"/>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ARCH-VIEW-SEQ-003 — Review and Release</a:t>
            </a:r>
          </a:p>
        </p:txBody>
      </p:sp>
      <p:sp>
        <p:nvSpPr>
          <p:cNvPr id="12" name="box-54-158">
            <a:extLst xmlns:a="http://schemas.openxmlformats.org/drawingml/2006/main">
              <a:ext uri="{FF2B5EF4-FFF2-40B4-BE49-F238E27FC236}">
                <a16:creationId xmlns:a16="http://schemas.microsoft.com/office/drawing/2014/main" id="{7C5A419F-5808-419C-BC2C-CB2A4B7A5EA3}"/>
              </a:ext>
            </a:extLst>
          </p:cNvPr>
          <p:cNvSpPr>
            <a:spLocks xmlns:a="http://schemas.openxmlformats.org/drawingml/2006/main" noGrp="1"/>
          </p:cNvSpPr>
          <p:nvPr/>
        </p:nvSpPr>
        <p:spPr>
          <a:xfrm xmlns:a="http://schemas.openxmlformats.org/drawingml/2006/main">
            <a:off x="514350" y="1504950"/>
            <a:ext cx="2857500" cy="1676400"/>
          </a:xfrm>
          <a:prstGeom xmlns:a="http://schemas.openxmlformats.org/drawingml/2006/main" prst="roundRect">
            <a:avLst>
              <a:gd name="adj" fmla="val 4545"/>
            </a:avLst>
          </a:prstGeom>
          <a:solidFill xmlns:a="http://schemas.openxmlformats.org/drawingml/2006/main">
            <a:srgbClr val="F4F7FA"/>
          </a:solidFill>
          <a:ln xmlns:a="http://schemas.openxmlformats.org/drawingml/2006/main" w="11430">
            <a:solidFill>
              <a:srgbClr val="CBD8E3"/>
            </a:solidFill>
            <a:prstDash val="solid"/>
          </a:ln>
        </p:spPr>
      </p:sp>
      <p:sp>
        <p:nvSpPr>
          <p:cNvPr id="13" name="text-78-176-INPUT BASELINE">
            <a:extLst xmlns:a="http://schemas.openxmlformats.org/drawingml/2006/main">
              <a:ext uri="{FF2B5EF4-FFF2-40B4-BE49-F238E27FC236}">
                <a16:creationId xmlns:a16="http://schemas.microsoft.com/office/drawing/2014/main" id="{414B74F2-BC5C-475F-B67E-E034E85C88FF}"/>
              </a:ext>
            </a:extLst>
          </p:cNvPr>
          <p:cNvSpPr>
            <a:spLocks xmlns:a="http://schemas.openxmlformats.org/drawingml/2006/main" noGrp="1"/>
          </p:cNvSpPr>
          <p:nvPr/>
        </p:nvSpPr>
        <p:spPr>
          <a:xfrm xmlns:a="http://schemas.openxmlformats.org/drawingml/2006/main">
            <a:off x="742950" y="1676400"/>
            <a:ext cx="240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75" b="1">
                <a:solidFill>
                  <a:srgbClr val="102744"/>
                </a:solidFill>
                <a:latin typeface="Arial"/>
                <a:ea typeface="Arial"/>
                <a:cs typeface="Arial"/>
              </a:defRPr>
            </a:pPr>
            <a:r>
              <a:rPr sz="1275" b="1">
                <a:solidFill>
                  <a:srgbClr val="102744"/>
                </a:solidFill>
                <a:latin typeface="Arial"/>
                <a:ea typeface="Arial"/>
                <a:cs typeface="Arial"/>
              </a:rPr>
              <a:t>INPUT BASELINE</a:t>
            </a:r>
          </a:p>
        </p:txBody>
      </p:sp>
      <p:sp>
        <p:nvSpPr>
          <p:cNvPr id="14" name="box-90-222">
            <a:extLst xmlns:a="http://schemas.openxmlformats.org/drawingml/2006/main">
              <a:ext uri="{FF2B5EF4-FFF2-40B4-BE49-F238E27FC236}">
                <a16:creationId xmlns:a16="http://schemas.microsoft.com/office/drawing/2014/main" id="{D5C3DF18-6A2F-41F1-98DF-44D23ED35DB2}"/>
              </a:ext>
            </a:extLst>
          </p:cNvPr>
          <p:cNvSpPr>
            <a:spLocks xmlns:a="http://schemas.openxmlformats.org/drawingml/2006/main" noGrp="1"/>
          </p:cNvSpPr>
          <p:nvPr/>
        </p:nvSpPr>
        <p:spPr>
          <a:xfrm xmlns:a="http://schemas.openxmlformats.org/drawingml/2006/main">
            <a:off x="857250" y="2114550"/>
            <a:ext cx="2171700" cy="295275"/>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762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162638"/>
                </a:solidFill>
                <a:latin typeface="Arial"/>
                <a:ea typeface="Arial"/>
                <a:cs typeface="Arial"/>
              </a:defRPr>
            </a:pPr>
            <a:r>
              <a:rPr sz="1050" b="1">
                <a:solidFill>
                  <a:srgbClr val="162638"/>
                </a:solidFill>
                <a:latin typeface="Arial"/>
                <a:ea typeface="Arial"/>
                <a:cs typeface="Arial"/>
              </a:rPr>
              <a:t>Exact Generations</a:t>
            </a:r>
          </a:p>
        </p:txBody>
      </p:sp>
      <p:sp>
        <p:nvSpPr>
          <p:cNvPr id="15" name="box-90-260">
            <a:extLst xmlns:a="http://schemas.openxmlformats.org/drawingml/2006/main">
              <a:ext uri="{FF2B5EF4-FFF2-40B4-BE49-F238E27FC236}">
                <a16:creationId xmlns:a16="http://schemas.microsoft.com/office/drawing/2014/main" id="{E888E9AD-50A1-4B36-8356-A8B54E10C3C5}"/>
              </a:ext>
            </a:extLst>
          </p:cNvPr>
          <p:cNvSpPr>
            <a:spLocks xmlns:a="http://schemas.openxmlformats.org/drawingml/2006/main" noGrp="1"/>
          </p:cNvSpPr>
          <p:nvPr/>
        </p:nvSpPr>
        <p:spPr>
          <a:xfrm xmlns:a="http://schemas.openxmlformats.org/drawingml/2006/main">
            <a:off x="857250" y="2476500"/>
            <a:ext cx="2171700" cy="295275"/>
          </a:xfrm>
          <a:prstGeom xmlns:a="http://schemas.openxmlformats.org/drawingml/2006/main" prst="roundRect">
            <a:avLst>
              <a:gd name="adj" fmla="val 25806"/>
            </a:avLst>
          </a:prstGeom>
          <a:solidFill xmlns:a="http://schemas.openxmlformats.org/drawingml/2006/main">
            <a:srgbClr val="E7F5EE"/>
          </a:solidFill>
          <a:ln xmlns:a="http://schemas.openxmlformats.org/drawingml/2006/main" w="762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162638"/>
                </a:solidFill>
                <a:latin typeface="Arial"/>
                <a:ea typeface="Arial"/>
                <a:cs typeface="Arial"/>
              </a:defRPr>
            </a:pPr>
            <a:r>
              <a:rPr sz="1050" b="1">
                <a:solidFill>
                  <a:srgbClr val="162638"/>
                </a:solidFill>
                <a:latin typeface="Arial"/>
                <a:ea typeface="Arial"/>
                <a:cs typeface="Arial"/>
              </a:rPr>
              <a:t>Structure Snapshot</a:t>
            </a:r>
          </a:p>
        </p:txBody>
      </p:sp>
      <p:sp>
        <p:nvSpPr>
          <p:cNvPr id="16" name="box-90-298">
            <a:extLst xmlns:a="http://schemas.openxmlformats.org/drawingml/2006/main">
              <a:ext uri="{FF2B5EF4-FFF2-40B4-BE49-F238E27FC236}">
                <a16:creationId xmlns:a16="http://schemas.microsoft.com/office/drawing/2014/main" id="{253B8F7D-FA8E-47A6-AF3A-6DF9F615205B}"/>
              </a:ext>
            </a:extLst>
          </p:cNvPr>
          <p:cNvSpPr>
            <a:spLocks xmlns:a="http://schemas.openxmlformats.org/drawingml/2006/main" noGrp="1"/>
          </p:cNvSpPr>
          <p:nvPr/>
        </p:nvSpPr>
        <p:spPr>
          <a:xfrm xmlns:a="http://schemas.openxmlformats.org/drawingml/2006/main">
            <a:off x="857250" y="2838450"/>
            <a:ext cx="2171700" cy="295275"/>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762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162638"/>
                </a:solidFill>
                <a:latin typeface="Arial"/>
                <a:ea typeface="Arial"/>
                <a:cs typeface="Arial"/>
              </a:defRPr>
            </a:pPr>
            <a:r>
              <a:rPr sz="1050" b="1">
                <a:solidFill>
                  <a:srgbClr val="162638"/>
                </a:solidFill>
                <a:latin typeface="Arial"/>
                <a:ea typeface="Arial"/>
                <a:cs typeface="Arial"/>
              </a:rPr>
              <a:t>Required Representations</a:t>
            </a:r>
          </a:p>
        </p:txBody>
      </p:sp>
      <p:sp>
        <p:nvSpPr>
          <p:cNvPr id="17" name="text-360-214-→">
            <a:extLst xmlns:a="http://schemas.openxmlformats.org/drawingml/2006/main">
              <a:ext uri="{FF2B5EF4-FFF2-40B4-BE49-F238E27FC236}">
                <a16:creationId xmlns:a16="http://schemas.microsoft.com/office/drawing/2014/main" id="{D8EFEDF6-FC52-4558-BE22-68C3489AB06F}"/>
              </a:ext>
            </a:extLst>
          </p:cNvPr>
          <p:cNvSpPr>
            <a:spLocks xmlns:a="http://schemas.openxmlformats.org/drawingml/2006/main" noGrp="1"/>
          </p:cNvSpPr>
          <p:nvPr/>
        </p:nvSpPr>
        <p:spPr>
          <a:xfrm xmlns:a="http://schemas.openxmlformats.org/drawingml/2006/main">
            <a:off x="3429000" y="2038350"/>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2169A8"/>
                </a:solidFill>
                <a:latin typeface="Arial"/>
                <a:ea typeface="Arial"/>
                <a:cs typeface="Arial"/>
              </a:defRPr>
            </a:pPr>
            <a:r>
              <a:rPr sz="2250" b="1">
                <a:solidFill>
                  <a:srgbClr val="2169A8"/>
                </a:solidFill>
                <a:latin typeface="Arial"/>
                <a:ea typeface="Arial"/>
                <a:cs typeface="Arial"/>
              </a:rPr>
              <a:t>→</a:t>
            </a:r>
          </a:p>
        </p:txBody>
      </p:sp>
      <p:sp>
        <p:nvSpPr>
          <p:cNvPr id="18" name="box-416-178">
            <a:extLst xmlns:a="http://schemas.openxmlformats.org/drawingml/2006/main">
              <a:ext uri="{FF2B5EF4-FFF2-40B4-BE49-F238E27FC236}">
                <a16:creationId xmlns:a16="http://schemas.microsoft.com/office/drawing/2014/main" id="{509F32BB-102B-4555-83DC-D9D1B83ADBFC}"/>
              </a:ext>
            </a:extLst>
          </p:cNvPr>
          <p:cNvSpPr>
            <a:spLocks xmlns:a="http://schemas.openxmlformats.org/drawingml/2006/main" noGrp="1"/>
          </p:cNvSpPr>
          <p:nvPr/>
        </p:nvSpPr>
        <p:spPr>
          <a:xfrm xmlns:a="http://schemas.openxmlformats.org/drawingml/2006/main">
            <a:off x="3962400" y="1695450"/>
            <a:ext cx="1352550" cy="800100"/>
          </a:xfrm>
          <a:prstGeom xmlns:a="http://schemas.openxmlformats.org/drawingml/2006/main" prst="roundRect">
            <a:avLst>
              <a:gd name="adj" fmla="val 9524"/>
            </a:avLst>
          </a:prstGeom>
          <a:solidFill xmlns:a="http://schemas.openxmlformats.org/drawingml/2006/main">
            <a:srgbClr val="EAF3F9"/>
          </a:solidFill>
          <a:ln xmlns:a="http://schemas.openxmlformats.org/drawingml/2006/main" w="1143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500" b="1">
                <a:solidFill>
                  <a:srgbClr val="162638"/>
                </a:solidFill>
                <a:latin typeface="Arial"/>
                <a:ea typeface="Arial"/>
                <a:cs typeface="Arial"/>
              </a:defRPr>
            </a:pPr>
            <a:r>
              <a:rPr sz="1500" b="1">
                <a:solidFill>
                  <a:srgbClr val="162638"/>
                </a:solidFill>
                <a:latin typeface="Arial"/>
                <a:ea typeface="Arial"/>
                <a:cs typeface="Arial"/>
              </a:rPr>
              <a:t>REVIEW</a:t>
            </a:r>
          </a:p>
        </p:txBody>
      </p:sp>
      <p:sp>
        <p:nvSpPr>
          <p:cNvPr id="19" name="text-562-198-→">
            <a:extLst xmlns:a="http://schemas.openxmlformats.org/drawingml/2006/main">
              <a:ext uri="{FF2B5EF4-FFF2-40B4-BE49-F238E27FC236}">
                <a16:creationId xmlns:a16="http://schemas.microsoft.com/office/drawing/2014/main" id="{7EE63BBD-9717-4299-BCDC-A3CBD16B6725}"/>
              </a:ext>
            </a:extLst>
          </p:cNvPr>
          <p:cNvSpPr>
            <a:spLocks xmlns:a="http://schemas.openxmlformats.org/drawingml/2006/main" noGrp="1"/>
          </p:cNvSpPr>
          <p:nvPr/>
        </p:nvSpPr>
        <p:spPr>
          <a:xfrm xmlns:a="http://schemas.openxmlformats.org/drawingml/2006/main">
            <a:off x="5353050" y="18859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1">
                <a:solidFill>
                  <a:srgbClr val="2169A8"/>
                </a:solidFill>
                <a:latin typeface="Arial"/>
                <a:ea typeface="Arial"/>
                <a:cs typeface="Arial"/>
              </a:defRPr>
            </a:pPr>
            <a:r>
              <a:rPr sz="1950" b="1">
                <a:solidFill>
                  <a:srgbClr val="2169A8"/>
                </a:solidFill>
                <a:latin typeface="Arial"/>
                <a:ea typeface="Arial"/>
                <a:cs typeface="Arial"/>
              </a:rPr>
              <a:t>→</a:t>
            </a:r>
          </a:p>
        </p:txBody>
      </p:sp>
      <p:sp>
        <p:nvSpPr>
          <p:cNvPr id="20" name="box-608-178">
            <a:extLst xmlns:a="http://schemas.openxmlformats.org/drawingml/2006/main">
              <a:ext uri="{FF2B5EF4-FFF2-40B4-BE49-F238E27FC236}">
                <a16:creationId xmlns:a16="http://schemas.microsoft.com/office/drawing/2014/main" id="{31830B7E-8C20-47DD-A5C1-42F3821F9BE8}"/>
              </a:ext>
            </a:extLst>
          </p:cNvPr>
          <p:cNvSpPr>
            <a:spLocks xmlns:a="http://schemas.openxmlformats.org/drawingml/2006/main" noGrp="1"/>
          </p:cNvSpPr>
          <p:nvPr/>
        </p:nvSpPr>
        <p:spPr>
          <a:xfrm xmlns:a="http://schemas.openxmlformats.org/drawingml/2006/main">
            <a:off x="5791200" y="1695450"/>
            <a:ext cx="1352550" cy="800100"/>
          </a:xfrm>
          <a:prstGeom xmlns:a="http://schemas.openxmlformats.org/drawingml/2006/main" prst="roundRect">
            <a:avLst>
              <a:gd name="adj" fmla="val 9524"/>
            </a:avLst>
          </a:prstGeom>
          <a:solidFill xmlns:a="http://schemas.openxmlformats.org/drawingml/2006/main">
            <a:srgbClr val="EAF3F9"/>
          </a:solidFill>
          <a:ln xmlns:a="http://schemas.openxmlformats.org/drawingml/2006/main" w="1143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500" b="1">
                <a:solidFill>
                  <a:srgbClr val="162638"/>
                </a:solidFill>
                <a:latin typeface="Arial"/>
                <a:ea typeface="Arial"/>
                <a:cs typeface="Arial"/>
              </a:defRPr>
            </a:pPr>
            <a:r>
              <a:rPr sz="1500" b="1">
                <a:solidFill>
                  <a:srgbClr val="162638"/>
                </a:solidFill>
                <a:latin typeface="Arial"/>
                <a:ea typeface="Arial"/>
                <a:cs typeface="Arial"/>
              </a:rPr>
              <a:t>APPROVAL</a:t>
            </a:r>
          </a:p>
        </p:txBody>
      </p:sp>
      <p:sp>
        <p:nvSpPr>
          <p:cNvPr id="21" name="text-754-198-→">
            <a:extLst xmlns:a="http://schemas.openxmlformats.org/drawingml/2006/main">
              <a:ext uri="{FF2B5EF4-FFF2-40B4-BE49-F238E27FC236}">
                <a16:creationId xmlns:a16="http://schemas.microsoft.com/office/drawing/2014/main" id="{772A9236-A6C7-4E8E-A3C3-73C774B34444}"/>
              </a:ext>
            </a:extLst>
          </p:cNvPr>
          <p:cNvSpPr>
            <a:spLocks xmlns:a="http://schemas.openxmlformats.org/drawingml/2006/main" noGrp="1"/>
          </p:cNvSpPr>
          <p:nvPr/>
        </p:nvSpPr>
        <p:spPr>
          <a:xfrm xmlns:a="http://schemas.openxmlformats.org/drawingml/2006/main">
            <a:off x="7181850" y="18859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1">
                <a:solidFill>
                  <a:srgbClr val="2169A8"/>
                </a:solidFill>
                <a:latin typeface="Arial"/>
                <a:ea typeface="Arial"/>
                <a:cs typeface="Arial"/>
              </a:defRPr>
            </a:pPr>
            <a:r>
              <a:rPr sz="1950" b="1">
                <a:solidFill>
                  <a:srgbClr val="2169A8"/>
                </a:solidFill>
                <a:latin typeface="Arial"/>
                <a:ea typeface="Arial"/>
                <a:cs typeface="Arial"/>
              </a:rPr>
              <a:t>→</a:t>
            </a:r>
          </a:p>
        </p:txBody>
      </p:sp>
      <p:sp>
        <p:nvSpPr>
          <p:cNvPr id="22" name="box-800-146">
            <a:extLst xmlns:a="http://schemas.openxmlformats.org/drawingml/2006/main">
              <a:ext uri="{FF2B5EF4-FFF2-40B4-BE49-F238E27FC236}">
                <a16:creationId xmlns:a16="http://schemas.microsoft.com/office/drawing/2014/main" id="{5214F89E-C823-4D53-9AB7-5F70330F2CD7}"/>
              </a:ext>
            </a:extLst>
          </p:cNvPr>
          <p:cNvSpPr>
            <a:spLocks xmlns:a="http://schemas.openxmlformats.org/drawingml/2006/main" noGrp="1"/>
          </p:cNvSpPr>
          <p:nvPr/>
        </p:nvSpPr>
        <p:spPr>
          <a:xfrm xmlns:a="http://schemas.openxmlformats.org/drawingml/2006/main">
            <a:off x="7620000" y="1390650"/>
            <a:ext cx="2438400" cy="1409700"/>
          </a:xfrm>
          <a:prstGeom xmlns:a="http://schemas.openxmlformats.org/drawingml/2006/main" prst="roundRect">
            <a:avLst>
              <a:gd name="adj" fmla="val 5405"/>
            </a:avLst>
          </a:prstGeom>
          <a:solidFill xmlns:a="http://schemas.openxmlformats.org/drawingml/2006/main">
            <a:srgbClr val="FFF4DD"/>
          </a:solidFill>
          <a:ln xmlns:a="http://schemas.openxmlformats.org/drawingml/2006/main" w="16193">
            <a:solidFill>
              <a:srgbClr val="C58A1E"/>
            </a:solidFill>
            <a:prstDash val="solid"/>
          </a:ln>
        </p:spPr>
      </p:sp>
      <p:sp>
        <p:nvSpPr>
          <p:cNvPr id="23" name="text-818-162-RELEASE REVALIDA">
            <a:extLst xmlns:a="http://schemas.openxmlformats.org/drawingml/2006/main">
              <a:ext uri="{FF2B5EF4-FFF2-40B4-BE49-F238E27FC236}">
                <a16:creationId xmlns:a16="http://schemas.microsoft.com/office/drawing/2014/main" id="{9FE7E0ED-8478-41C5-8BBA-4549DCA4A138}"/>
              </a:ext>
            </a:extLst>
          </p:cNvPr>
          <p:cNvSpPr>
            <a:spLocks xmlns:a="http://schemas.openxmlformats.org/drawingml/2006/main" noGrp="1"/>
          </p:cNvSpPr>
          <p:nvPr/>
        </p:nvSpPr>
        <p:spPr>
          <a:xfrm xmlns:a="http://schemas.openxmlformats.org/drawingml/2006/main">
            <a:off x="7791450" y="15430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75" b="1">
                <a:solidFill>
                  <a:srgbClr val="102744"/>
                </a:solidFill>
                <a:latin typeface="Arial"/>
                <a:ea typeface="Arial"/>
                <a:cs typeface="Arial"/>
              </a:defRPr>
            </a:pPr>
            <a:r>
              <a:rPr sz="1275" b="1">
                <a:solidFill>
                  <a:srgbClr val="102744"/>
                </a:solidFill>
                <a:latin typeface="Arial"/>
                <a:ea typeface="Arial"/>
                <a:cs typeface="Arial"/>
              </a:rPr>
              <a:t>RELEASE REVALIDATION</a:t>
            </a:r>
          </a:p>
        </p:txBody>
      </p:sp>
      <p:sp>
        <p:nvSpPr>
          <p:cNvPr id="24" name="text-832-198-• Exact baseline">
            <a:extLst xmlns:a="http://schemas.openxmlformats.org/drawingml/2006/main">
              <a:ext uri="{FF2B5EF4-FFF2-40B4-BE49-F238E27FC236}">
                <a16:creationId xmlns:a16="http://schemas.microsoft.com/office/drawing/2014/main" id="{2EEC2716-9160-4AE0-935D-87D4499B13A8}"/>
              </a:ext>
            </a:extLst>
          </p:cNvPr>
          <p:cNvSpPr>
            <a:spLocks xmlns:a="http://schemas.openxmlformats.org/drawingml/2006/main" noGrp="1"/>
          </p:cNvSpPr>
          <p:nvPr/>
        </p:nvSpPr>
        <p:spPr>
          <a:xfrm xmlns:a="http://schemas.openxmlformats.org/drawingml/2006/main">
            <a:off x="7924800" y="1885950"/>
            <a:ext cx="1847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4B6075"/>
                </a:solidFill>
                <a:latin typeface="Arial"/>
                <a:ea typeface="Arial"/>
                <a:cs typeface="Arial"/>
              </a:defRPr>
            </a:pPr>
            <a:r>
              <a:rPr sz="900" b="0">
                <a:solidFill>
                  <a:srgbClr val="4B6075"/>
                </a:solidFill>
                <a:latin typeface="Arial"/>
                <a:ea typeface="Arial"/>
                <a:cs typeface="Arial"/>
              </a:rPr>
              <a:t>• Exact baseline</a:t>
            </a:r>
          </a:p>
        </p:txBody>
      </p:sp>
      <p:sp>
        <p:nvSpPr>
          <p:cNvPr id="25" name="text-832-216-• Đủ approval">
            <a:extLst xmlns:a="http://schemas.openxmlformats.org/drawingml/2006/main">
              <a:ext uri="{FF2B5EF4-FFF2-40B4-BE49-F238E27FC236}">
                <a16:creationId xmlns:a16="http://schemas.microsoft.com/office/drawing/2014/main" id="{E78CE440-02B3-458D-B015-9ABE9DC85503}"/>
              </a:ext>
            </a:extLst>
          </p:cNvPr>
          <p:cNvSpPr>
            <a:spLocks xmlns:a="http://schemas.openxmlformats.org/drawingml/2006/main" noGrp="1"/>
          </p:cNvSpPr>
          <p:nvPr/>
        </p:nvSpPr>
        <p:spPr>
          <a:xfrm xmlns:a="http://schemas.openxmlformats.org/drawingml/2006/main">
            <a:off x="7924800" y="2057400"/>
            <a:ext cx="1847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4B6075"/>
                </a:solidFill>
                <a:latin typeface="Arial"/>
                <a:ea typeface="Arial"/>
                <a:cs typeface="Arial"/>
              </a:defRPr>
            </a:pPr>
            <a:r>
              <a:rPr sz="900" b="0">
                <a:solidFill>
                  <a:srgbClr val="4B6075"/>
                </a:solidFill>
                <a:latin typeface="Arial"/>
                <a:ea typeface="Arial"/>
                <a:cs typeface="Arial"/>
              </a:rPr>
              <a:t>• Đủ approval</a:t>
            </a:r>
          </a:p>
        </p:txBody>
      </p:sp>
      <p:sp>
        <p:nvSpPr>
          <p:cNvPr id="26" name="text-832-234-• Quyền hiện hàn">
            <a:extLst xmlns:a="http://schemas.openxmlformats.org/drawingml/2006/main">
              <a:ext uri="{FF2B5EF4-FFF2-40B4-BE49-F238E27FC236}">
                <a16:creationId xmlns:a16="http://schemas.microsoft.com/office/drawing/2014/main" id="{7C058C86-06A2-46A3-8025-58BCD3F65B45}"/>
              </a:ext>
            </a:extLst>
          </p:cNvPr>
          <p:cNvSpPr>
            <a:spLocks xmlns:a="http://schemas.openxmlformats.org/drawingml/2006/main" noGrp="1"/>
          </p:cNvSpPr>
          <p:nvPr/>
        </p:nvSpPr>
        <p:spPr>
          <a:xfrm xmlns:a="http://schemas.openxmlformats.org/drawingml/2006/main">
            <a:off x="7924800" y="2228850"/>
            <a:ext cx="1847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4B6075"/>
                </a:solidFill>
                <a:latin typeface="Arial"/>
                <a:ea typeface="Arial"/>
                <a:cs typeface="Arial"/>
              </a:defRPr>
            </a:pPr>
            <a:r>
              <a:rPr sz="900" b="0">
                <a:solidFill>
                  <a:srgbClr val="4B6075"/>
                </a:solidFill>
                <a:latin typeface="Arial"/>
                <a:ea typeface="Arial"/>
                <a:cs typeface="Arial"/>
              </a:rPr>
              <a:t>• Quyền hiện hành</a:t>
            </a:r>
          </a:p>
        </p:txBody>
      </p:sp>
      <p:sp>
        <p:nvSpPr>
          <p:cNvPr id="27" name="text-832-252-• Cấu trúc đầy đ">
            <a:extLst xmlns:a="http://schemas.openxmlformats.org/drawingml/2006/main">
              <a:ext uri="{FF2B5EF4-FFF2-40B4-BE49-F238E27FC236}">
                <a16:creationId xmlns:a16="http://schemas.microsoft.com/office/drawing/2014/main" id="{6D202D5F-C619-4BAA-BAAE-09465D565B64}"/>
              </a:ext>
            </a:extLst>
          </p:cNvPr>
          <p:cNvSpPr>
            <a:spLocks xmlns:a="http://schemas.openxmlformats.org/drawingml/2006/main" noGrp="1"/>
          </p:cNvSpPr>
          <p:nvPr/>
        </p:nvSpPr>
        <p:spPr>
          <a:xfrm xmlns:a="http://schemas.openxmlformats.org/drawingml/2006/main">
            <a:off x="7924800" y="2400300"/>
            <a:ext cx="1847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4B6075"/>
                </a:solidFill>
                <a:latin typeface="Arial"/>
                <a:ea typeface="Arial"/>
                <a:cs typeface="Arial"/>
              </a:defRPr>
            </a:pPr>
            <a:r>
              <a:rPr sz="900" b="0">
                <a:solidFill>
                  <a:srgbClr val="4B6075"/>
                </a:solidFill>
                <a:latin typeface="Arial"/>
                <a:ea typeface="Arial"/>
                <a:cs typeface="Arial"/>
              </a:rPr>
              <a:t>• Cấu trúc đầy đủ</a:t>
            </a:r>
          </a:p>
        </p:txBody>
      </p:sp>
      <p:sp>
        <p:nvSpPr>
          <p:cNvPr id="28" name="text-832-270-• Artifact sẵn s">
            <a:extLst xmlns:a="http://schemas.openxmlformats.org/drawingml/2006/main">
              <a:ext uri="{FF2B5EF4-FFF2-40B4-BE49-F238E27FC236}">
                <a16:creationId xmlns:a16="http://schemas.microsoft.com/office/drawing/2014/main" id="{4C05BC5B-3F0F-421C-AE3F-1F93D0547C8E}"/>
              </a:ext>
            </a:extLst>
          </p:cNvPr>
          <p:cNvSpPr>
            <a:spLocks xmlns:a="http://schemas.openxmlformats.org/drawingml/2006/main" noGrp="1"/>
          </p:cNvSpPr>
          <p:nvPr/>
        </p:nvSpPr>
        <p:spPr>
          <a:xfrm xmlns:a="http://schemas.openxmlformats.org/drawingml/2006/main">
            <a:off x="7924800" y="2571750"/>
            <a:ext cx="1847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4B6075"/>
                </a:solidFill>
                <a:latin typeface="Arial"/>
                <a:ea typeface="Arial"/>
                <a:cs typeface="Arial"/>
              </a:defRPr>
            </a:pPr>
            <a:r>
              <a:rPr sz="900" b="0">
                <a:solidFill>
                  <a:srgbClr val="4B6075"/>
                </a:solidFill>
                <a:latin typeface="Arial"/>
                <a:ea typeface="Arial"/>
                <a:cs typeface="Arial"/>
              </a:rPr>
              <a:t>• Artifact sẵn sàng</a:t>
            </a:r>
          </a:p>
        </p:txBody>
      </p:sp>
      <p:sp>
        <p:nvSpPr>
          <p:cNvPr id="29" name="text-1062-198-→">
            <a:extLst xmlns:a="http://schemas.openxmlformats.org/drawingml/2006/main">
              <a:ext uri="{FF2B5EF4-FFF2-40B4-BE49-F238E27FC236}">
                <a16:creationId xmlns:a16="http://schemas.microsoft.com/office/drawing/2014/main" id="{88E681FA-24AF-4422-9F1E-D7AE56632F35}"/>
              </a:ext>
            </a:extLst>
          </p:cNvPr>
          <p:cNvSpPr>
            <a:spLocks xmlns:a="http://schemas.openxmlformats.org/drawingml/2006/main" noGrp="1"/>
          </p:cNvSpPr>
          <p:nvPr/>
        </p:nvSpPr>
        <p:spPr>
          <a:xfrm xmlns:a="http://schemas.openxmlformats.org/drawingml/2006/main">
            <a:off x="10115550" y="18859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1">
                <a:solidFill>
                  <a:srgbClr val="2D8A62"/>
                </a:solidFill>
                <a:latin typeface="Arial"/>
                <a:ea typeface="Arial"/>
                <a:cs typeface="Arial"/>
              </a:defRPr>
            </a:pPr>
            <a:r>
              <a:rPr sz="1950" b="1">
                <a:solidFill>
                  <a:srgbClr val="2D8A62"/>
                </a:solidFill>
                <a:latin typeface="Arial"/>
                <a:ea typeface="Arial"/>
                <a:cs typeface="Arial"/>
              </a:rPr>
              <a:t>→</a:t>
            </a:r>
          </a:p>
        </p:txBody>
      </p:sp>
      <p:sp>
        <p:nvSpPr>
          <p:cNvPr id="30" name="box-1110-170">
            <a:extLst xmlns:a="http://schemas.openxmlformats.org/drawingml/2006/main">
              <a:ext uri="{FF2B5EF4-FFF2-40B4-BE49-F238E27FC236}">
                <a16:creationId xmlns:a16="http://schemas.microsoft.com/office/drawing/2014/main" id="{D577176A-6177-459A-8116-00C01B51F063}"/>
              </a:ext>
            </a:extLst>
          </p:cNvPr>
          <p:cNvSpPr>
            <a:spLocks xmlns:a="http://schemas.openxmlformats.org/drawingml/2006/main" noGrp="1"/>
          </p:cNvSpPr>
          <p:nvPr/>
        </p:nvSpPr>
        <p:spPr>
          <a:xfrm xmlns:a="http://schemas.openxmlformats.org/drawingml/2006/main">
            <a:off x="10572750" y="1619250"/>
            <a:ext cx="1104900" cy="952500"/>
          </a:xfrm>
          <a:prstGeom xmlns:a="http://schemas.openxmlformats.org/drawingml/2006/main" prst="roundRect">
            <a:avLst>
              <a:gd name="adj" fmla="val 8000"/>
            </a:avLst>
          </a:prstGeom>
          <a:solidFill xmlns:a="http://schemas.openxmlformats.org/drawingml/2006/main">
            <a:srgbClr val="E7F5EE"/>
          </a:solidFill>
          <a:ln xmlns:a="http://schemas.openxmlformats.org/drawingml/2006/main" w="1143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350" b="1">
                <a:solidFill>
                  <a:srgbClr val="2D8A62"/>
                </a:solidFill>
                <a:latin typeface="Arial"/>
                <a:ea typeface="Arial"/>
                <a:cs typeface="Arial"/>
              </a:defRPr>
            </a:pPr>
            <a:r>
              <a:rPr sz="1350" b="1">
                <a:solidFill>
                  <a:srgbClr val="2D8A62"/>
                </a:solidFill>
                <a:latin typeface="Arial"/>
                <a:ea typeface="Arial"/>
                <a:cs typeface="Arial"/>
              </a:rPr>
              <a:t>RELEASE</a:t>
            </a:r>
          </a:p>
          <a:p xmlns:a="http://schemas.openxmlformats.org/drawingml/2006/main">
            <a:pPr algn="ctr">
              <a:defRPr sz="1350" b="1">
                <a:solidFill>
                  <a:srgbClr val="2D8A62"/>
                </a:solidFill>
                <a:latin typeface="Arial"/>
                <a:ea typeface="Arial"/>
                <a:cs typeface="Arial"/>
              </a:defRPr>
            </a:pPr>
            <a:r>
              <a:rPr sz="1350" b="1">
                <a:solidFill>
                  <a:srgbClr val="2D8A62"/>
                </a:solidFill>
                <a:latin typeface="Arial"/>
                <a:ea typeface="Arial"/>
                <a:cs typeface="Arial"/>
              </a:rPr>
              <a:t>RECORD</a:t>
            </a:r>
          </a:p>
        </p:txBody>
      </p:sp>
      <p:sp>
        <p:nvSpPr>
          <p:cNvPr id="31" name="box-54-366">
            <a:extLst xmlns:a="http://schemas.openxmlformats.org/drawingml/2006/main">
              <a:ext uri="{FF2B5EF4-FFF2-40B4-BE49-F238E27FC236}">
                <a16:creationId xmlns:a16="http://schemas.microsoft.com/office/drawing/2014/main" id="{706F0F59-8F46-4700-86CB-97322A3861CF}"/>
              </a:ext>
            </a:extLst>
          </p:cNvPr>
          <p:cNvSpPr>
            <a:spLocks xmlns:a="http://schemas.openxmlformats.org/drawingml/2006/main" noGrp="1"/>
          </p:cNvSpPr>
          <p:nvPr/>
        </p:nvSpPr>
        <p:spPr>
          <a:xfrm xmlns:a="http://schemas.openxmlformats.org/drawingml/2006/main">
            <a:off x="514350" y="3486150"/>
            <a:ext cx="11163300" cy="2038350"/>
          </a:xfrm>
          <a:prstGeom xmlns:a="http://schemas.openxmlformats.org/drawingml/2006/main" prst="roundRect">
            <a:avLst>
              <a:gd name="adj" fmla="val 3738"/>
            </a:avLst>
          </a:prstGeom>
          <a:solidFill xmlns:a="http://schemas.openxmlformats.org/drawingml/2006/main">
            <a:srgbClr val="102744"/>
          </a:solidFill>
          <a:ln xmlns:a="http://schemas.openxmlformats.org/drawingml/2006/main" w="11430">
            <a:solidFill>
              <a:srgbClr val="102744"/>
            </a:solidFill>
            <a:prstDash val="solid"/>
          </a:ln>
        </p:spPr>
      </p:sp>
      <p:sp>
        <p:nvSpPr>
          <p:cNvPr id="32" name="text-82-394-RELEASE">
            <a:extLst xmlns:a="http://schemas.openxmlformats.org/drawingml/2006/main">
              <a:ext uri="{FF2B5EF4-FFF2-40B4-BE49-F238E27FC236}">
                <a16:creationId xmlns:a16="http://schemas.microsoft.com/office/drawing/2014/main" id="{8BA1415D-3159-476B-B8F0-87A8BE9C0E53}"/>
              </a:ext>
            </a:extLst>
          </p:cNvPr>
          <p:cNvSpPr>
            <a:spLocks xmlns:a="http://schemas.openxmlformats.org/drawingml/2006/main" noGrp="1"/>
          </p:cNvSpPr>
          <p:nvPr/>
        </p:nvSpPr>
        <p:spPr>
          <a:xfrm xmlns:a="http://schemas.openxmlformats.org/drawingml/2006/main">
            <a:off x="781050" y="37528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RELEASE</a:t>
            </a:r>
          </a:p>
        </p:txBody>
      </p:sp>
      <p:sp>
        <p:nvSpPr>
          <p:cNvPr id="33" name="text-82-429-R24">
            <a:extLst xmlns:a="http://schemas.openxmlformats.org/drawingml/2006/main">
              <a:ext uri="{FF2B5EF4-FFF2-40B4-BE49-F238E27FC236}">
                <a16:creationId xmlns:a16="http://schemas.microsoft.com/office/drawing/2014/main" id="{D37ADE9A-87D0-4D8C-8F81-A7F7720EB3EA}"/>
              </a:ext>
            </a:extLst>
          </p:cNvPr>
          <p:cNvSpPr>
            <a:spLocks xmlns:a="http://schemas.openxmlformats.org/drawingml/2006/main" noGrp="1"/>
          </p:cNvSpPr>
          <p:nvPr/>
        </p:nvSpPr>
        <p:spPr>
          <a:xfrm xmlns:a="http://schemas.openxmlformats.org/drawingml/2006/main">
            <a:off x="781050" y="40862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R24</a:t>
            </a:r>
          </a:p>
        </p:txBody>
      </p:sp>
      <p:sp>
        <p:nvSpPr>
          <p:cNvPr id="34" name="text-84-466-baseline chính x">
            <a:extLst xmlns:a="http://schemas.openxmlformats.org/drawingml/2006/main">
              <a:ext uri="{FF2B5EF4-FFF2-40B4-BE49-F238E27FC236}">
                <a16:creationId xmlns:a16="http://schemas.microsoft.com/office/drawing/2014/main" id="{82DCCADE-6B54-478B-873A-1A23A2C4BFD9}"/>
              </a:ext>
            </a:extLst>
          </p:cNvPr>
          <p:cNvSpPr>
            <a:spLocks xmlns:a="http://schemas.openxmlformats.org/drawingml/2006/main" noGrp="1"/>
          </p:cNvSpPr>
          <p:nvPr/>
        </p:nvSpPr>
        <p:spPr>
          <a:xfrm xmlns:a="http://schemas.openxmlformats.org/drawingml/2006/main">
            <a:off x="800100" y="4438650"/>
            <a:ext cx="1790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BFD7EA"/>
                </a:solidFill>
                <a:latin typeface="Arial"/>
                <a:ea typeface="Arial"/>
                <a:cs typeface="Arial"/>
              </a:defRPr>
            </a:pPr>
            <a:r>
              <a:rPr sz="1050" b="0">
                <a:solidFill>
                  <a:srgbClr val="BFD7EA"/>
                </a:solidFill>
                <a:latin typeface="Arial"/>
                <a:ea typeface="Arial"/>
                <a:cs typeface="Arial"/>
              </a:rPr>
              <a:t>baseline chính xác</a:t>
            </a:r>
          </a:p>
        </p:txBody>
      </p:sp>
      <p:sp>
        <p:nvSpPr>
          <p:cNvPr id="35" name="box-296-392">
            <a:extLst xmlns:a="http://schemas.openxmlformats.org/drawingml/2006/main">
              <a:ext uri="{FF2B5EF4-FFF2-40B4-BE49-F238E27FC236}">
                <a16:creationId xmlns:a16="http://schemas.microsoft.com/office/drawing/2014/main" id="{2566FA3D-DD82-45F9-8892-DB0394CA6505}"/>
              </a:ext>
            </a:extLst>
          </p:cNvPr>
          <p:cNvSpPr>
            <a:spLocks xmlns:a="http://schemas.openxmlformats.org/drawingml/2006/main" noGrp="1"/>
          </p:cNvSpPr>
          <p:nvPr/>
        </p:nvSpPr>
        <p:spPr>
          <a:xfrm xmlns:a="http://schemas.openxmlformats.org/drawingml/2006/main">
            <a:off x="2819400" y="3733800"/>
            <a:ext cx="1524000" cy="704850"/>
          </a:xfrm>
          <a:prstGeom xmlns:a="http://schemas.openxmlformats.org/drawingml/2006/main" prst="roundRect">
            <a:avLst>
              <a:gd name="adj" fmla="val 10811"/>
            </a:avLst>
          </a:prstGeom>
          <a:solidFill xmlns:a="http://schemas.openxmlformats.org/drawingml/2006/main">
            <a:srgbClr val="1B3C61"/>
          </a:solidFill>
          <a:ln xmlns:a="http://schemas.openxmlformats.org/drawingml/2006/main" w="11430">
            <a:solidFill>
              <a:srgbClr val="42698D"/>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Generation pins</a:t>
            </a:r>
          </a:p>
        </p:txBody>
      </p:sp>
      <p:sp>
        <p:nvSpPr>
          <p:cNvPr id="36" name="box-480-392">
            <a:extLst xmlns:a="http://schemas.openxmlformats.org/drawingml/2006/main">
              <a:ext uri="{FF2B5EF4-FFF2-40B4-BE49-F238E27FC236}">
                <a16:creationId xmlns:a16="http://schemas.microsoft.com/office/drawing/2014/main" id="{0C53F421-D135-45F8-AA0D-DB85B28F6809}"/>
              </a:ext>
            </a:extLst>
          </p:cNvPr>
          <p:cNvSpPr>
            <a:spLocks xmlns:a="http://schemas.openxmlformats.org/drawingml/2006/main" noGrp="1"/>
          </p:cNvSpPr>
          <p:nvPr/>
        </p:nvSpPr>
        <p:spPr>
          <a:xfrm xmlns:a="http://schemas.openxmlformats.org/drawingml/2006/main">
            <a:off x="4572000" y="3733800"/>
            <a:ext cx="1524000" cy="704850"/>
          </a:xfrm>
          <a:prstGeom xmlns:a="http://schemas.openxmlformats.org/drawingml/2006/main" prst="roundRect">
            <a:avLst>
              <a:gd name="adj" fmla="val 10811"/>
            </a:avLst>
          </a:prstGeom>
          <a:solidFill xmlns:a="http://schemas.openxmlformats.org/drawingml/2006/main">
            <a:srgbClr val="1B3C61"/>
          </a:solidFill>
          <a:ln xmlns:a="http://schemas.openxmlformats.org/drawingml/2006/main" w="11430">
            <a:solidFill>
              <a:srgbClr val="42698D"/>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Structure pin(s)</a:t>
            </a:r>
          </a:p>
        </p:txBody>
      </p:sp>
      <p:sp>
        <p:nvSpPr>
          <p:cNvPr id="37" name="box-664-392">
            <a:extLst xmlns:a="http://schemas.openxmlformats.org/drawingml/2006/main">
              <a:ext uri="{FF2B5EF4-FFF2-40B4-BE49-F238E27FC236}">
                <a16:creationId xmlns:a16="http://schemas.microsoft.com/office/drawing/2014/main" id="{7BCA9787-7ACE-4FFF-9FAA-D40BDCDE63FB}"/>
              </a:ext>
            </a:extLst>
          </p:cNvPr>
          <p:cNvSpPr>
            <a:spLocks xmlns:a="http://schemas.openxmlformats.org/drawingml/2006/main" noGrp="1"/>
          </p:cNvSpPr>
          <p:nvPr/>
        </p:nvSpPr>
        <p:spPr>
          <a:xfrm xmlns:a="http://schemas.openxmlformats.org/drawingml/2006/main">
            <a:off x="6324600" y="3733800"/>
            <a:ext cx="1524000" cy="704850"/>
          </a:xfrm>
          <a:prstGeom xmlns:a="http://schemas.openxmlformats.org/drawingml/2006/main" prst="roundRect">
            <a:avLst>
              <a:gd name="adj" fmla="val 10811"/>
            </a:avLst>
          </a:prstGeom>
          <a:solidFill xmlns:a="http://schemas.openxmlformats.org/drawingml/2006/main">
            <a:srgbClr val="1B3C61"/>
          </a:solidFill>
          <a:ln xmlns:a="http://schemas.openxmlformats.org/drawingml/2006/main" w="11430">
            <a:solidFill>
              <a:srgbClr val="42698D"/>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Approval + policy</a:t>
            </a:r>
          </a:p>
        </p:txBody>
      </p:sp>
      <p:sp>
        <p:nvSpPr>
          <p:cNvPr id="38" name="box-848-392">
            <a:extLst xmlns:a="http://schemas.openxmlformats.org/drawingml/2006/main">
              <a:ext uri="{FF2B5EF4-FFF2-40B4-BE49-F238E27FC236}">
                <a16:creationId xmlns:a16="http://schemas.microsoft.com/office/drawing/2014/main" id="{F76BAE08-A923-401B-87AA-8E568D96B128}"/>
              </a:ext>
            </a:extLst>
          </p:cNvPr>
          <p:cNvSpPr>
            <a:spLocks xmlns:a="http://schemas.openxmlformats.org/drawingml/2006/main" noGrp="1"/>
          </p:cNvSpPr>
          <p:nvPr/>
        </p:nvSpPr>
        <p:spPr>
          <a:xfrm xmlns:a="http://schemas.openxmlformats.org/drawingml/2006/main">
            <a:off x="8077200" y="3733800"/>
            <a:ext cx="1524000" cy="704850"/>
          </a:xfrm>
          <a:prstGeom xmlns:a="http://schemas.openxmlformats.org/drawingml/2006/main" prst="roundRect">
            <a:avLst>
              <a:gd name="adj" fmla="val 10811"/>
            </a:avLst>
          </a:prstGeom>
          <a:solidFill xmlns:a="http://schemas.openxmlformats.org/drawingml/2006/main">
            <a:srgbClr val="1B3C61"/>
          </a:solidFill>
          <a:ln xmlns:a="http://schemas.openxmlformats.org/drawingml/2006/main" w="11430">
            <a:solidFill>
              <a:srgbClr val="42698D"/>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Artifact digests</a:t>
            </a:r>
          </a:p>
        </p:txBody>
      </p:sp>
      <p:sp>
        <p:nvSpPr>
          <p:cNvPr id="39" name="text-1038-404-→">
            <a:extLst xmlns:a="http://schemas.openxmlformats.org/drawingml/2006/main">
              <a:ext uri="{FF2B5EF4-FFF2-40B4-BE49-F238E27FC236}">
                <a16:creationId xmlns:a16="http://schemas.microsoft.com/office/drawing/2014/main" id="{7CCC0CB2-1479-4CEF-BC94-48F90781D380}"/>
              </a:ext>
            </a:extLst>
          </p:cNvPr>
          <p:cNvSpPr>
            <a:spLocks xmlns:a="http://schemas.openxmlformats.org/drawingml/2006/main" noGrp="1"/>
          </p:cNvSpPr>
          <p:nvPr/>
        </p:nvSpPr>
        <p:spPr>
          <a:xfrm xmlns:a="http://schemas.openxmlformats.org/drawingml/2006/main">
            <a:off x="9886950" y="38481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8EC7E7"/>
                </a:solidFill>
                <a:latin typeface="Arial"/>
                <a:ea typeface="Arial"/>
                <a:cs typeface="Arial"/>
              </a:defRPr>
            </a:pPr>
            <a:r>
              <a:rPr sz="2100" b="1">
                <a:solidFill>
                  <a:srgbClr val="8EC7E7"/>
                </a:solidFill>
                <a:latin typeface="Arial"/>
                <a:ea typeface="Arial"/>
                <a:cs typeface="Arial"/>
              </a:rPr>
              <a:t>→</a:t>
            </a:r>
          </a:p>
        </p:txBody>
      </p:sp>
      <p:sp>
        <p:nvSpPr>
          <p:cNvPr id="40" name="box-1090-386">
            <a:extLst xmlns:a="http://schemas.openxmlformats.org/drawingml/2006/main">
              <a:ext uri="{FF2B5EF4-FFF2-40B4-BE49-F238E27FC236}">
                <a16:creationId xmlns:a16="http://schemas.microsoft.com/office/drawing/2014/main" id="{0B7AEC50-E8AA-4CEB-A52E-1831491FC432}"/>
              </a:ext>
            </a:extLst>
          </p:cNvPr>
          <p:cNvSpPr>
            <a:spLocks xmlns:a="http://schemas.openxmlformats.org/drawingml/2006/main" noGrp="1"/>
          </p:cNvSpPr>
          <p:nvPr/>
        </p:nvSpPr>
        <p:spPr>
          <a:xfrm xmlns:a="http://schemas.openxmlformats.org/drawingml/2006/main">
            <a:off x="10382250" y="3676650"/>
            <a:ext cx="10668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1430">
            <a:solidFill>
              <a:srgbClr val="FFFFFF"/>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102744"/>
                </a:solidFill>
                <a:latin typeface="Arial"/>
                <a:ea typeface="Arial"/>
                <a:cs typeface="Arial"/>
              </a:defRPr>
            </a:pPr>
            <a:r>
              <a:rPr sz="1125" b="1">
                <a:solidFill>
                  <a:srgbClr val="102744"/>
                </a:solidFill>
                <a:latin typeface="Arial"/>
                <a:ea typeface="Arial"/>
                <a:cs typeface="Arial"/>
              </a:rPr>
              <a:t>Controlled</a:t>
            </a:r>
          </a:p>
          <a:p xmlns:a="http://schemas.openxmlformats.org/drawingml/2006/main">
            <a:pPr algn="ctr">
              <a:defRPr sz="1125" b="1">
                <a:solidFill>
                  <a:srgbClr val="102744"/>
                </a:solidFill>
                <a:latin typeface="Arial"/>
                <a:ea typeface="Arial"/>
                <a:cs typeface="Arial"/>
              </a:defRPr>
            </a:pPr>
            <a:r>
              <a:rPr sz="1125" b="1">
                <a:solidFill>
                  <a:srgbClr val="102744"/>
                </a:solidFill>
                <a:latin typeface="Arial"/>
                <a:ea typeface="Arial"/>
                <a:cs typeface="Arial"/>
              </a:rPr>
              <a:t>Package</a:t>
            </a:r>
          </a:p>
        </p:txBody>
      </p:sp>
      <p:sp>
        <p:nvSpPr>
          <p:cNvPr id="41" name="line-82-500">
            <a:extLst xmlns:a="http://schemas.openxmlformats.org/drawingml/2006/main">
              <a:ext uri="{FF2B5EF4-FFF2-40B4-BE49-F238E27FC236}">
                <a16:creationId xmlns:a16="http://schemas.microsoft.com/office/drawing/2014/main" id="{9FC22FF0-40FA-423E-82E9-E9313ED0231C}"/>
              </a:ext>
            </a:extLst>
          </p:cNvPr>
          <p:cNvSpPr>
            <a:spLocks xmlns:a="http://schemas.openxmlformats.org/drawingml/2006/main" noGrp="1"/>
          </p:cNvSpPr>
          <p:nvPr/>
        </p:nvSpPr>
        <p:spPr>
          <a:xfrm xmlns:a="http://schemas.openxmlformats.org/drawingml/2006/main">
            <a:off x="781050" y="4762500"/>
            <a:ext cx="10668000" cy="19050"/>
          </a:xfrm>
          <a:prstGeom xmlns:a="http://schemas.openxmlformats.org/drawingml/2006/main" prst="rect">
            <a:avLst/>
          </a:prstGeom>
          <a:solidFill xmlns:a="http://schemas.openxmlformats.org/drawingml/2006/main">
            <a:srgbClr val="315377"/>
          </a:solidFill>
          <a:ln xmlns:a="http://schemas.openxmlformats.org/drawingml/2006/main" w="0">
            <a:solidFill>
              <a:srgbClr val="315377"/>
            </a:solidFill>
            <a:prstDash val="solid"/>
          </a:ln>
        </p:spPr>
      </p:sp>
      <p:sp>
        <p:nvSpPr>
          <p:cNvPr id="42" name="text-84-518-Vài tháng sau">
            <a:extLst xmlns:a="http://schemas.openxmlformats.org/drawingml/2006/main">
              <a:ext uri="{FF2B5EF4-FFF2-40B4-BE49-F238E27FC236}">
                <a16:creationId xmlns:a16="http://schemas.microsoft.com/office/drawing/2014/main" id="{4DD948BA-9469-4E2F-B9DD-A40B75641CD0}"/>
              </a:ext>
            </a:extLst>
          </p:cNvPr>
          <p:cNvSpPr>
            <a:spLocks xmlns:a="http://schemas.openxmlformats.org/drawingml/2006/main" noGrp="1"/>
          </p:cNvSpPr>
          <p:nvPr/>
        </p:nvSpPr>
        <p:spPr>
          <a:xfrm xmlns:a="http://schemas.openxmlformats.org/drawingml/2006/main">
            <a:off x="800100" y="49339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BFD7EA"/>
                </a:solidFill>
                <a:latin typeface="Arial"/>
                <a:ea typeface="Arial"/>
                <a:cs typeface="Arial"/>
              </a:defRPr>
            </a:pPr>
            <a:r>
              <a:rPr sz="1125" b="0">
                <a:solidFill>
                  <a:srgbClr val="BFD7EA"/>
                </a:solidFill>
                <a:latin typeface="Arial"/>
                <a:ea typeface="Arial"/>
                <a:cs typeface="Arial"/>
              </a:rPr>
              <a:t>Vài tháng sau</a:t>
            </a:r>
          </a:p>
        </p:txBody>
      </p:sp>
      <p:sp>
        <p:nvSpPr>
          <p:cNvPr id="43" name="text-252-513-→">
            <a:extLst xmlns:a="http://schemas.openxmlformats.org/drawingml/2006/main">
              <a:ext uri="{FF2B5EF4-FFF2-40B4-BE49-F238E27FC236}">
                <a16:creationId xmlns:a16="http://schemas.microsoft.com/office/drawing/2014/main" id="{8C6E2FBD-830F-4BF1-963C-5B06D345FAE1}"/>
              </a:ext>
            </a:extLst>
          </p:cNvPr>
          <p:cNvSpPr>
            <a:spLocks xmlns:a="http://schemas.openxmlformats.org/drawingml/2006/main" noGrp="1"/>
          </p:cNvSpPr>
          <p:nvPr/>
        </p:nvSpPr>
        <p:spPr>
          <a:xfrm xmlns:a="http://schemas.openxmlformats.org/drawingml/2006/main">
            <a:off x="2400300" y="4886325"/>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8EC7E7"/>
                </a:solidFill>
                <a:latin typeface="Arial"/>
                <a:ea typeface="Arial"/>
                <a:cs typeface="Arial"/>
              </a:defRPr>
            </a:pPr>
            <a:r>
              <a:rPr sz="1800" b="1">
                <a:solidFill>
                  <a:srgbClr val="8EC7E7"/>
                </a:solidFill>
                <a:latin typeface="Arial"/>
                <a:ea typeface="Arial"/>
                <a:cs typeface="Arial"/>
              </a:rPr>
              <a:t>→</a:t>
            </a:r>
          </a:p>
        </p:txBody>
      </p:sp>
      <p:sp>
        <p:nvSpPr>
          <p:cNvPr id="44" name="text-300-514-Retrieve R24">
            <a:extLst xmlns:a="http://schemas.openxmlformats.org/drawingml/2006/main">
              <a:ext uri="{FF2B5EF4-FFF2-40B4-BE49-F238E27FC236}">
                <a16:creationId xmlns:a16="http://schemas.microsoft.com/office/drawing/2014/main" id="{4D1952EE-43C7-4944-BBFB-1DC36C340BEA}"/>
              </a:ext>
            </a:extLst>
          </p:cNvPr>
          <p:cNvSpPr>
            <a:spLocks xmlns:a="http://schemas.openxmlformats.org/drawingml/2006/main" noGrp="1"/>
          </p:cNvSpPr>
          <p:nvPr/>
        </p:nvSpPr>
        <p:spPr>
          <a:xfrm xmlns:a="http://schemas.openxmlformats.org/drawingml/2006/main">
            <a:off x="2857500" y="48958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Retrieve R24</a:t>
            </a:r>
          </a:p>
        </p:txBody>
      </p:sp>
      <p:sp>
        <p:nvSpPr>
          <p:cNvPr id="45" name="text-468-513-→">
            <a:extLst xmlns:a="http://schemas.openxmlformats.org/drawingml/2006/main">
              <a:ext uri="{FF2B5EF4-FFF2-40B4-BE49-F238E27FC236}">
                <a16:creationId xmlns:a16="http://schemas.microsoft.com/office/drawing/2014/main" id="{087B5DFD-7FFB-4192-8D14-DBDBFA115671}"/>
              </a:ext>
            </a:extLst>
          </p:cNvPr>
          <p:cNvSpPr>
            <a:spLocks xmlns:a="http://schemas.openxmlformats.org/drawingml/2006/main" noGrp="1"/>
          </p:cNvSpPr>
          <p:nvPr/>
        </p:nvSpPr>
        <p:spPr>
          <a:xfrm xmlns:a="http://schemas.openxmlformats.org/drawingml/2006/main">
            <a:off x="4457700" y="4886325"/>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8EC7E7"/>
                </a:solidFill>
                <a:latin typeface="Arial"/>
                <a:ea typeface="Arial"/>
                <a:cs typeface="Arial"/>
              </a:defRPr>
            </a:pPr>
            <a:r>
              <a:rPr sz="1800" b="1">
                <a:solidFill>
                  <a:srgbClr val="8EC7E7"/>
                </a:solidFill>
                <a:latin typeface="Arial"/>
                <a:ea typeface="Arial"/>
                <a:cs typeface="Arial"/>
              </a:rPr>
              <a:t>→</a:t>
            </a:r>
          </a:p>
        </p:txBody>
      </p:sp>
      <p:sp>
        <p:nvSpPr>
          <p:cNvPr id="46" name="text-520-512-Đúng cùng Genera">
            <a:extLst xmlns:a="http://schemas.openxmlformats.org/drawingml/2006/main">
              <a:ext uri="{FF2B5EF4-FFF2-40B4-BE49-F238E27FC236}">
                <a16:creationId xmlns:a16="http://schemas.microsoft.com/office/drawing/2014/main" id="{44F9AB56-0ACE-43E2-AA06-C16B7449C480}"/>
              </a:ext>
            </a:extLst>
          </p:cNvPr>
          <p:cNvSpPr>
            <a:spLocks xmlns:a="http://schemas.openxmlformats.org/drawingml/2006/main" noGrp="1"/>
          </p:cNvSpPr>
          <p:nvPr/>
        </p:nvSpPr>
        <p:spPr>
          <a:xfrm xmlns:a="http://schemas.openxmlformats.org/drawingml/2006/main">
            <a:off x="4953000" y="4876800"/>
            <a:ext cx="609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Đúng cùng Generation + Structure Snapshot + controlled artifacts</a:t>
            </a:r>
          </a:p>
        </p:txBody>
      </p:sp>
      <p:sp>
        <p:nvSpPr>
          <p:cNvPr id="47" name="text-126-614-Release không lấ">
            <a:extLst xmlns:a="http://schemas.openxmlformats.org/drawingml/2006/main">
              <a:ext uri="{FF2B5EF4-FFF2-40B4-BE49-F238E27FC236}">
                <a16:creationId xmlns:a16="http://schemas.microsoft.com/office/drawing/2014/main" id="{6E7FA89A-D781-43C2-8789-F45AC5F8A06E}"/>
              </a:ext>
            </a:extLst>
          </p:cNvPr>
          <p:cNvSpPr>
            <a:spLocks xmlns:a="http://schemas.openxmlformats.org/drawingml/2006/main" noGrp="1"/>
          </p:cNvSpPr>
          <p:nvPr/>
        </p:nvSpPr>
        <p:spPr>
          <a:xfrm xmlns:a="http://schemas.openxmlformats.org/drawingml/2006/main">
            <a:off x="1200150" y="5848350"/>
            <a:ext cx="979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102744"/>
                </a:solidFill>
                <a:latin typeface="Arial"/>
                <a:ea typeface="Arial"/>
                <a:cs typeface="Arial"/>
              </a:defRPr>
            </a:pPr>
            <a:r>
              <a:rPr sz="1650" b="1">
                <a:solidFill>
                  <a:srgbClr val="102744"/>
                </a:solidFill>
                <a:latin typeface="Arial"/>
                <a:ea typeface="Arial"/>
                <a:cs typeface="Arial"/>
              </a:rPr>
              <a:t>Release không lấy file mới nhất. Release ghim một baseline đã được duyệt và tái tạo được.</a:t>
            </a:r>
          </a:p>
        </p:txBody>
      </p:sp>
    </p:spTree>
    <p:extLst>
      <p:ext uri="{BB962C8B-B14F-4D97-AF65-F5344CB8AC3E}">
        <p14:creationId xmlns:p14="http://schemas.microsoft.com/office/powerpoint/2010/main" val="19470008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box-0-0">
            <a:extLst xmlns:a="http://schemas.openxmlformats.org/drawingml/2006/main">
              <a:ext uri="{FF2B5EF4-FFF2-40B4-BE49-F238E27FC236}">
                <a16:creationId xmlns:a16="http://schemas.microsoft.com/office/drawing/2014/main" id="{F6E0EF63-909C-4D19-8B3A-B81FD69713D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169A8"/>
          </a:solidFill>
          <a:ln xmlns:a="http://schemas.openxmlformats.org/drawingml/2006/main" w="0">
            <a:noFill/>
            <a:prstDash val="solid"/>
          </a:ln>
        </p:spPr>
      </p:sp>
      <p:sp>
        <p:nvSpPr>
          <p:cNvPr id="2" name="text-54-28-SPEC">
            <a:extLst xmlns:a="http://schemas.openxmlformats.org/drawingml/2006/main">
              <a:ext uri="{FF2B5EF4-FFF2-40B4-BE49-F238E27FC236}">
                <a16:creationId xmlns:a16="http://schemas.microsoft.com/office/drawing/2014/main" id="{9874FF45-F359-475E-A65C-8C785AD0F8CA}"/>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Correctne">
            <a:extLst xmlns:a="http://schemas.openxmlformats.org/drawingml/2006/main">
              <a:ext uri="{FF2B5EF4-FFF2-40B4-BE49-F238E27FC236}">
                <a16:creationId xmlns:a16="http://schemas.microsoft.com/office/drawing/2014/main" id="{02952111-A22A-494B-BDF7-74298F28C02D}"/>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Spec — Correctness phải giữ được cả khi có lỗi</a:t>
            </a:r>
          </a:p>
        </p:txBody>
      </p:sp>
      <p:sp>
        <p:nvSpPr>
          <p:cNvPr id="4" name="line-54-116">
            <a:extLst xmlns:a="http://schemas.openxmlformats.org/drawingml/2006/main">
              <a:ext uri="{FF2B5EF4-FFF2-40B4-BE49-F238E27FC236}">
                <a16:creationId xmlns:a16="http://schemas.microsoft.com/office/drawing/2014/main" id="{1623F0C7-97ED-4DF9-B015-A09336559CC0}"/>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4@0">
            <a:extLst xmlns:a="http://schemas.openxmlformats.org/drawingml/2006/main">
              <a:ext uri="{FF2B5EF4-FFF2-40B4-BE49-F238E27FC236}">
                <a16:creationId xmlns:a16="http://schemas.microsoft.com/office/drawing/2014/main" id="{1E59A376-9878-4268-B5F9-5F09671BE88D}"/>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DOC-05@0.20 · DOC-06@0.16</a:t>
            </a:r>
          </a:p>
        </p:txBody>
      </p:sp>
      <p:sp>
        <p:nvSpPr>
          <p:cNvPr id="6" name="text-1170-680-10">
            <a:extLst xmlns:a="http://schemas.openxmlformats.org/drawingml/2006/main">
              <a:ext uri="{FF2B5EF4-FFF2-40B4-BE49-F238E27FC236}">
                <a16:creationId xmlns:a16="http://schemas.microsoft.com/office/drawing/2014/main" id="{05CEA527-5A1D-4C7B-BB46-6834496B4215}"/>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10</a:t>
            </a:r>
          </a:p>
        </p:txBody>
      </p:sp>
      <p:sp>
        <p:nvSpPr>
          <p:cNvPr id="7" name="diagram-meta-10">
            <a:extLst xmlns:a="http://schemas.openxmlformats.org/drawingml/2006/main">
              <a:ext uri="{FF2B5EF4-FFF2-40B4-BE49-F238E27FC236}">
                <a16:creationId xmlns:a16="http://schemas.microsoft.com/office/drawing/2014/main" id="{5F05D010-26DA-4626-ACA1-B6FEC68129AF}"/>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0">
            <a:extLst xmlns:a="http://schemas.openxmlformats.org/drawingml/2006/main">
              <a:ext uri="{FF2B5EF4-FFF2-40B4-BE49-F238E27FC236}">
                <a16:creationId xmlns:a16="http://schemas.microsoft.com/office/drawing/2014/main" id="{F2F982C1-E7A1-43F6-A5EE-CC7AD86E5F3F}"/>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Management simplification</a:t>
            </a:r>
          </a:p>
        </p:txBody>
      </p:sp>
      <p:sp>
        <p:nvSpPr>
          <p:cNvPr id="9" name="diagram-source-10">
            <a:extLst xmlns:a="http://schemas.openxmlformats.org/drawingml/2006/main">
              <a:ext uri="{FF2B5EF4-FFF2-40B4-BE49-F238E27FC236}">
                <a16:creationId xmlns:a16="http://schemas.microsoft.com/office/drawing/2014/main" id="{8B8E04B3-895C-4C4F-978B-5161450F52A7}"/>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RBAC-001 + DATA-AUTH-001</a:t>
            </a:r>
          </a:p>
        </p:txBody>
      </p:sp>
      <p:sp>
        <p:nvSpPr>
          <p:cNvPr id="10" name="diagram-why-10">
            <a:extLst xmlns:a="http://schemas.openxmlformats.org/drawingml/2006/main">
              <a:ext uri="{FF2B5EF4-FFF2-40B4-BE49-F238E27FC236}">
                <a16:creationId xmlns:a16="http://schemas.microsoft.com/office/drawing/2014/main" id="{BB44F8D4-BF58-40BD-A925-DF84405D888E}"/>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Nêu cách Server quyết định quyền</a:t>
            </a:r>
          </a:p>
        </p:txBody>
      </p:sp>
      <p:sp>
        <p:nvSpPr>
          <p:cNvPr id="11" name="source-link-10-DATA-VIEW-AUTH-001">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4FE100D0-B798-41EF-AB16-42A5756DE1BB}"/>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DATA-VIEW-AUTH-001 — Authorization data</a:t>
            </a:r>
          </a:p>
        </p:txBody>
      </p:sp>
      <p:sp>
        <p:nvSpPr>
          <p:cNvPr id="12" name="box-58-150">
            <a:extLst xmlns:a="http://schemas.openxmlformats.org/drawingml/2006/main">
              <a:ext uri="{FF2B5EF4-FFF2-40B4-BE49-F238E27FC236}">
                <a16:creationId xmlns:a16="http://schemas.microsoft.com/office/drawing/2014/main" id="{FA20E0E3-782C-48F7-88AA-6284CD2CAF59}"/>
              </a:ext>
            </a:extLst>
          </p:cNvPr>
          <p:cNvSpPr>
            <a:spLocks xmlns:a="http://schemas.openxmlformats.org/drawingml/2006/main" noGrp="1"/>
          </p:cNvSpPr>
          <p:nvPr/>
        </p:nvSpPr>
        <p:spPr>
          <a:xfrm xmlns:a="http://schemas.openxmlformats.org/drawingml/2006/main">
            <a:off x="552450" y="1428750"/>
            <a:ext cx="5448300" cy="2038350"/>
          </a:xfrm>
          <a:prstGeom xmlns:a="http://schemas.openxmlformats.org/drawingml/2006/main" prst="roundRect">
            <a:avLst>
              <a:gd name="adj" fmla="val 3738"/>
            </a:avLst>
          </a:prstGeom>
          <a:solidFill xmlns:a="http://schemas.openxmlformats.org/drawingml/2006/main">
            <a:srgbClr val="EAF3F9"/>
          </a:solidFill>
          <a:ln xmlns:a="http://schemas.openxmlformats.org/drawingml/2006/main" w="14288">
            <a:solidFill>
              <a:srgbClr val="2169A8"/>
            </a:solidFill>
            <a:prstDash val="solid"/>
          </a:ln>
        </p:spPr>
      </p:sp>
      <p:sp>
        <p:nvSpPr>
          <p:cNvPr id="13" name="box-76-166">
            <a:extLst xmlns:a="http://schemas.openxmlformats.org/drawingml/2006/main">
              <a:ext uri="{FF2B5EF4-FFF2-40B4-BE49-F238E27FC236}">
                <a16:creationId xmlns:a16="http://schemas.microsoft.com/office/drawing/2014/main" id="{5551ABF4-7486-4D47-A671-895C47B53835}"/>
              </a:ext>
            </a:extLst>
          </p:cNvPr>
          <p:cNvSpPr>
            <a:spLocks xmlns:a="http://schemas.openxmlformats.org/drawingml/2006/main" noGrp="1"/>
          </p:cNvSpPr>
          <p:nvPr/>
        </p:nvSpPr>
        <p:spPr>
          <a:xfrm xmlns:a="http://schemas.openxmlformats.org/drawingml/2006/main">
            <a:off x="723900" y="1581150"/>
            <a:ext cx="2381250" cy="323850"/>
          </a:xfrm>
          <a:prstGeom xmlns:a="http://schemas.openxmlformats.org/drawingml/2006/main" prst="roundRect">
            <a:avLst>
              <a:gd name="adj" fmla="val 23529"/>
            </a:avLst>
          </a:prstGeom>
          <a:solidFill xmlns:a="http://schemas.openxmlformats.org/drawingml/2006/main">
            <a:srgbClr val="2169A8"/>
          </a:solidFill>
          <a:ln xmlns:a="http://schemas.openxmlformats.org/drawingml/2006/main" w="762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A · AUTHORIZATION</a:t>
            </a:r>
          </a:p>
        </p:txBody>
      </p:sp>
      <p:sp>
        <p:nvSpPr>
          <p:cNvPr id="14" name="box-80-225">
            <a:extLst xmlns:a="http://schemas.openxmlformats.org/drawingml/2006/main">
              <a:ext uri="{FF2B5EF4-FFF2-40B4-BE49-F238E27FC236}">
                <a16:creationId xmlns:a16="http://schemas.microsoft.com/office/drawing/2014/main" id="{9E7EE79A-D4E9-43BA-960F-3D7B6B846BC7}"/>
              </a:ext>
            </a:extLst>
          </p:cNvPr>
          <p:cNvSpPr>
            <a:spLocks xmlns:a="http://schemas.openxmlformats.org/drawingml/2006/main" noGrp="1"/>
          </p:cNvSpPr>
          <p:nvPr/>
        </p:nvSpPr>
        <p:spPr>
          <a:xfrm xmlns:a="http://schemas.openxmlformats.org/drawingml/2006/main">
            <a:off x="762000" y="2143125"/>
            <a:ext cx="10477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863" b="1">
                <a:solidFill>
                  <a:srgbClr val="162638"/>
                </a:solidFill>
                <a:latin typeface="Arial"/>
                <a:ea typeface="Arial"/>
                <a:cs typeface="Arial"/>
              </a:defRPr>
            </a:pPr>
            <a:r>
              <a:rPr sz="863" b="1">
                <a:solidFill>
                  <a:srgbClr val="162638"/>
                </a:solidFill>
                <a:latin typeface="Arial"/>
                <a:ea typeface="Arial"/>
                <a:cs typeface="Arial"/>
              </a:rPr>
              <a:t>Current</a:t>
            </a:r>
          </a:p>
          <a:p xmlns:a="http://schemas.openxmlformats.org/drawingml/2006/main">
            <a:pPr algn="ctr">
              <a:defRPr sz="863" b="1">
                <a:solidFill>
                  <a:srgbClr val="162638"/>
                </a:solidFill>
                <a:latin typeface="Arial"/>
                <a:ea typeface="Arial"/>
                <a:cs typeface="Arial"/>
              </a:defRPr>
            </a:pPr>
            <a:r>
              <a:rPr sz="863" b="1">
                <a:solidFill>
                  <a:srgbClr val="162638"/>
                </a:solidFill>
                <a:latin typeface="Arial"/>
                <a:ea typeface="Arial"/>
                <a:cs typeface="Arial"/>
              </a:rPr>
              <a:t>Principal</a:t>
            </a:r>
          </a:p>
        </p:txBody>
      </p:sp>
      <p:sp>
        <p:nvSpPr>
          <p:cNvPr id="15" name="box-208-225">
            <a:extLst xmlns:a="http://schemas.openxmlformats.org/drawingml/2006/main">
              <a:ext uri="{FF2B5EF4-FFF2-40B4-BE49-F238E27FC236}">
                <a16:creationId xmlns:a16="http://schemas.microsoft.com/office/drawing/2014/main" id="{C72F2A34-1E6F-4B16-91A9-BCBA0B864BB7}"/>
              </a:ext>
            </a:extLst>
          </p:cNvPr>
          <p:cNvSpPr>
            <a:spLocks xmlns:a="http://schemas.openxmlformats.org/drawingml/2006/main" noGrp="1"/>
          </p:cNvSpPr>
          <p:nvPr/>
        </p:nvSpPr>
        <p:spPr>
          <a:xfrm xmlns:a="http://schemas.openxmlformats.org/drawingml/2006/main">
            <a:off x="1981200" y="2143125"/>
            <a:ext cx="12382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863" b="1">
                <a:solidFill>
                  <a:srgbClr val="162638"/>
                </a:solidFill>
                <a:latin typeface="Arial"/>
                <a:ea typeface="Arial"/>
                <a:cs typeface="Arial"/>
              </a:defRPr>
            </a:pPr>
            <a:r>
              <a:rPr sz="863" b="1">
                <a:solidFill>
                  <a:srgbClr val="162638"/>
                </a:solidFill>
                <a:latin typeface="Arial"/>
                <a:ea typeface="Arial"/>
                <a:cs typeface="Arial"/>
              </a:rPr>
              <a:t>Role Definition</a:t>
            </a:r>
          </a:p>
          <a:p xmlns:a="http://schemas.openxmlformats.org/drawingml/2006/main">
            <a:pPr algn="ctr">
              <a:defRPr sz="863" b="1">
                <a:solidFill>
                  <a:srgbClr val="162638"/>
                </a:solidFill>
                <a:latin typeface="Arial"/>
                <a:ea typeface="Arial"/>
                <a:cs typeface="Arial"/>
              </a:defRPr>
            </a:pPr>
            <a:r>
              <a:rPr sz="863" b="1">
                <a:solidFill>
                  <a:srgbClr val="162638"/>
                </a:solidFill>
                <a:latin typeface="Arial"/>
                <a:ea typeface="Arial"/>
                <a:cs typeface="Arial"/>
              </a:rPr>
              <a:t>Version (exact)</a:t>
            </a:r>
          </a:p>
        </p:txBody>
      </p:sp>
      <p:sp>
        <p:nvSpPr>
          <p:cNvPr id="16" name="box-354-225">
            <a:extLst xmlns:a="http://schemas.openxmlformats.org/drawingml/2006/main">
              <a:ext uri="{FF2B5EF4-FFF2-40B4-BE49-F238E27FC236}">
                <a16:creationId xmlns:a16="http://schemas.microsoft.com/office/drawing/2014/main" id="{C811B752-9CB4-4F42-970C-EC762A12A558}"/>
              </a:ext>
            </a:extLst>
          </p:cNvPr>
          <p:cNvSpPr>
            <a:spLocks xmlns:a="http://schemas.openxmlformats.org/drawingml/2006/main" noGrp="1"/>
          </p:cNvSpPr>
          <p:nvPr/>
        </p:nvSpPr>
        <p:spPr>
          <a:xfrm xmlns:a="http://schemas.openxmlformats.org/drawingml/2006/main">
            <a:off x="3371850" y="2143125"/>
            <a:ext cx="10477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863" b="1">
                <a:solidFill>
                  <a:srgbClr val="162638"/>
                </a:solidFill>
                <a:latin typeface="Arial"/>
                <a:ea typeface="Arial"/>
                <a:cs typeface="Arial"/>
              </a:defRPr>
            </a:pPr>
            <a:r>
              <a:rPr sz="863" b="1">
                <a:solidFill>
                  <a:srgbClr val="162638"/>
                </a:solidFill>
                <a:latin typeface="Arial"/>
                <a:ea typeface="Arial"/>
                <a:cs typeface="Arial"/>
              </a:rPr>
              <a:t>Authorization</a:t>
            </a:r>
          </a:p>
          <a:p xmlns:a="http://schemas.openxmlformats.org/drawingml/2006/main">
            <a:pPr algn="ctr">
              <a:defRPr sz="863" b="1">
                <a:solidFill>
                  <a:srgbClr val="162638"/>
                </a:solidFill>
                <a:latin typeface="Arial"/>
                <a:ea typeface="Arial"/>
                <a:cs typeface="Arial"/>
              </a:defRPr>
            </a:pPr>
            <a:r>
              <a:rPr sz="863" b="1">
                <a:solidFill>
                  <a:srgbClr val="162638"/>
                </a:solidFill>
                <a:latin typeface="Arial"/>
                <a:ea typeface="Arial"/>
                <a:cs typeface="Arial"/>
              </a:rPr>
              <a:t>Scope</a:t>
            </a:r>
          </a:p>
        </p:txBody>
      </p:sp>
      <p:sp>
        <p:nvSpPr>
          <p:cNvPr id="17" name="text-190-240-+">
            <a:extLst xmlns:a="http://schemas.openxmlformats.org/drawingml/2006/main">
              <a:ext uri="{FF2B5EF4-FFF2-40B4-BE49-F238E27FC236}">
                <a16:creationId xmlns:a16="http://schemas.microsoft.com/office/drawing/2014/main" id="{13291E23-03E0-4C90-A3CF-886B56C108D7}"/>
              </a:ext>
            </a:extLst>
          </p:cNvPr>
          <p:cNvSpPr>
            <a:spLocks xmlns:a="http://schemas.openxmlformats.org/drawingml/2006/main" noGrp="1"/>
          </p:cNvSpPr>
          <p:nvPr/>
        </p:nvSpPr>
        <p:spPr>
          <a:xfrm xmlns:a="http://schemas.openxmlformats.org/drawingml/2006/main">
            <a:off x="1809750" y="2286000"/>
            <a:ext cx="17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2169A8"/>
                </a:solidFill>
                <a:latin typeface="Arial"/>
                <a:ea typeface="Arial"/>
                <a:cs typeface="Arial"/>
              </a:defRPr>
            </a:pPr>
            <a:r>
              <a:rPr sz="1425" b="1">
                <a:solidFill>
                  <a:srgbClr val="2169A8"/>
                </a:solidFill>
                <a:latin typeface="Arial"/>
                <a:ea typeface="Arial"/>
                <a:cs typeface="Arial"/>
              </a:rPr>
              <a:t>+</a:t>
            </a:r>
          </a:p>
        </p:txBody>
      </p:sp>
      <p:sp>
        <p:nvSpPr>
          <p:cNvPr id="18" name="text-336-240-+">
            <a:extLst xmlns:a="http://schemas.openxmlformats.org/drawingml/2006/main">
              <a:ext uri="{FF2B5EF4-FFF2-40B4-BE49-F238E27FC236}">
                <a16:creationId xmlns:a16="http://schemas.microsoft.com/office/drawing/2014/main" id="{CBF16F8D-5A96-4491-9D67-C98EE4B39A37}"/>
              </a:ext>
            </a:extLst>
          </p:cNvPr>
          <p:cNvSpPr>
            <a:spLocks xmlns:a="http://schemas.openxmlformats.org/drawingml/2006/main" noGrp="1"/>
          </p:cNvSpPr>
          <p:nvPr/>
        </p:nvSpPr>
        <p:spPr>
          <a:xfrm xmlns:a="http://schemas.openxmlformats.org/drawingml/2006/main">
            <a:off x="3200400" y="2286000"/>
            <a:ext cx="17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2169A8"/>
                </a:solidFill>
                <a:latin typeface="Arial"/>
                <a:ea typeface="Arial"/>
                <a:cs typeface="Arial"/>
              </a:defRPr>
            </a:pPr>
            <a:r>
              <a:rPr sz="1425" b="1">
                <a:solidFill>
                  <a:srgbClr val="2169A8"/>
                </a:solidFill>
                <a:latin typeface="Arial"/>
                <a:ea typeface="Arial"/>
                <a:cs typeface="Arial"/>
              </a:rPr>
              <a:t>+</a:t>
            </a:r>
          </a:p>
        </p:txBody>
      </p:sp>
      <p:sp>
        <p:nvSpPr>
          <p:cNvPr id="19" name="text-466-237-→">
            <a:extLst xmlns:a="http://schemas.openxmlformats.org/drawingml/2006/main">
              <a:ext uri="{FF2B5EF4-FFF2-40B4-BE49-F238E27FC236}">
                <a16:creationId xmlns:a16="http://schemas.microsoft.com/office/drawing/2014/main" id="{F28BEE39-2A46-4D58-9812-68BB34AC7CEE}"/>
              </a:ext>
            </a:extLst>
          </p:cNvPr>
          <p:cNvSpPr>
            <a:spLocks xmlns:a="http://schemas.openxmlformats.org/drawingml/2006/main" noGrp="1"/>
          </p:cNvSpPr>
          <p:nvPr/>
        </p:nvSpPr>
        <p:spPr>
          <a:xfrm xmlns:a="http://schemas.openxmlformats.org/drawingml/2006/main">
            <a:off x="4438650" y="2257425"/>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2169A8"/>
                </a:solidFill>
                <a:latin typeface="Arial"/>
                <a:ea typeface="Arial"/>
                <a:cs typeface="Arial"/>
              </a:defRPr>
            </a:pPr>
            <a:r>
              <a:rPr sz="1500" b="1">
                <a:solidFill>
                  <a:srgbClr val="2169A8"/>
                </a:solidFill>
                <a:latin typeface="Arial"/>
                <a:ea typeface="Arial"/>
                <a:cs typeface="Arial"/>
              </a:rPr>
              <a:t>→</a:t>
            </a:r>
          </a:p>
        </p:txBody>
      </p:sp>
      <p:sp>
        <p:nvSpPr>
          <p:cNvPr id="20" name="box-496-225">
            <a:extLst xmlns:a="http://schemas.openxmlformats.org/drawingml/2006/main">
              <a:ext uri="{FF2B5EF4-FFF2-40B4-BE49-F238E27FC236}">
                <a16:creationId xmlns:a16="http://schemas.microsoft.com/office/drawing/2014/main" id="{F76742B3-9F59-4A10-91C3-A326A78D7A0B}"/>
              </a:ext>
            </a:extLst>
          </p:cNvPr>
          <p:cNvSpPr>
            <a:spLocks xmlns:a="http://schemas.openxmlformats.org/drawingml/2006/main" noGrp="1"/>
          </p:cNvSpPr>
          <p:nvPr/>
        </p:nvSpPr>
        <p:spPr>
          <a:xfrm xmlns:a="http://schemas.openxmlformats.org/drawingml/2006/main">
            <a:off x="4724400" y="2143125"/>
            <a:ext cx="10477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975" b="1">
                <a:solidFill>
                  <a:srgbClr val="162638"/>
                </a:solidFill>
                <a:latin typeface="Arial"/>
                <a:ea typeface="Arial"/>
                <a:cs typeface="Arial"/>
              </a:defRPr>
            </a:pPr>
            <a:r>
              <a:rPr sz="975" b="1">
                <a:solidFill>
                  <a:srgbClr val="162638"/>
                </a:solidFill>
                <a:latin typeface="Arial"/>
                <a:ea typeface="Arial"/>
                <a:cs typeface="Arial"/>
              </a:rPr>
              <a:t>Role</a:t>
            </a:r>
          </a:p>
          <a:p xmlns:a="http://schemas.openxmlformats.org/drawingml/2006/main">
            <a:pPr algn="ctr">
              <a:defRPr sz="975" b="1">
                <a:solidFill>
                  <a:srgbClr val="162638"/>
                </a:solidFill>
                <a:latin typeface="Arial"/>
                <a:ea typeface="Arial"/>
                <a:cs typeface="Arial"/>
              </a:defRPr>
            </a:pPr>
            <a:r>
              <a:rPr sz="975" b="1">
                <a:solidFill>
                  <a:srgbClr val="162638"/>
                </a:solidFill>
                <a:latin typeface="Arial"/>
                <a:ea typeface="Arial"/>
                <a:cs typeface="Arial"/>
              </a:rPr>
              <a:t>Assignment</a:t>
            </a:r>
          </a:p>
        </p:txBody>
      </p:sp>
      <p:sp>
        <p:nvSpPr>
          <p:cNvPr id="21" name="text-82-307-Server tìm assig">
            <a:extLst xmlns:a="http://schemas.openxmlformats.org/drawingml/2006/main">
              <a:ext uri="{FF2B5EF4-FFF2-40B4-BE49-F238E27FC236}">
                <a16:creationId xmlns:a16="http://schemas.microsoft.com/office/drawing/2014/main" id="{1EEF0642-6A43-42CC-B7AB-84EDAE7C639B}"/>
              </a:ext>
            </a:extLst>
          </p:cNvPr>
          <p:cNvSpPr>
            <a:spLocks xmlns:a="http://schemas.openxmlformats.org/drawingml/2006/main" noGrp="1"/>
          </p:cNvSpPr>
          <p:nvPr/>
        </p:nvSpPr>
        <p:spPr>
          <a:xfrm xmlns:a="http://schemas.openxmlformats.org/drawingml/2006/main">
            <a:off x="781050" y="2924175"/>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4B6075"/>
                </a:solidFill>
                <a:latin typeface="Arial"/>
                <a:ea typeface="Arial"/>
                <a:cs typeface="Arial"/>
              </a:defRPr>
            </a:pPr>
            <a:r>
              <a:rPr sz="1125" b="0">
                <a:solidFill>
                  <a:srgbClr val="4B6075"/>
                </a:solidFill>
                <a:latin typeface="Arial"/>
                <a:ea typeface="Arial"/>
                <a:cs typeface="Arial"/>
              </a:rPr>
              <a:t>Server tìm assignment phù hợp rồi mới áp dụng Permission và business gates.</a:t>
            </a:r>
          </a:p>
        </p:txBody>
      </p:sp>
      <p:sp>
        <p:nvSpPr>
          <p:cNvPr id="22" name="box-650-150">
            <a:extLst xmlns:a="http://schemas.openxmlformats.org/drawingml/2006/main">
              <a:ext uri="{FF2B5EF4-FFF2-40B4-BE49-F238E27FC236}">
                <a16:creationId xmlns:a16="http://schemas.microsoft.com/office/drawing/2014/main" id="{0AEC28D3-46A5-4CD2-B05B-39E1259FEEE0}"/>
              </a:ext>
            </a:extLst>
          </p:cNvPr>
          <p:cNvSpPr>
            <a:spLocks xmlns:a="http://schemas.openxmlformats.org/drawingml/2006/main" noGrp="1"/>
          </p:cNvSpPr>
          <p:nvPr/>
        </p:nvSpPr>
        <p:spPr>
          <a:xfrm xmlns:a="http://schemas.openxmlformats.org/drawingml/2006/main">
            <a:off x="6191250" y="1428750"/>
            <a:ext cx="5448300" cy="2038350"/>
          </a:xfrm>
          <a:prstGeom xmlns:a="http://schemas.openxmlformats.org/drawingml/2006/main" prst="roundRect">
            <a:avLst>
              <a:gd name="adj" fmla="val 3738"/>
            </a:avLst>
          </a:prstGeom>
          <a:solidFill xmlns:a="http://schemas.openxmlformats.org/drawingml/2006/main">
            <a:srgbClr val="FFF4DD"/>
          </a:solidFill>
          <a:ln xmlns:a="http://schemas.openxmlformats.org/drawingml/2006/main" w="14288">
            <a:solidFill>
              <a:srgbClr val="C58A1E"/>
            </a:solidFill>
            <a:prstDash val="solid"/>
          </a:ln>
        </p:spPr>
      </p:sp>
      <p:sp>
        <p:nvSpPr>
          <p:cNvPr id="23" name="box-668-166">
            <a:extLst xmlns:a="http://schemas.openxmlformats.org/drawingml/2006/main">
              <a:ext uri="{FF2B5EF4-FFF2-40B4-BE49-F238E27FC236}">
                <a16:creationId xmlns:a16="http://schemas.microsoft.com/office/drawing/2014/main" id="{82B78452-9CD3-4E53-AD61-4E2BA77EA142}"/>
              </a:ext>
            </a:extLst>
          </p:cNvPr>
          <p:cNvSpPr>
            <a:spLocks xmlns:a="http://schemas.openxmlformats.org/drawingml/2006/main" noGrp="1"/>
          </p:cNvSpPr>
          <p:nvPr/>
        </p:nvSpPr>
        <p:spPr>
          <a:xfrm xmlns:a="http://schemas.openxmlformats.org/drawingml/2006/main">
            <a:off x="6362700" y="1581150"/>
            <a:ext cx="2381250" cy="323850"/>
          </a:xfrm>
          <a:prstGeom xmlns:a="http://schemas.openxmlformats.org/drawingml/2006/main" prst="roundRect">
            <a:avLst>
              <a:gd name="adj" fmla="val 23529"/>
            </a:avLst>
          </a:prstGeom>
          <a:solidFill xmlns:a="http://schemas.openxmlformats.org/drawingml/2006/main">
            <a:srgbClr val="C58A1E"/>
          </a:solidFill>
          <a:ln xmlns:a="http://schemas.openxmlformats.org/drawingml/2006/main" w="7620">
            <a:solidFill>
              <a:srgbClr val="C58A1E"/>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B · STALE / CONFLICT</a:t>
            </a:r>
          </a:p>
        </p:txBody>
      </p:sp>
      <p:sp>
        <p:nvSpPr>
          <p:cNvPr id="24" name="box-674-225">
            <a:extLst xmlns:a="http://schemas.openxmlformats.org/drawingml/2006/main">
              <a:ext uri="{FF2B5EF4-FFF2-40B4-BE49-F238E27FC236}">
                <a16:creationId xmlns:a16="http://schemas.microsoft.com/office/drawing/2014/main" id="{1D6AF2CF-6131-465C-BF9A-F8FEDC7A4436}"/>
              </a:ext>
            </a:extLst>
          </p:cNvPr>
          <p:cNvSpPr>
            <a:spLocks xmlns:a="http://schemas.openxmlformats.org/drawingml/2006/main" noGrp="1"/>
          </p:cNvSpPr>
          <p:nvPr/>
        </p:nvSpPr>
        <p:spPr>
          <a:xfrm xmlns:a="http://schemas.openxmlformats.org/drawingml/2006/main">
            <a:off x="6419850" y="214312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Local baseline G005</a:t>
            </a:r>
          </a:p>
        </p:txBody>
      </p:sp>
      <p:sp>
        <p:nvSpPr>
          <p:cNvPr id="25" name="text-787-236-→">
            <a:extLst xmlns:a="http://schemas.openxmlformats.org/drawingml/2006/main">
              <a:ext uri="{FF2B5EF4-FFF2-40B4-BE49-F238E27FC236}">
                <a16:creationId xmlns:a16="http://schemas.microsoft.com/office/drawing/2014/main" id="{FDF2C0A9-02A9-414F-A68C-6E013A33E1D0}"/>
              </a:ext>
            </a:extLst>
          </p:cNvPr>
          <p:cNvSpPr>
            <a:spLocks xmlns:a="http://schemas.openxmlformats.org/drawingml/2006/main" noGrp="1"/>
          </p:cNvSpPr>
          <p:nvPr/>
        </p:nvSpPr>
        <p:spPr>
          <a:xfrm xmlns:a="http://schemas.openxmlformats.org/drawingml/2006/main">
            <a:off x="7496175" y="224790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C58A1E"/>
                </a:solidFill>
                <a:latin typeface="Arial"/>
                <a:ea typeface="Arial"/>
                <a:cs typeface="Arial"/>
              </a:defRPr>
            </a:pPr>
            <a:r>
              <a:rPr sz="1500" b="1">
                <a:solidFill>
                  <a:srgbClr val="C58A1E"/>
                </a:solidFill>
                <a:latin typeface="Arial"/>
                <a:ea typeface="Arial"/>
                <a:cs typeface="Arial"/>
              </a:rPr>
              <a:t>→</a:t>
            </a:r>
          </a:p>
        </p:txBody>
      </p:sp>
      <p:sp>
        <p:nvSpPr>
          <p:cNvPr id="26" name="box-806-225">
            <a:extLst xmlns:a="http://schemas.openxmlformats.org/drawingml/2006/main">
              <a:ext uri="{FF2B5EF4-FFF2-40B4-BE49-F238E27FC236}">
                <a16:creationId xmlns:a16="http://schemas.microsoft.com/office/drawing/2014/main" id="{5C0D5E6C-3A64-49FE-8F82-64BA2C6914F4}"/>
              </a:ext>
            </a:extLst>
          </p:cNvPr>
          <p:cNvSpPr>
            <a:spLocks xmlns:a="http://schemas.openxmlformats.org/drawingml/2006/main" noGrp="1"/>
          </p:cNvSpPr>
          <p:nvPr/>
        </p:nvSpPr>
        <p:spPr>
          <a:xfrm xmlns:a="http://schemas.openxmlformats.org/drawingml/2006/main">
            <a:off x="7677150" y="214312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Server current G006</a:t>
            </a:r>
          </a:p>
        </p:txBody>
      </p:sp>
      <p:sp>
        <p:nvSpPr>
          <p:cNvPr id="27" name="text-919-236-→">
            <a:extLst xmlns:a="http://schemas.openxmlformats.org/drawingml/2006/main">
              <a:ext uri="{FF2B5EF4-FFF2-40B4-BE49-F238E27FC236}">
                <a16:creationId xmlns:a16="http://schemas.microsoft.com/office/drawing/2014/main" id="{160E9567-68EA-4231-AA84-5942C0A304C1}"/>
              </a:ext>
            </a:extLst>
          </p:cNvPr>
          <p:cNvSpPr>
            <a:spLocks xmlns:a="http://schemas.openxmlformats.org/drawingml/2006/main" noGrp="1"/>
          </p:cNvSpPr>
          <p:nvPr/>
        </p:nvSpPr>
        <p:spPr>
          <a:xfrm xmlns:a="http://schemas.openxmlformats.org/drawingml/2006/main">
            <a:off x="8753475" y="224790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C58A1E"/>
                </a:solidFill>
                <a:latin typeface="Arial"/>
                <a:ea typeface="Arial"/>
                <a:cs typeface="Arial"/>
              </a:defRPr>
            </a:pPr>
            <a:r>
              <a:rPr sz="1500" b="1">
                <a:solidFill>
                  <a:srgbClr val="C58A1E"/>
                </a:solidFill>
                <a:latin typeface="Arial"/>
                <a:ea typeface="Arial"/>
                <a:cs typeface="Arial"/>
              </a:rPr>
              <a:t>→</a:t>
            </a:r>
          </a:p>
        </p:txBody>
      </p:sp>
      <p:sp>
        <p:nvSpPr>
          <p:cNvPr id="28" name="box-938-225">
            <a:extLst xmlns:a="http://schemas.openxmlformats.org/drawingml/2006/main">
              <a:ext uri="{FF2B5EF4-FFF2-40B4-BE49-F238E27FC236}">
                <a16:creationId xmlns:a16="http://schemas.microsoft.com/office/drawing/2014/main" id="{79914E17-BE4B-4E3D-B8D0-EEEFA018A484}"/>
              </a:ext>
            </a:extLst>
          </p:cNvPr>
          <p:cNvSpPr>
            <a:spLocks xmlns:a="http://schemas.openxmlformats.org/drawingml/2006/main" noGrp="1"/>
          </p:cNvSpPr>
          <p:nvPr/>
        </p:nvSpPr>
        <p:spPr>
          <a:xfrm xmlns:a="http://schemas.openxmlformats.org/drawingml/2006/main">
            <a:off x="8934450" y="214312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Chặn ghi không an toàn</a:t>
            </a:r>
          </a:p>
        </p:txBody>
      </p:sp>
      <p:sp>
        <p:nvSpPr>
          <p:cNvPr id="29" name="text-1051-236-→">
            <a:extLst xmlns:a="http://schemas.openxmlformats.org/drawingml/2006/main">
              <a:ext uri="{FF2B5EF4-FFF2-40B4-BE49-F238E27FC236}">
                <a16:creationId xmlns:a16="http://schemas.microsoft.com/office/drawing/2014/main" id="{C60BC3DF-6DF5-44E2-9373-39ACF53F31DB}"/>
              </a:ext>
            </a:extLst>
          </p:cNvPr>
          <p:cNvSpPr>
            <a:spLocks xmlns:a="http://schemas.openxmlformats.org/drawingml/2006/main" noGrp="1"/>
          </p:cNvSpPr>
          <p:nvPr/>
        </p:nvSpPr>
        <p:spPr>
          <a:xfrm xmlns:a="http://schemas.openxmlformats.org/drawingml/2006/main">
            <a:off x="10010775" y="224790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C58A1E"/>
                </a:solidFill>
                <a:latin typeface="Arial"/>
                <a:ea typeface="Arial"/>
                <a:cs typeface="Arial"/>
              </a:defRPr>
            </a:pPr>
            <a:r>
              <a:rPr sz="1500" b="1">
                <a:solidFill>
                  <a:srgbClr val="C58A1E"/>
                </a:solidFill>
                <a:latin typeface="Arial"/>
                <a:ea typeface="Arial"/>
                <a:cs typeface="Arial"/>
              </a:rPr>
              <a:t>→</a:t>
            </a:r>
          </a:p>
        </p:txBody>
      </p:sp>
      <p:sp>
        <p:nvSpPr>
          <p:cNvPr id="30" name="box-1070-225">
            <a:extLst xmlns:a="http://schemas.openxmlformats.org/drawingml/2006/main">
              <a:ext uri="{FF2B5EF4-FFF2-40B4-BE49-F238E27FC236}">
                <a16:creationId xmlns:a16="http://schemas.microsoft.com/office/drawing/2014/main" id="{29DE2C0D-9621-4473-A0BF-3E9D2EDCF788}"/>
              </a:ext>
            </a:extLst>
          </p:cNvPr>
          <p:cNvSpPr>
            <a:spLocks xmlns:a="http://schemas.openxmlformats.org/drawingml/2006/main" noGrp="1"/>
          </p:cNvSpPr>
          <p:nvPr/>
        </p:nvSpPr>
        <p:spPr>
          <a:xfrm xmlns:a="http://schemas.openxmlformats.org/drawingml/2006/main">
            <a:off x="10191750" y="214312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162638"/>
                </a:solidFill>
                <a:latin typeface="Arial"/>
                <a:ea typeface="Arial"/>
                <a:cs typeface="Arial"/>
              </a:defRPr>
            </a:pPr>
            <a:r>
              <a:rPr sz="1050" b="1">
                <a:solidFill>
                  <a:srgbClr val="162638"/>
                </a:solidFill>
                <a:latin typeface="Arial"/>
                <a:ea typeface="Arial"/>
                <a:cs typeface="Arial"/>
              </a:rPr>
              <a:t>Giữ local work</a:t>
            </a:r>
          </a:p>
        </p:txBody>
      </p:sp>
      <p:sp>
        <p:nvSpPr>
          <p:cNvPr id="31" name="text-674-307-Không tự merge n">
            <a:extLst xmlns:a="http://schemas.openxmlformats.org/drawingml/2006/main">
              <a:ext uri="{FF2B5EF4-FFF2-40B4-BE49-F238E27FC236}">
                <a16:creationId xmlns:a16="http://schemas.microsoft.com/office/drawing/2014/main" id="{85E93AA8-CA52-4EE4-8F2A-71F18790F2BB}"/>
              </a:ext>
            </a:extLst>
          </p:cNvPr>
          <p:cNvSpPr>
            <a:spLocks xmlns:a="http://schemas.openxmlformats.org/drawingml/2006/main" noGrp="1"/>
          </p:cNvSpPr>
          <p:nvPr/>
        </p:nvSpPr>
        <p:spPr>
          <a:xfrm xmlns:a="http://schemas.openxmlformats.org/drawingml/2006/main">
            <a:off x="6419850" y="2924175"/>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4B6075"/>
                </a:solidFill>
                <a:latin typeface="Arial"/>
                <a:ea typeface="Arial"/>
                <a:cs typeface="Arial"/>
              </a:defRPr>
            </a:pPr>
            <a:r>
              <a:rPr sz="1125" b="0">
                <a:solidFill>
                  <a:srgbClr val="4B6075"/>
                </a:solidFill>
                <a:latin typeface="Arial"/>
                <a:ea typeface="Arial"/>
                <a:cs typeface="Arial"/>
              </a:rPr>
              <a:t>Không tự merge nội dung CAD / Office.</a:t>
            </a:r>
          </a:p>
        </p:txBody>
      </p:sp>
      <p:sp>
        <p:nvSpPr>
          <p:cNvPr id="32" name="box-58-400">
            <a:extLst xmlns:a="http://schemas.openxmlformats.org/drawingml/2006/main">
              <a:ext uri="{FF2B5EF4-FFF2-40B4-BE49-F238E27FC236}">
                <a16:creationId xmlns:a16="http://schemas.microsoft.com/office/drawing/2014/main" id="{25AEB844-92A8-41FB-88F3-FCEF575C67DC}"/>
              </a:ext>
            </a:extLst>
          </p:cNvPr>
          <p:cNvSpPr>
            <a:spLocks xmlns:a="http://schemas.openxmlformats.org/drawingml/2006/main" noGrp="1"/>
          </p:cNvSpPr>
          <p:nvPr/>
        </p:nvSpPr>
        <p:spPr>
          <a:xfrm xmlns:a="http://schemas.openxmlformats.org/drawingml/2006/main">
            <a:off x="552450" y="3810000"/>
            <a:ext cx="5448300" cy="2038350"/>
          </a:xfrm>
          <a:prstGeom xmlns:a="http://schemas.openxmlformats.org/drawingml/2006/main" prst="roundRect">
            <a:avLst>
              <a:gd name="adj" fmla="val 3738"/>
            </a:avLst>
          </a:prstGeom>
          <a:solidFill xmlns:a="http://schemas.openxmlformats.org/drawingml/2006/main">
            <a:srgbClr val="F0EDFA"/>
          </a:solidFill>
          <a:ln xmlns:a="http://schemas.openxmlformats.org/drawingml/2006/main" w="14288">
            <a:solidFill>
              <a:srgbClr val="6C5AA8"/>
            </a:solidFill>
            <a:prstDash val="solid"/>
          </a:ln>
        </p:spPr>
      </p:sp>
      <p:sp>
        <p:nvSpPr>
          <p:cNvPr id="33" name="box-76-416">
            <a:extLst xmlns:a="http://schemas.openxmlformats.org/drawingml/2006/main">
              <a:ext uri="{FF2B5EF4-FFF2-40B4-BE49-F238E27FC236}">
                <a16:creationId xmlns:a16="http://schemas.microsoft.com/office/drawing/2014/main" id="{A221433F-E259-4B27-8D29-392466710976}"/>
              </a:ext>
            </a:extLst>
          </p:cNvPr>
          <p:cNvSpPr>
            <a:spLocks xmlns:a="http://schemas.openxmlformats.org/drawingml/2006/main" noGrp="1"/>
          </p:cNvSpPr>
          <p:nvPr/>
        </p:nvSpPr>
        <p:spPr>
          <a:xfrm xmlns:a="http://schemas.openxmlformats.org/drawingml/2006/main">
            <a:off x="723900" y="3962400"/>
            <a:ext cx="2381250" cy="323850"/>
          </a:xfrm>
          <a:prstGeom xmlns:a="http://schemas.openxmlformats.org/drawingml/2006/main" prst="roundRect">
            <a:avLst>
              <a:gd name="adj" fmla="val 23529"/>
            </a:avLst>
          </a:prstGeom>
          <a:solidFill xmlns:a="http://schemas.openxmlformats.org/drawingml/2006/main">
            <a:srgbClr val="6C5AA8"/>
          </a:solidFill>
          <a:ln xmlns:a="http://schemas.openxmlformats.org/drawingml/2006/main" w="7620">
            <a:solidFill>
              <a:srgbClr val="6C5AA8"/>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C · RETRY / PARTIAL FAILURE</a:t>
            </a:r>
          </a:p>
        </p:txBody>
      </p:sp>
      <p:sp>
        <p:nvSpPr>
          <p:cNvPr id="34" name="box-82-475">
            <a:extLst xmlns:a="http://schemas.openxmlformats.org/drawingml/2006/main">
              <a:ext uri="{FF2B5EF4-FFF2-40B4-BE49-F238E27FC236}">
                <a16:creationId xmlns:a16="http://schemas.microsoft.com/office/drawing/2014/main" id="{21674E80-54A8-42AB-B4BF-F6037E18B176}"/>
              </a:ext>
            </a:extLst>
          </p:cNvPr>
          <p:cNvSpPr>
            <a:spLocks xmlns:a="http://schemas.openxmlformats.org/drawingml/2006/main" noGrp="1"/>
          </p:cNvSpPr>
          <p:nvPr/>
        </p:nvSpPr>
        <p:spPr>
          <a:xfrm xmlns:a="http://schemas.openxmlformats.org/drawingml/2006/main">
            <a:off x="781050" y="452437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Mất mạng / mất response</a:t>
            </a:r>
          </a:p>
        </p:txBody>
      </p:sp>
      <p:sp>
        <p:nvSpPr>
          <p:cNvPr id="35" name="text-195-486-→">
            <a:extLst xmlns:a="http://schemas.openxmlformats.org/drawingml/2006/main">
              <a:ext uri="{FF2B5EF4-FFF2-40B4-BE49-F238E27FC236}">
                <a16:creationId xmlns:a16="http://schemas.microsoft.com/office/drawing/2014/main" id="{8BE36BAD-7171-4ADF-AD6C-E3F0E9A2EDF1}"/>
              </a:ext>
            </a:extLst>
          </p:cNvPr>
          <p:cNvSpPr>
            <a:spLocks xmlns:a="http://schemas.openxmlformats.org/drawingml/2006/main" noGrp="1"/>
          </p:cNvSpPr>
          <p:nvPr/>
        </p:nvSpPr>
        <p:spPr>
          <a:xfrm xmlns:a="http://schemas.openxmlformats.org/drawingml/2006/main">
            <a:off x="1857375" y="46291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6C5AA8"/>
                </a:solidFill>
                <a:latin typeface="Arial"/>
                <a:ea typeface="Arial"/>
                <a:cs typeface="Arial"/>
              </a:defRPr>
            </a:pPr>
            <a:r>
              <a:rPr sz="1500" b="1">
                <a:solidFill>
                  <a:srgbClr val="6C5AA8"/>
                </a:solidFill>
                <a:latin typeface="Arial"/>
                <a:ea typeface="Arial"/>
                <a:cs typeface="Arial"/>
              </a:rPr>
              <a:t>→</a:t>
            </a:r>
          </a:p>
        </p:txBody>
      </p:sp>
      <p:sp>
        <p:nvSpPr>
          <p:cNvPr id="36" name="box-214-475">
            <a:extLst xmlns:a="http://schemas.openxmlformats.org/drawingml/2006/main">
              <a:ext uri="{FF2B5EF4-FFF2-40B4-BE49-F238E27FC236}">
                <a16:creationId xmlns:a16="http://schemas.microsoft.com/office/drawing/2014/main" id="{9EEF91DA-6E23-480C-B85D-92279BAF2FB6}"/>
              </a:ext>
            </a:extLst>
          </p:cNvPr>
          <p:cNvSpPr>
            <a:spLocks xmlns:a="http://schemas.openxmlformats.org/drawingml/2006/main" noGrp="1"/>
          </p:cNvSpPr>
          <p:nvPr/>
        </p:nvSpPr>
        <p:spPr>
          <a:xfrm xmlns:a="http://schemas.openxmlformats.org/drawingml/2006/main">
            <a:off x="2038350" y="452437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Worker lỗi</a:t>
            </a:r>
          </a:p>
        </p:txBody>
      </p:sp>
      <p:sp>
        <p:nvSpPr>
          <p:cNvPr id="37" name="text-327-486-→">
            <a:extLst xmlns:a="http://schemas.openxmlformats.org/drawingml/2006/main">
              <a:ext uri="{FF2B5EF4-FFF2-40B4-BE49-F238E27FC236}">
                <a16:creationId xmlns:a16="http://schemas.microsoft.com/office/drawing/2014/main" id="{A02C5EBA-1EEA-4054-921A-877DFD8F4652}"/>
              </a:ext>
            </a:extLst>
          </p:cNvPr>
          <p:cNvSpPr>
            <a:spLocks xmlns:a="http://schemas.openxmlformats.org/drawingml/2006/main" noGrp="1"/>
          </p:cNvSpPr>
          <p:nvPr/>
        </p:nvSpPr>
        <p:spPr>
          <a:xfrm xmlns:a="http://schemas.openxmlformats.org/drawingml/2006/main">
            <a:off x="3114675" y="46291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6C5AA8"/>
                </a:solidFill>
                <a:latin typeface="Arial"/>
                <a:ea typeface="Arial"/>
                <a:cs typeface="Arial"/>
              </a:defRPr>
            </a:pPr>
            <a:r>
              <a:rPr sz="1500" b="1">
                <a:solidFill>
                  <a:srgbClr val="6C5AA8"/>
                </a:solidFill>
                <a:latin typeface="Arial"/>
                <a:ea typeface="Arial"/>
                <a:cs typeface="Arial"/>
              </a:rPr>
              <a:t>→</a:t>
            </a:r>
          </a:p>
        </p:txBody>
      </p:sp>
      <p:sp>
        <p:nvSpPr>
          <p:cNvPr id="38" name="box-346-475">
            <a:extLst xmlns:a="http://schemas.openxmlformats.org/drawingml/2006/main">
              <a:ext uri="{FF2B5EF4-FFF2-40B4-BE49-F238E27FC236}">
                <a16:creationId xmlns:a16="http://schemas.microsoft.com/office/drawing/2014/main" id="{B49CFD84-517D-41BB-9823-FFE9FFA40BBE}"/>
              </a:ext>
            </a:extLst>
          </p:cNvPr>
          <p:cNvSpPr>
            <a:spLocks xmlns:a="http://schemas.openxmlformats.org/drawingml/2006/main" noGrp="1"/>
          </p:cNvSpPr>
          <p:nvPr/>
        </p:nvSpPr>
        <p:spPr>
          <a:xfrm xmlns:a="http://schemas.openxmlformats.org/drawingml/2006/main">
            <a:off x="3295650" y="452437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Gửi lại cùng OperationId</a:t>
            </a:r>
          </a:p>
        </p:txBody>
      </p:sp>
      <p:sp>
        <p:nvSpPr>
          <p:cNvPr id="39" name="text-459-486-→">
            <a:extLst xmlns:a="http://schemas.openxmlformats.org/drawingml/2006/main">
              <a:ext uri="{FF2B5EF4-FFF2-40B4-BE49-F238E27FC236}">
                <a16:creationId xmlns:a16="http://schemas.microsoft.com/office/drawing/2014/main" id="{27EFFCBD-8657-4711-95E8-CB706C80B18F}"/>
              </a:ext>
            </a:extLst>
          </p:cNvPr>
          <p:cNvSpPr>
            <a:spLocks xmlns:a="http://schemas.openxmlformats.org/drawingml/2006/main" noGrp="1"/>
          </p:cNvSpPr>
          <p:nvPr/>
        </p:nvSpPr>
        <p:spPr>
          <a:xfrm xmlns:a="http://schemas.openxmlformats.org/drawingml/2006/main">
            <a:off x="4371975" y="46291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6C5AA8"/>
                </a:solidFill>
                <a:latin typeface="Arial"/>
                <a:ea typeface="Arial"/>
                <a:cs typeface="Arial"/>
              </a:defRPr>
            </a:pPr>
            <a:r>
              <a:rPr sz="1500" b="1">
                <a:solidFill>
                  <a:srgbClr val="6C5AA8"/>
                </a:solidFill>
                <a:latin typeface="Arial"/>
                <a:ea typeface="Arial"/>
                <a:cs typeface="Arial"/>
              </a:rPr>
              <a:t>→</a:t>
            </a:r>
          </a:p>
        </p:txBody>
      </p:sp>
      <p:sp>
        <p:nvSpPr>
          <p:cNvPr id="40" name="box-478-475">
            <a:extLst xmlns:a="http://schemas.openxmlformats.org/drawingml/2006/main">
              <a:ext uri="{FF2B5EF4-FFF2-40B4-BE49-F238E27FC236}">
                <a16:creationId xmlns:a16="http://schemas.microsoft.com/office/drawing/2014/main" id="{F7E2BDCC-486F-4CE4-928F-51EFCEC3DD76}"/>
              </a:ext>
            </a:extLst>
          </p:cNvPr>
          <p:cNvSpPr>
            <a:spLocks xmlns:a="http://schemas.openxmlformats.org/drawingml/2006/main" noGrp="1"/>
          </p:cNvSpPr>
          <p:nvPr/>
        </p:nvSpPr>
        <p:spPr>
          <a:xfrm xmlns:a="http://schemas.openxmlformats.org/drawingml/2006/main">
            <a:off x="4552950" y="452437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162638"/>
                </a:solidFill>
                <a:latin typeface="Arial"/>
                <a:ea typeface="Arial"/>
                <a:cs typeface="Arial"/>
              </a:defRPr>
            </a:pPr>
            <a:r>
              <a:rPr sz="1050" b="1">
                <a:solidFill>
                  <a:srgbClr val="162638"/>
                </a:solidFill>
                <a:latin typeface="Arial"/>
                <a:ea typeface="Arial"/>
                <a:cs typeface="Arial"/>
              </a:rPr>
              <a:t>Không nhân đôi kết quả</a:t>
            </a:r>
          </a:p>
        </p:txBody>
      </p:sp>
      <p:sp>
        <p:nvSpPr>
          <p:cNvPr id="41" name="text-82-557-Retry phải idemp">
            <a:extLst xmlns:a="http://schemas.openxmlformats.org/drawingml/2006/main">
              <a:ext uri="{FF2B5EF4-FFF2-40B4-BE49-F238E27FC236}">
                <a16:creationId xmlns:a16="http://schemas.microsoft.com/office/drawing/2014/main" id="{67731EF7-B5B0-4EC5-AC72-306863F939C6}"/>
              </a:ext>
            </a:extLst>
          </p:cNvPr>
          <p:cNvSpPr>
            <a:spLocks xmlns:a="http://schemas.openxmlformats.org/drawingml/2006/main" noGrp="1"/>
          </p:cNvSpPr>
          <p:nvPr/>
        </p:nvSpPr>
        <p:spPr>
          <a:xfrm xmlns:a="http://schemas.openxmlformats.org/drawingml/2006/main">
            <a:off x="781050" y="5305425"/>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4B6075"/>
                </a:solidFill>
                <a:latin typeface="Arial"/>
                <a:ea typeface="Arial"/>
                <a:cs typeface="Arial"/>
              </a:defRPr>
            </a:pPr>
            <a:r>
              <a:rPr sz="1125" b="0">
                <a:solidFill>
                  <a:srgbClr val="4B6075"/>
                </a:solidFill>
                <a:latin typeface="Arial"/>
                <a:ea typeface="Arial"/>
                <a:cs typeface="Arial"/>
              </a:rPr>
              <a:t>Retry phải idempotent và có thể tra trạng thái.</a:t>
            </a:r>
          </a:p>
        </p:txBody>
      </p:sp>
      <p:sp>
        <p:nvSpPr>
          <p:cNvPr id="42" name="box-650-400">
            <a:extLst xmlns:a="http://schemas.openxmlformats.org/drawingml/2006/main">
              <a:ext uri="{FF2B5EF4-FFF2-40B4-BE49-F238E27FC236}">
                <a16:creationId xmlns:a16="http://schemas.microsoft.com/office/drawing/2014/main" id="{B22BCD58-058E-4A89-A814-2367D854AEE5}"/>
              </a:ext>
            </a:extLst>
          </p:cNvPr>
          <p:cNvSpPr>
            <a:spLocks xmlns:a="http://schemas.openxmlformats.org/drawingml/2006/main" noGrp="1"/>
          </p:cNvSpPr>
          <p:nvPr/>
        </p:nvSpPr>
        <p:spPr>
          <a:xfrm xmlns:a="http://schemas.openxmlformats.org/drawingml/2006/main">
            <a:off x="6191250" y="3810000"/>
            <a:ext cx="5448300" cy="2038350"/>
          </a:xfrm>
          <a:prstGeom xmlns:a="http://schemas.openxmlformats.org/drawingml/2006/main" prst="roundRect">
            <a:avLst>
              <a:gd name="adj" fmla="val 3738"/>
            </a:avLst>
          </a:prstGeom>
          <a:solidFill xmlns:a="http://schemas.openxmlformats.org/drawingml/2006/main">
            <a:srgbClr val="E7F5EE"/>
          </a:solidFill>
          <a:ln xmlns:a="http://schemas.openxmlformats.org/drawingml/2006/main" w="14288">
            <a:solidFill>
              <a:srgbClr val="2D8A62"/>
            </a:solidFill>
            <a:prstDash val="solid"/>
          </a:ln>
        </p:spPr>
      </p:sp>
      <p:sp>
        <p:nvSpPr>
          <p:cNvPr id="43" name="box-668-416">
            <a:extLst xmlns:a="http://schemas.openxmlformats.org/drawingml/2006/main">
              <a:ext uri="{FF2B5EF4-FFF2-40B4-BE49-F238E27FC236}">
                <a16:creationId xmlns:a16="http://schemas.microsoft.com/office/drawing/2014/main" id="{1B98E3FC-DD17-46F5-BD2A-4D2D05EB13CC}"/>
              </a:ext>
            </a:extLst>
          </p:cNvPr>
          <p:cNvSpPr>
            <a:spLocks xmlns:a="http://schemas.openxmlformats.org/drawingml/2006/main" noGrp="1"/>
          </p:cNvSpPr>
          <p:nvPr/>
        </p:nvSpPr>
        <p:spPr>
          <a:xfrm xmlns:a="http://schemas.openxmlformats.org/drawingml/2006/main">
            <a:off x="6362700" y="3962400"/>
            <a:ext cx="2381250" cy="323850"/>
          </a:xfrm>
          <a:prstGeom xmlns:a="http://schemas.openxmlformats.org/drawingml/2006/main" prst="roundRect">
            <a:avLst>
              <a:gd name="adj" fmla="val 23529"/>
            </a:avLst>
          </a:prstGeom>
          <a:solidFill xmlns:a="http://schemas.openxmlformats.org/drawingml/2006/main">
            <a:srgbClr val="2D8A62"/>
          </a:solidFill>
          <a:ln xmlns:a="http://schemas.openxmlformats.org/drawingml/2006/main" w="762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D · AUDIT / RECOVERY</a:t>
            </a:r>
          </a:p>
        </p:txBody>
      </p:sp>
      <p:sp>
        <p:nvSpPr>
          <p:cNvPr id="44" name="box-674-475">
            <a:extLst xmlns:a="http://schemas.openxmlformats.org/drawingml/2006/main">
              <a:ext uri="{FF2B5EF4-FFF2-40B4-BE49-F238E27FC236}">
                <a16:creationId xmlns:a16="http://schemas.microsoft.com/office/drawing/2014/main" id="{DD7E1D26-0C9D-4C1B-BB19-53F2F0FC8A5D}"/>
              </a:ext>
            </a:extLst>
          </p:cNvPr>
          <p:cNvSpPr>
            <a:spLocks xmlns:a="http://schemas.openxmlformats.org/drawingml/2006/main" noGrp="1"/>
          </p:cNvSpPr>
          <p:nvPr/>
        </p:nvSpPr>
        <p:spPr>
          <a:xfrm xmlns:a="http://schemas.openxmlformats.org/drawingml/2006/main">
            <a:off x="6419850" y="452437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WHO + WHAT</a:t>
            </a:r>
          </a:p>
        </p:txBody>
      </p:sp>
      <p:sp>
        <p:nvSpPr>
          <p:cNvPr id="45" name="text-787-486-→">
            <a:extLst xmlns:a="http://schemas.openxmlformats.org/drawingml/2006/main">
              <a:ext uri="{FF2B5EF4-FFF2-40B4-BE49-F238E27FC236}">
                <a16:creationId xmlns:a16="http://schemas.microsoft.com/office/drawing/2014/main" id="{0CB8ADF9-6A31-4306-ADD3-CBE206CB111E}"/>
              </a:ext>
            </a:extLst>
          </p:cNvPr>
          <p:cNvSpPr>
            <a:spLocks xmlns:a="http://schemas.openxmlformats.org/drawingml/2006/main" noGrp="1"/>
          </p:cNvSpPr>
          <p:nvPr/>
        </p:nvSpPr>
        <p:spPr>
          <a:xfrm xmlns:a="http://schemas.openxmlformats.org/drawingml/2006/main">
            <a:off x="7496175" y="46291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2D8A62"/>
                </a:solidFill>
                <a:latin typeface="Arial"/>
                <a:ea typeface="Arial"/>
                <a:cs typeface="Arial"/>
              </a:defRPr>
            </a:pPr>
            <a:r>
              <a:rPr sz="1500" b="1">
                <a:solidFill>
                  <a:srgbClr val="2D8A62"/>
                </a:solidFill>
                <a:latin typeface="Arial"/>
                <a:ea typeface="Arial"/>
                <a:cs typeface="Arial"/>
              </a:rPr>
              <a:t>→</a:t>
            </a:r>
          </a:p>
        </p:txBody>
      </p:sp>
      <p:sp>
        <p:nvSpPr>
          <p:cNvPr id="46" name="box-806-475">
            <a:extLst xmlns:a="http://schemas.openxmlformats.org/drawingml/2006/main">
              <a:ext uri="{FF2B5EF4-FFF2-40B4-BE49-F238E27FC236}">
                <a16:creationId xmlns:a16="http://schemas.microsoft.com/office/drawing/2014/main" id="{7161839E-D665-419F-8BD6-68B1458A4D85}"/>
              </a:ext>
            </a:extLst>
          </p:cNvPr>
          <p:cNvSpPr>
            <a:spLocks xmlns:a="http://schemas.openxmlformats.org/drawingml/2006/main" noGrp="1"/>
          </p:cNvSpPr>
          <p:nvPr/>
        </p:nvSpPr>
        <p:spPr>
          <a:xfrm xmlns:a="http://schemas.openxmlformats.org/drawingml/2006/main">
            <a:off x="7677150" y="452437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WHICH baseline + WHEN</a:t>
            </a:r>
          </a:p>
        </p:txBody>
      </p:sp>
      <p:sp>
        <p:nvSpPr>
          <p:cNvPr id="47" name="text-919-486-→">
            <a:extLst xmlns:a="http://schemas.openxmlformats.org/drawingml/2006/main">
              <a:ext uri="{FF2B5EF4-FFF2-40B4-BE49-F238E27FC236}">
                <a16:creationId xmlns:a16="http://schemas.microsoft.com/office/drawing/2014/main" id="{4D3F794D-CC45-441E-B678-F15CFD1477D8}"/>
              </a:ext>
            </a:extLst>
          </p:cNvPr>
          <p:cNvSpPr>
            <a:spLocks xmlns:a="http://schemas.openxmlformats.org/drawingml/2006/main" noGrp="1"/>
          </p:cNvSpPr>
          <p:nvPr/>
        </p:nvSpPr>
        <p:spPr>
          <a:xfrm xmlns:a="http://schemas.openxmlformats.org/drawingml/2006/main">
            <a:off x="8753475" y="46291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2D8A62"/>
                </a:solidFill>
                <a:latin typeface="Arial"/>
                <a:ea typeface="Arial"/>
                <a:cs typeface="Arial"/>
              </a:defRPr>
            </a:pPr>
            <a:r>
              <a:rPr sz="1500" b="1">
                <a:solidFill>
                  <a:srgbClr val="2D8A62"/>
                </a:solidFill>
                <a:latin typeface="Arial"/>
                <a:ea typeface="Arial"/>
                <a:cs typeface="Arial"/>
              </a:rPr>
              <a:t>→</a:t>
            </a:r>
          </a:p>
        </p:txBody>
      </p:sp>
      <p:sp>
        <p:nvSpPr>
          <p:cNvPr id="48" name="box-938-475">
            <a:extLst xmlns:a="http://schemas.openxmlformats.org/drawingml/2006/main">
              <a:ext uri="{FF2B5EF4-FFF2-40B4-BE49-F238E27FC236}">
                <a16:creationId xmlns:a16="http://schemas.microsoft.com/office/drawing/2014/main" id="{FFDCD50E-6159-4565-ADEB-7163B9B2878D}"/>
              </a:ext>
            </a:extLst>
          </p:cNvPr>
          <p:cNvSpPr>
            <a:spLocks xmlns:a="http://schemas.openxmlformats.org/drawingml/2006/main" noGrp="1"/>
          </p:cNvSpPr>
          <p:nvPr/>
        </p:nvSpPr>
        <p:spPr>
          <a:xfrm xmlns:a="http://schemas.openxmlformats.org/drawingml/2006/main">
            <a:off x="8934450" y="452437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0">
                <a:solidFill>
                  <a:srgbClr val="162638"/>
                </a:solidFill>
                <a:latin typeface="Arial"/>
                <a:ea typeface="Arial"/>
                <a:cs typeface="Arial"/>
              </a:defRPr>
            </a:pPr>
            <a:r>
              <a:rPr sz="1050" b="0">
                <a:solidFill>
                  <a:srgbClr val="162638"/>
                </a:solidFill>
                <a:latin typeface="Arial"/>
                <a:ea typeface="Arial"/>
                <a:cs typeface="Arial"/>
              </a:rPr>
              <a:t>WHICH policy</a:t>
            </a:r>
          </a:p>
        </p:txBody>
      </p:sp>
      <p:sp>
        <p:nvSpPr>
          <p:cNvPr id="49" name="text-1051-486-→">
            <a:extLst xmlns:a="http://schemas.openxmlformats.org/drawingml/2006/main">
              <a:ext uri="{FF2B5EF4-FFF2-40B4-BE49-F238E27FC236}">
                <a16:creationId xmlns:a16="http://schemas.microsoft.com/office/drawing/2014/main" id="{72213743-0E66-419C-A02E-950E36B9427A}"/>
              </a:ext>
            </a:extLst>
          </p:cNvPr>
          <p:cNvSpPr>
            <a:spLocks xmlns:a="http://schemas.openxmlformats.org/drawingml/2006/main" noGrp="1"/>
          </p:cNvSpPr>
          <p:nvPr/>
        </p:nvSpPr>
        <p:spPr>
          <a:xfrm xmlns:a="http://schemas.openxmlformats.org/drawingml/2006/main">
            <a:off x="10010775" y="4629150"/>
            <a:ext cx="26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2D8A62"/>
                </a:solidFill>
                <a:latin typeface="Arial"/>
                <a:ea typeface="Arial"/>
                <a:cs typeface="Arial"/>
              </a:defRPr>
            </a:pPr>
            <a:r>
              <a:rPr sz="1500" b="1">
                <a:solidFill>
                  <a:srgbClr val="2D8A62"/>
                </a:solidFill>
                <a:latin typeface="Arial"/>
                <a:ea typeface="Arial"/>
                <a:cs typeface="Arial"/>
              </a:rPr>
              <a:t>→</a:t>
            </a:r>
          </a:p>
        </p:txBody>
      </p:sp>
      <p:sp>
        <p:nvSpPr>
          <p:cNvPr id="50" name="box-1070-475">
            <a:extLst xmlns:a="http://schemas.openxmlformats.org/drawingml/2006/main">
              <a:ext uri="{FF2B5EF4-FFF2-40B4-BE49-F238E27FC236}">
                <a16:creationId xmlns:a16="http://schemas.microsoft.com/office/drawing/2014/main" id="{65EBBE1E-8075-4BB4-B320-7AF2610FD0CF}"/>
              </a:ext>
            </a:extLst>
          </p:cNvPr>
          <p:cNvSpPr>
            <a:spLocks xmlns:a="http://schemas.openxmlformats.org/drawingml/2006/main" noGrp="1"/>
          </p:cNvSpPr>
          <p:nvPr/>
        </p:nvSpPr>
        <p:spPr>
          <a:xfrm xmlns:a="http://schemas.openxmlformats.org/drawingml/2006/main">
            <a:off x="10191750" y="4524375"/>
            <a:ext cx="10668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162638"/>
                </a:solidFill>
                <a:latin typeface="Arial"/>
                <a:ea typeface="Arial"/>
                <a:cs typeface="Arial"/>
              </a:defRPr>
            </a:pPr>
            <a:r>
              <a:rPr sz="1050" b="1">
                <a:solidFill>
                  <a:srgbClr val="162638"/>
                </a:solidFill>
                <a:latin typeface="Arial"/>
                <a:ea typeface="Arial"/>
                <a:cs typeface="Arial"/>
              </a:rPr>
              <a:t>WHAT outcome</a:t>
            </a:r>
          </a:p>
        </p:txBody>
      </p:sp>
      <p:sp>
        <p:nvSpPr>
          <p:cNvPr id="51" name="text-674-557-Audit ghi kết qu">
            <a:extLst xmlns:a="http://schemas.openxmlformats.org/drawingml/2006/main">
              <a:ext uri="{FF2B5EF4-FFF2-40B4-BE49-F238E27FC236}">
                <a16:creationId xmlns:a16="http://schemas.microsoft.com/office/drawing/2014/main" id="{29E03D84-E762-432F-9C8E-8B783445FD76}"/>
              </a:ext>
            </a:extLst>
          </p:cNvPr>
          <p:cNvSpPr>
            <a:spLocks xmlns:a="http://schemas.openxmlformats.org/drawingml/2006/main" noGrp="1"/>
          </p:cNvSpPr>
          <p:nvPr/>
        </p:nvSpPr>
        <p:spPr>
          <a:xfrm xmlns:a="http://schemas.openxmlformats.org/drawingml/2006/main">
            <a:off x="6419850" y="5305425"/>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4B6075"/>
                </a:solidFill>
                <a:latin typeface="Arial"/>
                <a:ea typeface="Arial"/>
                <a:cs typeface="Arial"/>
              </a:defRPr>
            </a:pPr>
            <a:r>
              <a:rPr sz="1125" b="0">
                <a:solidFill>
                  <a:srgbClr val="4B6075"/>
                </a:solidFill>
                <a:latin typeface="Arial"/>
                <a:ea typeface="Arial"/>
                <a:cs typeface="Arial"/>
              </a:rPr>
              <a:t>Audit ghi kết quả và bằng chứng, không thay quyết định.</a:t>
            </a:r>
          </a:p>
        </p:txBody>
      </p:sp>
      <p:sp>
        <p:nvSpPr>
          <p:cNvPr id="52" name="box-398-635">
            <a:extLst xmlns:a="http://schemas.openxmlformats.org/drawingml/2006/main">
              <a:ext uri="{FF2B5EF4-FFF2-40B4-BE49-F238E27FC236}">
                <a16:creationId xmlns:a16="http://schemas.microsoft.com/office/drawing/2014/main" id="{65C9D6CC-2031-489B-8CA3-D67EE759410B}"/>
              </a:ext>
            </a:extLst>
          </p:cNvPr>
          <p:cNvSpPr>
            <a:spLocks xmlns:a="http://schemas.openxmlformats.org/drawingml/2006/main" noGrp="1"/>
          </p:cNvSpPr>
          <p:nvPr/>
        </p:nvSpPr>
        <p:spPr>
          <a:xfrm xmlns:a="http://schemas.openxmlformats.org/drawingml/2006/main">
            <a:off x="3790950" y="6048375"/>
            <a:ext cx="4610100" cy="381000"/>
          </a:xfrm>
          <a:prstGeom xmlns:a="http://schemas.openxmlformats.org/drawingml/2006/main" prst="roundRect">
            <a:avLst>
              <a:gd name="adj" fmla="val 20000"/>
            </a:avLst>
          </a:prstGeom>
          <a:solidFill xmlns:a="http://schemas.openxmlformats.org/drawingml/2006/main">
            <a:srgbClr val="102744"/>
          </a:solidFill>
          <a:ln xmlns:a="http://schemas.openxmlformats.org/drawingml/2006/main" w="762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Happy Path chưa đủ để gọi sản phẩm là đúng</a:t>
            </a:r>
          </a:p>
        </p:txBody>
      </p:sp>
    </p:spTree>
    <p:extLst>
      <p:ext uri="{BB962C8B-B14F-4D97-AF65-F5344CB8AC3E}">
        <p14:creationId xmlns:p14="http://schemas.microsoft.com/office/powerpoint/2010/main" val="13777194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box-0-0">
            <a:extLst xmlns:a="http://schemas.openxmlformats.org/drawingml/2006/main">
              <a:ext uri="{FF2B5EF4-FFF2-40B4-BE49-F238E27FC236}">
                <a16:creationId xmlns:a16="http://schemas.microsoft.com/office/drawing/2014/main" id="{D11C1F02-C462-4447-B4FD-A3DBE9FD76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169A8"/>
          </a:solidFill>
          <a:ln xmlns:a="http://schemas.openxmlformats.org/drawingml/2006/main" w="0">
            <a:noFill/>
            <a:prstDash val="solid"/>
          </a:ln>
        </p:spPr>
      </p:sp>
      <p:sp>
        <p:nvSpPr>
          <p:cNvPr id="2" name="text-54-28-SPEC">
            <a:extLst xmlns:a="http://schemas.openxmlformats.org/drawingml/2006/main">
              <a:ext uri="{FF2B5EF4-FFF2-40B4-BE49-F238E27FC236}">
                <a16:creationId xmlns:a16="http://schemas.microsoft.com/office/drawing/2014/main" id="{38686A3B-1EEB-4897-8AA2-3FB34F45E078}"/>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Requireme">
            <a:extLst xmlns:a="http://schemas.openxmlformats.org/drawingml/2006/main">
              <a:ext uri="{FF2B5EF4-FFF2-40B4-BE49-F238E27FC236}">
                <a16:creationId xmlns:a16="http://schemas.microsoft.com/office/drawing/2014/main" id="{10E18022-D383-4A32-BAA0-5D67786FE903}"/>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Spec — Requirement chỉ hoàn chỉnh khi kiểm chứng được</a:t>
            </a:r>
          </a:p>
        </p:txBody>
      </p:sp>
      <p:sp>
        <p:nvSpPr>
          <p:cNvPr id="4" name="line-54-116">
            <a:extLst xmlns:a="http://schemas.openxmlformats.org/drawingml/2006/main">
              <a:ext uri="{FF2B5EF4-FFF2-40B4-BE49-F238E27FC236}">
                <a16:creationId xmlns:a16="http://schemas.microsoft.com/office/drawing/2014/main" id="{EFFC650B-ED8D-469E-B25E-2C824CDB1B63}"/>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4@0">
            <a:extLst xmlns:a="http://schemas.openxmlformats.org/drawingml/2006/main">
              <a:ext uri="{FF2B5EF4-FFF2-40B4-BE49-F238E27FC236}">
                <a16:creationId xmlns:a16="http://schemas.microsoft.com/office/drawing/2014/main" id="{8B2C4A0B-817D-4F4D-B5DA-8D8845454F9E}"/>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DOC-04@0.13 · VVP@0.16</a:t>
            </a:r>
          </a:p>
        </p:txBody>
      </p:sp>
      <p:sp>
        <p:nvSpPr>
          <p:cNvPr id="6" name="text-1170-680-11">
            <a:extLst xmlns:a="http://schemas.openxmlformats.org/drawingml/2006/main">
              <a:ext uri="{FF2B5EF4-FFF2-40B4-BE49-F238E27FC236}">
                <a16:creationId xmlns:a16="http://schemas.microsoft.com/office/drawing/2014/main" id="{A94CF82E-F196-4558-9B1F-B1B7D8D0C630}"/>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11</a:t>
            </a:r>
          </a:p>
        </p:txBody>
      </p:sp>
      <p:sp>
        <p:nvSpPr>
          <p:cNvPr id="7" name="diagram-meta-11">
            <a:extLst xmlns:a="http://schemas.openxmlformats.org/drawingml/2006/main">
              <a:ext uri="{FF2B5EF4-FFF2-40B4-BE49-F238E27FC236}">
                <a16:creationId xmlns:a16="http://schemas.microsoft.com/office/drawing/2014/main" id="{78498640-2F65-486A-BBA4-C738E305313A}"/>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1">
            <a:extLst xmlns:a="http://schemas.openxmlformats.org/drawingml/2006/main">
              <a:ext uri="{FF2B5EF4-FFF2-40B4-BE49-F238E27FC236}">
                <a16:creationId xmlns:a16="http://schemas.microsoft.com/office/drawing/2014/main" id="{F0FBDC87-C982-46A1-95DB-3B20C659F837}"/>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Presentation synthesis</a:t>
            </a:r>
          </a:p>
        </p:txBody>
      </p:sp>
      <p:sp>
        <p:nvSpPr>
          <p:cNvPr id="9" name="diagram-source-11">
            <a:extLst xmlns:a="http://schemas.openxmlformats.org/drawingml/2006/main">
              <a:ext uri="{FF2B5EF4-FFF2-40B4-BE49-F238E27FC236}">
                <a16:creationId xmlns:a16="http://schemas.microsoft.com/office/drawing/2014/main" id="{39D7EEED-0A95-4931-96AF-5F571434ED19}"/>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DOC-04 + VVP</a:t>
            </a:r>
          </a:p>
        </p:txBody>
      </p:sp>
      <p:sp>
        <p:nvSpPr>
          <p:cNvPr id="10" name="diagram-why-11">
            <a:extLst xmlns:a="http://schemas.openxmlformats.org/drawingml/2006/main">
              <a:ext uri="{FF2B5EF4-FFF2-40B4-BE49-F238E27FC236}">
                <a16:creationId xmlns:a16="http://schemas.microsoft.com/office/drawing/2014/main" id="{2D0DF933-BDFF-48C4-956E-BE19D46F2A1B}"/>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Nối requirement với bằng chứng</a:t>
            </a:r>
          </a:p>
        </p:txBody>
      </p:sp>
      <p:sp>
        <p:nvSpPr>
          <p:cNvPr id="11" name="box-58-160">
            <a:extLst xmlns:a="http://schemas.openxmlformats.org/drawingml/2006/main">
              <a:ext uri="{FF2B5EF4-FFF2-40B4-BE49-F238E27FC236}">
                <a16:creationId xmlns:a16="http://schemas.microsoft.com/office/drawing/2014/main" id="{EB52E038-10B7-4439-BABA-5F99733856A2}"/>
              </a:ext>
            </a:extLst>
          </p:cNvPr>
          <p:cNvSpPr>
            <a:spLocks xmlns:a="http://schemas.openxmlformats.org/drawingml/2006/main" noGrp="1"/>
          </p:cNvSpPr>
          <p:nvPr/>
        </p:nvSpPr>
        <p:spPr>
          <a:xfrm xmlns:a="http://schemas.openxmlformats.org/drawingml/2006/main">
            <a:off x="552450" y="1524000"/>
            <a:ext cx="1600200" cy="742950"/>
          </a:xfrm>
          <a:prstGeom xmlns:a="http://schemas.openxmlformats.org/drawingml/2006/main" prst="roundRect">
            <a:avLst>
              <a:gd name="adj" fmla="val 10256"/>
            </a:avLst>
          </a:prstGeom>
          <a:solidFill xmlns:a="http://schemas.openxmlformats.org/drawingml/2006/main">
            <a:srgbClr val="E8F7F9"/>
          </a:solidFill>
          <a:ln xmlns:a="http://schemas.openxmlformats.org/drawingml/2006/main" w="11430">
            <a:solidFill>
              <a:srgbClr val="2F8FC2"/>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02744"/>
                </a:solidFill>
                <a:latin typeface="Arial"/>
                <a:ea typeface="Arial"/>
                <a:cs typeface="Arial"/>
              </a:defRPr>
            </a:pPr>
            <a:r>
              <a:rPr sz="1200" b="1">
                <a:solidFill>
                  <a:srgbClr val="102744"/>
                </a:solidFill>
                <a:latin typeface="Arial"/>
                <a:ea typeface="Arial"/>
                <a:cs typeface="Arial"/>
              </a:rPr>
              <a:t>Nhu cầu / Rule</a:t>
            </a:r>
          </a:p>
        </p:txBody>
      </p:sp>
      <p:sp>
        <p:nvSpPr>
          <p:cNvPr id="12" name="text-226-177-→">
            <a:extLst xmlns:a="http://schemas.openxmlformats.org/drawingml/2006/main">
              <a:ext uri="{FF2B5EF4-FFF2-40B4-BE49-F238E27FC236}">
                <a16:creationId xmlns:a16="http://schemas.microsoft.com/office/drawing/2014/main" id="{64EE73A1-0F15-4AE4-A4A1-E3451AAD0991}"/>
              </a:ext>
            </a:extLst>
          </p:cNvPr>
          <p:cNvSpPr>
            <a:spLocks xmlns:a="http://schemas.openxmlformats.org/drawingml/2006/main" noGrp="1"/>
          </p:cNvSpPr>
          <p:nvPr/>
        </p:nvSpPr>
        <p:spPr>
          <a:xfrm xmlns:a="http://schemas.openxmlformats.org/drawingml/2006/main">
            <a:off x="2152650" y="1685925"/>
            <a:ext cx="276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13" name="box-255-160">
            <a:extLst xmlns:a="http://schemas.openxmlformats.org/drawingml/2006/main">
              <a:ext uri="{FF2B5EF4-FFF2-40B4-BE49-F238E27FC236}">
                <a16:creationId xmlns:a16="http://schemas.microsoft.com/office/drawing/2014/main" id="{092B8D6B-76C6-4B7F-A80C-53E94B24CDF5}"/>
              </a:ext>
            </a:extLst>
          </p:cNvPr>
          <p:cNvSpPr>
            <a:spLocks xmlns:a="http://schemas.openxmlformats.org/drawingml/2006/main" noGrp="1"/>
          </p:cNvSpPr>
          <p:nvPr/>
        </p:nvSpPr>
        <p:spPr>
          <a:xfrm xmlns:a="http://schemas.openxmlformats.org/drawingml/2006/main">
            <a:off x="2428875" y="1524000"/>
            <a:ext cx="1600200" cy="742950"/>
          </a:xfrm>
          <a:prstGeom xmlns:a="http://schemas.openxmlformats.org/drawingml/2006/main" prst="roundRect">
            <a:avLst>
              <a:gd name="adj" fmla="val 10256"/>
            </a:avLst>
          </a:prstGeom>
          <a:solidFill xmlns:a="http://schemas.openxmlformats.org/drawingml/2006/main">
            <a:srgbClr val="EAF3F9"/>
          </a:solidFill>
          <a:ln xmlns:a="http://schemas.openxmlformats.org/drawingml/2006/main" w="1143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02744"/>
                </a:solidFill>
                <a:latin typeface="Arial"/>
                <a:ea typeface="Arial"/>
                <a:cs typeface="Arial"/>
              </a:defRPr>
            </a:pPr>
            <a:r>
              <a:rPr sz="1200" b="1">
                <a:solidFill>
                  <a:srgbClr val="102744"/>
                </a:solidFill>
                <a:latin typeface="Arial"/>
                <a:ea typeface="Arial"/>
                <a:cs typeface="Arial"/>
              </a:rPr>
              <a:t>REQ-xxx</a:t>
            </a:r>
          </a:p>
        </p:txBody>
      </p:sp>
      <p:sp>
        <p:nvSpPr>
          <p:cNvPr id="14" name="text-423-177-→">
            <a:extLst xmlns:a="http://schemas.openxmlformats.org/drawingml/2006/main">
              <a:ext uri="{FF2B5EF4-FFF2-40B4-BE49-F238E27FC236}">
                <a16:creationId xmlns:a16="http://schemas.microsoft.com/office/drawing/2014/main" id="{EDB8D759-5678-49C2-AC05-3BCCD2195565}"/>
              </a:ext>
            </a:extLst>
          </p:cNvPr>
          <p:cNvSpPr>
            <a:spLocks xmlns:a="http://schemas.openxmlformats.org/drawingml/2006/main" noGrp="1"/>
          </p:cNvSpPr>
          <p:nvPr/>
        </p:nvSpPr>
        <p:spPr>
          <a:xfrm xmlns:a="http://schemas.openxmlformats.org/drawingml/2006/main">
            <a:off x="4029075" y="1685925"/>
            <a:ext cx="276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15" name="box-452-160">
            <a:extLst xmlns:a="http://schemas.openxmlformats.org/drawingml/2006/main">
              <a:ext uri="{FF2B5EF4-FFF2-40B4-BE49-F238E27FC236}">
                <a16:creationId xmlns:a16="http://schemas.microsoft.com/office/drawing/2014/main" id="{17A43ABA-0F22-4918-956B-778EF4F505EF}"/>
              </a:ext>
            </a:extLst>
          </p:cNvPr>
          <p:cNvSpPr>
            <a:spLocks xmlns:a="http://schemas.openxmlformats.org/drawingml/2006/main" noGrp="1"/>
          </p:cNvSpPr>
          <p:nvPr/>
        </p:nvSpPr>
        <p:spPr>
          <a:xfrm xmlns:a="http://schemas.openxmlformats.org/drawingml/2006/main">
            <a:off x="4305300" y="1524000"/>
            <a:ext cx="1600200" cy="742950"/>
          </a:xfrm>
          <a:prstGeom xmlns:a="http://schemas.openxmlformats.org/drawingml/2006/main" prst="roundRect">
            <a:avLst>
              <a:gd name="adj" fmla="val 10256"/>
            </a:avLst>
          </a:prstGeom>
          <a:solidFill xmlns:a="http://schemas.openxmlformats.org/drawingml/2006/main">
            <a:srgbClr val="EAF3F9"/>
          </a:solidFill>
          <a:ln xmlns:a="http://schemas.openxmlformats.org/drawingml/2006/main" w="1143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02744"/>
                </a:solidFill>
                <a:latin typeface="Arial"/>
                <a:ea typeface="Arial"/>
                <a:cs typeface="Arial"/>
              </a:defRPr>
            </a:pPr>
            <a:r>
              <a:rPr sz="1200" b="1">
                <a:solidFill>
                  <a:srgbClr val="102744"/>
                </a:solidFill>
                <a:latin typeface="Arial"/>
                <a:ea typeface="Arial"/>
                <a:cs typeface="Arial"/>
              </a:rPr>
              <a:t>Acceptance</a:t>
            </a:r>
          </a:p>
        </p:txBody>
      </p:sp>
      <p:sp>
        <p:nvSpPr>
          <p:cNvPr id="16" name="text-620-177-→">
            <a:extLst xmlns:a="http://schemas.openxmlformats.org/drawingml/2006/main">
              <a:ext uri="{FF2B5EF4-FFF2-40B4-BE49-F238E27FC236}">
                <a16:creationId xmlns:a16="http://schemas.microsoft.com/office/drawing/2014/main" id="{B76A038E-240B-4A3D-B91C-06F797D62FE0}"/>
              </a:ext>
            </a:extLst>
          </p:cNvPr>
          <p:cNvSpPr>
            <a:spLocks xmlns:a="http://schemas.openxmlformats.org/drawingml/2006/main" noGrp="1"/>
          </p:cNvSpPr>
          <p:nvPr/>
        </p:nvSpPr>
        <p:spPr>
          <a:xfrm xmlns:a="http://schemas.openxmlformats.org/drawingml/2006/main">
            <a:off x="5905500" y="1685925"/>
            <a:ext cx="276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17" name="box-649-160">
            <a:extLst xmlns:a="http://schemas.openxmlformats.org/drawingml/2006/main">
              <a:ext uri="{FF2B5EF4-FFF2-40B4-BE49-F238E27FC236}">
                <a16:creationId xmlns:a16="http://schemas.microsoft.com/office/drawing/2014/main" id="{CBB82745-D562-4AB5-8886-E800D92E7AB7}"/>
              </a:ext>
            </a:extLst>
          </p:cNvPr>
          <p:cNvSpPr>
            <a:spLocks xmlns:a="http://schemas.openxmlformats.org/drawingml/2006/main" noGrp="1"/>
          </p:cNvSpPr>
          <p:nvPr/>
        </p:nvSpPr>
        <p:spPr>
          <a:xfrm xmlns:a="http://schemas.openxmlformats.org/drawingml/2006/main">
            <a:off x="6181725" y="1524000"/>
            <a:ext cx="1600200" cy="742950"/>
          </a:xfrm>
          <a:prstGeom xmlns:a="http://schemas.openxmlformats.org/drawingml/2006/main" prst="roundRect">
            <a:avLst>
              <a:gd name="adj" fmla="val 10256"/>
            </a:avLst>
          </a:prstGeom>
          <a:solidFill xmlns:a="http://schemas.openxmlformats.org/drawingml/2006/main">
            <a:srgbClr val="F0EDFA"/>
          </a:solidFill>
          <a:ln xmlns:a="http://schemas.openxmlformats.org/drawingml/2006/main" w="11430">
            <a:solidFill>
              <a:srgbClr val="6C5AA8"/>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02744"/>
                </a:solidFill>
                <a:latin typeface="Arial"/>
                <a:ea typeface="Arial"/>
                <a:cs typeface="Arial"/>
              </a:defRPr>
            </a:pPr>
            <a:r>
              <a:rPr sz="1200" b="1">
                <a:solidFill>
                  <a:srgbClr val="102744"/>
                </a:solidFill>
                <a:latin typeface="Arial"/>
                <a:ea typeface="Arial"/>
                <a:cs typeface="Arial"/>
              </a:rPr>
              <a:t>Verification</a:t>
            </a:r>
          </a:p>
        </p:txBody>
      </p:sp>
      <p:sp>
        <p:nvSpPr>
          <p:cNvPr id="18" name="text-817-177-→">
            <a:extLst xmlns:a="http://schemas.openxmlformats.org/drawingml/2006/main">
              <a:ext uri="{FF2B5EF4-FFF2-40B4-BE49-F238E27FC236}">
                <a16:creationId xmlns:a16="http://schemas.microsoft.com/office/drawing/2014/main" id="{122371C0-E800-4CF5-BD30-307F2A0D089B}"/>
              </a:ext>
            </a:extLst>
          </p:cNvPr>
          <p:cNvSpPr>
            <a:spLocks xmlns:a="http://schemas.openxmlformats.org/drawingml/2006/main" noGrp="1"/>
          </p:cNvSpPr>
          <p:nvPr/>
        </p:nvSpPr>
        <p:spPr>
          <a:xfrm xmlns:a="http://schemas.openxmlformats.org/drawingml/2006/main">
            <a:off x="7781925" y="1685925"/>
            <a:ext cx="276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19" name="box-846-160">
            <a:extLst xmlns:a="http://schemas.openxmlformats.org/drawingml/2006/main">
              <a:ext uri="{FF2B5EF4-FFF2-40B4-BE49-F238E27FC236}">
                <a16:creationId xmlns:a16="http://schemas.microsoft.com/office/drawing/2014/main" id="{348C005C-9881-43A6-A246-7A78A318265F}"/>
              </a:ext>
            </a:extLst>
          </p:cNvPr>
          <p:cNvSpPr>
            <a:spLocks xmlns:a="http://schemas.openxmlformats.org/drawingml/2006/main" noGrp="1"/>
          </p:cNvSpPr>
          <p:nvPr/>
        </p:nvSpPr>
        <p:spPr>
          <a:xfrm xmlns:a="http://schemas.openxmlformats.org/drawingml/2006/main">
            <a:off x="8058150" y="1524000"/>
            <a:ext cx="1600200" cy="742950"/>
          </a:xfrm>
          <a:prstGeom xmlns:a="http://schemas.openxmlformats.org/drawingml/2006/main" prst="roundRect">
            <a:avLst>
              <a:gd name="adj" fmla="val 10256"/>
            </a:avLst>
          </a:prstGeom>
          <a:solidFill xmlns:a="http://schemas.openxmlformats.org/drawingml/2006/main">
            <a:srgbClr val="FFF4DD"/>
          </a:solidFill>
          <a:ln xmlns:a="http://schemas.openxmlformats.org/drawingml/2006/main" w="11430">
            <a:solidFill>
              <a:srgbClr val="C58A1E"/>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02744"/>
                </a:solidFill>
                <a:latin typeface="Arial"/>
                <a:ea typeface="Arial"/>
                <a:cs typeface="Arial"/>
              </a:defRPr>
            </a:pPr>
            <a:r>
              <a:rPr sz="1200" b="1">
                <a:solidFill>
                  <a:srgbClr val="102744"/>
                </a:solidFill>
                <a:latin typeface="Arial"/>
                <a:ea typeface="Arial"/>
                <a:cs typeface="Arial"/>
              </a:rPr>
              <a:t>Executed Evidence</a:t>
            </a:r>
          </a:p>
        </p:txBody>
      </p:sp>
      <p:sp>
        <p:nvSpPr>
          <p:cNvPr id="20" name="text-1014-177-→">
            <a:extLst xmlns:a="http://schemas.openxmlformats.org/drawingml/2006/main">
              <a:ext uri="{FF2B5EF4-FFF2-40B4-BE49-F238E27FC236}">
                <a16:creationId xmlns:a16="http://schemas.microsoft.com/office/drawing/2014/main" id="{E29AA4D6-F5CB-47B5-97BF-D0D0E4086837}"/>
              </a:ext>
            </a:extLst>
          </p:cNvPr>
          <p:cNvSpPr>
            <a:spLocks xmlns:a="http://schemas.openxmlformats.org/drawingml/2006/main" noGrp="1"/>
          </p:cNvSpPr>
          <p:nvPr/>
        </p:nvSpPr>
        <p:spPr>
          <a:xfrm xmlns:a="http://schemas.openxmlformats.org/drawingml/2006/main">
            <a:off x="9658350" y="1685925"/>
            <a:ext cx="276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21" name="box-1043-160">
            <a:extLst xmlns:a="http://schemas.openxmlformats.org/drawingml/2006/main">
              <a:ext uri="{FF2B5EF4-FFF2-40B4-BE49-F238E27FC236}">
                <a16:creationId xmlns:a16="http://schemas.microsoft.com/office/drawing/2014/main" id="{8C264DB2-6782-475B-89E6-C47BD711C728}"/>
              </a:ext>
            </a:extLst>
          </p:cNvPr>
          <p:cNvSpPr>
            <a:spLocks xmlns:a="http://schemas.openxmlformats.org/drawingml/2006/main" noGrp="1"/>
          </p:cNvSpPr>
          <p:nvPr/>
        </p:nvSpPr>
        <p:spPr>
          <a:xfrm xmlns:a="http://schemas.openxmlformats.org/drawingml/2006/main">
            <a:off x="9934575" y="1524000"/>
            <a:ext cx="1600200" cy="742950"/>
          </a:xfrm>
          <a:prstGeom xmlns:a="http://schemas.openxmlformats.org/drawingml/2006/main" prst="roundRect">
            <a:avLst>
              <a:gd name="adj" fmla="val 10256"/>
            </a:avLst>
          </a:prstGeom>
          <a:solidFill xmlns:a="http://schemas.openxmlformats.org/drawingml/2006/main">
            <a:srgbClr val="E7F5EE"/>
          </a:solidFill>
          <a:ln xmlns:a="http://schemas.openxmlformats.org/drawingml/2006/main" w="1143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102744"/>
                </a:solidFill>
                <a:latin typeface="Arial"/>
                <a:ea typeface="Arial"/>
                <a:cs typeface="Arial"/>
              </a:defRPr>
            </a:pPr>
            <a:r>
              <a:rPr sz="1200" b="1">
                <a:solidFill>
                  <a:srgbClr val="102744"/>
                </a:solidFill>
                <a:latin typeface="Arial"/>
                <a:ea typeface="Arial"/>
                <a:cs typeface="Arial"/>
              </a:rPr>
              <a:t>PASS / FAIL / BLOCKED</a:t>
            </a:r>
          </a:p>
        </p:txBody>
      </p:sp>
      <p:sp>
        <p:nvSpPr>
          <p:cNvPr id="22" name="box-58-286">
            <a:extLst xmlns:a="http://schemas.openxmlformats.org/drawingml/2006/main">
              <a:ext uri="{FF2B5EF4-FFF2-40B4-BE49-F238E27FC236}">
                <a16:creationId xmlns:a16="http://schemas.microsoft.com/office/drawing/2014/main" id="{DB408431-3597-44AB-820A-3C015849E1DE}"/>
              </a:ext>
            </a:extLst>
          </p:cNvPr>
          <p:cNvSpPr>
            <a:spLocks xmlns:a="http://schemas.openxmlformats.org/drawingml/2006/main" noGrp="1"/>
          </p:cNvSpPr>
          <p:nvPr/>
        </p:nvSpPr>
        <p:spPr>
          <a:xfrm xmlns:a="http://schemas.openxmlformats.org/drawingml/2006/main">
            <a:off x="552450" y="2724150"/>
            <a:ext cx="11087100" cy="2914650"/>
          </a:xfrm>
          <a:prstGeom xmlns:a="http://schemas.openxmlformats.org/drawingml/2006/main" prst="roundRect">
            <a:avLst>
              <a:gd name="adj" fmla="val 2614"/>
            </a:avLst>
          </a:prstGeom>
          <a:solidFill xmlns:a="http://schemas.openxmlformats.org/drawingml/2006/main">
            <a:srgbClr val="F4F7FA"/>
          </a:solidFill>
          <a:ln xmlns:a="http://schemas.openxmlformats.org/drawingml/2006/main" w="11430">
            <a:solidFill>
              <a:srgbClr val="CBD8E3"/>
            </a:solidFill>
            <a:prstDash val="solid"/>
          </a:ln>
        </p:spPr>
      </p:sp>
      <p:sp>
        <p:nvSpPr>
          <p:cNvPr id="23" name="box-84-310">
            <a:extLst xmlns:a="http://schemas.openxmlformats.org/drawingml/2006/main">
              <a:ext uri="{FF2B5EF4-FFF2-40B4-BE49-F238E27FC236}">
                <a16:creationId xmlns:a16="http://schemas.microsoft.com/office/drawing/2014/main" id="{71152836-FC1D-4DF1-ACAB-9E26B8A39FD6}"/>
              </a:ext>
            </a:extLst>
          </p:cNvPr>
          <p:cNvSpPr>
            <a:spLocks xmlns:a="http://schemas.openxmlformats.org/drawingml/2006/main" noGrp="1"/>
          </p:cNvSpPr>
          <p:nvPr/>
        </p:nvSpPr>
        <p:spPr>
          <a:xfrm xmlns:a="http://schemas.openxmlformats.org/drawingml/2006/main">
            <a:off x="800100" y="2952750"/>
            <a:ext cx="2819400" cy="323850"/>
          </a:xfrm>
          <a:prstGeom xmlns:a="http://schemas.openxmlformats.org/drawingml/2006/main" prst="roundRect">
            <a:avLst>
              <a:gd name="adj" fmla="val 23529"/>
            </a:avLst>
          </a:prstGeom>
          <a:solidFill xmlns:a="http://schemas.openxmlformats.org/drawingml/2006/main">
            <a:srgbClr val="102744"/>
          </a:solidFill>
          <a:ln xmlns:a="http://schemas.openxmlformats.org/drawingml/2006/main" w="762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VÍ DỤ: REPRODUCE RELEASE CŨ</a:t>
            </a:r>
          </a:p>
        </p:txBody>
      </p:sp>
      <p:sp>
        <p:nvSpPr>
          <p:cNvPr id="24" name="text-86-374-Requirement">
            <a:extLst xmlns:a="http://schemas.openxmlformats.org/drawingml/2006/main">
              <a:ext uri="{FF2B5EF4-FFF2-40B4-BE49-F238E27FC236}">
                <a16:creationId xmlns:a16="http://schemas.microsoft.com/office/drawing/2014/main" id="{2FCEFDE4-CC57-4CDD-B9B8-82D486489488}"/>
              </a:ext>
            </a:extLst>
          </p:cNvPr>
          <p:cNvSpPr>
            <a:spLocks xmlns:a="http://schemas.openxmlformats.org/drawingml/2006/main" noGrp="1"/>
          </p:cNvSpPr>
          <p:nvPr/>
        </p:nvSpPr>
        <p:spPr>
          <a:xfrm xmlns:a="http://schemas.openxmlformats.org/drawingml/2006/main">
            <a:off x="819150" y="35623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169A8"/>
                </a:solidFill>
                <a:latin typeface="Arial"/>
                <a:ea typeface="Arial"/>
                <a:cs typeface="Arial"/>
              </a:defRPr>
            </a:pPr>
            <a:r>
              <a:rPr sz="1275" b="1">
                <a:solidFill>
                  <a:srgbClr val="2169A8"/>
                </a:solidFill>
                <a:latin typeface="Arial"/>
                <a:ea typeface="Arial"/>
                <a:cs typeface="Arial"/>
              </a:rPr>
              <a:t>Requirement</a:t>
            </a:r>
          </a:p>
        </p:txBody>
      </p:sp>
      <p:sp>
        <p:nvSpPr>
          <p:cNvPr id="25" name="text-250-370-Released baselin">
            <a:extLst xmlns:a="http://schemas.openxmlformats.org/drawingml/2006/main">
              <a:ext uri="{FF2B5EF4-FFF2-40B4-BE49-F238E27FC236}">
                <a16:creationId xmlns:a16="http://schemas.microsoft.com/office/drawing/2014/main" id="{0FF1486B-97BC-4F62-AFF2-9B500A2DBA5D}"/>
              </a:ext>
            </a:extLst>
          </p:cNvPr>
          <p:cNvSpPr>
            <a:spLocks xmlns:a="http://schemas.openxmlformats.org/drawingml/2006/main" noGrp="1"/>
          </p:cNvSpPr>
          <p:nvPr/>
        </p:nvSpPr>
        <p:spPr>
          <a:xfrm xmlns:a="http://schemas.openxmlformats.org/drawingml/2006/main">
            <a:off x="2381250" y="35242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62638"/>
                </a:solidFill>
                <a:latin typeface="Arial"/>
                <a:ea typeface="Arial"/>
                <a:cs typeface="Arial"/>
              </a:defRPr>
            </a:pPr>
            <a:r>
              <a:rPr sz="1425" b="0">
                <a:solidFill>
                  <a:srgbClr val="162638"/>
                </a:solidFill>
                <a:latin typeface="Arial"/>
                <a:ea typeface="Arial"/>
                <a:cs typeface="Arial"/>
              </a:rPr>
              <a:t>Released baseline phải tái tạo chính xác.</a:t>
            </a:r>
          </a:p>
        </p:txBody>
      </p:sp>
      <p:sp>
        <p:nvSpPr>
          <p:cNvPr id="26" name="text-86-430-Acceptance">
            <a:extLst xmlns:a="http://schemas.openxmlformats.org/drawingml/2006/main">
              <a:ext uri="{FF2B5EF4-FFF2-40B4-BE49-F238E27FC236}">
                <a16:creationId xmlns:a16="http://schemas.microsoft.com/office/drawing/2014/main" id="{88743643-9A9C-4995-9AE0-7261BA41425C}"/>
              </a:ext>
            </a:extLst>
          </p:cNvPr>
          <p:cNvSpPr>
            <a:spLocks xmlns:a="http://schemas.openxmlformats.org/drawingml/2006/main" noGrp="1"/>
          </p:cNvSpPr>
          <p:nvPr/>
        </p:nvSpPr>
        <p:spPr>
          <a:xfrm xmlns:a="http://schemas.openxmlformats.org/drawingml/2006/main">
            <a:off x="819150" y="40957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169A8"/>
                </a:solidFill>
                <a:latin typeface="Arial"/>
                <a:ea typeface="Arial"/>
                <a:cs typeface="Arial"/>
              </a:defRPr>
            </a:pPr>
            <a:r>
              <a:rPr sz="1275" b="1">
                <a:solidFill>
                  <a:srgbClr val="2169A8"/>
                </a:solidFill>
                <a:latin typeface="Arial"/>
                <a:ea typeface="Arial"/>
                <a:cs typeface="Arial"/>
              </a:rPr>
              <a:t>Acceptance</a:t>
            </a:r>
          </a:p>
        </p:txBody>
      </p:sp>
      <p:sp>
        <p:nvSpPr>
          <p:cNvPr id="27" name="text-250-420-Retrieve Release">
            <a:extLst xmlns:a="http://schemas.openxmlformats.org/drawingml/2006/main">
              <a:ext uri="{FF2B5EF4-FFF2-40B4-BE49-F238E27FC236}">
                <a16:creationId xmlns:a16="http://schemas.microsoft.com/office/drawing/2014/main" id="{3AB76381-B3DC-4BBE-AE2C-31615BF1A7F6}"/>
              </a:ext>
            </a:extLst>
          </p:cNvPr>
          <p:cNvSpPr>
            <a:spLocks xmlns:a="http://schemas.openxmlformats.org/drawingml/2006/main" noGrp="1"/>
          </p:cNvSpPr>
          <p:nvPr/>
        </p:nvSpPr>
        <p:spPr>
          <a:xfrm xmlns:a="http://schemas.openxmlformats.org/drawingml/2006/main">
            <a:off x="2381250" y="4000500"/>
            <a:ext cx="819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62638"/>
                </a:solidFill>
                <a:latin typeface="Arial"/>
                <a:ea typeface="Arial"/>
                <a:cs typeface="Arial"/>
              </a:defRPr>
            </a:pPr>
            <a:r>
              <a:rPr sz="1350" b="0">
                <a:solidFill>
                  <a:srgbClr val="162638"/>
                </a:solidFill>
                <a:latin typeface="Arial"/>
                <a:ea typeface="Arial"/>
                <a:cs typeface="Arial"/>
              </a:rPr>
              <a:t>Retrieve Release Record cũ trả đúng Generation, Structure Snapshot và Artifact pins.</a:t>
            </a:r>
          </a:p>
        </p:txBody>
      </p:sp>
      <p:sp>
        <p:nvSpPr>
          <p:cNvPr id="28" name="text-86-496-Verification">
            <a:extLst xmlns:a="http://schemas.openxmlformats.org/drawingml/2006/main">
              <a:ext uri="{FF2B5EF4-FFF2-40B4-BE49-F238E27FC236}">
                <a16:creationId xmlns:a16="http://schemas.microsoft.com/office/drawing/2014/main" id="{5AAE0A96-165E-46BF-831F-F737190741BA}"/>
              </a:ext>
            </a:extLst>
          </p:cNvPr>
          <p:cNvSpPr>
            <a:spLocks xmlns:a="http://schemas.openxmlformats.org/drawingml/2006/main" noGrp="1"/>
          </p:cNvSpPr>
          <p:nvPr/>
        </p:nvSpPr>
        <p:spPr>
          <a:xfrm xmlns:a="http://schemas.openxmlformats.org/drawingml/2006/main">
            <a:off x="819150"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6C5AA8"/>
                </a:solidFill>
                <a:latin typeface="Arial"/>
                <a:ea typeface="Arial"/>
                <a:cs typeface="Arial"/>
              </a:defRPr>
            </a:pPr>
            <a:r>
              <a:rPr sz="1275" b="1">
                <a:solidFill>
                  <a:srgbClr val="6C5AA8"/>
                </a:solidFill>
                <a:latin typeface="Arial"/>
                <a:ea typeface="Arial"/>
                <a:cs typeface="Arial"/>
              </a:rPr>
              <a:t>Verification</a:t>
            </a:r>
          </a:p>
        </p:txBody>
      </p:sp>
      <p:sp>
        <p:nvSpPr>
          <p:cNvPr id="29" name="box-250-486">
            <a:extLst xmlns:a="http://schemas.openxmlformats.org/drawingml/2006/main">
              <a:ext uri="{FF2B5EF4-FFF2-40B4-BE49-F238E27FC236}">
                <a16:creationId xmlns:a16="http://schemas.microsoft.com/office/drawing/2014/main" id="{9759BDDC-E78F-401A-AC8A-BFB8295B16B6}"/>
              </a:ext>
            </a:extLst>
          </p:cNvPr>
          <p:cNvSpPr>
            <a:spLocks xmlns:a="http://schemas.openxmlformats.org/drawingml/2006/main" noGrp="1"/>
          </p:cNvSpPr>
          <p:nvPr/>
        </p:nvSpPr>
        <p:spPr>
          <a:xfrm xmlns:a="http://schemas.openxmlformats.org/drawingml/2006/main">
            <a:off x="2381250" y="4629150"/>
            <a:ext cx="19240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1. Tạo release</a:t>
            </a:r>
          </a:p>
        </p:txBody>
      </p:sp>
      <p:sp>
        <p:nvSpPr>
          <p:cNvPr id="30" name="text-452-500-→">
            <a:extLst xmlns:a="http://schemas.openxmlformats.org/drawingml/2006/main">
              <a:ext uri="{FF2B5EF4-FFF2-40B4-BE49-F238E27FC236}">
                <a16:creationId xmlns:a16="http://schemas.microsoft.com/office/drawing/2014/main" id="{5D5549D5-35E1-454F-AEB1-DBD895A4A9D3}"/>
              </a:ext>
            </a:extLst>
          </p:cNvPr>
          <p:cNvSpPr>
            <a:spLocks xmlns:a="http://schemas.openxmlformats.org/drawingml/2006/main" noGrp="1"/>
          </p:cNvSpPr>
          <p:nvPr/>
        </p:nvSpPr>
        <p:spPr>
          <a:xfrm xmlns:a="http://schemas.openxmlformats.org/drawingml/2006/main">
            <a:off x="4305300" y="4762500"/>
            <a:ext cx="20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31" name="box-474-486">
            <a:extLst xmlns:a="http://schemas.openxmlformats.org/drawingml/2006/main">
              <a:ext uri="{FF2B5EF4-FFF2-40B4-BE49-F238E27FC236}">
                <a16:creationId xmlns:a16="http://schemas.microsoft.com/office/drawing/2014/main" id="{8AA986ED-6710-4D7E-81C4-75AEC5A277F2}"/>
              </a:ext>
            </a:extLst>
          </p:cNvPr>
          <p:cNvSpPr>
            <a:spLocks xmlns:a="http://schemas.openxmlformats.org/drawingml/2006/main" noGrp="1"/>
          </p:cNvSpPr>
          <p:nvPr/>
        </p:nvSpPr>
        <p:spPr>
          <a:xfrm xmlns:a="http://schemas.openxmlformats.org/drawingml/2006/main">
            <a:off x="4514850" y="4629150"/>
            <a:ext cx="19240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2. Tạo Generation mới</a:t>
            </a:r>
          </a:p>
        </p:txBody>
      </p:sp>
      <p:sp>
        <p:nvSpPr>
          <p:cNvPr id="32" name="text-676-500-→">
            <a:extLst xmlns:a="http://schemas.openxmlformats.org/drawingml/2006/main">
              <a:ext uri="{FF2B5EF4-FFF2-40B4-BE49-F238E27FC236}">
                <a16:creationId xmlns:a16="http://schemas.microsoft.com/office/drawing/2014/main" id="{0ECA6CE8-17FD-4C3D-8A36-FE1EBE276DCA}"/>
              </a:ext>
            </a:extLst>
          </p:cNvPr>
          <p:cNvSpPr>
            <a:spLocks xmlns:a="http://schemas.openxmlformats.org/drawingml/2006/main" noGrp="1"/>
          </p:cNvSpPr>
          <p:nvPr/>
        </p:nvSpPr>
        <p:spPr>
          <a:xfrm xmlns:a="http://schemas.openxmlformats.org/drawingml/2006/main">
            <a:off x="6438900" y="4762500"/>
            <a:ext cx="20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33" name="box-698-486">
            <a:extLst xmlns:a="http://schemas.openxmlformats.org/drawingml/2006/main">
              <a:ext uri="{FF2B5EF4-FFF2-40B4-BE49-F238E27FC236}">
                <a16:creationId xmlns:a16="http://schemas.microsoft.com/office/drawing/2014/main" id="{C180561D-7387-4E6D-9878-BF9DBC45EF75}"/>
              </a:ext>
            </a:extLst>
          </p:cNvPr>
          <p:cNvSpPr>
            <a:spLocks xmlns:a="http://schemas.openxmlformats.org/drawingml/2006/main" noGrp="1"/>
          </p:cNvSpPr>
          <p:nvPr/>
        </p:nvSpPr>
        <p:spPr>
          <a:xfrm xmlns:a="http://schemas.openxmlformats.org/drawingml/2006/main">
            <a:off x="6648450" y="4629150"/>
            <a:ext cx="19240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3. Retrieve release cũ</a:t>
            </a:r>
          </a:p>
        </p:txBody>
      </p:sp>
      <p:sp>
        <p:nvSpPr>
          <p:cNvPr id="34" name="text-900-500-→">
            <a:extLst xmlns:a="http://schemas.openxmlformats.org/drawingml/2006/main">
              <a:ext uri="{FF2B5EF4-FFF2-40B4-BE49-F238E27FC236}">
                <a16:creationId xmlns:a16="http://schemas.microsoft.com/office/drawing/2014/main" id="{0C5010D5-6F5D-4C63-B4C9-25B1490C3F15}"/>
              </a:ext>
            </a:extLst>
          </p:cNvPr>
          <p:cNvSpPr>
            <a:spLocks xmlns:a="http://schemas.openxmlformats.org/drawingml/2006/main" noGrp="1"/>
          </p:cNvSpPr>
          <p:nvPr/>
        </p:nvSpPr>
        <p:spPr>
          <a:xfrm xmlns:a="http://schemas.openxmlformats.org/drawingml/2006/main">
            <a:off x="8572500" y="4762500"/>
            <a:ext cx="20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35" name="box-922-486">
            <a:extLst xmlns:a="http://schemas.openxmlformats.org/drawingml/2006/main">
              <a:ext uri="{FF2B5EF4-FFF2-40B4-BE49-F238E27FC236}">
                <a16:creationId xmlns:a16="http://schemas.microsoft.com/office/drawing/2014/main" id="{27339CA1-D837-4F11-A2C0-4D42084EEE13}"/>
              </a:ext>
            </a:extLst>
          </p:cNvPr>
          <p:cNvSpPr>
            <a:spLocks xmlns:a="http://schemas.openxmlformats.org/drawingml/2006/main" noGrp="1"/>
          </p:cNvSpPr>
          <p:nvPr/>
        </p:nvSpPr>
        <p:spPr>
          <a:xfrm xmlns:a="http://schemas.openxmlformats.org/drawingml/2006/main">
            <a:off x="8782050" y="4629150"/>
            <a:ext cx="19240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4. So manifest + identity + hash</a:t>
            </a:r>
          </a:p>
        </p:txBody>
      </p:sp>
      <p:sp>
        <p:nvSpPr>
          <p:cNvPr id="36" name="text-122-620-Spec tạo điều ki">
            <a:extLst xmlns:a="http://schemas.openxmlformats.org/drawingml/2006/main">
              <a:ext uri="{FF2B5EF4-FFF2-40B4-BE49-F238E27FC236}">
                <a16:creationId xmlns:a16="http://schemas.microsoft.com/office/drawing/2014/main" id="{10CFF6E1-5E3D-4E50-91E7-35179010FFB0}"/>
              </a:ext>
            </a:extLst>
          </p:cNvPr>
          <p:cNvSpPr>
            <a:spLocks xmlns:a="http://schemas.openxmlformats.org/drawingml/2006/main" noGrp="1"/>
          </p:cNvSpPr>
          <p:nvPr/>
        </p:nvSpPr>
        <p:spPr>
          <a:xfrm xmlns:a="http://schemas.openxmlformats.org/drawingml/2006/main">
            <a:off x="1162050" y="5905500"/>
            <a:ext cx="9867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Spec tạo điều kiện để chứng minh implementation đúng hay sai, không chỉ mô tả mong muốn.</a:t>
            </a:r>
          </a:p>
        </p:txBody>
      </p:sp>
    </p:spTree>
    <p:extLst>
      <p:ext uri="{BB962C8B-B14F-4D97-AF65-F5344CB8AC3E}">
        <p14:creationId xmlns:p14="http://schemas.microsoft.com/office/powerpoint/2010/main" val="11675291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box-0-0">
            <a:extLst xmlns:a="http://schemas.openxmlformats.org/drawingml/2006/main">
              <a:ext uri="{FF2B5EF4-FFF2-40B4-BE49-F238E27FC236}">
                <a16:creationId xmlns:a16="http://schemas.microsoft.com/office/drawing/2014/main" id="{2001BB07-CBB2-4587-B7C1-DAFF721C288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C5AA8"/>
          </a:solidFill>
          <a:ln xmlns:a="http://schemas.openxmlformats.org/drawingml/2006/main" w="0">
            <a:noFill/>
            <a:prstDash val="solid"/>
          </a:ln>
        </p:spPr>
      </p:sp>
      <p:sp>
        <p:nvSpPr>
          <p:cNvPr id="2" name="text-54-28-TECH">
            <a:extLst xmlns:a="http://schemas.openxmlformats.org/drawingml/2006/main">
              <a:ext uri="{FF2B5EF4-FFF2-40B4-BE49-F238E27FC236}">
                <a16:creationId xmlns:a16="http://schemas.microsoft.com/office/drawing/2014/main" id="{773BB738-365A-4655-BC27-96034E494B55}"/>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6C5AA8"/>
                </a:solidFill>
                <a:latin typeface="Arial"/>
                <a:ea typeface="Arial"/>
                <a:cs typeface="Arial"/>
              </a:defRPr>
            </a:pPr>
            <a:r>
              <a:rPr sz="1050" b="1">
                <a:solidFill>
                  <a:srgbClr val="6C5AA8"/>
                </a:solidFill>
                <a:latin typeface="Arial"/>
                <a:ea typeface="Arial"/>
                <a:cs typeface="Arial"/>
              </a:rPr>
              <a:t>TECH</a:t>
            </a:r>
          </a:p>
        </p:txBody>
      </p:sp>
      <p:sp>
        <p:nvSpPr>
          <p:cNvPr id="3" name="text-54-56-Tech — Engineeri">
            <a:extLst xmlns:a="http://schemas.openxmlformats.org/drawingml/2006/main">
              <a:ext uri="{FF2B5EF4-FFF2-40B4-BE49-F238E27FC236}">
                <a16:creationId xmlns:a16="http://schemas.microsoft.com/office/drawing/2014/main" id="{62419425-36D4-4D55-8C67-EDADDA2B2493}"/>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Tech — Engineering hiện thực Spec bằng kiến trúc nào?</a:t>
            </a:r>
          </a:p>
        </p:txBody>
      </p:sp>
      <p:sp>
        <p:nvSpPr>
          <p:cNvPr id="4" name="line-54-116">
            <a:extLst xmlns:a="http://schemas.openxmlformats.org/drawingml/2006/main">
              <a:ext uri="{FF2B5EF4-FFF2-40B4-BE49-F238E27FC236}">
                <a16:creationId xmlns:a16="http://schemas.microsoft.com/office/drawing/2014/main" id="{CCC58FE0-82F2-4395-89E9-C2EB0ABF8971}"/>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5@0">
            <a:extLst xmlns:a="http://schemas.openxmlformats.org/drawingml/2006/main">
              <a:ext uri="{FF2B5EF4-FFF2-40B4-BE49-F238E27FC236}">
                <a16:creationId xmlns:a16="http://schemas.microsoft.com/office/drawing/2014/main" id="{B1DA4B33-9BD5-42C8-9C1A-0F2F5DA3A159}"/>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DOC-05@0.20 · TECH-001@0.14 · TECH-VIEWS@0.2</a:t>
            </a:r>
          </a:p>
        </p:txBody>
      </p:sp>
      <p:sp>
        <p:nvSpPr>
          <p:cNvPr id="6" name="text-1170-680-12">
            <a:extLst xmlns:a="http://schemas.openxmlformats.org/drawingml/2006/main">
              <a:ext uri="{FF2B5EF4-FFF2-40B4-BE49-F238E27FC236}">
                <a16:creationId xmlns:a16="http://schemas.microsoft.com/office/drawing/2014/main" id="{2DA024E6-9A8B-444A-98FA-A2E56649EEBC}"/>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12</a:t>
            </a:r>
          </a:p>
        </p:txBody>
      </p:sp>
      <p:sp>
        <p:nvSpPr>
          <p:cNvPr id="7" name="diagram-meta-12">
            <a:extLst xmlns:a="http://schemas.openxmlformats.org/drawingml/2006/main">
              <a:ext uri="{FF2B5EF4-FFF2-40B4-BE49-F238E27FC236}">
                <a16:creationId xmlns:a16="http://schemas.microsoft.com/office/drawing/2014/main" id="{7F7021D9-BA3A-4C99-A1EB-B5E75C3A9D00}"/>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2">
            <a:extLst xmlns:a="http://schemas.openxmlformats.org/drawingml/2006/main">
              <a:ext uri="{FF2B5EF4-FFF2-40B4-BE49-F238E27FC236}">
                <a16:creationId xmlns:a16="http://schemas.microsoft.com/office/drawing/2014/main" id="{EC96C518-1BD5-4693-B77D-F762006A7623}"/>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Management simplification</a:t>
            </a:r>
          </a:p>
        </p:txBody>
      </p:sp>
      <p:sp>
        <p:nvSpPr>
          <p:cNvPr id="9" name="diagram-source-12">
            <a:extLst xmlns:a="http://schemas.openxmlformats.org/drawingml/2006/main">
              <a:ext uri="{FF2B5EF4-FFF2-40B4-BE49-F238E27FC236}">
                <a16:creationId xmlns:a16="http://schemas.microsoft.com/office/drawing/2014/main" id="{6F8030F5-4A2E-4105-B6A8-994CA8B68FCA}"/>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TECH-D01 + TECH-D05</a:t>
            </a:r>
          </a:p>
        </p:txBody>
      </p:sp>
      <p:sp>
        <p:nvSpPr>
          <p:cNvPr id="10" name="diagram-why-12">
            <a:extLst xmlns:a="http://schemas.openxmlformats.org/drawingml/2006/main">
              <a:ext uri="{FF2B5EF4-FFF2-40B4-BE49-F238E27FC236}">
                <a16:creationId xmlns:a16="http://schemas.microsoft.com/office/drawing/2014/main" id="{8E0E3834-567F-4085-BD07-EE6D780A100F}"/>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Tóm tắt các khối triển khai</a:t>
            </a:r>
          </a:p>
        </p:txBody>
      </p:sp>
      <p:sp>
        <p:nvSpPr>
          <p:cNvPr id="11" name="source-link-12-TECH-D01">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5179808D-AA96-4C32-93E1-0C0949756304}"/>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TECH-D01 — Technology Stack</a:t>
            </a:r>
          </a:p>
        </p:txBody>
      </p:sp>
      <p:sp>
        <p:nvSpPr>
          <p:cNvPr id="12" name="box-58-150">
            <a:extLst xmlns:a="http://schemas.openxmlformats.org/drawingml/2006/main">
              <a:ext uri="{FF2B5EF4-FFF2-40B4-BE49-F238E27FC236}">
                <a16:creationId xmlns:a16="http://schemas.microsoft.com/office/drawing/2014/main" id="{CFAA8E67-8DEE-4066-9665-45031A8AB438}"/>
              </a:ext>
            </a:extLst>
          </p:cNvPr>
          <p:cNvSpPr>
            <a:spLocks xmlns:a="http://schemas.openxmlformats.org/drawingml/2006/main" noGrp="1"/>
          </p:cNvSpPr>
          <p:nvPr/>
        </p:nvSpPr>
        <p:spPr>
          <a:xfrm xmlns:a="http://schemas.openxmlformats.org/drawingml/2006/main">
            <a:off x="552450" y="1428750"/>
            <a:ext cx="3524250" cy="4476750"/>
          </a:xfrm>
          <a:prstGeom xmlns:a="http://schemas.openxmlformats.org/drawingml/2006/main" prst="roundRect">
            <a:avLst>
              <a:gd name="adj" fmla="val 2162"/>
            </a:avLst>
          </a:prstGeom>
          <a:solidFill xmlns:a="http://schemas.openxmlformats.org/drawingml/2006/main">
            <a:srgbClr val="EAF3F9"/>
          </a:solidFill>
          <a:ln xmlns:a="http://schemas.openxmlformats.org/drawingml/2006/main" w="14288">
            <a:solidFill>
              <a:srgbClr val="2169A8"/>
            </a:solidFill>
            <a:prstDash val="solid"/>
          </a:ln>
        </p:spPr>
      </p:sp>
      <p:sp>
        <p:nvSpPr>
          <p:cNvPr id="13" name="box-94-170">
            <a:extLst xmlns:a="http://schemas.openxmlformats.org/drawingml/2006/main">
              <a:ext uri="{FF2B5EF4-FFF2-40B4-BE49-F238E27FC236}">
                <a16:creationId xmlns:a16="http://schemas.microsoft.com/office/drawing/2014/main" id="{4328038E-30DD-4A65-93F0-FB3ABFB1C719}"/>
              </a:ext>
            </a:extLst>
          </p:cNvPr>
          <p:cNvSpPr>
            <a:spLocks xmlns:a="http://schemas.openxmlformats.org/drawingml/2006/main" noGrp="1"/>
          </p:cNvSpPr>
          <p:nvPr/>
        </p:nvSpPr>
        <p:spPr>
          <a:xfrm xmlns:a="http://schemas.openxmlformats.org/drawingml/2006/main">
            <a:off x="895350" y="1619250"/>
            <a:ext cx="2838450" cy="323850"/>
          </a:xfrm>
          <a:prstGeom xmlns:a="http://schemas.openxmlformats.org/drawingml/2006/main" prst="roundRect">
            <a:avLst>
              <a:gd name="adj" fmla="val 23529"/>
            </a:avLst>
          </a:prstGeom>
          <a:solidFill xmlns:a="http://schemas.openxmlformats.org/drawingml/2006/main">
            <a:srgbClr val="2169A8"/>
          </a:solidFill>
          <a:ln xmlns:a="http://schemas.openxmlformats.org/drawingml/2006/main" w="762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WINDOWS ENGINEERING PC</a:t>
            </a:r>
          </a:p>
        </p:txBody>
      </p:sp>
      <p:sp>
        <p:nvSpPr>
          <p:cNvPr id="14" name="box-92-232">
            <a:extLst xmlns:a="http://schemas.openxmlformats.org/drawingml/2006/main">
              <a:ext uri="{FF2B5EF4-FFF2-40B4-BE49-F238E27FC236}">
                <a16:creationId xmlns:a16="http://schemas.microsoft.com/office/drawing/2014/main" id="{2A8CE42D-CD6B-4868-B62E-6564FE2895BF}"/>
              </a:ext>
            </a:extLst>
          </p:cNvPr>
          <p:cNvSpPr>
            <a:spLocks xmlns:a="http://schemas.openxmlformats.org/drawingml/2006/main" noGrp="1"/>
          </p:cNvSpPr>
          <p:nvPr/>
        </p:nvSpPr>
        <p:spPr>
          <a:xfrm xmlns:a="http://schemas.openxmlformats.org/drawingml/2006/main">
            <a:off x="876300" y="2209800"/>
            <a:ext cx="2876550" cy="609600"/>
          </a:xfrm>
          <a:prstGeom xmlns:a="http://schemas.openxmlformats.org/drawingml/2006/main" prst="roundRect">
            <a:avLst>
              <a:gd name="adj" fmla="val 12500"/>
            </a:avLst>
          </a:prstGeom>
          <a:solidFill xmlns:a="http://schemas.openxmlformats.org/drawingml/2006/main">
            <a:srgbClr val="F9FCFE"/>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350" b="1">
                <a:solidFill>
                  <a:srgbClr val="102744"/>
                </a:solidFill>
                <a:latin typeface="Arial"/>
                <a:ea typeface="Arial"/>
                <a:cs typeface="Arial"/>
              </a:defRPr>
            </a:pPr>
            <a:r>
              <a:rPr sz="1350" b="1">
                <a:solidFill>
                  <a:srgbClr val="102744"/>
                </a:solidFill>
                <a:latin typeface="Arial"/>
                <a:ea typeface="Arial"/>
                <a:cs typeface="Arial"/>
              </a:rPr>
              <a:t>React business UI</a:t>
            </a:r>
          </a:p>
        </p:txBody>
      </p:sp>
      <p:sp>
        <p:nvSpPr>
          <p:cNvPr id="15" name="text-104-268-Dùng chung cho B">
            <a:extLst xmlns:a="http://schemas.openxmlformats.org/drawingml/2006/main">
              <a:ext uri="{FF2B5EF4-FFF2-40B4-BE49-F238E27FC236}">
                <a16:creationId xmlns:a16="http://schemas.microsoft.com/office/drawing/2014/main" id="{75488C0B-3D1D-4A11-AF28-4656B18BB6B0}"/>
              </a:ext>
            </a:extLst>
          </p:cNvPr>
          <p:cNvSpPr>
            <a:spLocks xmlns:a="http://schemas.openxmlformats.org/drawingml/2006/main" noGrp="1"/>
          </p:cNvSpPr>
          <p:nvPr/>
        </p:nvSpPr>
        <p:spPr>
          <a:xfrm xmlns:a="http://schemas.openxmlformats.org/drawingml/2006/main">
            <a:off x="990600" y="2552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00" b="0">
                <a:solidFill>
                  <a:srgbClr val="4B6075"/>
                </a:solidFill>
                <a:latin typeface="Arial"/>
                <a:ea typeface="Arial"/>
                <a:cs typeface="Arial"/>
              </a:defRPr>
            </a:pPr>
            <a:r>
              <a:rPr sz="900" b="0">
                <a:solidFill>
                  <a:srgbClr val="4B6075"/>
                </a:solidFill>
                <a:latin typeface="Arial"/>
                <a:ea typeface="Arial"/>
                <a:cs typeface="Arial"/>
              </a:rPr>
              <a:t>Dùng chung cho Browser và Desktop</a:t>
            </a:r>
          </a:p>
        </p:txBody>
      </p:sp>
      <p:sp>
        <p:nvSpPr>
          <p:cNvPr id="16" name="text-220-296-↓">
            <a:extLst xmlns:a="http://schemas.openxmlformats.org/drawingml/2006/main">
              <a:ext uri="{FF2B5EF4-FFF2-40B4-BE49-F238E27FC236}">
                <a16:creationId xmlns:a16="http://schemas.microsoft.com/office/drawing/2014/main" id="{CD170718-4EE8-4B0C-BEE5-D096570F63BE}"/>
              </a:ext>
            </a:extLst>
          </p:cNvPr>
          <p:cNvSpPr>
            <a:spLocks xmlns:a="http://schemas.openxmlformats.org/drawingml/2006/main" noGrp="1"/>
          </p:cNvSpPr>
          <p:nvPr/>
        </p:nvSpPr>
        <p:spPr>
          <a:xfrm xmlns:a="http://schemas.openxmlformats.org/drawingml/2006/main">
            <a:off x="2095500" y="28194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17" name="box-92-318">
            <a:extLst xmlns:a="http://schemas.openxmlformats.org/drawingml/2006/main">
              <a:ext uri="{FF2B5EF4-FFF2-40B4-BE49-F238E27FC236}">
                <a16:creationId xmlns:a16="http://schemas.microsoft.com/office/drawing/2014/main" id="{46CF6947-F6C2-40CE-AC4B-F051C6ABDE12}"/>
              </a:ext>
            </a:extLst>
          </p:cNvPr>
          <p:cNvSpPr>
            <a:spLocks xmlns:a="http://schemas.openxmlformats.org/drawingml/2006/main" noGrp="1"/>
          </p:cNvSpPr>
          <p:nvPr/>
        </p:nvSpPr>
        <p:spPr>
          <a:xfrm xmlns:a="http://schemas.openxmlformats.org/drawingml/2006/main">
            <a:off x="876300" y="3028950"/>
            <a:ext cx="2876550" cy="609600"/>
          </a:xfrm>
          <a:prstGeom xmlns:a="http://schemas.openxmlformats.org/drawingml/2006/main" prst="roundRect">
            <a:avLst>
              <a:gd name="adj" fmla="val 12500"/>
            </a:avLst>
          </a:prstGeom>
          <a:solidFill xmlns:a="http://schemas.openxmlformats.org/drawingml/2006/main">
            <a:srgbClr val="F9FCFE"/>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350" b="1">
                <a:solidFill>
                  <a:srgbClr val="102744"/>
                </a:solidFill>
                <a:latin typeface="Arial"/>
                <a:ea typeface="Arial"/>
                <a:cs typeface="Arial"/>
              </a:defRPr>
            </a:pPr>
            <a:r>
              <a:rPr sz="1350" b="1">
                <a:solidFill>
                  <a:srgbClr val="102744"/>
                </a:solidFill>
                <a:latin typeface="Arial"/>
                <a:ea typeface="Arial"/>
                <a:cs typeface="Arial"/>
              </a:rPr>
              <a:t>WPF / WebView2</a:t>
            </a:r>
          </a:p>
        </p:txBody>
      </p:sp>
      <p:sp>
        <p:nvSpPr>
          <p:cNvPr id="18" name="text-104-354-Desktop shell hẹ">
            <a:extLst xmlns:a="http://schemas.openxmlformats.org/drawingml/2006/main">
              <a:ext uri="{FF2B5EF4-FFF2-40B4-BE49-F238E27FC236}">
                <a16:creationId xmlns:a16="http://schemas.microsoft.com/office/drawing/2014/main" id="{B28F7BBA-0B22-4CFE-8F16-F4E5A6BC2982}"/>
              </a:ext>
            </a:extLst>
          </p:cNvPr>
          <p:cNvSpPr>
            <a:spLocks xmlns:a="http://schemas.openxmlformats.org/drawingml/2006/main" noGrp="1"/>
          </p:cNvSpPr>
          <p:nvPr/>
        </p:nvSpPr>
        <p:spPr>
          <a:xfrm xmlns:a="http://schemas.openxmlformats.org/drawingml/2006/main">
            <a:off x="990600" y="337185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00" b="0">
                <a:solidFill>
                  <a:srgbClr val="4B6075"/>
                </a:solidFill>
                <a:latin typeface="Arial"/>
                <a:ea typeface="Arial"/>
                <a:cs typeface="Arial"/>
              </a:defRPr>
            </a:pPr>
            <a:r>
              <a:rPr sz="900" b="0">
                <a:solidFill>
                  <a:srgbClr val="4B6075"/>
                </a:solidFill>
                <a:latin typeface="Arial"/>
                <a:ea typeface="Arial"/>
                <a:cs typeface="Arial"/>
              </a:rPr>
              <a:t>Desktop shell hẹp</a:t>
            </a:r>
          </a:p>
        </p:txBody>
      </p:sp>
      <p:sp>
        <p:nvSpPr>
          <p:cNvPr id="19" name="text-220-382-↓">
            <a:extLst xmlns:a="http://schemas.openxmlformats.org/drawingml/2006/main">
              <a:ext uri="{FF2B5EF4-FFF2-40B4-BE49-F238E27FC236}">
                <a16:creationId xmlns:a16="http://schemas.microsoft.com/office/drawing/2014/main" id="{9B1484F0-8EB4-4AB4-A9AF-56090BFFF4C1}"/>
              </a:ext>
            </a:extLst>
          </p:cNvPr>
          <p:cNvSpPr>
            <a:spLocks xmlns:a="http://schemas.openxmlformats.org/drawingml/2006/main" noGrp="1"/>
          </p:cNvSpPr>
          <p:nvPr/>
        </p:nvSpPr>
        <p:spPr>
          <a:xfrm xmlns:a="http://schemas.openxmlformats.org/drawingml/2006/main">
            <a:off x="2095500" y="3638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20" name="box-92-404">
            <a:extLst xmlns:a="http://schemas.openxmlformats.org/drawingml/2006/main">
              <a:ext uri="{FF2B5EF4-FFF2-40B4-BE49-F238E27FC236}">
                <a16:creationId xmlns:a16="http://schemas.microsoft.com/office/drawing/2014/main" id="{ECA49F39-B42B-4FDD-9C48-F946E27D7503}"/>
              </a:ext>
            </a:extLst>
          </p:cNvPr>
          <p:cNvSpPr>
            <a:spLocks xmlns:a="http://schemas.openxmlformats.org/drawingml/2006/main" noGrp="1"/>
          </p:cNvSpPr>
          <p:nvPr/>
        </p:nvSpPr>
        <p:spPr>
          <a:xfrm xmlns:a="http://schemas.openxmlformats.org/drawingml/2006/main">
            <a:off x="876300" y="3848100"/>
            <a:ext cx="2876550" cy="609600"/>
          </a:xfrm>
          <a:prstGeom xmlns:a="http://schemas.openxmlformats.org/drawingml/2006/main" prst="roundRect">
            <a:avLst>
              <a:gd name="adj" fmla="val 12500"/>
            </a:avLst>
          </a:prstGeom>
          <a:solidFill xmlns:a="http://schemas.openxmlformats.org/drawingml/2006/main">
            <a:srgbClr val="F9FCFE"/>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350" b="1">
                <a:solidFill>
                  <a:srgbClr val="102744"/>
                </a:solidFill>
                <a:latin typeface="Arial"/>
                <a:ea typeface="Arial"/>
                <a:cs typeface="Arial"/>
              </a:defRPr>
            </a:pPr>
            <a:r>
              <a:rPr sz="1350" b="1">
                <a:solidFill>
                  <a:srgbClr val="102744"/>
                </a:solidFill>
                <a:latin typeface="Arial"/>
                <a:ea typeface="Arial"/>
                <a:cs typeface="Arial"/>
              </a:rPr>
              <a:t>.NET 10 Workspace</a:t>
            </a:r>
          </a:p>
        </p:txBody>
      </p:sp>
      <p:sp>
        <p:nvSpPr>
          <p:cNvPr id="21" name="text-104-440-Local files, jou">
            <a:extLst xmlns:a="http://schemas.openxmlformats.org/drawingml/2006/main">
              <a:ext uri="{FF2B5EF4-FFF2-40B4-BE49-F238E27FC236}">
                <a16:creationId xmlns:a16="http://schemas.microsoft.com/office/drawing/2014/main" id="{C5506CBF-4A68-4218-8468-C3855E3D496E}"/>
              </a:ext>
            </a:extLst>
          </p:cNvPr>
          <p:cNvSpPr>
            <a:spLocks xmlns:a="http://schemas.openxmlformats.org/drawingml/2006/main" noGrp="1"/>
          </p:cNvSpPr>
          <p:nvPr/>
        </p:nvSpPr>
        <p:spPr>
          <a:xfrm xmlns:a="http://schemas.openxmlformats.org/drawingml/2006/main">
            <a:off x="990600" y="41910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00" b="0">
                <a:solidFill>
                  <a:srgbClr val="4B6075"/>
                </a:solidFill>
                <a:latin typeface="Arial"/>
                <a:ea typeface="Arial"/>
                <a:cs typeface="Arial"/>
              </a:defRPr>
            </a:pPr>
            <a:r>
              <a:rPr sz="900" b="0">
                <a:solidFill>
                  <a:srgbClr val="4B6075"/>
                </a:solidFill>
                <a:latin typeface="Arial"/>
                <a:ea typeface="Arial"/>
                <a:cs typeface="Arial"/>
              </a:rPr>
              <a:t>Local files, journal, resume, CAD/Office</a:t>
            </a:r>
          </a:p>
        </p:txBody>
      </p:sp>
      <p:sp>
        <p:nvSpPr>
          <p:cNvPr id="22" name="text-220-468-↓">
            <a:extLst xmlns:a="http://schemas.openxmlformats.org/drawingml/2006/main">
              <a:ext uri="{FF2B5EF4-FFF2-40B4-BE49-F238E27FC236}">
                <a16:creationId xmlns:a16="http://schemas.microsoft.com/office/drawing/2014/main" id="{D8CA2FF0-DD42-4FC2-AC64-6660611A7395}"/>
              </a:ext>
            </a:extLst>
          </p:cNvPr>
          <p:cNvSpPr>
            <a:spLocks xmlns:a="http://schemas.openxmlformats.org/drawingml/2006/main" noGrp="1"/>
          </p:cNvSpPr>
          <p:nvPr/>
        </p:nvSpPr>
        <p:spPr>
          <a:xfrm xmlns:a="http://schemas.openxmlformats.org/drawingml/2006/main">
            <a:off x="2095500" y="4457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23" name="box-92-490">
            <a:extLst xmlns:a="http://schemas.openxmlformats.org/drawingml/2006/main">
              <a:ext uri="{FF2B5EF4-FFF2-40B4-BE49-F238E27FC236}">
                <a16:creationId xmlns:a16="http://schemas.microsoft.com/office/drawing/2014/main" id="{5AEB28F9-281D-4B23-8F8A-240D5CCD2DC8}"/>
              </a:ext>
            </a:extLst>
          </p:cNvPr>
          <p:cNvSpPr>
            <a:spLocks xmlns:a="http://schemas.openxmlformats.org/drawingml/2006/main" noGrp="1"/>
          </p:cNvSpPr>
          <p:nvPr/>
        </p:nvSpPr>
        <p:spPr>
          <a:xfrm xmlns:a="http://schemas.openxmlformats.org/drawingml/2006/main">
            <a:off x="876300" y="4667250"/>
            <a:ext cx="28765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7890A6"/>
            </a:solidFill>
            <a:prstDash val="solid"/>
          </a:ln>
        </p:spPr>
        <p:txBody>
          <a:bodyPr xmlns:a="http://schemas.openxmlformats.org/drawingml/2006/main">
            <a:noAutofit/>
          </a:bodyPr>
          <a:lstStyle xmlns:a="http://schemas.openxmlformats.org/drawingml/2006/main"/>
          <a:p xmlns:a="http://schemas.openxmlformats.org/drawingml/2006/main">
            <a:pPr algn="ctr">
              <a:defRPr sz="1350" b="1">
                <a:solidFill>
                  <a:srgbClr val="102744"/>
                </a:solidFill>
                <a:latin typeface="Arial"/>
                <a:ea typeface="Arial"/>
                <a:cs typeface="Arial"/>
              </a:defRPr>
            </a:pPr>
            <a:r>
              <a:rPr sz="1350" b="1">
                <a:solidFill>
                  <a:srgbClr val="102744"/>
                </a:solidFill>
                <a:latin typeface="Arial"/>
                <a:ea typeface="Arial"/>
                <a:cs typeface="Arial"/>
              </a:rPr>
              <a:t>IRONCAD / Office / Files</a:t>
            </a:r>
          </a:p>
        </p:txBody>
      </p:sp>
      <p:sp>
        <p:nvSpPr>
          <p:cNvPr id="24" name="text-104-526-Công cụ thiết kế">
            <a:extLst xmlns:a="http://schemas.openxmlformats.org/drawingml/2006/main">
              <a:ext uri="{FF2B5EF4-FFF2-40B4-BE49-F238E27FC236}">
                <a16:creationId xmlns:a16="http://schemas.microsoft.com/office/drawing/2014/main" id="{5F8FB70E-F6E7-4970-875F-CD767E6697B8}"/>
              </a:ext>
            </a:extLst>
          </p:cNvPr>
          <p:cNvSpPr>
            <a:spLocks xmlns:a="http://schemas.openxmlformats.org/drawingml/2006/main" noGrp="1"/>
          </p:cNvSpPr>
          <p:nvPr/>
        </p:nvSpPr>
        <p:spPr>
          <a:xfrm xmlns:a="http://schemas.openxmlformats.org/drawingml/2006/main">
            <a:off x="990600" y="501015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00" b="0">
                <a:solidFill>
                  <a:srgbClr val="4B6075"/>
                </a:solidFill>
                <a:latin typeface="Arial"/>
                <a:ea typeface="Arial"/>
                <a:cs typeface="Arial"/>
              </a:defRPr>
            </a:pPr>
            <a:r>
              <a:rPr sz="900" b="0">
                <a:solidFill>
                  <a:srgbClr val="4B6075"/>
                </a:solidFill>
                <a:latin typeface="Arial"/>
                <a:ea typeface="Arial"/>
                <a:cs typeface="Arial"/>
              </a:rPr>
              <a:t>Công cụ thiết kế bên ngoài IDEA</a:t>
            </a:r>
          </a:p>
        </p:txBody>
      </p:sp>
      <p:sp>
        <p:nvSpPr>
          <p:cNvPr id="25" name="text-432-326-HTTPS / JSON  →">
            <a:extLst xmlns:a="http://schemas.openxmlformats.org/drawingml/2006/main">
              <a:ext uri="{FF2B5EF4-FFF2-40B4-BE49-F238E27FC236}">
                <a16:creationId xmlns:a16="http://schemas.microsoft.com/office/drawing/2014/main" id="{F8382A81-3499-4906-BC25-2F6244D6C954}"/>
              </a:ext>
            </a:extLst>
          </p:cNvPr>
          <p:cNvSpPr>
            <a:spLocks xmlns:a="http://schemas.openxmlformats.org/drawingml/2006/main" noGrp="1"/>
          </p:cNvSpPr>
          <p:nvPr/>
        </p:nvSpPr>
        <p:spPr>
          <a:xfrm xmlns:a="http://schemas.openxmlformats.org/drawingml/2006/main">
            <a:off x="4114800" y="3105150"/>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2169A8"/>
                </a:solidFill>
                <a:latin typeface="Arial"/>
                <a:ea typeface="Arial"/>
                <a:cs typeface="Arial"/>
              </a:defRPr>
            </a:pPr>
            <a:r>
              <a:rPr sz="1500" b="1">
                <a:solidFill>
                  <a:srgbClr val="2169A8"/>
                </a:solidFill>
                <a:latin typeface="Arial"/>
                <a:ea typeface="Arial"/>
                <a:cs typeface="Arial"/>
              </a:rPr>
              <a:t>HTTPS / JSON  →</a:t>
            </a:r>
          </a:p>
        </p:txBody>
      </p:sp>
      <p:sp>
        <p:nvSpPr>
          <p:cNvPr id="26" name="box-574-150">
            <a:extLst xmlns:a="http://schemas.openxmlformats.org/drawingml/2006/main">
              <a:ext uri="{FF2B5EF4-FFF2-40B4-BE49-F238E27FC236}">
                <a16:creationId xmlns:a16="http://schemas.microsoft.com/office/drawing/2014/main" id="{67B63342-1751-4448-A162-B577C37E5E5A}"/>
              </a:ext>
            </a:extLst>
          </p:cNvPr>
          <p:cNvSpPr>
            <a:spLocks xmlns:a="http://schemas.openxmlformats.org/drawingml/2006/main" noGrp="1"/>
          </p:cNvSpPr>
          <p:nvPr/>
        </p:nvSpPr>
        <p:spPr>
          <a:xfrm xmlns:a="http://schemas.openxmlformats.org/drawingml/2006/main">
            <a:off x="5467350" y="1428750"/>
            <a:ext cx="3848100" cy="4476750"/>
          </a:xfrm>
          <a:prstGeom xmlns:a="http://schemas.openxmlformats.org/drawingml/2006/main" prst="roundRect">
            <a:avLst>
              <a:gd name="adj" fmla="val 1980"/>
            </a:avLst>
          </a:prstGeom>
          <a:solidFill xmlns:a="http://schemas.openxmlformats.org/drawingml/2006/main">
            <a:srgbClr val="F4F7FA"/>
          </a:solidFill>
          <a:ln xmlns:a="http://schemas.openxmlformats.org/drawingml/2006/main" w="17145">
            <a:solidFill>
              <a:srgbClr val="102744"/>
            </a:solidFill>
            <a:prstDash val="solid"/>
          </a:ln>
        </p:spPr>
      </p:sp>
      <p:sp>
        <p:nvSpPr>
          <p:cNvPr id="27" name="box-682-170">
            <a:extLst xmlns:a="http://schemas.openxmlformats.org/drawingml/2006/main">
              <a:ext uri="{FF2B5EF4-FFF2-40B4-BE49-F238E27FC236}">
                <a16:creationId xmlns:a16="http://schemas.microsoft.com/office/drawing/2014/main" id="{752540E2-18CF-4D2E-8079-0A0FB1E4941D}"/>
              </a:ext>
            </a:extLst>
          </p:cNvPr>
          <p:cNvSpPr>
            <a:spLocks xmlns:a="http://schemas.openxmlformats.org/drawingml/2006/main" noGrp="1"/>
          </p:cNvSpPr>
          <p:nvPr/>
        </p:nvSpPr>
        <p:spPr>
          <a:xfrm xmlns:a="http://schemas.openxmlformats.org/drawingml/2006/main">
            <a:off x="6496050" y="1619250"/>
            <a:ext cx="1790700" cy="323850"/>
          </a:xfrm>
          <a:prstGeom xmlns:a="http://schemas.openxmlformats.org/drawingml/2006/main" prst="roundRect">
            <a:avLst>
              <a:gd name="adj" fmla="val 23529"/>
            </a:avLst>
          </a:prstGeom>
          <a:solidFill xmlns:a="http://schemas.openxmlformats.org/drawingml/2006/main">
            <a:srgbClr val="102744"/>
          </a:solidFill>
          <a:ln xmlns:a="http://schemas.openxmlformats.org/drawingml/2006/main" w="762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LINUX SERVER</a:t>
            </a:r>
          </a:p>
        </p:txBody>
      </p:sp>
      <p:sp>
        <p:nvSpPr>
          <p:cNvPr id="28" name="box-614-230">
            <a:extLst xmlns:a="http://schemas.openxmlformats.org/drawingml/2006/main">
              <a:ext uri="{FF2B5EF4-FFF2-40B4-BE49-F238E27FC236}">
                <a16:creationId xmlns:a16="http://schemas.microsoft.com/office/drawing/2014/main" id="{DC614AA3-86B9-44D2-A389-420910AF0D7A}"/>
              </a:ext>
            </a:extLst>
          </p:cNvPr>
          <p:cNvSpPr>
            <a:spLocks xmlns:a="http://schemas.openxmlformats.org/drawingml/2006/main" noGrp="1"/>
          </p:cNvSpPr>
          <p:nvPr/>
        </p:nvSpPr>
        <p:spPr>
          <a:xfrm xmlns:a="http://schemas.openxmlformats.org/drawingml/2006/main">
            <a:off x="5848350" y="2190750"/>
            <a:ext cx="30861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Java 25 / Spring Boot</a:t>
            </a:r>
          </a:p>
          <a:p xmlns:a="http://schemas.openxmlformats.org/drawingml/2006/main">
            <a:pPr algn="ctr">
              <a:defRPr sz="1575" b="1">
                <a:solidFill>
                  <a:srgbClr val="102744"/>
                </a:solidFill>
                <a:latin typeface="Arial"/>
                <a:ea typeface="Arial"/>
                <a:cs typeface="Arial"/>
              </a:defRPr>
            </a:pPr>
            <a:r>
              <a:rPr sz="1575" b="1">
                <a:solidFill>
                  <a:srgbClr val="102744"/>
                </a:solidFill>
                <a:latin typeface="Arial"/>
                <a:ea typeface="Arial"/>
                <a:cs typeface="Arial"/>
              </a:rPr>
              <a:t>Spring Modulith</a:t>
            </a:r>
          </a:p>
        </p:txBody>
      </p:sp>
      <p:sp>
        <p:nvSpPr>
          <p:cNvPr id="29" name="text-628-326-Core product aut">
            <a:extLst xmlns:a="http://schemas.openxmlformats.org/drawingml/2006/main">
              <a:ext uri="{FF2B5EF4-FFF2-40B4-BE49-F238E27FC236}">
                <a16:creationId xmlns:a16="http://schemas.microsoft.com/office/drawing/2014/main" id="{718A2708-F463-407D-9601-83559EFB8C25}"/>
              </a:ext>
            </a:extLst>
          </p:cNvPr>
          <p:cNvSpPr>
            <a:spLocks xmlns:a="http://schemas.openxmlformats.org/drawingml/2006/main" noGrp="1"/>
          </p:cNvSpPr>
          <p:nvPr/>
        </p:nvSpPr>
        <p:spPr>
          <a:xfrm xmlns:a="http://schemas.openxmlformats.org/drawingml/2006/main">
            <a:off x="5981700" y="3105150"/>
            <a:ext cx="281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050" b="0">
                <a:solidFill>
                  <a:srgbClr val="4B6075"/>
                </a:solidFill>
                <a:latin typeface="Arial"/>
                <a:ea typeface="Arial"/>
                <a:cs typeface="Arial"/>
              </a:defRPr>
            </a:pPr>
            <a:r>
              <a:rPr sz="1050" b="0">
                <a:solidFill>
                  <a:srgbClr val="4B6075"/>
                </a:solidFill>
                <a:latin typeface="Arial"/>
                <a:ea typeface="Arial"/>
                <a:cs typeface="Arial"/>
              </a:rPr>
              <a:t>Core product authority + modular monolith</a:t>
            </a:r>
          </a:p>
        </p:txBody>
      </p:sp>
      <p:sp>
        <p:nvSpPr>
          <p:cNvPr id="30" name="box-614-388">
            <a:extLst xmlns:a="http://schemas.openxmlformats.org/drawingml/2006/main">
              <a:ext uri="{FF2B5EF4-FFF2-40B4-BE49-F238E27FC236}">
                <a16:creationId xmlns:a16="http://schemas.microsoft.com/office/drawing/2014/main" id="{7AFA6E3E-9EC4-422F-B18E-454B24626CDF}"/>
              </a:ext>
            </a:extLst>
          </p:cNvPr>
          <p:cNvSpPr>
            <a:spLocks xmlns:a="http://schemas.openxmlformats.org/drawingml/2006/main" noGrp="1"/>
          </p:cNvSpPr>
          <p:nvPr/>
        </p:nvSpPr>
        <p:spPr>
          <a:xfrm xmlns:a="http://schemas.openxmlformats.org/drawingml/2006/main">
            <a:off x="5848350" y="3695700"/>
            <a:ext cx="1352550" cy="1123950"/>
          </a:xfrm>
          <a:prstGeom xmlns:a="http://schemas.openxmlformats.org/drawingml/2006/main" prst="roundRect">
            <a:avLst>
              <a:gd name="adj" fmla="val 6780"/>
            </a:avLst>
          </a:prstGeom>
          <a:solidFill xmlns:a="http://schemas.openxmlformats.org/drawingml/2006/main">
            <a:srgbClr val="E7F5EE"/>
          </a:solidFill>
          <a:ln xmlns:a="http://schemas.openxmlformats.org/drawingml/2006/main" w="1143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PostgreSQL 18</a:t>
            </a:r>
          </a:p>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Metadata + state</a:t>
            </a:r>
          </a:p>
        </p:txBody>
      </p:sp>
      <p:sp>
        <p:nvSpPr>
          <p:cNvPr id="31" name="box-796-388">
            <a:extLst xmlns:a="http://schemas.openxmlformats.org/drawingml/2006/main">
              <a:ext uri="{FF2B5EF4-FFF2-40B4-BE49-F238E27FC236}">
                <a16:creationId xmlns:a16="http://schemas.microsoft.com/office/drawing/2014/main" id="{6C53D39D-0D1D-4E64-AAFB-DA98E387131C}"/>
              </a:ext>
            </a:extLst>
          </p:cNvPr>
          <p:cNvSpPr>
            <a:spLocks xmlns:a="http://schemas.openxmlformats.org/drawingml/2006/main" noGrp="1"/>
          </p:cNvSpPr>
          <p:nvPr/>
        </p:nvSpPr>
        <p:spPr>
          <a:xfrm xmlns:a="http://schemas.openxmlformats.org/drawingml/2006/main">
            <a:off x="7581900" y="3695700"/>
            <a:ext cx="1352550" cy="1123950"/>
          </a:xfrm>
          <a:prstGeom xmlns:a="http://schemas.openxmlformats.org/drawingml/2006/main" prst="roundRect">
            <a:avLst>
              <a:gd name="adj" fmla="val 6780"/>
            </a:avLst>
          </a:prstGeom>
          <a:solidFill xmlns:a="http://schemas.openxmlformats.org/drawingml/2006/main">
            <a:srgbClr val="FFF4DD"/>
          </a:solidFill>
          <a:ln xmlns:a="http://schemas.openxmlformats.org/drawingml/2006/main" w="11430">
            <a:solidFill>
              <a:srgbClr val="C58A1E"/>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Artifact Store</a:t>
            </a:r>
          </a:p>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Immutable bytes</a:t>
            </a:r>
          </a:p>
        </p:txBody>
      </p:sp>
      <p:sp>
        <p:nvSpPr>
          <p:cNvPr id="32" name="box-646-530">
            <a:extLst xmlns:a="http://schemas.openxmlformats.org/drawingml/2006/main">
              <a:ext uri="{FF2B5EF4-FFF2-40B4-BE49-F238E27FC236}">
                <a16:creationId xmlns:a16="http://schemas.microsoft.com/office/drawing/2014/main" id="{A3BC634C-F408-47CD-B68A-27E240AEB10E}"/>
              </a:ext>
            </a:extLst>
          </p:cNvPr>
          <p:cNvSpPr>
            <a:spLocks xmlns:a="http://schemas.openxmlformats.org/drawingml/2006/main" noGrp="1"/>
          </p:cNvSpPr>
          <p:nvPr/>
        </p:nvSpPr>
        <p:spPr>
          <a:xfrm xmlns:a="http://schemas.openxmlformats.org/drawingml/2006/main">
            <a:off x="6153150" y="5048250"/>
            <a:ext cx="2476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1125" b="1">
                <a:solidFill>
                  <a:srgbClr val="162638"/>
                </a:solidFill>
                <a:latin typeface="Arial"/>
                <a:ea typeface="Arial"/>
                <a:cs typeface="Arial"/>
              </a:defRPr>
            </a:pPr>
            <a:r>
              <a:rPr sz="1125" b="1">
                <a:solidFill>
                  <a:srgbClr val="162638"/>
                </a:solidFill>
                <a:latin typeface="Arial"/>
                <a:ea typeface="Arial"/>
                <a:cs typeface="Arial"/>
              </a:rPr>
              <a:t>Transactional outbox + observability</a:t>
            </a:r>
          </a:p>
        </p:txBody>
      </p:sp>
      <p:sp>
        <p:nvSpPr>
          <p:cNvPr id="33" name="text-988-326-→">
            <a:extLst xmlns:a="http://schemas.openxmlformats.org/drawingml/2006/main">
              <a:ext uri="{FF2B5EF4-FFF2-40B4-BE49-F238E27FC236}">
                <a16:creationId xmlns:a16="http://schemas.microsoft.com/office/drawing/2014/main" id="{AFE4CA31-0F7A-41B3-9B46-8CA484D4C889}"/>
              </a:ext>
            </a:extLst>
          </p:cNvPr>
          <p:cNvSpPr>
            <a:spLocks xmlns:a="http://schemas.openxmlformats.org/drawingml/2006/main" noGrp="1"/>
          </p:cNvSpPr>
          <p:nvPr/>
        </p:nvSpPr>
        <p:spPr>
          <a:xfrm xmlns:a="http://schemas.openxmlformats.org/drawingml/2006/main">
            <a:off x="9410700" y="3105150"/>
            <a:ext cx="419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6C5AA8"/>
                </a:solidFill>
                <a:latin typeface="Arial"/>
                <a:ea typeface="Arial"/>
                <a:cs typeface="Arial"/>
              </a:defRPr>
            </a:pPr>
            <a:r>
              <a:rPr sz="2100" b="1">
                <a:solidFill>
                  <a:srgbClr val="6C5AA8"/>
                </a:solidFill>
                <a:latin typeface="Arial"/>
                <a:ea typeface="Arial"/>
                <a:cs typeface="Arial"/>
              </a:rPr>
              <a:t>→</a:t>
            </a:r>
          </a:p>
        </p:txBody>
      </p:sp>
      <p:sp>
        <p:nvSpPr>
          <p:cNvPr id="34" name="box-1032-202">
            <a:extLst xmlns:a="http://schemas.openxmlformats.org/drawingml/2006/main">
              <a:ext uri="{FF2B5EF4-FFF2-40B4-BE49-F238E27FC236}">
                <a16:creationId xmlns:a16="http://schemas.microsoft.com/office/drawing/2014/main" id="{35FD6554-0198-467D-B7E2-B90136F2762C}"/>
              </a:ext>
            </a:extLst>
          </p:cNvPr>
          <p:cNvSpPr>
            <a:spLocks xmlns:a="http://schemas.openxmlformats.org/drawingml/2006/main" noGrp="1"/>
          </p:cNvSpPr>
          <p:nvPr/>
        </p:nvSpPr>
        <p:spPr>
          <a:xfrm xmlns:a="http://schemas.openxmlformats.org/drawingml/2006/main">
            <a:off x="9829800" y="1924050"/>
            <a:ext cx="1809750" cy="2762250"/>
          </a:xfrm>
          <a:prstGeom xmlns:a="http://schemas.openxmlformats.org/drawingml/2006/main" prst="roundRect">
            <a:avLst>
              <a:gd name="adj" fmla="val 4211"/>
            </a:avLst>
          </a:prstGeom>
          <a:solidFill xmlns:a="http://schemas.openxmlformats.org/drawingml/2006/main">
            <a:srgbClr val="F0EDFA"/>
          </a:solidFill>
          <a:ln xmlns:a="http://schemas.openxmlformats.org/drawingml/2006/main" w="14288">
            <a:solidFill>
              <a:srgbClr val="6C5AA8"/>
            </a:solidFill>
            <a:prstDash val="solid"/>
          </a:ln>
        </p:spPr>
      </p:sp>
      <p:sp>
        <p:nvSpPr>
          <p:cNvPr id="35" name="box-1048-220">
            <a:extLst xmlns:a="http://schemas.openxmlformats.org/drawingml/2006/main">
              <a:ext uri="{FF2B5EF4-FFF2-40B4-BE49-F238E27FC236}">
                <a16:creationId xmlns:a16="http://schemas.microsoft.com/office/drawing/2014/main" id="{A51E9F37-6C18-4214-A8F6-2E7DF1ED972B}"/>
              </a:ext>
            </a:extLst>
          </p:cNvPr>
          <p:cNvSpPr>
            <a:spLocks xmlns:a="http://schemas.openxmlformats.org/drawingml/2006/main" noGrp="1"/>
          </p:cNvSpPr>
          <p:nvPr/>
        </p:nvSpPr>
        <p:spPr>
          <a:xfrm xmlns:a="http://schemas.openxmlformats.org/drawingml/2006/main">
            <a:off x="9982200" y="2095500"/>
            <a:ext cx="1504950" cy="381000"/>
          </a:xfrm>
          <a:prstGeom xmlns:a="http://schemas.openxmlformats.org/drawingml/2006/main" prst="roundRect">
            <a:avLst>
              <a:gd name="adj" fmla="val 20000"/>
            </a:avLst>
          </a:prstGeom>
          <a:solidFill xmlns:a="http://schemas.openxmlformats.org/drawingml/2006/main">
            <a:srgbClr val="6C5AA8"/>
          </a:solidFill>
          <a:ln xmlns:a="http://schemas.openxmlformats.org/drawingml/2006/main" w="7620">
            <a:solidFill>
              <a:srgbClr val="6C5AA8"/>
            </a:solidFill>
            <a:prstDash val="solid"/>
          </a:ln>
        </p:spPr>
        <p:txBody>
          <a:bodyPr xmlns:a="http://schemas.openxmlformats.org/drawingml/2006/main">
            <a:noAutofit/>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WINDOWS FORMAT WORKER</a:t>
            </a:r>
          </a:p>
        </p:txBody>
      </p:sp>
      <p:sp>
        <p:nvSpPr>
          <p:cNvPr id="36" name="text-1056-290-Boundary đã chọn">
            <a:extLst xmlns:a="http://schemas.openxmlformats.org/drawingml/2006/main">
              <a:ext uri="{FF2B5EF4-FFF2-40B4-BE49-F238E27FC236}">
                <a16:creationId xmlns:a16="http://schemas.microsoft.com/office/drawing/2014/main" id="{6644118A-10B9-49F4-AF63-DE8AF5D7A915}"/>
              </a:ext>
            </a:extLst>
          </p:cNvPr>
          <p:cNvSpPr>
            <a:spLocks xmlns:a="http://schemas.openxmlformats.org/drawingml/2006/main" noGrp="1"/>
          </p:cNvSpPr>
          <p:nvPr/>
        </p:nvSpPr>
        <p:spPr>
          <a:xfrm xmlns:a="http://schemas.openxmlformats.org/drawingml/2006/main">
            <a:off x="10058400" y="2762250"/>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6C5AA8"/>
                </a:solidFill>
                <a:latin typeface="Arial"/>
                <a:ea typeface="Arial"/>
                <a:cs typeface="Arial"/>
              </a:defRPr>
            </a:pPr>
            <a:r>
              <a:rPr sz="1350" b="1">
                <a:solidFill>
                  <a:srgbClr val="6C5AA8"/>
                </a:solidFill>
                <a:latin typeface="Arial"/>
                <a:ea typeface="Arial"/>
                <a:cs typeface="Arial"/>
              </a:rPr>
              <a:t>Boundary đã chọn</a:t>
            </a:r>
          </a:p>
        </p:txBody>
      </p:sp>
      <p:sp>
        <p:nvSpPr>
          <p:cNvPr id="37" name="text-1052-336-Chỉ dùng khi CAD">
            <a:extLst xmlns:a="http://schemas.openxmlformats.org/drawingml/2006/main">
              <a:ext uri="{FF2B5EF4-FFF2-40B4-BE49-F238E27FC236}">
                <a16:creationId xmlns:a16="http://schemas.microsoft.com/office/drawing/2014/main" id="{366C43EC-7591-4579-9ED0-40E577508A92}"/>
              </a:ext>
            </a:extLst>
          </p:cNvPr>
          <p:cNvSpPr>
            <a:spLocks xmlns:a="http://schemas.openxmlformats.org/drawingml/2006/main" noGrp="1"/>
          </p:cNvSpPr>
          <p:nvPr/>
        </p:nvSpPr>
        <p:spPr>
          <a:xfrm xmlns:a="http://schemas.openxmlformats.org/drawingml/2006/main">
            <a:off x="10020300" y="3200400"/>
            <a:ext cx="142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0">
                <a:solidFill>
                  <a:srgbClr val="162638"/>
                </a:solidFill>
                <a:latin typeface="Arial"/>
                <a:ea typeface="Arial"/>
                <a:cs typeface="Arial"/>
              </a:defRPr>
            </a:pPr>
            <a:r>
              <a:rPr sz="1200" b="0">
                <a:solidFill>
                  <a:srgbClr val="162638"/>
                </a:solidFill>
                <a:latin typeface="Arial"/>
                <a:ea typeface="Arial"/>
                <a:cs typeface="Arial"/>
              </a:rPr>
              <a:t>Chỉ dùng khi CAD / Office / license yêu cầu xử lý riêng</a:t>
            </a:r>
          </a:p>
        </p:txBody>
      </p:sp>
      <p:sp>
        <p:nvSpPr>
          <p:cNvPr id="38" name="text-1046-424-Runtime / toolch">
            <a:extLst xmlns:a="http://schemas.openxmlformats.org/drawingml/2006/main">
              <a:ext uri="{FF2B5EF4-FFF2-40B4-BE49-F238E27FC236}">
                <a16:creationId xmlns:a16="http://schemas.microsoft.com/office/drawing/2014/main" id="{1D2042E1-7130-4A25-8A26-750478088853}"/>
              </a:ext>
            </a:extLst>
          </p:cNvPr>
          <p:cNvSpPr>
            <a:spLocks xmlns:a="http://schemas.openxmlformats.org/drawingml/2006/main" noGrp="1"/>
          </p:cNvSpPr>
          <p:nvPr/>
        </p:nvSpPr>
        <p:spPr>
          <a:xfrm xmlns:a="http://schemas.openxmlformats.org/drawingml/2006/main">
            <a:off x="9963150" y="4038600"/>
            <a:ext cx="1543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63" b="1">
                <a:solidFill>
                  <a:srgbClr val="B94A55"/>
                </a:solidFill>
                <a:latin typeface="Arial"/>
                <a:ea typeface="Arial"/>
                <a:cs typeface="Arial"/>
              </a:defRPr>
            </a:pPr>
            <a:r>
              <a:rPr sz="863" b="1">
                <a:solidFill>
                  <a:srgbClr val="B94A55"/>
                </a:solidFill>
                <a:latin typeface="Arial"/>
                <a:ea typeface="Arial"/>
                <a:cs typeface="Arial"/>
              </a:rPr>
              <a:t>Runtime / toolchain: chưa chọn</a:t>
            </a:r>
          </a:p>
          <a:p xmlns:a="http://schemas.openxmlformats.org/drawingml/2006/main">
            <a:pPr algn="ctr">
              <a:defRPr sz="863" b="1">
                <a:solidFill>
                  <a:srgbClr val="B94A55"/>
                </a:solidFill>
                <a:latin typeface="Arial"/>
                <a:ea typeface="Arial"/>
                <a:cs typeface="Arial"/>
              </a:defRPr>
            </a:pPr>
            <a:r>
              <a:rPr sz="863" b="1">
                <a:solidFill>
                  <a:srgbClr val="B94A55"/>
                </a:solidFill>
                <a:latin typeface="Arial"/>
                <a:ea typeface="Arial"/>
                <a:cs typeface="Arial"/>
              </a:rPr>
              <a:t>Qualification: NOT-RUN</a:t>
            </a:r>
          </a:p>
        </p:txBody>
      </p:sp>
      <p:sp>
        <p:nvSpPr>
          <p:cNvPr id="39" name="box-1032-520">
            <a:extLst xmlns:a="http://schemas.openxmlformats.org/drawingml/2006/main">
              <a:ext uri="{FF2B5EF4-FFF2-40B4-BE49-F238E27FC236}">
                <a16:creationId xmlns:a16="http://schemas.microsoft.com/office/drawing/2014/main" id="{394A2B5F-8F5E-4D84-AA72-1C2015FBF584}"/>
              </a:ext>
            </a:extLst>
          </p:cNvPr>
          <p:cNvSpPr>
            <a:spLocks xmlns:a="http://schemas.openxmlformats.org/drawingml/2006/main" noGrp="1"/>
          </p:cNvSpPr>
          <p:nvPr/>
        </p:nvSpPr>
        <p:spPr>
          <a:xfrm xmlns:a="http://schemas.openxmlformats.org/drawingml/2006/main">
            <a:off x="9829800" y="4953000"/>
            <a:ext cx="18097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975" b="1">
                <a:solidFill>
                  <a:srgbClr val="162638"/>
                </a:solidFill>
                <a:latin typeface="Arial"/>
                <a:ea typeface="Arial"/>
                <a:cs typeface="Arial"/>
              </a:defRPr>
            </a:pPr>
            <a:r>
              <a:rPr sz="975" b="1">
                <a:solidFill>
                  <a:srgbClr val="162638"/>
                </a:solidFill>
                <a:latin typeface="Arial"/>
                <a:ea typeface="Arial"/>
                <a:cs typeface="Arial"/>
              </a:rPr>
              <a:t>Candidate output</a:t>
            </a:r>
          </a:p>
          <a:p xmlns:a="http://schemas.openxmlformats.org/drawingml/2006/main">
            <a:pPr algn="ctr">
              <a:defRPr sz="975" b="1">
                <a:solidFill>
                  <a:srgbClr val="162638"/>
                </a:solidFill>
                <a:latin typeface="Arial"/>
                <a:ea typeface="Arial"/>
                <a:cs typeface="Arial"/>
              </a:defRPr>
            </a:pPr>
            <a:r>
              <a:rPr sz="975" b="1">
                <a:solidFill>
                  <a:srgbClr val="162638"/>
                </a:solidFill>
                <a:latin typeface="Arial"/>
                <a:ea typeface="Arial"/>
                <a:cs typeface="Arial"/>
              </a:rPr>
              <a:t>Server quyết định nhận hay từ chối</a:t>
            </a:r>
          </a:p>
        </p:txBody>
      </p:sp>
      <p:sp>
        <p:nvSpPr>
          <p:cNvPr id="40" name="text-224-642-Sơ đồ quản lý rú">
            <a:extLst xmlns:a="http://schemas.openxmlformats.org/drawingml/2006/main">
              <a:ext uri="{FF2B5EF4-FFF2-40B4-BE49-F238E27FC236}">
                <a16:creationId xmlns:a16="http://schemas.microsoft.com/office/drawing/2014/main" id="{15A3A13D-615B-4E90-9D2B-B65FB5575BA6}"/>
              </a:ext>
            </a:extLst>
          </p:cNvPr>
          <p:cNvSpPr>
            <a:spLocks xmlns:a="http://schemas.openxmlformats.org/drawingml/2006/main" noGrp="1"/>
          </p:cNvSpPr>
          <p:nvPr/>
        </p:nvSpPr>
        <p:spPr>
          <a:xfrm xmlns:a="http://schemas.openxmlformats.org/drawingml/2006/main">
            <a:off x="2133600" y="6115050"/>
            <a:ext cx="798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0">
                <a:solidFill>
                  <a:srgbClr val="7890A6"/>
                </a:solidFill>
                <a:latin typeface="Arial"/>
                <a:ea typeface="Arial"/>
                <a:cs typeface="Arial"/>
              </a:defRPr>
            </a:pPr>
            <a:r>
              <a:rPr sz="975" b="0">
                <a:solidFill>
                  <a:srgbClr val="7890A6"/>
                </a:solidFill>
                <a:latin typeface="Arial"/>
                <a:ea typeface="Arial"/>
                <a:cs typeface="Arial"/>
              </a:rPr>
              <a:t>Sơ đồ quản lý rút gọn từ TECH-D01/D05; không thay thế kiến trúc kiểm soát trong DOC-05.</a:t>
            </a:r>
          </a:p>
        </p:txBody>
      </p:sp>
    </p:spTree>
    <p:extLst>
      <p:ext uri="{BB962C8B-B14F-4D97-AF65-F5344CB8AC3E}">
        <p14:creationId xmlns:p14="http://schemas.microsoft.com/office/powerpoint/2010/main" val="15478808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box-0-0">
            <a:extLst xmlns:a="http://schemas.openxmlformats.org/drawingml/2006/main">
              <a:ext uri="{FF2B5EF4-FFF2-40B4-BE49-F238E27FC236}">
                <a16:creationId xmlns:a16="http://schemas.microsoft.com/office/drawing/2014/main" id="{B7A1CBD1-AF15-4E8C-B0A7-BAFCA64768C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C5AA8"/>
          </a:solidFill>
          <a:ln xmlns:a="http://schemas.openxmlformats.org/drawingml/2006/main" w="0">
            <a:noFill/>
            <a:prstDash val="solid"/>
          </a:ln>
        </p:spPr>
      </p:sp>
      <p:sp>
        <p:nvSpPr>
          <p:cNvPr id="2" name="text-54-28-TECH">
            <a:extLst xmlns:a="http://schemas.openxmlformats.org/drawingml/2006/main">
              <a:ext uri="{FF2B5EF4-FFF2-40B4-BE49-F238E27FC236}">
                <a16:creationId xmlns:a16="http://schemas.microsoft.com/office/drawing/2014/main" id="{0D1E2DFF-D1DA-44D7-89DB-68892F31315A}"/>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6C5AA8"/>
                </a:solidFill>
                <a:latin typeface="Arial"/>
                <a:ea typeface="Arial"/>
                <a:cs typeface="Arial"/>
              </a:defRPr>
            </a:pPr>
            <a:r>
              <a:rPr sz="1050" b="1">
                <a:solidFill>
                  <a:srgbClr val="6C5AA8"/>
                </a:solidFill>
                <a:latin typeface="Arial"/>
                <a:ea typeface="Arial"/>
                <a:cs typeface="Arial"/>
              </a:rPr>
              <a:t>TECH</a:t>
            </a:r>
          </a:p>
        </p:txBody>
      </p:sp>
      <p:sp>
        <p:nvSpPr>
          <p:cNvPr id="3" name="text-54-56-Tech — Công nghệ">
            <a:extLst xmlns:a="http://schemas.openxmlformats.org/drawingml/2006/main">
              <a:ext uri="{FF2B5EF4-FFF2-40B4-BE49-F238E27FC236}">
                <a16:creationId xmlns:a16="http://schemas.microsoft.com/office/drawing/2014/main" id="{7052F803-1685-428A-913C-4A5176AA723A}"/>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Tech — Công nghệ nào chịu trách nhiệm gì?</a:t>
            </a:r>
          </a:p>
        </p:txBody>
      </p:sp>
      <p:sp>
        <p:nvSpPr>
          <p:cNvPr id="4" name="line-54-116">
            <a:extLst xmlns:a="http://schemas.openxmlformats.org/drawingml/2006/main">
              <a:ext uri="{FF2B5EF4-FFF2-40B4-BE49-F238E27FC236}">
                <a16:creationId xmlns:a16="http://schemas.microsoft.com/office/drawing/2014/main" id="{09584991-DE14-40C7-B4AD-293F0039ACEB}"/>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TECH-001">
            <a:extLst xmlns:a="http://schemas.openxmlformats.org/drawingml/2006/main">
              <a:ext uri="{FF2B5EF4-FFF2-40B4-BE49-F238E27FC236}">
                <a16:creationId xmlns:a16="http://schemas.microsoft.com/office/drawing/2014/main" id="{483555CD-D6D9-4070-8F79-D1B1607FFBFB}"/>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TECH-001@0.14 · TECH-MATRIX@0.6</a:t>
            </a:r>
          </a:p>
        </p:txBody>
      </p:sp>
      <p:sp>
        <p:nvSpPr>
          <p:cNvPr id="6" name="text-1170-680-13">
            <a:extLst xmlns:a="http://schemas.openxmlformats.org/drawingml/2006/main">
              <a:ext uri="{FF2B5EF4-FFF2-40B4-BE49-F238E27FC236}">
                <a16:creationId xmlns:a16="http://schemas.microsoft.com/office/drawing/2014/main" id="{1B176879-03C5-469F-A759-A8C857000779}"/>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13</a:t>
            </a:r>
          </a:p>
        </p:txBody>
      </p:sp>
      <p:sp>
        <p:nvSpPr>
          <p:cNvPr id="7" name="diagram-meta-13">
            <a:extLst xmlns:a="http://schemas.openxmlformats.org/drawingml/2006/main">
              <a:ext uri="{FF2B5EF4-FFF2-40B4-BE49-F238E27FC236}">
                <a16:creationId xmlns:a16="http://schemas.microsoft.com/office/drawing/2014/main" id="{4D5B9EC8-19BF-495C-9D70-4CFA5778C732}"/>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3">
            <a:extLst xmlns:a="http://schemas.openxmlformats.org/drawingml/2006/main">
              <a:ext uri="{FF2B5EF4-FFF2-40B4-BE49-F238E27FC236}">
                <a16:creationId xmlns:a16="http://schemas.microsoft.com/office/drawing/2014/main" id="{DDC14DA9-AA9A-4858-9E2D-26510C26C191}"/>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Management simplification</a:t>
            </a:r>
          </a:p>
        </p:txBody>
      </p:sp>
      <p:sp>
        <p:nvSpPr>
          <p:cNvPr id="9" name="diagram-source-13">
            <a:extLst xmlns:a="http://schemas.openxmlformats.org/drawingml/2006/main">
              <a:ext uri="{FF2B5EF4-FFF2-40B4-BE49-F238E27FC236}">
                <a16:creationId xmlns:a16="http://schemas.microsoft.com/office/drawing/2014/main" id="{3A695CF0-0EE8-472F-9478-F62469BF34D9}"/>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TECH-D03</a:t>
            </a:r>
          </a:p>
        </p:txBody>
      </p:sp>
      <p:sp>
        <p:nvSpPr>
          <p:cNvPr id="10" name="diagram-why-13">
            <a:extLst xmlns:a="http://schemas.openxmlformats.org/drawingml/2006/main">
              <a:ext uri="{FF2B5EF4-FFF2-40B4-BE49-F238E27FC236}">
                <a16:creationId xmlns:a16="http://schemas.microsoft.com/office/drawing/2014/main" id="{907DEC22-2C4D-409B-AE5C-DD61F0372D30}"/>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Gắn công nghệ với trách nhiệm</a:t>
            </a:r>
          </a:p>
        </p:txBody>
      </p:sp>
      <p:sp>
        <p:nvSpPr>
          <p:cNvPr id="11" name="source-link-13-TECH-D03">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D05B0071-1286-4527-B256-B9773B58B58E}"/>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TECH-D03 — Technology Layers</a:t>
            </a:r>
          </a:p>
        </p:txBody>
      </p:sp>
      <p:sp>
        <p:nvSpPr>
          <p:cNvPr id="12" name="text-66-147-TRÁCH NHIỆM">
            <a:extLst xmlns:a="http://schemas.openxmlformats.org/drawingml/2006/main">
              <a:ext uri="{FF2B5EF4-FFF2-40B4-BE49-F238E27FC236}">
                <a16:creationId xmlns:a16="http://schemas.microsoft.com/office/drawing/2014/main" id="{E8A3C3E6-732D-4FB1-AE8C-4A954D500293}"/>
              </a:ext>
            </a:extLst>
          </p:cNvPr>
          <p:cNvSpPr>
            <a:spLocks xmlns:a="http://schemas.openxmlformats.org/drawingml/2006/main" noGrp="1"/>
          </p:cNvSpPr>
          <p:nvPr/>
        </p:nvSpPr>
        <p:spPr>
          <a:xfrm xmlns:a="http://schemas.openxmlformats.org/drawingml/2006/main">
            <a:off x="628650" y="1400175"/>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1">
                <a:solidFill>
                  <a:srgbClr val="7890A6"/>
                </a:solidFill>
                <a:latin typeface="Arial"/>
                <a:ea typeface="Arial"/>
                <a:cs typeface="Arial"/>
              </a:defRPr>
            </a:pPr>
            <a:r>
              <a:rPr sz="863" b="1">
                <a:solidFill>
                  <a:srgbClr val="7890A6"/>
                </a:solidFill>
                <a:latin typeface="Arial"/>
                <a:ea typeface="Arial"/>
                <a:cs typeface="Arial"/>
              </a:rPr>
              <a:t>TRÁCH NHIỆM</a:t>
            </a:r>
          </a:p>
        </p:txBody>
      </p:sp>
      <p:sp>
        <p:nvSpPr>
          <p:cNvPr id="13" name="text-346-147-CÔNG NGHỆ">
            <a:extLst xmlns:a="http://schemas.openxmlformats.org/drawingml/2006/main">
              <a:ext uri="{FF2B5EF4-FFF2-40B4-BE49-F238E27FC236}">
                <a16:creationId xmlns:a16="http://schemas.microsoft.com/office/drawing/2014/main" id="{35C59469-4BA5-42E0-853F-DE84721C1C49}"/>
              </a:ext>
            </a:extLst>
          </p:cNvPr>
          <p:cNvSpPr>
            <a:spLocks xmlns:a="http://schemas.openxmlformats.org/drawingml/2006/main" noGrp="1"/>
          </p:cNvSpPr>
          <p:nvPr/>
        </p:nvSpPr>
        <p:spPr>
          <a:xfrm xmlns:a="http://schemas.openxmlformats.org/drawingml/2006/main">
            <a:off x="3295650" y="1400175"/>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1">
                <a:solidFill>
                  <a:srgbClr val="7890A6"/>
                </a:solidFill>
                <a:latin typeface="Arial"/>
                <a:ea typeface="Arial"/>
                <a:cs typeface="Arial"/>
              </a:defRPr>
            </a:pPr>
            <a:r>
              <a:rPr sz="863" b="1">
                <a:solidFill>
                  <a:srgbClr val="7890A6"/>
                </a:solidFill>
                <a:latin typeface="Arial"/>
                <a:ea typeface="Arial"/>
                <a:cs typeface="Arial"/>
              </a:rPr>
              <a:t>CÔNG NGHỆ</a:t>
            </a:r>
          </a:p>
        </p:txBody>
      </p:sp>
      <p:sp>
        <p:nvSpPr>
          <p:cNvPr id="14" name="text-700-147-RANH GIỚI CÔNG V">
            <a:extLst xmlns:a="http://schemas.openxmlformats.org/drawingml/2006/main">
              <a:ext uri="{FF2B5EF4-FFF2-40B4-BE49-F238E27FC236}">
                <a16:creationId xmlns:a16="http://schemas.microsoft.com/office/drawing/2014/main" id="{8C917ADC-B0CC-4A99-BA85-B7334C6C7E2F}"/>
              </a:ext>
            </a:extLst>
          </p:cNvPr>
          <p:cNvSpPr>
            <a:spLocks xmlns:a="http://schemas.openxmlformats.org/drawingml/2006/main" noGrp="1"/>
          </p:cNvSpPr>
          <p:nvPr/>
        </p:nvSpPr>
        <p:spPr>
          <a:xfrm xmlns:a="http://schemas.openxmlformats.org/drawingml/2006/main">
            <a:off x="6667500" y="140017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1">
                <a:solidFill>
                  <a:srgbClr val="7890A6"/>
                </a:solidFill>
                <a:latin typeface="Arial"/>
                <a:ea typeface="Arial"/>
                <a:cs typeface="Arial"/>
              </a:defRPr>
            </a:pPr>
            <a:r>
              <a:rPr sz="863" b="1">
                <a:solidFill>
                  <a:srgbClr val="7890A6"/>
                </a:solidFill>
                <a:latin typeface="Arial"/>
                <a:ea typeface="Arial"/>
                <a:cs typeface="Arial"/>
              </a:rPr>
              <a:t>RANH GIỚI CÔNG VIỆC</a:t>
            </a:r>
          </a:p>
        </p:txBody>
      </p:sp>
      <p:sp>
        <p:nvSpPr>
          <p:cNvPr id="15" name="box-58-166">
            <a:extLst xmlns:a="http://schemas.openxmlformats.org/drawingml/2006/main">
              <a:ext uri="{FF2B5EF4-FFF2-40B4-BE49-F238E27FC236}">
                <a16:creationId xmlns:a16="http://schemas.microsoft.com/office/drawing/2014/main" id="{5E2165C5-E184-4CC4-8DF5-6DFD09061C84}"/>
              </a:ext>
            </a:extLst>
          </p:cNvPr>
          <p:cNvSpPr>
            <a:spLocks xmlns:a="http://schemas.openxmlformats.org/drawingml/2006/main" noGrp="1"/>
          </p:cNvSpPr>
          <p:nvPr/>
        </p:nvSpPr>
        <p:spPr>
          <a:xfrm xmlns:a="http://schemas.openxmlformats.org/drawingml/2006/main">
            <a:off x="552450" y="1581150"/>
            <a:ext cx="11087100" cy="495300"/>
          </a:xfrm>
          <a:prstGeom xmlns:a="http://schemas.openxmlformats.org/drawingml/2006/main" prst="roundRect">
            <a:avLst>
              <a:gd name="adj" fmla="val 15385"/>
            </a:avLst>
          </a:prstGeom>
          <a:solidFill xmlns:a="http://schemas.openxmlformats.org/drawingml/2006/main">
            <a:srgbClr val="E8F7F9"/>
          </a:solidFill>
          <a:ln xmlns:a="http://schemas.openxmlformats.org/drawingml/2006/main" w="9525">
            <a:solidFill>
              <a:srgbClr val="CBD8E3"/>
            </a:solidFill>
            <a:prstDash val="solid"/>
          </a:ln>
        </p:spPr>
      </p:sp>
      <p:sp>
        <p:nvSpPr>
          <p:cNvPr id="16" name="box-58-166">
            <a:extLst xmlns:a="http://schemas.openxmlformats.org/drawingml/2006/main">
              <a:ext uri="{FF2B5EF4-FFF2-40B4-BE49-F238E27FC236}">
                <a16:creationId xmlns:a16="http://schemas.microsoft.com/office/drawing/2014/main" id="{FDE4F001-CAA4-4FA6-B3BA-7A60026E355A}"/>
              </a:ext>
            </a:extLst>
          </p:cNvPr>
          <p:cNvSpPr>
            <a:spLocks xmlns:a="http://schemas.openxmlformats.org/drawingml/2006/main" noGrp="1"/>
          </p:cNvSpPr>
          <p:nvPr/>
        </p:nvSpPr>
        <p:spPr>
          <a:xfrm xmlns:a="http://schemas.openxmlformats.org/drawingml/2006/main">
            <a:off x="552450" y="1581150"/>
            <a:ext cx="95250" cy="495300"/>
          </a:xfrm>
          <a:prstGeom xmlns:a="http://schemas.openxmlformats.org/drawingml/2006/main" prst="rect">
            <a:avLst/>
          </a:prstGeom>
          <a:solidFill xmlns:a="http://schemas.openxmlformats.org/drawingml/2006/main">
            <a:srgbClr val="2F8FC2"/>
          </a:solidFill>
          <a:ln xmlns:a="http://schemas.openxmlformats.org/drawingml/2006/main" w="0">
            <a:solidFill>
              <a:srgbClr val="2F8FC2"/>
            </a:solidFill>
            <a:prstDash val="solid"/>
          </a:ln>
        </p:spPr>
      </p:sp>
      <p:sp>
        <p:nvSpPr>
          <p:cNvPr id="17" name="text-82-178-Business UI">
            <a:extLst xmlns:a="http://schemas.openxmlformats.org/drawingml/2006/main">
              <a:ext uri="{FF2B5EF4-FFF2-40B4-BE49-F238E27FC236}">
                <a16:creationId xmlns:a16="http://schemas.microsoft.com/office/drawing/2014/main" id="{C71FD57C-4E87-4129-9695-57C2F6CB9C07}"/>
              </a:ext>
            </a:extLst>
          </p:cNvPr>
          <p:cNvSpPr>
            <a:spLocks xmlns:a="http://schemas.openxmlformats.org/drawingml/2006/main" noGrp="1"/>
          </p:cNvSpPr>
          <p:nvPr/>
        </p:nvSpPr>
        <p:spPr>
          <a:xfrm xmlns:a="http://schemas.openxmlformats.org/drawingml/2006/main">
            <a:off x="781050" y="169545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102744"/>
                </a:solidFill>
                <a:latin typeface="Arial"/>
                <a:ea typeface="Arial"/>
                <a:cs typeface="Arial"/>
              </a:defRPr>
            </a:pPr>
            <a:r>
              <a:rPr sz="1088" b="1">
                <a:solidFill>
                  <a:srgbClr val="102744"/>
                </a:solidFill>
                <a:latin typeface="Arial"/>
                <a:ea typeface="Arial"/>
                <a:cs typeface="Arial"/>
              </a:rPr>
              <a:t>Business UI</a:t>
            </a:r>
          </a:p>
        </p:txBody>
      </p:sp>
      <p:sp>
        <p:nvSpPr>
          <p:cNvPr id="18" name="text-346-178-React + TypeScri">
            <a:extLst xmlns:a="http://schemas.openxmlformats.org/drawingml/2006/main">
              <a:ext uri="{FF2B5EF4-FFF2-40B4-BE49-F238E27FC236}">
                <a16:creationId xmlns:a16="http://schemas.microsoft.com/office/drawing/2014/main" id="{18581F9F-D407-4CC5-941B-F13857AFF8BB}"/>
              </a:ext>
            </a:extLst>
          </p:cNvPr>
          <p:cNvSpPr>
            <a:spLocks xmlns:a="http://schemas.openxmlformats.org/drawingml/2006/main" noGrp="1"/>
          </p:cNvSpPr>
          <p:nvPr/>
        </p:nvSpPr>
        <p:spPr>
          <a:xfrm xmlns:a="http://schemas.openxmlformats.org/drawingml/2006/main">
            <a:off x="3295650" y="16954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62638"/>
                </a:solidFill>
                <a:latin typeface="Arial"/>
                <a:ea typeface="Arial"/>
                <a:cs typeface="Arial"/>
              </a:defRPr>
            </a:pPr>
            <a:r>
              <a:rPr sz="1125" b="1">
                <a:solidFill>
                  <a:srgbClr val="162638"/>
                </a:solidFill>
                <a:latin typeface="Arial"/>
                <a:ea typeface="Arial"/>
                <a:cs typeface="Arial"/>
              </a:rPr>
              <a:t>React + TypeScript</a:t>
            </a:r>
          </a:p>
        </p:txBody>
      </p:sp>
      <p:sp>
        <p:nvSpPr>
          <p:cNvPr id="19" name="text-700-173-Tìm kiếm, duyệt,">
            <a:extLst xmlns:a="http://schemas.openxmlformats.org/drawingml/2006/main">
              <a:ext uri="{FF2B5EF4-FFF2-40B4-BE49-F238E27FC236}">
                <a16:creationId xmlns:a16="http://schemas.microsoft.com/office/drawing/2014/main" id="{B1FB4697-930A-461B-97EC-EEE9B0E2D6F5}"/>
              </a:ext>
            </a:extLst>
          </p:cNvPr>
          <p:cNvSpPr>
            <a:spLocks xmlns:a="http://schemas.openxmlformats.org/drawingml/2006/main" noGrp="1"/>
          </p:cNvSpPr>
          <p:nvPr/>
        </p:nvSpPr>
        <p:spPr>
          <a:xfrm xmlns:a="http://schemas.openxmlformats.org/drawingml/2006/main">
            <a:off x="6667500" y="164782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0">
                <a:solidFill>
                  <a:srgbClr val="4B6075"/>
                </a:solidFill>
                <a:latin typeface="Arial"/>
                <a:ea typeface="Arial"/>
                <a:cs typeface="Arial"/>
              </a:defRPr>
            </a:pPr>
            <a:r>
              <a:rPr sz="1013" b="0">
                <a:solidFill>
                  <a:srgbClr val="4B6075"/>
                </a:solidFill>
                <a:latin typeface="Arial"/>
                <a:ea typeface="Arial"/>
                <a:cs typeface="Arial"/>
              </a:rPr>
              <a:t>Tìm kiếm, duyệt, review và quản trị trên Web lẫn Desktop</a:t>
            </a:r>
          </a:p>
        </p:txBody>
      </p:sp>
      <p:sp>
        <p:nvSpPr>
          <p:cNvPr id="20" name="box-58-224">
            <a:extLst xmlns:a="http://schemas.openxmlformats.org/drawingml/2006/main">
              <a:ext uri="{FF2B5EF4-FFF2-40B4-BE49-F238E27FC236}">
                <a16:creationId xmlns:a16="http://schemas.microsoft.com/office/drawing/2014/main" id="{1A3D8B02-17B6-4FA4-A158-54DBB13CFFDF}"/>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oundRect">
            <a:avLst>
              <a:gd name="adj" fmla="val 15385"/>
            </a:avLst>
          </a:prstGeom>
          <a:solidFill xmlns:a="http://schemas.openxmlformats.org/drawingml/2006/main">
            <a:srgbClr val="EAF3F9"/>
          </a:solidFill>
          <a:ln xmlns:a="http://schemas.openxmlformats.org/drawingml/2006/main" w="9525">
            <a:solidFill>
              <a:srgbClr val="CBD8E3"/>
            </a:solidFill>
            <a:prstDash val="solid"/>
          </a:ln>
        </p:spPr>
      </p:sp>
      <p:sp>
        <p:nvSpPr>
          <p:cNvPr id="21" name="box-58-224">
            <a:extLst xmlns:a="http://schemas.openxmlformats.org/drawingml/2006/main">
              <a:ext uri="{FF2B5EF4-FFF2-40B4-BE49-F238E27FC236}">
                <a16:creationId xmlns:a16="http://schemas.microsoft.com/office/drawing/2014/main" id="{17BB275E-54EE-476B-8D12-64E8CEA05E5A}"/>
              </a:ext>
            </a:extLst>
          </p:cNvPr>
          <p:cNvSpPr>
            <a:spLocks xmlns:a="http://schemas.openxmlformats.org/drawingml/2006/main" noGrp="1"/>
          </p:cNvSpPr>
          <p:nvPr/>
        </p:nvSpPr>
        <p:spPr>
          <a:xfrm xmlns:a="http://schemas.openxmlformats.org/drawingml/2006/main">
            <a:off x="552450" y="2133600"/>
            <a:ext cx="95250" cy="495300"/>
          </a:xfrm>
          <a:prstGeom xmlns:a="http://schemas.openxmlformats.org/drawingml/2006/main" prst="rect">
            <a:avLst/>
          </a:prstGeom>
          <a:solidFill xmlns:a="http://schemas.openxmlformats.org/drawingml/2006/main">
            <a:srgbClr val="2169A8"/>
          </a:solidFill>
          <a:ln xmlns:a="http://schemas.openxmlformats.org/drawingml/2006/main" w="0">
            <a:solidFill>
              <a:srgbClr val="2169A8"/>
            </a:solidFill>
            <a:prstDash val="solid"/>
          </a:ln>
        </p:spPr>
      </p:sp>
      <p:sp>
        <p:nvSpPr>
          <p:cNvPr id="22" name="text-82-236-Windows shell">
            <a:extLst xmlns:a="http://schemas.openxmlformats.org/drawingml/2006/main">
              <a:ext uri="{FF2B5EF4-FFF2-40B4-BE49-F238E27FC236}">
                <a16:creationId xmlns:a16="http://schemas.microsoft.com/office/drawing/2014/main" id="{4AE80257-0B98-43AC-882D-E20B02B25706}"/>
              </a:ext>
            </a:extLst>
          </p:cNvPr>
          <p:cNvSpPr>
            <a:spLocks xmlns:a="http://schemas.openxmlformats.org/drawingml/2006/main" noGrp="1"/>
          </p:cNvSpPr>
          <p:nvPr/>
        </p:nvSpPr>
        <p:spPr>
          <a:xfrm xmlns:a="http://schemas.openxmlformats.org/drawingml/2006/main">
            <a:off x="781050" y="22479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102744"/>
                </a:solidFill>
                <a:latin typeface="Arial"/>
                <a:ea typeface="Arial"/>
                <a:cs typeface="Arial"/>
              </a:defRPr>
            </a:pPr>
            <a:r>
              <a:rPr sz="1088" b="1">
                <a:solidFill>
                  <a:srgbClr val="102744"/>
                </a:solidFill>
                <a:latin typeface="Arial"/>
                <a:ea typeface="Arial"/>
                <a:cs typeface="Arial"/>
              </a:rPr>
              <a:t>Windows shell</a:t>
            </a:r>
          </a:p>
        </p:txBody>
      </p:sp>
      <p:sp>
        <p:nvSpPr>
          <p:cNvPr id="23" name="text-346-236-WPF + WebView2">
            <a:extLst xmlns:a="http://schemas.openxmlformats.org/drawingml/2006/main">
              <a:ext uri="{FF2B5EF4-FFF2-40B4-BE49-F238E27FC236}">
                <a16:creationId xmlns:a16="http://schemas.microsoft.com/office/drawing/2014/main" id="{7E0BADF5-7826-4CBA-9FE3-CD1AF4FB6EAF}"/>
              </a:ext>
            </a:extLst>
          </p:cNvPr>
          <p:cNvSpPr>
            <a:spLocks xmlns:a="http://schemas.openxmlformats.org/drawingml/2006/main" noGrp="1"/>
          </p:cNvSpPr>
          <p:nvPr/>
        </p:nvSpPr>
        <p:spPr>
          <a:xfrm xmlns:a="http://schemas.openxmlformats.org/drawingml/2006/main">
            <a:off x="3295650" y="22479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62638"/>
                </a:solidFill>
                <a:latin typeface="Arial"/>
                <a:ea typeface="Arial"/>
                <a:cs typeface="Arial"/>
              </a:defRPr>
            </a:pPr>
            <a:r>
              <a:rPr sz="1125" b="1">
                <a:solidFill>
                  <a:srgbClr val="162638"/>
                </a:solidFill>
                <a:latin typeface="Arial"/>
                <a:ea typeface="Arial"/>
                <a:cs typeface="Arial"/>
              </a:rPr>
              <a:t>WPF + WebView2</a:t>
            </a:r>
          </a:p>
        </p:txBody>
      </p:sp>
      <p:sp>
        <p:nvSpPr>
          <p:cNvPr id="24" name="text-700-231-Bề mặt Desktop h">
            <a:extLst xmlns:a="http://schemas.openxmlformats.org/drawingml/2006/main">
              <a:ext uri="{FF2B5EF4-FFF2-40B4-BE49-F238E27FC236}">
                <a16:creationId xmlns:a16="http://schemas.microsoft.com/office/drawing/2014/main" id="{1603FC9D-4D7A-4FE2-A755-F0047F7A677D}"/>
              </a:ext>
            </a:extLst>
          </p:cNvPr>
          <p:cNvSpPr>
            <a:spLocks xmlns:a="http://schemas.openxmlformats.org/drawingml/2006/main" noGrp="1"/>
          </p:cNvSpPr>
          <p:nvPr/>
        </p:nvSpPr>
        <p:spPr>
          <a:xfrm xmlns:a="http://schemas.openxmlformats.org/drawingml/2006/main">
            <a:off x="6667500" y="220027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0">
                <a:solidFill>
                  <a:srgbClr val="4B6075"/>
                </a:solidFill>
                <a:latin typeface="Arial"/>
                <a:ea typeface="Arial"/>
                <a:cs typeface="Arial"/>
              </a:defRPr>
            </a:pPr>
            <a:r>
              <a:rPr sz="1013" b="0">
                <a:solidFill>
                  <a:srgbClr val="4B6075"/>
                </a:solidFill>
                <a:latin typeface="Arial"/>
                <a:ea typeface="Arial"/>
                <a:cs typeface="Arial"/>
              </a:rPr>
              <a:t>Bề mặt Desktop hẹp; tái sử dụng business UI</a:t>
            </a:r>
          </a:p>
        </p:txBody>
      </p:sp>
      <p:sp>
        <p:nvSpPr>
          <p:cNvPr id="25" name="box-58-282">
            <a:extLst xmlns:a="http://schemas.openxmlformats.org/drawingml/2006/main">
              <a:ext uri="{FF2B5EF4-FFF2-40B4-BE49-F238E27FC236}">
                <a16:creationId xmlns:a16="http://schemas.microsoft.com/office/drawing/2014/main" id="{3BECC89F-0FAA-4AD3-9CE4-FD0B93C265EA}"/>
              </a:ext>
            </a:extLst>
          </p:cNvPr>
          <p:cNvSpPr>
            <a:spLocks xmlns:a="http://schemas.openxmlformats.org/drawingml/2006/main" noGrp="1"/>
          </p:cNvSpPr>
          <p:nvPr/>
        </p:nvSpPr>
        <p:spPr>
          <a:xfrm xmlns:a="http://schemas.openxmlformats.org/drawingml/2006/main">
            <a:off x="552450" y="2686050"/>
            <a:ext cx="11087100" cy="495300"/>
          </a:xfrm>
          <a:prstGeom xmlns:a="http://schemas.openxmlformats.org/drawingml/2006/main" prst="roundRect">
            <a:avLst>
              <a:gd name="adj" fmla="val 15385"/>
            </a:avLst>
          </a:prstGeom>
          <a:solidFill xmlns:a="http://schemas.openxmlformats.org/drawingml/2006/main">
            <a:srgbClr val="EAF3F9"/>
          </a:solidFill>
          <a:ln xmlns:a="http://schemas.openxmlformats.org/drawingml/2006/main" w="9525">
            <a:solidFill>
              <a:srgbClr val="CBD8E3"/>
            </a:solidFill>
            <a:prstDash val="solid"/>
          </a:ln>
        </p:spPr>
      </p:sp>
      <p:sp>
        <p:nvSpPr>
          <p:cNvPr id="26" name="box-58-282">
            <a:extLst xmlns:a="http://schemas.openxmlformats.org/drawingml/2006/main">
              <a:ext uri="{FF2B5EF4-FFF2-40B4-BE49-F238E27FC236}">
                <a16:creationId xmlns:a16="http://schemas.microsoft.com/office/drawing/2014/main" id="{C5B30488-CD92-4C9B-B51F-2C24B6CDC7BC}"/>
              </a:ext>
            </a:extLst>
          </p:cNvPr>
          <p:cNvSpPr>
            <a:spLocks xmlns:a="http://schemas.openxmlformats.org/drawingml/2006/main" noGrp="1"/>
          </p:cNvSpPr>
          <p:nvPr/>
        </p:nvSpPr>
        <p:spPr>
          <a:xfrm xmlns:a="http://schemas.openxmlformats.org/drawingml/2006/main">
            <a:off x="552450" y="2686050"/>
            <a:ext cx="95250" cy="495300"/>
          </a:xfrm>
          <a:prstGeom xmlns:a="http://schemas.openxmlformats.org/drawingml/2006/main" prst="rect">
            <a:avLst/>
          </a:prstGeom>
          <a:solidFill xmlns:a="http://schemas.openxmlformats.org/drawingml/2006/main">
            <a:srgbClr val="2169A8"/>
          </a:solidFill>
          <a:ln xmlns:a="http://schemas.openxmlformats.org/drawingml/2006/main" w="0">
            <a:solidFill>
              <a:srgbClr val="2169A8"/>
            </a:solidFill>
            <a:prstDash val="solid"/>
          </a:ln>
        </p:spPr>
      </p:sp>
      <p:sp>
        <p:nvSpPr>
          <p:cNvPr id="27" name="text-82-294-Local engineerin">
            <a:extLst xmlns:a="http://schemas.openxmlformats.org/drawingml/2006/main">
              <a:ext uri="{FF2B5EF4-FFF2-40B4-BE49-F238E27FC236}">
                <a16:creationId xmlns:a16="http://schemas.microsoft.com/office/drawing/2014/main" id="{F8609C5D-E9A6-4C66-A3BB-F77A980CFE44}"/>
              </a:ext>
            </a:extLst>
          </p:cNvPr>
          <p:cNvSpPr>
            <a:spLocks xmlns:a="http://schemas.openxmlformats.org/drawingml/2006/main" noGrp="1"/>
          </p:cNvSpPr>
          <p:nvPr/>
        </p:nvSpPr>
        <p:spPr>
          <a:xfrm xmlns:a="http://schemas.openxmlformats.org/drawingml/2006/main">
            <a:off x="781050" y="280035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102744"/>
                </a:solidFill>
                <a:latin typeface="Arial"/>
                <a:ea typeface="Arial"/>
                <a:cs typeface="Arial"/>
              </a:defRPr>
            </a:pPr>
            <a:r>
              <a:rPr sz="1088" b="1">
                <a:solidFill>
                  <a:srgbClr val="102744"/>
                </a:solidFill>
                <a:latin typeface="Arial"/>
                <a:ea typeface="Arial"/>
                <a:cs typeface="Arial"/>
              </a:rPr>
              <a:t>Local engineering boundary</a:t>
            </a:r>
          </a:p>
        </p:txBody>
      </p:sp>
      <p:sp>
        <p:nvSpPr>
          <p:cNvPr id="28" name="text-346-294-.NET 10 Workspac">
            <a:extLst xmlns:a="http://schemas.openxmlformats.org/drawingml/2006/main">
              <a:ext uri="{FF2B5EF4-FFF2-40B4-BE49-F238E27FC236}">
                <a16:creationId xmlns:a16="http://schemas.microsoft.com/office/drawing/2014/main" id="{A3E61EA7-13E0-44A6-8958-84646461C2CA}"/>
              </a:ext>
            </a:extLst>
          </p:cNvPr>
          <p:cNvSpPr>
            <a:spLocks xmlns:a="http://schemas.openxmlformats.org/drawingml/2006/main" noGrp="1"/>
          </p:cNvSpPr>
          <p:nvPr/>
        </p:nvSpPr>
        <p:spPr>
          <a:xfrm xmlns:a="http://schemas.openxmlformats.org/drawingml/2006/main">
            <a:off x="3295650" y="28003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62638"/>
                </a:solidFill>
                <a:latin typeface="Arial"/>
                <a:ea typeface="Arial"/>
                <a:cs typeface="Arial"/>
              </a:defRPr>
            </a:pPr>
            <a:r>
              <a:rPr sz="1125" b="1">
                <a:solidFill>
                  <a:srgbClr val="162638"/>
                </a:solidFill>
                <a:latin typeface="Arial"/>
                <a:ea typeface="Arial"/>
                <a:cs typeface="Arial"/>
              </a:rPr>
              <a:t>.NET 10 Workspace + Named Pipes</a:t>
            </a:r>
          </a:p>
        </p:txBody>
      </p:sp>
      <p:sp>
        <p:nvSpPr>
          <p:cNvPr id="29" name="text-700-289-File cục bộ, man">
            <a:extLst xmlns:a="http://schemas.openxmlformats.org/drawingml/2006/main">
              <a:ext uri="{FF2B5EF4-FFF2-40B4-BE49-F238E27FC236}">
                <a16:creationId xmlns:a16="http://schemas.microsoft.com/office/drawing/2014/main" id="{D3545D6A-CCC6-44B2-BC39-976BB071CEA2}"/>
              </a:ext>
            </a:extLst>
          </p:cNvPr>
          <p:cNvSpPr>
            <a:spLocks xmlns:a="http://schemas.openxmlformats.org/drawingml/2006/main" noGrp="1"/>
          </p:cNvSpPr>
          <p:nvPr/>
        </p:nvSpPr>
        <p:spPr>
          <a:xfrm xmlns:a="http://schemas.openxmlformats.org/drawingml/2006/main">
            <a:off x="6667500" y="275272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0">
                <a:solidFill>
                  <a:srgbClr val="4B6075"/>
                </a:solidFill>
                <a:latin typeface="Arial"/>
                <a:ea typeface="Arial"/>
                <a:cs typeface="Arial"/>
              </a:defRPr>
            </a:pPr>
            <a:r>
              <a:rPr sz="1013" b="0">
                <a:solidFill>
                  <a:srgbClr val="4B6075"/>
                </a:solidFill>
                <a:latin typeface="Arial"/>
                <a:ea typeface="Arial"/>
                <a:cs typeface="Arial"/>
              </a:rPr>
              <a:t>File cục bộ, manifest, resume, CAD/Office và IPC có xác thực</a:t>
            </a:r>
          </a:p>
        </p:txBody>
      </p:sp>
      <p:sp>
        <p:nvSpPr>
          <p:cNvPr id="30" name="box-58-340">
            <a:extLst xmlns:a="http://schemas.openxmlformats.org/drawingml/2006/main">
              <a:ext uri="{FF2B5EF4-FFF2-40B4-BE49-F238E27FC236}">
                <a16:creationId xmlns:a16="http://schemas.microsoft.com/office/drawing/2014/main" id="{E1DDE7F9-333E-4F29-82BD-7B91A10C1C2F}"/>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oundRect">
            <a:avLst>
              <a:gd name="adj" fmla="val 15385"/>
            </a:avLst>
          </a:prstGeom>
          <a:solidFill xmlns:a="http://schemas.openxmlformats.org/drawingml/2006/main">
            <a:srgbClr val="E8F7F9"/>
          </a:solidFill>
          <a:ln xmlns:a="http://schemas.openxmlformats.org/drawingml/2006/main" w="9525">
            <a:solidFill>
              <a:srgbClr val="CBD8E3"/>
            </a:solidFill>
            <a:prstDash val="solid"/>
          </a:ln>
        </p:spPr>
      </p:sp>
      <p:sp>
        <p:nvSpPr>
          <p:cNvPr id="31" name="box-58-340">
            <a:extLst xmlns:a="http://schemas.openxmlformats.org/drawingml/2006/main">
              <a:ext uri="{FF2B5EF4-FFF2-40B4-BE49-F238E27FC236}">
                <a16:creationId xmlns:a16="http://schemas.microsoft.com/office/drawing/2014/main" id="{A5B8FFC4-5C3E-49B2-82DC-5841CC50216C}"/>
              </a:ext>
            </a:extLst>
          </p:cNvPr>
          <p:cNvSpPr>
            <a:spLocks xmlns:a="http://schemas.openxmlformats.org/drawingml/2006/main" noGrp="1"/>
          </p:cNvSpPr>
          <p:nvPr/>
        </p:nvSpPr>
        <p:spPr>
          <a:xfrm xmlns:a="http://schemas.openxmlformats.org/drawingml/2006/main">
            <a:off x="552450" y="3238500"/>
            <a:ext cx="95250" cy="495300"/>
          </a:xfrm>
          <a:prstGeom xmlns:a="http://schemas.openxmlformats.org/drawingml/2006/main" prst="rect">
            <a:avLst/>
          </a:prstGeom>
          <a:solidFill xmlns:a="http://schemas.openxmlformats.org/drawingml/2006/main">
            <a:srgbClr val="2F8FC2"/>
          </a:solidFill>
          <a:ln xmlns:a="http://schemas.openxmlformats.org/drawingml/2006/main" w="0">
            <a:solidFill>
              <a:srgbClr val="2F8FC2"/>
            </a:solidFill>
            <a:prstDash val="solid"/>
          </a:ln>
        </p:spPr>
      </p:sp>
      <p:sp>
        <p:nvSpPr>
          <p:cNvPr id="32" name="text-82-352-Remote contract">
            <a:extLst xmlns:a="http://schemas.openxmlformats.org/drawingml/2006/main">
              <a:ext uri="{FF2B5EF4-FFF2-40B4-BE49-F238E27FC236}">
                <a16:creationId xmlns:a16="http://schemas.microsoft.com/office/drawing/2014/main" id="{22D84E49-5877-494E-B3D7-1875218BAE52}"/>
              </a:ext>
            </a:extLst>
          </p:cNvPr>
          <p:cNvSpPr>
            <a:spLocks xmlns:a="http://schemas.openxmlformats.org/drawingml/2006/main" noGrp="1"/>
          </p:cNvSpPr>
          <p:nvPr/>
        </p:nvSpPr>
        <p:spPr>
          <a:xfrm xmlns:a="http://schemas.openxmlformats.org/drawingml/2006/main">
            <a:off x="781050" y="33528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102744"/>
                </a:solidFill>
                <a:latin typeface="Arial"/>
                <a:ea typeface="Arial"/>
                <a:cs typeface="Arial"/>
              </a:defRPr>
            </a:pPr>
            <a:r>
              <a:rPr sz="1088" b="1">
                <a:solidFill>
                  <a:srgbClr val="102744"/>
                </a:solidFill>
                <a:latin typeface="Arial"/>
                <a:ea typeface="Arial"/>
                <a:cs typeface="Arial"/>
              </a:rPr>
              <a:t>Remote contract</a:t>
            </a:r>
          </a:p>
        </p:txBody>
      </p:sp>
      <p:sp>
        <p:nvSpPr>
          <p:cNvPr id="33" name="text-346-352-HTTPS / JSON RES">
            <a:extLst xmlns:a="http://schemas.openxmlformats.org/drawingml/2006/main">
              <a:ext uri="{FF2B5EF4-FFF2-40B4-BE49-F238E27FC236}">
                <a16:creationId xmlns:a16="http://schemas.microsoft.com/office/drawing/2014/main" id="{02CB09DF-12CD-40CC-B58E-64041A1844CA}"/>
              </a:ext>
            </a:extLst>
          </p:cNvPr>
          <p:cNvSpPr>
            <a:spLocks xmlns:a="http://schemas.openxmlformats.org/drawingml/2006/main" noGrp="1"/>
          </p:cNvSpPr>
          <p:nvPr/>
        </p:nvSpPr>
        <p:spPr>
          <a:xfrm xmlns:a="http://schemas.openxmlformats.org/drawingml/2006/main">
            <a:off x="3295650" y="33528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62638"/>
                </a:solidFill>
                <a:latin typeface="Arial"/>
                <a:ea typeface="Arial"/>
                <a:cs typeface="Arial"/>
              </a:defRPr>
            </a:pPr>
            <a:r>
              <a:rPr sz="1125" b="1">
                <a:solidFill>
                  <a:srgbClr val="162638"/>
                </a:solidFill>
                <a:latin typeface="Arial"/>
                <a:ea typeface="Arial"/>
                <a:cs typeface="Arial"/>
              </a:rPr>
              <a:t>HTTPS / JSON REST / OpenAPI 3.1</a:t>
            </a:r>
          </a:p>
        </p:txBody>
      </p:sp>
      <p:sp>
        <p:nvSpPr>
          <p:cNvPr id="34" name="text-700-347-Hợp đồng version">
            <a:extLst xmlns:a="http://schemas.openxmlformats.org/drawingml/2006/main">
              <a:ext uri="{FF2B5EF4-FFF2-40B4-BE49-F238E27FC236}">
                <a16:creationId xmlns:a16="http://schemas.microsoft.com/office/drawing/2014/main" id="{A76C19F9-4BD5-4B98-8338-1A9D518126DE}"/>
              </a:ext>
            </a:extLst>
          </p:cNvPr>
          <p:cNvSpPr>
            <a:spLocks xmlns:a="http://schemas.openxmlformats.org/drawingml/2006/main" noGrp="1"/>
          </p:cNvSpPr>
          <p:nvPr/>
        </p:nvSpPr>
        <p:spPr>
          <a:xfrm xmlns:a="http://schemas.openxmlformats.org/drawingml/2006/main">
            <a:off x="6667500" y="330517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0">
                <a:solidFill>
                  <a:srgbClr val="4B6075"/>
                </a:solidFill>
                <a:latin typeface="Arial"/>
                <a:ea typeface="Arial"/>
                <a:cs typeface="Arial"/>
              </a:defRPr>
            </a:pPr>
            <a:r>
              <a:rPr sz="1013" b="0">
                <a:solidFill>
                  <a:srgbClr val="4B6075"/>
                </a:solidFill>
                <a:latin typeface="Arial"/>
                <a:ea typeface="Arial"/>
                <a:cs typeface="Arial"/>
              </a:rPr>
              <a:t>Hợp đồng versioned giữa Client, Workspace và Server</a:t>
            </a:r>
          </a:p>
        </p:txBody>
      </p:sp>
      <p:sp>
        <p:nvSpPr>
          <p:cNvPr id="35" name="box-58-398">
            <a:extLst xmlns:a="http://schemas.openxmlformats.org/drawingml/2006/main">
              <a:ext uri="{FF2B5EF4-FFF2-40B4-BE49-F238E27FC236}">
                <a16:creationId xmlns:a16="http://schemas.microsoft.com/office/drawing/2014/main" id="{2B066BB3-F52B-46C1-9373-58DD2D02D1BD}"/>
              </a:ext>
            </a:extLst>
          </p:cNvPr>
          <p:cNvSpPr>
            <a:spLocks xmlns:a="http://schemas.openxmlformats.org/drawingml/2006/main" noGrp="1"/>
          </p:cNvSpPr>
          <p:nvPr/>
        </p:nvSpPr>
        <p:spPr>
          <a:xfrm xmlns:a="http://schemas.openxmlformats.org/drawingml/2006/main">
            <a:off x="552450" y="3790950"/>
            <a:ext cx="11087100" cy="495300"/>
          </a:xfrm>
          <a:prstGeom xmlns:a="http://schemas.openxmlformats.org/drawingml/2006/main" prst="roundRect">
            <a:avLst>
              <a:gd name="adj" fmla="val 15385"/>
            </a:avLst>
          </a:prstGeom>
          <a:solidFill xmlns:a="http://schemas.openxmlformats.org/drawingml/2006/main">
            <a:srgbClr val="F0EDFA"/>
          </a:solidFill>
          <a:ln xmlns:a="http://schemas.openxmlformats.org/drawingml/2006/main" w="9525">
            <a:solidFill>
              <a:srgbClr val="CBD8E3"/>
            </a:solidFill>
            <a:prstDash val="solid"/>
          </a:ln>
        </p:spPr>
      </p:sp>
      <p:sp>
        <p:nvSpPr>
          <p:cNvPr id="36" name="box-58-398">
            <a:extLst xmlns:a="http://schemas.openxmlformats.org/drawingml/2006/main">
              <a:ext uri="{FF2B5EF4-FFF2-40B4-BE49-F238E27FC236}">
                <a16:creationId xmlns:a16="http://schemas.microsoft.com/office/drawing/2014/main" id="{CF58B7F4-C3D6-45C7-8961-EC52D6F9BEDC}"/>
              </a:ext>
            </a:extLst>
          </p:cNvPr>
          <p:cNvSpPr>
            <a:spLocks xmlns:a="http://schemas.openxmlformats.org/drawingml/2006/main" noGrp="1"/>
          </p:cNvSpPr>
          <p:nvPr/>
        </p:nvSpPr>
        <p:spPr>
          <a:xfrm xmlns:a="http://schemas.openxmlformats.org/drawingml/2006/main">
            <a:off x="552450" y="3790950"/>
            <a:ext cx="95250" cy="495300"/>
          </a:xfrm>
          <a:prstGeom xmlns:a="http://schemas.openxmlformats.org/drawingml/2006/main" prst="rect">
            <a:avLst/>
          </a:prstGeom>
          <a:solidFill xmlns:a="http://schemas.openxmlformats.org/drawingml/2006/main">
            <a:srgbClr val="6C5AA8"/>
          </a:solidFill>
          <a:ln xmlns:a="http://schemas.openxmlformats.org/drawingml/2006/main" w="0">
            <a:solidFill>
              <a:srgbClr val="6C5AA8"/>
            </a:solidFill>
            <a:prstDash val="solid"/>
          </a:ln>
        </p:spPr>
      </p:sp>
      <p:sp>
        <p:nvSpPr>
          <p:cNvPr id="37" name="text-82-410-Core Server">
            <a:extLst xmlns:a="http://schemas.openxmlformats.org/drawingml/2006/main">
              <a:ext uri="{FF2B5EF4-FFF2-40B4-BE49-F238E27FC236}">
                <a16:creationId xmlns:a16="http://schemas.microsoft.com/office/drawing/2014/main" id="{22B321EB-6B7E-4DFD-96A9-24C4938FB2A2}"/>
              </a:ext>
            </a:extLst>
          </p:cNvPr>
          <p:cNvSpPr>
            <a:spLocks xmlns:a="http://schemas.openxmlformats.org/drawingml/2006/main" noGrp="1"/>
          </p:cNvSpPr>
          <p:nvPr/>
        </p:nvSpPr>
        <p:spPr>
          <a:xfrm xmlns:a="http://schemas.openxmlformats.org/drawingml/2006/main">
            <a:off x="781050" y="390525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102744"/>
                </a:solidFill>
                <a:latin typeface="Arial"/>
                <a:ea typeface="Arial"/>
                <a:cs typeface="Arial"/>
              </a:defRPr>
            </a:pPr>
            <a:r>
              <a:rPr sz="1088" b="1">
                <a:solidFill>
                  <a:srgbClr val="102744"/>
                </a:solidFill>
                <a:latin typeface="Arial"/>
                <a:ea typeface="Arial"/>
                <a:cs typeface="Arial"/>
              </a:rPr>
              <a:t>Core Server</a:t>
            </a:r>
          </a:p>
        </p:txBody>
      </p:sp>
      <p:sp>
        <p:nvSpPr>
          <p:cNvPr id="38" name="text-346-410-Java 25 + Spring">
            <a:extLst xmlns:a="http://schemas.openxmlformats.org/drawingml/2006/main">
              <a:ext uri="{FF2B5EF4-FFF2-40B4-BE49-F238E27FC236}">
                <a16:creationId xmlns:a16="http://schemas.microsoft.com/office/drawing/2014/main" id="{02DD6016-C403-4BCA-8DBD-6E8002B814CE}"/>
              </a:ext>
            </a:extLst>
          </p:cNvPr>
          <p:cNvSpPr>
            <a:spLocks xmlns:a="http://schemas.openxmlformats.org/drawingml/2006/main" noGrp="1"/>
          </p:cNvSpPr>
          <p:nvPr/>
        </p:nvSpPr>
        <p:spPr>
          <a:xfrm xmlns:a="http://schemas.openxmlformats.org/drawingml/2006/main">
            <a:off x="3295650" y="39052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62638"/>
                </a:solidFill>
                <a:latin typeface="Arial"/>
                <a:ea typeface="Arial"/>
                <a:cs typeface="Arial"/>
              </a:defRPr>
            </a:pPr>
            <a:r>
              <a:rPr sz="1125" b="1">
                <a:solidFill>
                  <a:srgbClr val="162638"/>
                </a:solidFill>
                <a:latin typeface="Arial"/>
                <a:ea typeface="Arial"/>
                <a:cs typeface="Arial"/>
              </a:rPr>
              <a:t>Java 25 + Spring Boot + Modulith</a:t>
            </a:r>
          </a:p>
        </p:txBody>
      </p:sp>
      <p:sp>
        <p:nvSpPr>
          <p:cNvPr id="39" name="text-700-405-Product authorit">
            <a:extLst xmlns:a="http://schemas.openxmlformats.org/drawingml/2006/main">
              <a:ext uri="{FF2B5EF4-FFF2-40B4-BE49-F238E27FC236}">
                <a16:creationId xmlns:a16="http://schemas.microsoft.com/office/drawing/2014/main" id="{22918547-0A9F-4FB3-8F0F-2A15B5C386C8}"/>
              </a:ext>
            </a:extLst>
          </p:cNvPr>
          <p:cNvSpPr>
            <a:spLocks xmlns:a="http://schemas.openxmlformats.org/drawingml/2006/main" noGrp="1"/>
          </p:cNvSpPr>
          <p:nvPr/>
        </p:nvSpPr>
        <p:spPr>
          <a:xfrm xmlns:a="http://schemas.openxmlformats.org/drawingml/2006/main">
            <a:off x="6667500" y="385762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0">
                <a:solidFill>
                  <a:srgbClr val="4B6075"/>
                </a:solidFill>
                <a:latin typeface="Arial"/>
                <a:ea typeface="Arial"/>
                <a:cs typeface="Arial"/>
              </a:defRPr>
            </a:pPr>
            <a:r>
              <a:rPr sz="1013" b="0">
                <a:solidFill>
                  <a:srgbClr val="4B6075"/>
                </a:solidFill>
                <a:latin typeface="Arial"/>
                <a:ea typeface="Arial"/>
                <a:cs typeface="Arial"/>
              </a:rPr>
              <a:t>Product authority, transaction, policy, workflow, release và API</a:t>
            </a:r>
          </a:p>
        </p:txBody>
      </p:sp>
      <p:sp>
        <p:nvSpPr>
          <p:cNvPr id="40" name="box-58-456">
            <a:extLst xmlns:a="http://schemas.openxmlformats.org/drawingml/2006/main">
              <a:ext uri="{FF2B5EF4-FFF2-40B4-BE49-F238E27FC236}">
                <a16:creationId xmlns:a16="http://schemas.microsoft.com/office/drawing/2014/main" id="{A80CCA0B-B8EC-47ED-80D5-452AF4824EDD}"/>
              </a:ext>
            </a:extLst>
          </p:cNvPr>
          <p:cNvSpPr>
            <a:spLocks xmlns:a="http://schemas.openxmlformats.org/drawingml/2006/main" noGrp="1"/>
          </p:cNvSpPr>
          <p:nvPr/>
        </p:nvSpPr>
        <p:spPr>
          <a:xfrm xmlns:a="http://schemas.openxmlformats.org/drawingml/2006/main">
            <a:off x="552450" y="4343400"/>
            <a:ext cx="11087100" cy="495300"/>
          </a:xfrm>
          <a:prstGeom xmlns:a="http://schemas.openxmlformats.org/drawingml/2006/main" prst="roundRect">
            <a:avLst>
              <a:gd name="adj" fmla="val 15385"/>
            </a:avLst>
          </a:prstGeom>
          <a:solidFill xmlns:a="http://schemas.openxmlformats.org/drawingml/2006/main">
            <a:srgbClr val="F0EDFA"/>
          </a:solidFill>
          <a:ln xmlns:a="http://schemas.openxmlformats.org/drawingml/2006/main" w="9525">
            <a:solidFill>
              <a:srgbClr val="CBD8E3"/>
            </a:solidFill>
            <a:prstDash val="solid"/>
          </a:ln>
        </p:spPr>
      </p:sp>
      <p:sp>
        <p:nvSpPr>
          <p:cNvPr id="41" name="box-58-456">
            <a:extLst xmlns:a="http://schemas.openxmlformats.org/drawingml/2006/main">
              <a:ext uri="{FF2B5EF4-FFF2-40B4-BE49-F238E27FC236}">
                <a16:creationId xmlns:a16="http://schemas.microsoft.com/office/drawing/2014/main" id="{336E5213-4407-4E9C-A42B-A4EC5B8C6AF5}"/>
              </a:ext>
            </a:extLst>
          </p:cNvPr>
          <p:cNvSpPr>
            <a:spLocks xmlns:a="http://schemas.openxmlformats.org/drawingml/2006/main" noGrp="1"/>
          </p:cNvSpPr>
          <p:nvPr/>
        </p:nvSpPr>
        <p:spPr>
          <a:xfrm xmlns:a="http://schemas.openxmlformats.org/drawingml/2006/main">
            <a:off x="552450" y="4343400"/>
            <a:ext cx="95250" cy="495300"/>
          </a:xfrm>
          <a:prstGeom xmlns:a="http://schemas.openxmlformats.org/drawingml/2006/main" prst="rect">
            <a:avLst/>
          </a:prstGeom>
          <a:solidFill xmlns:a="http://schemas.openxmlformats.org/drawingml/2006/main">
            <a:srgbClr val="6C5AA8"/>
          </a:solidFill>
          <a:ln xmlns:a="http://schemas.openxmlformats.org/drawingml/2006/main" w="0">
            <a:solidFill>
              <a:srgbClr val="6C5AA8"/>
            </a:solidFill>
            <a:prstDash val="solid"/>
          </a:ln>
        </p:spPr>
      </p:sp>
      <p:sp>
        <p:nvSpPr>
          <p:cNvPr id="42" name="text-82-468-Server platform">
            <a:extLst xmlns:a="http://schemas.openxmlformats.org/drawingml/2006/main">
              <a:ext uri="{FF2B5EF4-FFF2-40B4-BE49-F238E27FC236}">
                <a16:creationId xmlns:a16="http://schemas.microsoft.com/office/drawing/2014/main" id="{EA168E1B-4DC3-481F-B2DB-F707C6D6BCBE}"/>
              </a:ext>
            </a:extLst>
          </p:cNvPr>
          <p:cNvSpPr>
            <a:spLocks xmlns:a="http://schemas.openxmlformats.org/drawingml/2006/main" noGrp="1"/>
          </p:cNvSpPr>
          <p:nvPr/>
        </p:nvSpPr>
        <p:spPr>
          <a:xfrm xmlns:a="http://schemas.openxmlformats.org/drawingml/2006/main">
            <a:off x="781050" y="44577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102744"/>
                </a:solidFill>
                <a:latin typeface="Arial"/>
                <a:ea typeface="Arial"/>
                <a:cs typeface="Arial"/>
              </a:defRPr>
            </a:pPr>
            <a:r>
              <a:rPr sz="1088" b="1">
                <a:solidFill>
                  <a:srgbClr val="102744"/>
                </a:solidFill>
                <a:latin typeface="Arial"/>
                <a:ea typeface="Arial"/>
                <a:cs typeface="Arial"/>
              </a:rPr>
              <a:t>Server platform</a:t>
            </a:r>
          </a:p>
        </p:txBody>
      </p:sp>
      <p:sp>
        <p:nvSpPr>
          <p:cNvPr id="43" name="text-346-468-Ubuntu Server 26">
            <a:extLst xmlns:a="http://schemas.openxmlformats.org/drawingml/2006/main">
              <a:ext uri="{FF2B5EF4-FFF2-40B4-BE49-F238E27FC236}">
                <a16:creationId xmlns:a16="http://schemas.microsoft.com/office/drawing/2014/main" id="{BFD22DAB-6E24-4E31-AF23-2A078EC3F847}"/>
              </a:ext>
            </a:extLst>
          </p:cNvPr>
          <p:cNvSpPr>
            <a:spLocks xmlns:a="http://schemas.openxmlformats.org/drawingml/2006/main" noGrp="1"/>
          </p:cNvSpPr>
          <p:nvPr/>
        </p:nvSpPr>
        <p:spPr>
          <a:xfrm xmlns:a="http://schemas.openxmlformats.org/drawingml/2006/main">
            <a:off x="3295650" y="4457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62638"/>
                </a:solidFill>
                <a:latin typeface="Arial"/>
                <a:ea typeface="Arial"/>
                <a:cs typeface="Arial"/>
              </a:defRPr>
            </a:pPr>
            <a:r>
              <a:rPr sz="1125" b="1">
                <a:solidFill>
                  <a:srgbClr val="162638"/>
                </a:solidFill>
                <a:latin typeface="Arial"/>
                <a:ea typeface="Arial"/>
                <a:cs typeface="Arial"/>
              </a:rPr>
              <a:t>Ubuntu Server 26.04 LTS</a:t>
            </a:r>
          </a:p>
        </p:txBody>
      </p:sp>
      <p:sp>
        <p:nvSpPr>
          <p:cNvPr id="44" name="text-700-463-Platform directi">
            <a:extLst xmlns:a="http://schemas.openxmlformats.org/drawingml/2006/main">
              <a:ext uri="{FF2B5EF4-FFF2-40B4-BE49-F238E27FC236}">
                <a16:creationId xmlns:a16="http://schemas.microsoft.com/office/drawing/2014/main" id="{EF927115-95C2-4E4F-BCBD-A149BB630470}"/>
              </a:ext>
            </a:extLst>
          </p:cNvPr>
          <p:cNvSpPr>
            <a:spLocks xmlns:a="http://schemas.openxmlformats.org/drawingml/2006/main" noGrp="1"/>
          </p:cNvSpPr>
          <p:nvPr/>
        </p:nvSpPr>
        <p:spPr>
          <a:xfrm xmlns:a="http://schemas.openxmlformats.org/drawingml/2006/main">
            <a:off x="6667500" y="441007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0">
                <a:solidFill>
                  <a:srgbClr val="4B6075"/>
                </a:solidFill>
                <a:latin typeface="Arial"/>
                <a:ea typeface="Arial"/>
                <a:cs typeface="Arial"/>
              </a:defRPr>
            </a:pPr>
            <a:r>
              <a:rPr sz="1013" b="0">
                <a:solidFill>
                  <a:srgbClr val="4B6075"/>
                </a:solidFill>
                <a:latin typeface="Arial"/>
                <a:ea typeface="Arial"/>
                <a:cs typeface="Arial"/>
              </a:rPr>
              <a:t>Platform direction; exact operational build còn Q-14 NOT-RUN</a:t>
            </a:r>
          </a:p>
        </p:txBody>
      </p:sp>
      <p:sp>
        <p:nvSpPr>
          <p:cNvPr id="45" name="box-58-514">
            <a:extLst xmlns:a="http://schemas.openxmlformats.org/drawingml/2006/main">
              <a:ext uri="{FF2B5EF4-FFF2-40B4-BE49-F238E27FC236}">
                <a16:creationId xmlns:a16="http://schemas.microsoft.com/office/drawing/2014/main" id="{94574861-D0DC-4D60-BC72-6BB05E75E441}"/>
              </a:ext>
            </a:extLst>
          </p:cNvPr>
          <p:cNvSpPr>
            <a:spLocks xmlns:a="http://schemas.openxmlformats.org/drawingml/2006/main" noGrp="1"/>
          </p:cNvSpPr>
          <p:nvPr/>
        </p:nvSpPr>
        <p:spPr>
          <a:xfrm xmlns:a="http://schemas.openxmlformats.org/drawingml/2006/main">
            <a:off x="552450" y="4895850"/>
            <a:ext cx="11087100" cy="495300"/>
          </a:xfrm>
          <a:prstGeom xmlns:a="http://schemas.openxmlformats.org/drawingml/2006/main" prst="roundRect">
            <a:avLst>
              <a:gd name="adj" fmla="val 15385"/>
            </a:avLst>
          </a:prstGeom>
          <a:solidFill xmlns:a="http://schemas.openxmlformats.org/drawingml/2006/main">
            <a:srgbClr val="E7F5EE"/>
          </a:solidFill>
          <a:ln xmlns:a="http://schemas.openxmlformats.org/drawingml/2006/main" w="9525">
            <a:solidFill>
              <a:srgbClr val="CBD8E3"/>
            </a:solidFill>
            <a:prstDash val="solid"/>
          </a:ln>
        </p:spPr>
      </p:sp>
      <p:sp>
        <p:nvSpPr>
          <p:cNvPr id="46" name="box-58-514">
            <a:extLst xmlns:a="http://schemas.openxmlformats.org/drawingml/2006/main">
              <a:ext uri="{FF2B5EF4-FFF2-40B4-BE49-F238E27FC236}">
                <a16:creationId xmlns:a16="http://schemas.microsoft.com/office/drawing/2014/main" id="{8AD98FE7-D97B-4752-AE80-98ABDB378A90}"/>
              </a:ext>
            </a:extLst>
          </p:cNvPr>
          <p:cNvSpPr>
            <a:spLocks xmlns:a="http://schemas.openxmlformats.org/drawingml/2006/main" noGrp="1"/>
          </p:cNvSpPr>
          <p:nvPr/>
        </p:nvSpPr>
        <p:spPr>
          <a:xfrm xmlns:a="http://schemas.openxmlformats.org/drawingml/2006/main">
            <a:off x="552450" y="4895850"/>
            <a:ext cx="95250" cy="495300"/>
          </a:xfrm>
          <a:prstGeom xmlns:a="http://schemas.openxmlformats.org/drawingml/2006/main" prst="rect">
            <a:avLst/>
          </a:prstGeom>
          <a:solidFill xmlns:a="http://schemas.openxmlformats.org/drawingml/2006/main">
            <a:srgbClr val="2D8A62"/>
          </a:solidFill>
          <a:ln xmlns:a="http://schemas.openxmlformats.org/drawingml/2006/main" w="0">
            <a:solidFill>
              <a:srgbClr val="2D8A62"/>
            </a:solidFill>
            <a:prstDash val="solid"/>
          </a:ln>
        </p:spPr>
      </p:sp>
      <p:sp>
        <p:nvSpPr>
          <p:cNvPr id="47" name="text-82-526-Authoritative da">
            <a:extLst xmlns:a="http://schemas.openxmlformats.org/drawingml/2006/main">
              <a:ext uri="{FF2B5EF4-FFF2-40B4-BE49-F238E27FC236}">
                <a16:creationId xmlns:a16="http://schemas.microsoft.com/office/drawing/2014/main" id="{64A35455-61A6-45A3-A737-AC61B6131768}"/>
              </a:ext>
            </a:extLst>
          </p:cNvPr>
          <p:cNvSpPr>
            <a:spLocks xmlns:a="http://schemas.openxmlformats.org/drawingml/2006/main" noGrp="1"/>
          </p:cNvSpPr>
          <p:nvPr/>
        </p:nvSpPr>
        <p:spPr>
          <a:xfrm xmlns:a="http://schemas.openxmlformats.org/drawingml/2006/main">
            <a:off x="781050" y="501015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102744"/>
                </a:solidFill>
                <a:latin typeface="Arial"/>
                <a:ea typeface="Arial"/>
                <a:cs typeface="Arial"/>
              </a:defRPr>
            </a:pPr>
            <a:r>
              <a:rPr sz="1088" b="1">
                <a:solidFill>
                  <a:srgbClr val="102744"/>
                </a:solidFill>
                <a:latin typeface="Arial"/>
                <a:ea typeface="Arial"/>
                <a:cs typeface="Arial"/>
              </a:rPr>
              <a:t>Authoritative data</a:t>
            </a:r>
          </a:p>
        </p:txBody>
      </p:sp>
      <p:sp>
        <p:nvSpPr>
          <p:cNvPr id="48" name="text-346-526-PostgreSQL 18 + ">
            <a:extLst xmlns:a="http://schemas.openxmlformats.org/drawingml/2006/main">
              <a:ext uri="{FF2B5EF4-FFF2-40B4-BE49-F238E27FC236}">
                <a16:creationId xmlns:a16="http://schemas.microsoft.com/office/drawing/2014/main" id="{20606FDE-7B7E-44A5-BCA0-F41ED1FB1C21}"/>
              </a:ext>
            </a:extLst>
          </p:cNvPr>
          <p:cNvSpPr>
            <a:spLocks xmlns:a="http://schemas.openxmlformats.org/drawingml/2006/main" noGrp="1"/>
          </p:cNvSpPr>
          <p:nvPr/>
        </p:nvSpPr>
        <p:spPr>
          <a:xfrm xmlns:a="http://schemas.openxmlformats.org/drawingml/2006/main">
            <a:off x="3295650" y="5010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62638"/>
                </a:solidFill>
                <a:latin typeface="Arial"/>
                <a:ea typeface="Arial"/>
                <a:cs typeface="Arial"/>
              </a:defRPr>
            </a:pPr>
            <a:r>
              <a:rPr sz="1125" b="1">
                <a:solidFill>
                  <a:srgbClr val="162638"/>
                </a:solidFill>
                <a:latin typeface="Arial"/>
                <a:ea typeface="Arial"/>
                <a:cs typeface="Arial"/>
              </a:rPr>
              <a:t>PostgreSQL 18 + Artifact Store</a:t>
            </a:r>
          </a:p>
        </p:txBody>
      </p:sp>
      <p:sp>
        <p:nvSpPr>
          <p:cNvPr id="49" name="text-700-521-Metadata/state c">
            <a:extLst xmlns:a="http://schemas.openxmlformats.org/drawingml/2006/main">
              <a:ext uri="{FF2B5EF4-FFF2-40B4-BE49-F238E27FC236}">
                <a16:creationId xmlns:a16="http://schemas.microsoft.com/office/drawing/2014/main" id="{774A1A52-E325-4BA9-8A19-93C04951309D}"/>
              </a:ext>
            </a:extLst>
          </p:cNvPr>
          <p:cNvSpPr>
            <a:spLocks xmlns:a="http://schemas.openxmlformats.org/drawingml/2006/main" noGrp="1"/>
          </p:cNvSpPr>
          <p:nvPr/>
        </p:nvSpPr>
        <p:spPr>
          <a:xfrm xmlns:a="http://schemas.openxmlformats.org/drawingml/2006/main">
            <a:off x="6667500" y="496252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0">
                <a:solidFill>
                  <a:srgbClr val="4B6075"/>
                </a:solidFill>
                <a:latin typeface="Arial"/>
                <a:ea typeface="Arial"/>
                <a:cs typeface="Arial"/>
              </a:defRPr>
            </a:pPr>
            <a:r>
              <a:rPr sz="1013" b="0">
                <a:solidFill>
                  <a:srgbClr val="4B6075"/>
                </a:solidFill>
                <a:latin typeface="Arial"/>
                <a:ea typeface="Arial"/>
                <a:cs typeface="Arial"/>
              </a:rPr>
              <a:t>Metadata/state có giao dịch + binary bất biến</a:t>
            </a:r>
          </a:p>
        </p:txBody>
      </p:sp>
      <p:sp>
        <p:nvSpPr>
          <p:cNvPr id="50" name="box-58-572">
            <a:extLst xmlns:a="http://schemas.openxmlformats.org/drawingml/2006/main">
              <a:ext uri="{FF2B5EF4-FFF2-40B4-BE49-F238E27FC236}">
                <a16:creationId xmlns:a16="http://schemas.microsoft.com/office/drawing/2014/main" id="{FB71EA2A-8031-4BFF-A349-676F56F47D7C}"/>
              </a:ext>
            </a:extLst>
          </p:cNvPr>
          <p:cNvSpPr>
            <a:spLocks xmlns:a="http://schemas.openxmlformats.org/drawingml/2006/main" noGrp="1"/>
          </p:cNvSpPr>
          <p:nvPr/>
        </p:nvSpPr>
        <p:spPr>
          <a:xfrm xmlns:a="http://schemas.openxmlformats.org/drawingml/2006/main">
            <a:off x="552450" y="5448300"/>
            <a:ext cx="11087100" cy="495300"/>
          </a:xfrm>
          <a:prstGeom xmlns:a="http://schemas.openxmlformats.org/drawingml/2006/main" prst="roundRect">
            <a:avLst>
              <a:gd name="adj" fmla="val 15385"/>
            </a:avLst>
          </a:prstGeom>
          <a:solidFill xmlns:a="http://schemas.openxmlformats.org/drawingml/2006/main">
            <a:srgbClr val="FFF4DD"/>
          </a:solidFill>
          <a:ln xmlns:a="http://schemas.openxmlformats.org/drawingml/2006/main" w="9525">
            <a:solidFill>
              <a:srgbClr val="CBD8E3"/>
            </a:solidFill>
            <a:prstDash val="solid"/>
          </a:ln>
        </p:spPr>
      </p:sp>
      <p:sp>
        <p:nvSpPr>
          <p:cNvPr id="51" name="box-58-572">
            <a:extLst xmlns:a="http://schemas.openxmlformats.org/drawingml/2006/main">
              <a:ext uri="{FF2B5EF4-FFF2-40B4-BE49-F238E27FC236}">
                <a16:creationId xmlns:a16="http://schemas.microsoft.com/office/drawing/2014/main" id="{81E2ABB2-DB3A-4F36-870B-FB4880234C27}"/>
              </a:ext>
            </a:extLst>
          </p:cNvPr>
          <p:cNvSpPr>
            <a:spLocks xmlns:a="http://schemas.openxmlformats.org/drawingml/2006/main" noGrp="1"/>
          </p:cNvSpPr>
          <p:nvPr/>
        </p:nvSpPr>
        <p:spPr>
          <a:xfrm xmlns:a="http://schemas.openxmlformats.org/drawingml/2006/main">
            <a:off x="552450" y="5448300"/>
            <a:ext cx="95250" cy="495300"/>
          </a:xfrm>
          <a:prstGeom xmlns:a="http://schemas.openxmlformats.org/drawingml/2006/main" prst="rect">
            <a:avLst/>
          </a:prstGeom>
          <a:solidFill xmlns:a="http://schemas.openxmlformats.org/drawingml/2006/main">
            <a:srgbClr val="C58A1E"/>
          </a:solidFill>
          <a:ln xmlns:a="http://schemas.openxmlformats.org/drawingml/2006/main" w="0">
            <a:solidFill>
              <a:srgbClr val="C58A1E"/>
            </a:solidFill>
            <a:prstDash val="solid"/>
          </a:ln>
        </p:spPr>
      </p:sp>
      <p:sp>
        <p:nvSpPr>
          <p:cNvPr id="52" name="text-82-584-Format processin">
            <a:extLst xmlns:a="http://schemas.openxmlformats.org/drawingml/2006/main">
              <a:ext uri="{FF2B5EF4-FFF2-40B4-BE49-F238E27FC236}">
                <a16:creationId xmlns:a16="http://schemas.microsoft.com/office/drawing/2014/main" id="{8BDBED6C-5C99-4828-80CB-76ABADBE3957}"/>
              </a:ext>
            </a:extLst>
          </p:cNvPr>
          <p:cNvSpPr>
            <a:spLocks xmlns:a="http://schemas.openxmlformats.org/drawingml/2006/main" noGrp="1"/>
          </p:cNvSpPr>
          <p:nvPr/>
        </p:nvSpPr>
        <p:spPr>
          <a:xfrm xmlns:a="http://schemas.openxmlformats.org/drawingml/2006/main">
            <a:off x="781050" y="55626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102744"/>
                </a:solidFill>
                <a:latin typeface="Arial"/>
                <a:ea typeface="Arial"/>
                <a:cs typeface="Arial"/>
              </a:defRPr>
            </a:pPr>
            <a:r>
              <a:rPr sz="1088" b="1">
                <a:solidFill>
                  <a:srgbClr val="102744"/>
                </a:solidFill>
                <a:latin typeface="Arial"/>
                <a:ea typeface="Arial"/>
                <a:cs typeface="Arial"/>
              </a:rPr>
              <a:t>Format processing</a:t>
            </a:r>
          </a:p>
        </p:txBody>
      </p:sp>
      <p:sp>
        <p:nvSpPr>
          <p:cNvPr id="53" name="text-346-584-Windows Format W">
            <a:extLst xmlns:a="http://schemas.openxmlformats.org/drawingml/2006/main">
              <a:ext uri="{FF2B5EF4-FFF2-40B4-BE49-F238E27FC236}">
                <a16:creationId xmlns:a16="http://schemas.microsoft.com/office/drawing/2014/main" id="{477E5F2A-475F-4893-B7D6-9F03344F2A91}"/>
              </a:ext>
            </a:extLst>
          </p:cNvPr>
          <p:cNvSpPr>
            <a:spLocks xmlns:a="http://schemas.openxmlformats.org/drawingml/2006/main" noGrp="1"/>
          </p:cNvSpPr>
          <p:nvPr/>
        </p:nvSpPr>
        <p:spPr>
          <a:xfrm xmlns:a="http://schemas.openxmlformats.org/drawingml/2006/main">
            <a:off x="3295650" y="55626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62638"/>
                </a:solidFill>
                <a:latin typeface="Arial"/>
                <a:ea typeface="Arial"/>
                <a:cs typeface="Arial"/>
              </a:defRPr>
            </a:pPr>
            <a:r>
              <a:rPr sz="1125" b="1">
                <a:solidFill>
                  <a:srgbClr val="162638"/>
                </a:solidFill>
                <a:latin typeface="Arial"/>
                <a:ea typeface="Arial"/>
                <a:cs typeface="Arial"/>
              </a:rPr>
              <a:t>Windows Format Worker</a:t>
            </a:r>
          </a:p>
        </p:txBody>
      </p:sp>
      <p:sp>
        <p:nvSpPr>
          <p:cNvPr id="54" name="text-700-579-Boundary đã chọn">
            <a:extLst xmlns:a="http://schemas.openxmlformats.org/drawingml/2006/main">
              <a:ext uri="{FF2B5EF4-FFF2-40B4-BE49-F238E27FC236}">
                <a16:creationId xmlns:a16="http://schemas.microsoft.com/office/drawing/2014/main" id="{A1AE2002-3442-44F2-9E86-BE63C3701235}"/>
              </a:ext>
            </a:extLst>
          </p:cNvPr>
          <p:cNvSpPr>
            <a:spLocks xmlns:a="http://schemas.openxmlformats.org/drawingml/2006/main" noGrp="1"/>
          </p:cNvSpPr>
          <p:nvPr/>
        </p:nvSpPr>
        <p:spPr>
          <a:xfrm xmlns:a="http://schemas.openxmlformats.org/drawingml/2006/main">
            <a:off x="6667500" y="551497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0">
                <a:solidFill>
                  <a:srgbClr val="4B6075"/>
                </a:solidFill>
                <a:latin typeface="Arial"/>
                <a:ea typeface="Arial"/>
                <a:cs typeface="Arial"/>
              </a:defRPr>
            </a:pPr>
            <a:r>
              <a:rPr sz="1013" b="0">
                <a:solidFill>
                  <a:srgbClr val="4B6075"/>
                </a:solidFill>
                <a:latin typeface="Arial"/>
                <a:ea typeface="Arial"/>
                <a:cs typeface="Arial"/>
              </a:rPr>
              <a:t>Boundary đã chọn; exact runtime/toolchain chưa được chọn</a:t>
            </a:r>
          </a:p>
        </p:txBody>
      </p:sp>
      <p:sp>
        <p:nvSpPr>
          <p:cNvPr id="55" name="text-118-638-Công nghệ được c">
            <a:extLst xmlns:a="http://schemas.openxmlformats.org/drawingml/2006/main">
              <a:ext uri="{FF2B5EF4-FFF2-40B4-BE49-F238E27FC236}">
                <a16:creationId xmlns:a16="http://schemas.microsoft.com/office/drawing/2014/main" id="{41FFCB1A-BB6E-47D1-A8AB-4C542F77D35D}"/>
              </a:ext>
            </a:extLst>
          </p:cNvPr>
          <p:cNvSpPr>
            <a:spLocks xmlns:a="http://schemas.openxmlformats.org/drawingml/2006/main" noGrp="1"/>
          </p:cNvSpPr>
          <p:nvPr/>
        </p:nvSpPr>
        <p:spPr>
          <a:xfrm xmlns:a="http://schemas.openxmlformats.org/drawingml/2006/main">
            <a:off x="1123950" y="6076950"/>
            <a:ext cx="994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102744"/>
                </a:solidFill>
                <a:latin typeface="Arial"/>
                <a:ea typeface="Arial"/>
                <a:cs typeface="Arial"/>
              </a:defRPr>
            </a:pPr>
            <a:r>
              <a:rPr sz="1200" b="1">
                <a:solidFill>
                  <a:srgbClr val="102744"/>
                </a:solidFill>
                <a:latin typeface="Arial"/>
                <a:ea typeface="Arial"/>
                <a:cs typeface="Arial"/>
              </a:rPr>
              <a:t>Công nghệ được chọn theo trách nhiệm và ranh giới công việc.</a:t>
            </a:r>
          </a:p>
        </p:txBody>
      </p:sp>
    </p:spTree>
    <p:extLst>
      <p:ext uri="{BB962C8B-B14F-4D97-AF65-F5344CB8AC3E}">
        <p14:creationId xmlns:p14="http://schemas.microsoft.com/office/powerpoint/2010/main" val="13823474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box-0-0">
            <a:extLst xmlns:a="http://schemas.openxmlformats.org/drawingml/2006/main">
              <a:ext uri="{FF2B5EF4-FFF2-40B4-BE49-F238E27FC236}">
                <a16:creationId xmlns:a16="http://schemas.microsoft.com/office/drawing/2014/main" id="{1167248E-AA73-4B7B-A817-3D4A087DB60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6C5AA8"/>
          </a:solidFill>
          <a:ln xmlns:a="http://schemas.openxmlformats.org/drawingml/2006/main" w="0">
            <a:noFill/>
            <a:prstDash val="solid"/>
          </a:ln>
        </p:spPr>
      </p:sp>
      <p:sp>
        <p:nvSpPr>
          <p:cNvPr id="2" name="text-54-28-TECH">
            <a:extLst xmlns:a="http://schemas.openxmlformats.org/drawingml/2006/main">
              <a:ext uri="{FF2B5EF4-FFF2-40B4-BE49-F238E27FC236}">
                <a16:creationId xmlns:a16="http://schemas.microsoft.com/office/drawing/2014/main" id="{A3149B19-4286-4257-BBC7-7C122FF9D401}"/>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6C5AA8"/>
                </a:solidFill>
                <a:latin typeface="Arial"/>
                <a:ea typeface="Arial"/>
                <a:cs typeface="Arial"/>
              </a:defRPr>
            </a:pPr>
            <a:r>
              <a:rPr sz="1050" b="1">
                <a:solidFill>
                  <a:srgbClr val="6C5AA8"/>
                </a:solidFill>
                <a:latin typeface="Arial"/>
                <a:ea typeface="Arial"/>
                <a:cs typeface="Arial"/>
              </a:rPr>
              <a:t>TECH</a:t>
            </a:r>
          </a:p>
        </p:txBody>
      </p:sp>
      <p:sp>
        <p:nvSpPr>
          <p:cNvPr id="3" name="text-54-56-Tech — Các phươn">
            <a:extLst xmlns:a="http://schemas.openxmlformats.org/drawingml/2006/main">
              <a:ext uri="{FF2B5EF4-FFF2-40B4-BE49-F238E27FC236}">
                <a16:creationId xmlns:a16="http://schemas.microsoft.com/office/drawing/2014/main" id="{4C4841D8-1C35-4124-B7BE-4E28C82BB599}"/>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Tech — Các phương án đã được xem xét</a:t>
            </a:r>
          </a:p>
        </p:txBody>
      </p:sp>
      <p:sp>
        <p:nvSpPr>
          <p:cNvPr id="4" name="line-54-116">
            <a:extLst xmlns:a="http://schemas.openxmlformats.org/drawingml/2006/main">
              <a:ext uri="{FF2B5EF4-FFF2-40B4-BE49-F238E27FC236}">
                <a16:creationId xmlns:a16="http://schemas.microsoft.com/office/drawing/2014/main" id="{19310C98-3E6B-47DA-9F55-C08C6B75A322}"/>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TECH-001">
            <a:extLst xmlns:a="http://schemas.openxmlformats.org/drawingml/2006/main">
              <a:ext uri="{FF2B5EF4-FFF2-40B4-BE49-F238E27FC236}">
                <a16:creationId xmlns:a16="http://schemas.microsoft.com/office/drawing/2014/main" id="{DD3110CE-2131-4F76-A4C9-67A54E8047C5}"/>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TECH-001@0.14 · TECH-MATRIX@0.6 · TECH-VIEWS@0.2</a:t>
            </a:r>
          </a:p>
        </p:txBody>
      </p:sp>
      <p:sp>
        <p:nvSpPr>
          <p:cNvPr id="6" name="text-1170-680-14">
            <a:extLst xmlns:a="http://schemas.openxmlformats.org/drawingml/2006/main">
              <a:ext uri="{FF2B5EF4-FFF2-40B4-BE49-F238E27FC236}">
                <a16:creationId xmlns:a16="http://schemas.microsoft.com/office/drawing/2014/main" id="{A6A328D0-D2B8-49E9-985E-EC82C56FCC82}"/>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14</a:t>
            </a:r>
          </a:p>
        </p:txBody>
      </p:sp>
      <p:sp>
        <p:nvSpPr>
          <p:cNvPr id="7" name="diagram-meta-14">
            <a:extLst xmlns:a="http://schemas.openxmlformats.org/drawingml/2006/main">
              <a:ext uri="{FF2B5EF4-FFF2-40B4-BE49-F238E27FC236}">
                <a16:creationId xmlns:a16="http://schemas.microsoft.com/office/drawing/2014/main" id="{D919AAD9-28FB-4D83-8205-4E8A1B92C181}"/>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4">
            <a:extLst xmlns:a="http://schemas.openxmlformats.org/drawingml/2006/main">
              <a:ext uri="{FF2B5EF4-FFF2-40B4-BE49-F238E27FC236}">
                <a16:creationId xmlns:a16="http://schemas.microsoft.com/office/drawing/2014/main" id="{F598CF85-53A1-47B4-A010-BD050323F72D}"/>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Management simplification</a:t>
            </a:r>
          </a:p>
        </p:txBody>
      </p:sp>
      <p:sp>
        <p:nvSpPr>
          <p:cNvPr id="9" name="diagram-source-14">
            <a:extLst xmlns:a="http://schemas.openxmlformats.org/drawingml/2006/main">
              <a:ext uri="{FF2B5EF4-FFF2-40B4-BE49-F238E27FC236}">
                <a16:creationId xmlns:a16="http://schemas.microsoft.com/office/drawing/2014/main" id="{966291FC-FCB6-42EA-9EB3-00BC5347F218}"/>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TECH-D08</a:t>
            </a:r>
          </a:p>
        </p:txBody>
      </p:sp>
      <p:sp>
        <p:nvSpPr>
          <p:cNvPr id="10" name="diagram-why-14">
            <a:extLst xmlns:a="http://schemas.openxmlformats.org/drawingml/2006/main">
              <a:ext uri="{FF2B5EF4-FFF2-40B4-BE49-F238E27FC236}">
                <a16:creationId xmlns:a16="http://schemas.microsoft.com/office/drawing/2014/main" id="{45FCB968-E444-4D31-91A0-90551F433E80}"/>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Giải thích điều kiện mở lại</a:t>
            </a:r>
          </a:p>
        </p:txBody>
      </p:sp>
      <p:sp>
        <p:nvSpPr>
          <p:cNvPr id="11" name="source-link-14-TECH-D08">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D84916B4-7475-4E98-9F4D-5150648F24D1}"/>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TECH-D08 — Decision Reopen Map</a:t>
            </a:r>
          </a:p>
        </p:txBody>
      </p:sp>
      <p:sp>
        <p:nvSpPr>
          <p:cNvPr id="12" name="box-56-150">
            <a:extLst xmlns:a="http://schemas.openxmlformats.org/drawingml/2006/main">
              <a:ext uri="{FF2B5EF4-FFF2-40B4-BE49-F238E27FC236}">
                <a16:creationId xmlns:a16="http://schemas.microsoft.com/office/drawing/2014/main" id="{64A07AFF-AF6B-4E44-8814-74D58E4826FE}"/>
              </a:ext>
            </a:extLst>
          </p:cNvPr>
          <p:cNvSpPr>
            <a:spLocks xmlns:a="http://schemas.openxmlformats.org/drawingml/2006/main" noGrp="1"/>
          </p:cNvSpPr>
          <p:nvPr/>
        </p:nvSpPr>
        <p:spPr>
          <a:xfrm xmlns:a="http://schemas.openxmlformats.org/drawingml/2006/main">
            <a:off x="533400" y="1428750"/>
            <a:ext cx="11125200" cy="1352550"/>
          </a:xfrm>
          <a:prstGeom xmlns:a="http://schemas.openxmlformats.org/drawingml/2006/main" prst="roundRect">
            <a:avLst>
              <a:gd name="adj" fmla="val 5634"/>
            </a:avLst>
          </a:prstGeom>
          <a:solidFill xmlns:a="http://schemas.openxmlformats.org/drawingml/2006/main">
            <a:srgbClr val="F0EDFA"/>
          </a:solidFill>
          <a:ln xmlns:a="http://schemas.openxmlformats.org/drawingml/2006/main" w="11430">
            <a:solidFill>
              <a:srgbClr val="CBD8E3"/>
            </a:solidFill>
            <a:prstDash val="solid"/>
          </a:ln>
        </p:spPr>
      </p:sp>
      <p:sp>
        <p:nvSpPr>
          <p:cNvPr id="13" name="box-76-168">
            <a:extLst xmlns:a="http://schemas.openxmlformats.org/drawingml/2006/main">
              <a:ext uri="{FF2B5EF4-FFF2-40B4-BE49-F238E27FC236}">
                <a16:creationId xmlns:a16="http://schemas.microsoft.com/office/drawing/2014/main" id="{F8215306-6CC7-431F-87F1-DCC7C9B33E11}"/>
              </a:ext>
            </a:extLst>
          </p:cNvPr>
          <p:cNvSpPr>
            <a:spLocks xmlns:a="http://schemas.openxmlformats.org/drawingml/2006/main" noGrp="1"/>
          </p:cNvSpPr>
          <p:nvPr/>
        </p:nvSpPr>
        <p:spPr>
          <a:xfrm xmlns:a="http://schemas.openxmlformats.org/drawingml/2006/main">
            <a:off x="723900" y="1600200"/>
            <a:ext cx="1257300" cy="323850"/>
          </a:xfrm>
          <a:prstGeom xmlns:a="http://schemas.openxmlformats.org/drawingml/2006/main" prst="roundRect">
            <a:avLst>
              <a:gd name="adj" fmla="val 23529"/>
            </a:avLst>
          </a:prstGeom>
          <a:solidFill xmlns:a="http://schemas.openxmlformats.org/drawingml/2006/main">
            <a:srgbClr val="6C5AA8"/>
          </a:solidFill>
          <a:ln xmlns:a="http://schemas.openxmlformats.org/drawingml/2006/main" w="7620">
            <a:solidFill>
              <a:srgbClr val="6C5AA8"/>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SERVER</a:t>
            </a:r>
          </a:p>
        </p:txBody>
      </p:sp>
      <p:sp>
        <p:nvSpPr>
          <p:cNvPr id="14" name="text-230-167-BASELINE ENGINEE">
            <a:extLst xmlns:a="http://schemas.openxmlformats.org/drawingml/2006/main">
              <a:ext uri="{FF2B5EF4-FFF2-40B4-BE49-F238E27FC236}">
                <a16:creationId xmlns:a16="http://schemas.microsoft.com/office/drawing/2014/main" id="{9ED052C8-E587-4A86-A631-ED058272C827}"/>
              </a:ext>
            </a:extLst>
          </p:cNvPr>
          <p:cNvSpPr>
            <a:spLocks xmlns:a="http://schemas.openxmlformats.org/drawingml/2006/main" noGrp="1"/>
          </p:cNvSpPr>
          <p:nvPr/>
        </p:nvSpPr>
        <p:spPr>
          <a:xfrm xmlns:a="http://schemas.openxmlformats.org/drawingml/2006/main">
            <a:off x="2190750" y="15906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1">
                <a:solidFill>
                  <a:srgbClr val="7890A6"/>
                </a:solidFill>
                <a:latin typeface="Arial"/>
                <a:ea typeface="Arial"/>
                <a:cs typeface="Arial"/>
              </a:defRPr>
            </a:pPr>
            <a:r>
              <a:rPr sz="900" b="1">
                <a:solidFill>
                  <a:srgbClr val="7890A6"/>
                </a:solidFill>
                <a:latin typeface="Arial"/>
                <a:ea typeface="Arial"/>
                <a:cs typeface="Arial"/>
              </a:rPr>
              <a:t>BASELINE ENGINEERING</a:t>
            </a:r>
          </a:p>
        </p:txBody>
      </p:sp>
      <p:sp>
        <p:nvSpPr>
          <p:cNvPr id="15" name="text-230-193-Java 25 + Spring">
            <a:extLst xmlns:a="http://schemas.openxmlformats.org/drawingml/2006/main">
              <a:ext uri="{FF2B5EF4-FFF2-40B4-BE49-F238E27FC236}">
                <a16:creationId xmlns:a16="http://schemas.microsoft.com/office/drawing/2014/main" id="{F16529B6-2F75-4F5F-883B-587BDE1D2487}"/>
              </a:ext>
            </a:extLst>
          </p:cNvPr>
          <p:cNvSpPr>
            <a:spLocks xmlns:a="http://schemas.openxmlformats.org/drawingml/2006/main" noGrp="1"/>
          </p:cNvSpPr>
          <p:nvPr/>
        </p:nvSpPr>
        <p:spPr>
          <a:xfrm xmlns:a="http://schemas.openxmlformats.org/drawingml/2006/main">
            <a:off x="2190750" y="18383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102744"/>
                </a:solidFill>
                <a:latin typeface="Arial"/>
                <a:ea typeface="Arial"/>
                <a:cs typeface="Arial"/>
              </a:defRPr>
            </a:pPr>
            <a:r>
              <a:rPr sz="1425" b="1">
                <a:solidFill>
                  <a:srgbClr val="102744"/>
                </a:solidFill>
                <a:latin typeface="Arial"/>
                <a:ea typeface="Arial"/>
                <a:cs typeface="Arial"/>
              </a:rPr>
              <a:t>Java 25 + Spring Boot / Modulith</a:t>
            </a:r>
          </a:p>
        </p:txBody>
      </p:sp>
      <p:sp>
        <p:nvSpPr>
          <p:cNvPr id="16" name="text-590-167-ALTERNATIVE">
            <a:extLst xmlns:a="http://schemas.openxmlformats.org/drawingml/2006/main">
              <a:ext uri="{FF2B5EF4-FFF2-40B4-BE49-F238E27FC236}">
                <a16:creationId xmlns:a16="http://schemas.microsoft.com/office/drawing/2014/main" id="{E7682647-B052-4DF3-9A44-8D55F28251DF}"/>
              </a:ext>
            </a:extLst>
          </p:cNvPr>
          <p:cNvSpPr>
            <a:spLocks xmlns:a="http://schemas.openxmlformats.org/drawingml/2006/main" noGrp="1"/>
          </p:cNvSpPr>
          <p:nvPr/>
        </p:nvSpPr>
        <p:spPr>
          <a:xfrm xmlns:a="http://schemas.openxmlformats.org/drawingml/2006/main">
            <a:off x="5619750" y="159067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1">
                <a:solidFill>
                  <a:srgbClr val="7890A6"/>
                </a:solidFill>
                <a:latin typeface="Arial"/>
                <a:ea typeface="Arial"/>
                <a:cs typeface="Arial"/>
              </a:defRPr>
            </a:pPr>
            <a:r>
              <a:rPr sz="900" b="1">
                <a:solidFill>
                  <a:srgbClr val="7890A6"/>
                </a:solidFill>
                <a:latin typeface="Arial"/>
                <a:ea typeface="Arial"/>
                <a:cs typeface="Arial"/>
              </a:rPr>
              <a:t>ALTERNATIVE</a:t>
            </a:r>
          </a:p>
        </p:txBody>
      </p:sp>
      <p:sp>
        <p:nvSpPr>
          <p:cNvPr id="17" name="text-590-193-.NET 10 + ASP.NE">
            <a:extLst xmlns:a="http://schemas.openxmlformats.org/drawingml/2006/main">
              <a:ext uri="{FF2B5EF4-FFF2-40B4-BE49-F238E27FC236}">
                <a16:creationId xmlns:a16="http://schemas.microsoft.com/office/drawing/2014/main" id="{83E260FA-1929-4825-A72F-86C21F2880C9}"/>
              </a:ext>
            </a:extLst>
          </p:cNvPr>
          <p:cNvSpPr>
            <a:spLocks xmlns:a="http://schemas.openxmlformats.org/drawingml/2006/main" noGrp="1"/>
          </p:cNvSpPr>
          <p:nvPr/>
        </p:nvSpPr>
        <p:spPr>
          <a:xfrm xmlns:a="http://schemas.openxmlformats.org/drawingml/2006/main">
            <a:off x="5619750" y="18383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62638"/>
                </a:solidFill>
                <a:latin typeface="Arial"/>
                <a:ea typeface="Arial"/>
                <a:cs typeface="Arial"/>
              </a:defRPr>
            </a:pPr>
            <a:r>
              <a:rPr sz="1350" b="1">
                <a:solidFill>
                  <a:srgbClr val="162638"/>
                </a:solidFill>
                <a:latin typeface="Arial"/>
                <a:ea typeface="Arial"/>
                <a:cs typeface="Arial"/>
              </a:rPr>
              <a:t>.NET 10 + ASP.NET Core</a:t>
            </a:r>
          </a:p>
        </p:txBody>
      </p:sp>
      <p:sp>
        <p:nvSpPr>
          <p:cNvPr id="18" name="text-230-244-Chọn hẹp vì fit ">
            <a:extLst xmlns:a="http://schemas.openxmlformats.org/drawingml/2006/main">
              <a:ext uri="{FF2B5EF4-FFF2-40B4-BE49-F238E27FC236}">
                <a16:creationId xmlns:a16="http://schemas.microsoft.com/office/drawing/2014/main" id="{FB408B5A-35BA-451D-8308-392CBE9821CD}"/>
              </a:ext>
            </a:extLst>
          </p:cNvPr>
          <p:cNvSpPr>
            <a:spLocks xmlns:a="http://schemas.openxmlformats.org/drawingml/2006/main" noGrp="1"/>
          </p:cNvSpPr>
          <p:nvPr/>
        </p:nvSpPr>
        <p:spPr>
          <a:xfrm xmlns:a="http://schemas.openxmlformats.org/drawingml/2006/main">
            <a:off x="2190750" y="232410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4B6075"/>
                </a:solidFill>
                <a:latin typeface="Arial"/>
                <a:ea typeface="Arial"/>
                <a:cs typeface="Arial"/>
              </a:defRPr>
            </a:pPr>
            <a:r>
              <a:rPr sz="1050" b="0">
                <a:solidFill>
                  <a:srgbClr val="4B6075"/>
                </a:solidFill>
                <a:latin typeface="Arial"/>
                <a:ea typeface="Arial"/>
                <a:cs typeface="Arial"/>
              </a:rPr>
              <a:t>Chọn hẹp vì fit với modular-monolith verification/tooling. .NET vẫn là alternative nghiêm túc.</a:t>
            </a:r>
          </a:p>
        </p:txBody>
      </p:sp>
      <p:sp>
        <p:nvSpPr>
          <p:cNvPr id="19" name="box-866-162">
            <a:extLst xmlns:a="http://schemas.openxmlformats.org/drawingml/2006/main">
              <a:ext uri="{FF2B5EF4-FFF2-40B4-BE49-F238E27FC236}">
                <a16:creationId xmlns:a16="http://schemas.microsoft.com/office/drawing/2014/main" id="{D66A4991-8512-4BAB-8860-9B16CE9550DC}"/>
              </a:ext>
            </a:extLst>
          </p:cNvPr>
          <p:cNvSpPr>
            <a:spLocks xmlns:a="http://schemas.openxmlformats.org/drawingml/2006/main" noGrp="1"/>
          </p:cNvSpPr>
          <p:nvPr/>
        </p:nvSpPr>
        <p:spPr>
          <a:xfrm xmlns:a="http://schemas.openxmlformats.org/drawingml/2006/main">
            <a:off x="8248650" y="1543050"/>
            <a:ext cx="31813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2383">
            <a:solidFill>
              <a:srgbClr val="6C5AA8"/>
            </a:solidFill>
            <a:prstDash val="solid"/>
          </a:ln>
        </p:spPr>
      </p:sp>
      <p:sp>
        <p:nvSpPr>
          <p:cNvPr id="20" name="text-882-172-REOPEN TRIGGER">
            <a:extLst xmlns:a="http://schemas.openxmlformats.org/drawingml/2006/main">
              <a:ext uri="{FF2B5EF4-FFF2-40B4-BE49-F238E27FC236}">
                <a16:creationId xmlns:a16="http://schemas.microsoft.com/office/drawing/2014/main" id="{2DEC0FBB-C88D-49DE-948C-48262D0ECBA5}"/>
              </a:ext>
            </a:extLst>
          </p:cNvPr>
          <p:cNvSpPr>
            <a:spLocks xmlns:a="http://schemas.openxmlformats.org/drawingml/2006/main" noGrp="1"/>
          </p:cNvSpPr>
          <p:nvPr/>
        </p:nvSpPr>
        <p:spPr>
          <a:xfrm xmlns:a="http://schemas.openxmlformats.org/drawingml/2006/main">
            <a:off x="8401050" y="1638300"/>
            <a:ext cx="2876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25" b="1">
                <a:solidFill>
                  <a:srgbClr val="6C5AA8"/>
                </a:solidFill>
                <a:latin typeface="Arial"/>
                <a:ea typeface="Arial"/>
                <a:cs typeface="Arial"/>
              </a:defRPr>
            </a:pPr>
            <a:r>
              <a:rPr sz="825" b="1">
                <a:solidFill>
                  <a:srgbClr val="6C5AA8"/>
                </a:solidFill>
                <a:latin typeface="Arial"/>
                <a:ea typeface="Arial"/>
                <a:cs typeface="Arial"/>
              </a:rPr>
              <a:t>REOPEN TRIGGER</a:t>
            </a:r>
          </a:p>
        </p:txBody>
      </p:sp>
      <p:sp>
        <p:nvSpPr>
          <p:cNvPr id="21" name="text-884-193-Java fail qualif">
            <a:extLst xmlns:a="http://schemas.openxmlformats.org/drawingml/2006/main">
              <a:ext uri="{FF2B5EF4-FFF2-40B4-BE49-F238E27FC236}">
                <a16:creationId xmlns:a16="http://schemas.microsoft.com/office/drawing/2014/main" id="{378A679A-1B0B-49CD-B251-D6DCCA5F92BA}"/>
              </a:ext>
            </a:extLst>
          </p:cNvPr>
          <p:cNvSpPr>
            <a:spLocks xmlns:a="http://schemas.openxmlformats.org/drawingml/2006/main" noGrp="1"/>
          </p:cNvSpPr>
          <p:nvPr/>
        </p:nvSpPr>
        <p:spPr>
          <a:xfrm xmlns:a="http://schemas.openxmlformats.org/drawingml/2006/main">
            <a:off x="8420100" y="1838325"/>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63" b="0">
                <a:solidFill>
                  <a:srgbClr val="4B6075"/>
                </a:solidFill>
                <a:latin typeface="Arial"/>
                <a:ea typeface="Arial"/>
                <a:cs typeface="Arial"/>
              </a:defRPr>
            </a:pPr>
            <a:r>
              <a:rPr sz="863" b="0">
                <a:solidFill>
                  <a:srgbClr val="4B6075"/>
                </a:solidFill>
                <a:latin typeface="Arial"/>
                <a:ea typeface="Arial"/>
                <a:cs typeface="Arial"/>
              </a:rPr>
              <a:t>Java fail qualification hoặc burden vượt ngưỡng</a:t>
            </a:r>
          </a:p>
        </p:txBody>
      </p:sp>
      <p:sp>
        <p:nvSpPr>
          <p:cNvPr id="22" name="text-884-224-↓  Successor Dec">
            <a:extLst xmlns:a="http://schemas.openxmlformats.org/drawingml/2006/main">
              <a:ext uri="{FF2B5EF4-FFF2-40B4-BE49-F238E27FC236}">
                <a16:creationId xmlns:a16="http://schemas.microsoft.com/office/drawing/2014/main" id="{9C7C91C0-4C1A-4899-8837-FB742D95C37C}"/>
              </a:ext>
            </a:extLst>
          </p:cNvPr>
          <p:cNvSpPr>
            <a:spLocks xmlns:a="http://schemas.openxmlformats.org/drawingml/2006/main" noGrp="1"/>
          </p:cNvSpPr>
          <p:nvPr/>
        </p:nvSpPr>
        <p:spPr>
          <a:xfrm xmlns:a="http://schemas.openxmlformats.org/drawingml/2006/main">
            <a:off x="8420100" y="2133600"/>
            <a:ext cx="283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63" b="1">
                <a:solidFill>
                  <a:srgbClr val="102744"/>
                </a:solidFill>
                <a:latin typeface="Arial"/>
                <a:ea typeface="Arial"/>
                <a:cs typeface="Arial"/>
              </a:defRPr>
            </a:pPr>
            <a:r>
              <a:rPr sz="863" b="1">
                <a:solidFill>
                  <a:srgbClr val="102744"/>
                </a:solidFill>
                <a:latin typeface="Arial"/>
                <a:ea typeface="Arial"/>
                <a:cs typeface="Arial"/>
              </a:rPr>
              <a:t>↓  Successor Decision</a:t>
            </a:r>
          </a:p>
        </p:txBody>
      </p:sp>
      <p:sp>
        <p:nvSpPr>
          <p:cNvPr id="23" name="text-884-244-├ retain current">
            <a:extLst xmlns:a="http://schemas.openxmlformats.org/drawingml/2006/main">
              <a:ext uri="{FF2B5EF4-FFF2-40B4-BE49-F238E27FC236}">
                <a16:creationId xmlns:a16="http://schemas.microsoft.com/office/drawing/2014/main" id="{743BA1B2-5D6D-4E16-9A62-E881EF9D6BB2}"/>
              </a:ext>
            </a:extLst>
          </p:cNvPr>
          <p:cNvSpPr>
            <a:spLocks xmlns:a="http://schemas.openxmlformats.org/drawingml/2006/main" noGrp="1"/>
          </p:cNvSpPr>
          <p:nvPr/>
        </p:nvSpPr>
        <p:spPr>
          <a:xfrm xmlns:a="http://schemas.openxmlformats.org/drawingml/2006/main">
            <a:off x="8420100" y="23241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788" b="0">
                <a:solidFill>
                  <a:srgbClr val="4B6075"/>
                </a:solidFill>
                <a:latin typeface="Arial"/>
                <a:ea typeface="Arial"/>
                <a:cs typeface="Arial"/>
              </a:defRPr>
            </a:pPr>
            <a:r>
              <a:rPr sz="788" b="0">
                <a:solidFill>
                  <a:srgbClr val="4B6075"/>
                </a:solidFill>
                <a:latin typeface="Arial"/>
                <a:ea typeface="Arial"/>
                <a:cs typeface="Arial"/>
              </a:rPr>
              <a:t>├ retain current baseline</a:t>
            </a:r>
          </a:p>
          <a:p xmlns:a="http://schemas.openxmlformats.org/drawingml/2006/main">
            <a:pPr algn="ctr">
              <a:defRPr sz="788" b="0">
                <a:solidFill>
                  <a:srgbClr val="4B6075"/>
                </a:solidFill>
                <a:latin typeface="Arial"/>
                <a:ea typeface="Arial"/>
                <a:cs typeface="Arial"/>
              </a:defRPr>
            </a:pPr>
            <a:r>
              <a:rPr sz="788" b="0">
                <a:solidFill>
                  <a:srgbClr val="4B6075"/>
                </a:solidFill>
                <a:latin typeface="Arial"/>
                <a:ea typeface="Arial"/>
                <a:cs typeface="Arial"/>
              </a:rPr>
              <a:t>└ select qualified alternative</a:t>
            </a:r>
          </a:p>
        </p:txBody>
      </p:sp>
      <p:sp>
        <p:nvSpPr>
          <p:cNvPr id="24" name="box-56-318">
            <a:extLst xmlns:a="http://schemas.openxmlformats.org/drawingml/2006/main">
              <a:ext uri="{FF2B5EF4-FFF2-40B4-BE49-F238E27FC236}">
                <a16:creationId xmlns:a16="http://schemas.microsoft.com/office/drawing/2014/main" id="{CE63930C-A6B1-433D-9E0D-04193C06B5E7}"/>
              </a:ext>
            </a:extLst>
          </p:cNvPr>
          <p:cNvSpPr>
            <a:spLocks xmlns:a="http://schemas.openxmlformats.org/drawingml/2006/main" noGrp="1"/>
          </p:cNvSpPr>
          <p:nvPr/>
        </p:nvSpPr>
        <p:spPr>
          <a:xfrm xmlns:a="http://schemas.openxmlformats.org/drawingml/2006/main">
            <a:off x="533400" y="3028950"/>
            <a:ext cx="11125200" cy="1352550"/>
          </a:xfrm>
          <a:prstGeom xmlns:a="http://schemas.openxmlformats.org/drawingml/2006/main" prst="roundRect">
            <a:avLst>
              <a:gd name="adj" fmla="val 5634"/>
            </a:avLst>
          </a:prstGeom>
          <a:solidFill xmlns:a="http://schemas.openxmlformats.org/drawingml/2006/main">
            <a:srgbClr val="EAF3F9"/>
          </a:solidFill>
          <a:ln xmlns:a="http://schemas.openxmlformats.org/drawingml/2006/main" w="11430">
            <a:solidFill>
              <a:srgbClr val="CBD8E3"/>
            </a:solidFill>
            <a:prstDash val="solid"/>
          </a:ln>
        </p:spPr>
      </p:sp>
      <p:sp>
        <p:nvSpPr>
          <p:cNvPr id="25" name="box-76-336">
            <a:extLst xmlns:a="http://schemas.openxmlformats.org/drawingml/2006/main">
              <a:ext uri="{FF2B5EF4-FFF2-40B4-BE49-F238E27FC236}">
                <a16:creationId xmlns:a16="http://schemas.microsoft.com/office/drawing/2014/main" id="{39714CB5-C437-4FA0-B504-C2579A63DC4D}"/>
              </a:ext>
            </a:extLst>
          </p:cNvPr>
          <p:cNvSpPr>
            <a:spLocks xmlns:a="http://schemas.openxmlformats.org/drawingml/2006/main" noGrp="1"/>
          </p:cNvSpPr>
          <p:nvPr/>
        </p:nvSpPr>
        <p:spPr>
          <a:xfrm xmlns:a="http://schemas.openxmlformats.org/drawingml/2006/main">
            <a:off x="723900" y="3200400"/>
            <a:ext cx="1257300" cy="323850"/>
          </a:xfrm>
          <a:prstGeom xmlns:a="http://schemas.openxmlformats.org/drawingml/2006/main" prst="roundRect">
            <a:avLst>
              <a:gd name="adj" fmla="val 23529"/>
            </a:avLst>
          </a:prstGeom>
          <a:solidFill xmlns:a="http://schemas.openxmlformats.org/drawingml/2006/main">
            <a:srgbClr val="2169A8"/>
          </a:solidFill>
          <a:ln xmlns:a="http://schemas.openxmlformats.org/drawingml/2006/main" w="762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CLIENT</a:t>
            </a:r>
          </a:p>
        </p:txBody>
      </p:sp>
      <p:sp>
        <p:nvSpPr>
          <p:cNvPr id="26" name="text-230-335-BASELINE ENGINEE">
            <a:extLst xmlns:a="http://schemas.openxmlformats.org/drawingml/2006/main">
              <a:ext uri="{FF2B5EF4-FFF2-40B4-BE49-F238E27FC236}">
                <a16:creationId xmlns:a16="http://schemas.microsoft.com/office/drawing/2014/main" id="{0D7F5AC7-ABF5-4178-85A9-BECFF67DEE50}"/>
              </a:ext>
            </a:extLst>
          </p:cNvPr>
          <p:cNvSpPr>
            <a:spLocks xmlns:a="http://schemas.openxmlformats.org/drawingml/2006/main" noGrp="1"/>
          </p:cNvSpPr>
          <p:nvPr/>
        </p:nvSpPr>
        <p:spPr>
          <a:xfrm xmlns:a="http://schemas.openxmlformats.org/drawingml/2006/main">
            <a:off x="2190750" y="31908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1">
                <a:solidFill>
                  <a:srgbClr val="7890A6"/>
                </a:solidFill>
                <a:latin typeface="Arial"/>
                <a:ea typeface="Arial"/>
                <a:cs typeface="Arial"/>
              </a:defRPr>
            </a:pPr>
            <a:r>
              <a:rPr sz="900" b="1">
                <a:solidFill>
                  <a:srgbClr val="7890A6"/>
                </a:solidFill>
                <a:latin typeface="Arial"/>
                <a:ea typeface="Arial"/>
                <a:cs typeface="Arial"/>
              </a:rPr>
              <a:t>BASELINE ENGINEERING</a:t>
            </a:r>
          </a:p>
        </p:txBody>
      </p:sp>
      <p:sp>
        <p:nvSpPr>
          <p:cNvPr id="27" name="text-230-361-React + WPF / We">
            <a:extLst xmlns:a="http://schemas.openxmlformats.org/drawingml/2006/main">
              <a:ext uri="{FF2B5EF4-FFF2-40B4-BE49-F238E27FC236}">
                <a16:creationId xmlns:a16="http://schemas.microsoft.com/office/drawing/2014/main" id="{356F50C0-437E-47C7-B034-BFE877D83535}"/>
              </a:ext>
            </a:extLst>
          </p:cNvPr>
          <p:cNvSpPr>
            <a:spLocks xmlns:a="http://schemas.openxmlformats.org/drawingml/2006/main" noGrp="1"/>
          </p:cNvSpPr>
          <p:nvPr/>
        </p:nvSpPr>
        <p:spPr>
          <a:xfrm xmlns:a="http://schemas.openxmlformats.org/drawingml/2006/main">
            <a:off x="2190750" y="34385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102744"/>
                </a:solidFill>
                <a:latin typeface="Arial"/>
                <a:ea typeface="Arial"/>
                <a:cs typeface="Arial"/>
              </a:defRPr>
            </a:pPr>
            <a:r>
              <a:rPr sz="1425" b="1">
                <a:solidFill>
                  <a:srgbClr val="102744"/>
                </a:solidFill>
                <a:latin typeface="Arial"/>
                <a:ea typeface="Arial"/>
                <a:cs typeface="Arial"/>
              </a:rPr>
              <a:t>React + WPF / WebView2 + .NET Workspace</a:t>
            </a:r>
          </a:p>
        </p:txBody>
      </p:sp>
      <p:sp>
        <p:nvSpPr>
          <p:cNvPr id="28" name="text-590-335-ALTERNATIVE">
            <a:extLst xmlns:a="http://schemas.openxmlformats.org/drawingml/2006/main">
              <a:ext uri="{FF2B5EF4-FFF2-40B4-BE49-F238E27FC236}">
                <a16:creationId xmlns:a16="http://schemas.microsoft.com/office/drawing/2014/main" id="{02320D19-ABA3-48A0-9EBF-8BDC41058FE0}"/>
              </a:ext>
            </a:extLst>
          </p:cNvPr>
          <p:cNvSpPr>
            <a:spLocks xmlns:a="http://schemas.openxmlformats.org/drawingml/2006/main" noGrp="1"/>
          </p:cNvSpPr>
          <p:nvPr/>
        </p:nvSpPr>
        <p:spPr>
          <a:xfrm xmlns:a="http://schemas.openxmlformats.org/drawingml/2006/main">
            <a:off x="5619750" y="319087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1">
                <a:solidFill>
                  <a:srgbClr val="7890A6"/>
                </a:solidFill>
                <a:latin typeface="Arial"/>
                <a:ea typeface="Arial"/>
                <a:cs typeface="Arial"/>
              </a:defRPr>
            </a:pPr>
            <a:r>
              <a:rPr sz="900" b="1">
                <a:solidFill>
                  <a:srgbClr val="7890A6"/>
                </a:solidFill>
                <a:latin typeface="Arial"/>
                <a:ea typeface="Arial"/>
                <a:cs typeface="Arial"/>
              </a:rPr>
              <a:t>ALTERNATIVE</a:t>
            </a:r>
          </a:p>
        </p:txBody>
      </p:sp>
      <p:sp>
        <p:nvSpPr>
          <p:cNvPr id="29" name="text-590-361-Flutter Web + Wi">
            <a:extLst xmlns:a="http://schemas.openxmlformats.org/drawingml/2006/main">
              <a:ext uri="{FF2B5EF4-FFF2-40B4-BE49-F238E27FC236}">
                <a16:creationId xmlns:a16="http://schemas.microsoft.com/office/drawing/2014/main" id="{BD1E50B7-26B7-4A33-9105-6EA290A3B932}"/>
              </a:ext>
            </a:extLst>
          </p:cNvPr>
          <p:cNvSpPr>
            <a:spLocks xmlns:a="http://schemas.openxmlformats.org/drawingml/2006/main" noGrp="1"/>
          </p:cNvSpPr>
          <p:nvPr/>
        </p:nvSpPr>
        <p:spPr>
          <a:xfrm xmlns:a="http://schemas.openxmlformats.org/drawingml/2006/main">
            <a:off x="5619750" y="34385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62638"/>
                </a:solidFill>
                <a:latin typeface="Arial"/>
                <a:ea typeface="Arial"/>
                <a:cs typeface="Arial"/>
              </a:defRPr>
            </a:pPr>
            <a:r>
              <a:rPr sz="1350" b="1">
                <a:solidFill>
                  <a:srgbClr val="162638"/>
                </a:solidFill>
                <a:latin typeface="Arial"/>
                <a:ea typeface="Arial"/>
                <a:cs typeface="Arial"/>
              </a:rPr>
              <a:t>Flutter Web + Windows + .NET Workspace</a:t>
            </a:r>
          </a:p>
        </p:txBody>
      </p:sp>
      <p:sp>
        <p:nvSpPr>
          <p:cNvPr id="30" name="text-230-412-Core v0 cần Web ">
            <a:extLst xmlns:a="http://schemas.openxmlformats.org/drawingml/2006/main">
              <a:ext uri="{FF2B5EF4-FFF2-40B4-BE49-F238E27FC236}">
                <a16:creationId xmlns:a16="http://schemas.microsoft.com/office/drawing/2014/main" id="{4F3C3467-A9C6-4EFC-BD22-6AB7418BF80E}"/>
              </a:ext>
            </a:extLst>
          </p:cNvPr>
          <p:cNvSpPr>
            <a:spLocks xmlns:a="http://schemas.openxmlformats.org/drawingml/2006/main" noGrp="1"/>
          </p:cNvSpPr>
          <p:nvPr/>
        </p:nvSpPr>
        <p:spPr>
          <a:xfrm xmlns:a="http://schemas.openxmlformats.org/drawingml/2006/main">
            <a:off x="2190750" y="392430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4B6075"/>
                </a:solidFill>
                <a:latin typeface="Arial"/>
                <a:ea typeface="Arial"/>
                <a:cs typeface="Arial"/>
              </a:defRPr>
            </a:pPr>
            <a:r>
              <a:rPr sz="1050" b="0">
                <a:solidFill>
                  <a:srgbClr val="4B6075"/>
                </a:solidFill>
                <a:latin typeface="Arial"/>
                <a:ea typeface="Arial"/>
                <a:cs typeface="Arial"/>
              </a:rPr>
              <a:t>Core v0 cần Web + Windows, tái sử dụng UI và tận dụng Workspace .NET hiện tại.</a:t>
            </a:r>
          </a:p>
        </p:txBody>
      </p:sp>
      <p:sp>
        <p:nvSpPr>
          <p:cNvPr id="31" name="box-866-330">
            <a:extLst xmlns:a="http://schemas.openxmlformats.org/drawingml/2006/main">
              <a:ext uri="{FF2B5EF4-FFF2-40B4-BE49-F238E27FC236}">
                <a16:creationId xmlns:a16="http://schemas.microsoft.com/office/drawing/2014/main" id="{DE4F37A6-AB6F-4837-B5FE-9C686F20AB48}"/>
              </a:ext>
            </a:extLst>
          </p:cNvPr>
          <p:cNvSpPr>
            <a:spLocks xmlns:a="http://schemas.openxmlformats.org/drawingml/2006/main" noGrp="1"/>
          </p:cNvSpPr>
          <p:nvPr/>
        </p:nvSpPr>
        <p:spPr>
          <a:xfrm xmlns:a="http://schemas.openxmlformats.org/drawingml/2006/main">
            <a:off x="8248650" y="3143250"/>
            <a:ext cx="31813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2383">
            <a:solidFill>
              <a:srgbClr val="2169A8"/>
            </a:solidFill>
            <a:prstDash val="solid"/>
          </a:ln>
        </p:spPr>
      </p:sp>
      <p:sp>
        <p:nvSpPr>
          <p:cNvPr id="32" name="text-882-340-REOPEN TRIGGER">
            <a:extLst xmlns:a="http://schemas.openxmlformats.org/drawingml/2006/main">
              <a:ext uri="{FF2B5EF4-FFF2-40B4-BE49-F238E27FC236}">
                <a16:creationId xmlns:a16="http://schemas.microsoft.com/office/drawing/2014/main" id="{ABA02446-7096-4BE7-A7EC-A3A9C922D4B1}"/>
              </a:ext>
            </a:extLst>
          </p:cNvPr>
          <p:cNvSpPr>
            <a:spLocks xmlns:a="http://schemas.openxmlformats.org/drawingml/2006/main" noGrp="1"/>
          </p:cNvSpPr>
          <p:nvPr/>
        </p:nvSpPr>
        <p:spPr>
          <a:xfrm xmlns:a="http://schemas.openxmlformats.org/drawingml/2006/main">
            <a:off x="8401050" y="3238500"/>
            <a:ext cx="2876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25" b="1">
                <a:solidFill>
                  <a:srgbClr val="2169A8"/>
                </a:solidFill>
                <a:latin typeface="Arial"/>
                <a:ea typeface="Arial"/>
                <a:cs typeface="Arial"/>
              </a:defRPr>
            </a:pPr>
            <a:r>
              <a:rPr sz="825" b="1">
                <a:solidFill>
                  <a:srgbClr val="2169A8"/>
                </a:solidFill>
                <a:latin typeface="Arial"/>
                <a:ea typeface="Arial"/>
                <a:cs typeface="Arial"/>
              </a:rPr>
              <a:t>REOPEN TRIGGER</a:t>
            </a:r>
          </a:p>
        </p:txBody>
      </p:sp>
      <p:sp>
        <p:nvSpPr>
          <p:cNvPr id="33" name="text-884-361-Multi-platform t">
            <a:extLst xmlns:a="http://schemas.openxmlformats.org/drawingml/2006/main">
              <a:ext uri="{FF2B5EF4-FFF2-40B4-BE49-F238E27FC236}">
                <a16:creationId xmlns:a16="http://schemas.microsoft.com/office/drawing/2014/main" id="{12B1EB95-2447-43AE-B7FB-EF158B3C7F85}"/>
              </a:ext>
            </a:extLst>
          </p:cNvPr>
          <p:cNvSpPr>
            <a:spLocks xmlns:a="http://schemas.openxmlformats.org/drawingml/2006/main" noGrp="1"/>
          </p:cNvSpPr>
          <p:nvPr/>
        </p:nvSpPr>
        <p:spPr>
          <a:xfrm xmlns:a="http://schemas.openxmlformats.org/drawingml/2006/main">
            <a:off x="8420100" y="3438525"/>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63" b="0">
                <a:solidFill>
                  <a:srgbClr val="4B6075"/>
                </a:solidFill>
                <a:latin typeface="Arial"/>
                <a:ea typeface="Arial"/>
                <a:cs typeface="Arial"/>
              </a:defRPr>
            </a:pPr>
            <a:r>
              <a:rPr sz="863" b="0">
                <a:solidFill>
                  <a:srgbClr val="4B6075"/>
                </a:solidFill>
                <a:latin typeface="Arial"/>
                <a:ea typeface="Arial"/>
                <a:cs typeface="Arial"/>
              </a:rPr>
              <a:t>Multi-platform thành yêu cầu hoặc alternative giảm tổng rủi ro</a:t>
            </a:r>
          </a:p>
        </p:txBody>
      </p:sp>
      <p:sp>
        <p:nvSpPr>
          <p:cNvPr id="34" name="text-884-392-↓  Successor Dec">
            <a:extLst xmlns:a="http://schemas.openxmlformats.org/drawingml/2006/main">
              <a:ext uri="{FF2B5EF4-FFF2-40B4-BE49-F238E27FC236}">
                <a16:creationId xmlns:a16="http://schemas.microsoft.com/office/drawing/2014/main" id="{40AF73C4-CE35-456A-815E-1470F4CF56C1}"/>
              </a:ext>
            </a:extLst>
          </p:cNvPr>
          <p:cNvSpPr>
            <a:spLocks xmlns:a="http://schemas.openxmlformats.org/drawingml/2006/main" noGrp="1"/>
          </p:cNvSpPr>
          <p:nvPr/>
        </p:nvSpPr>
        <p:spPr>
          <a:xfrm xmlns:a="http://schemas.openxmlformats.org/drawingml/2006/main">
            <a:off x="8420100" y="3733800"/>
            <a:ext cx="283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63" b="1">
                <a:solidFill>
                  <a:srgbClr val="102744"/>
                </a:solidFill>
                <a:latin typeface="Arial"/>
                <a:ea typeface="Arial"/>
                <a:cs typeface="Arial"/>
              </a:defRPr>
            </a:pPr>
            <a:r>
              <a:rPr sz="863" b="1">
                <a:solidFill>
                  <a:srgbClr val="102744"/>
                </a:solidFill>
                <a:latin typeface="Arial"/>
                <a:ea typeface="Arial"/>
                <a:cs typeface="Arial"/>
              </a:rPr>
              <a:t>↓  Successor Decision</a:t>
            </a:r>
          </a:p>
        </p:txBody>
      </p:sp>
      <p:sp>
        <p:nvSpPr>
          <p:cNvPr id="35" name="text-884-412-├ retain current">
            <a:extLst xmlns:a="http://schemas.openxmlformats.org/drawingml/2006/main">
              <a:ext uri="{FF2B5EF4-FFF2-40B4-BE49-F238E27FC236}">
                <a16:creationId xmlns:a16="http://schemas.microsoft.com/office/drawing/2014/main" id="{BFB7FBBA-49C3-41D7-B1A4-4B17F0F91433}"/>
              </a:ext>
            </a:extLst>
          </p:cNvPr>
          <p:cNvSpPr>
            <a:spLocks xmlns:a="http://schemas.openxmlformats.org/drawingml/2006/main" noGrp="1"/>
          </p:cNvSpPr>
          <p:nvPr/>
        </p:nvSpPr>
        <p:spPr>
          <a:xfrm xmlns:a="http://schemas.openxmlformats.org/drawingml/2006/main">
            <a:off x="8420100" y="3924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788" b="0">
                <a:solidFill>
                  <a:srgbClr val="4B6075"/>
                </a:solidFill>
                <a:latin typeface="Arial"/>
                <a:ea typeface="Arial"/>
                <a:cs typeface="Arial"/>
              </a:defRPr>
            </a:pPr>
            <a:r>
              <a:rPr sz="788" b="0">
                <a:solidFill>
                  <a:srgbClr val="4B6075"/>
                </a:solidFill>
                <a:latin typeface="Arial"/>
                <a:ea typeface="Arial"/>
                <a:cs typeface="Arial"/>
              </a:rPr>
              <a:t>├ retain current baseline</a:t>
            </a:r>
          </a:p>
          <a:p xmlns:a="http://schemas.openxmlformats.org/drawingml/2006/main">
            <a:pPr algn="ctr">
              <a:defRPr sz="788" b="0">
                <a:solidFill>
                  <a:srgbClr val="4B6075"/>
                </a:solidFill>
                <a:latin typeface="Arial"/>
                <a:ea typeface="Arial"/>
                <a:cs typeface="Arial"/>
              </a:defRPr>
            </a:pPr>
            <a:r>
              <a:rPr sz="788" b="0">
                <a:solidFill>
                  <a:srgbClr val="4B6075"/>
                </a:solidFill>
                <a:latin typeface="Arial"/>
                <a:ea typeface="Arial"/>
                <a:cs typeface="Arial"/>
              </a:rPr>
              <a:t>└ select qualified alternative</a:t>
            </a:r>
          </a:p>
        </p:txBody>
      </p:sp>
      <p:sp>
        <p:nvSpPr>
          <p:cNvPr id="36" name="box-56-486">
            <a:extLst xmlns:a="http://schemas.openxmlformats.org/drawingml/2006/main">
              <a:ext uri="{FF2B5EF4-FFF2-40B4-BE49-F238E27FC236}">
                <a16:creationId xmlns:a16="http://schemas.microsoft.com/office/drawing/2014/main" id="{CCBE05A0-AA47-48C1-B173-33008EA2F3DA}"/>
              </a:ext>
            </a:extLst>
          </p:cNvPr>
          <p:cNvSpPr>
            <a:spLocks xmlns:a="http://schemas.openxmlformats.org/drawingml/2006/main" noGrp="1"/>
          </p:cNvSpPr>
          <p:nvPr/>
        </p:nvSpPr>
        <p:spPr>
          <a:xfrm xmlns:a="http://schemas.openxmlformats.org/drawingml/2006/main">
            <a:off x="533400" y="4629150"/>
            <a:ext cx="11125200" cy="1352550"/>
          </a:xfrm>
          <a:prstGeom xmlns:a="http://schemas.openxmlformats.org/drawingml/2006/main" prst="roundRect">
            <a:avLst>
              <a:gd name="adj" fmla="val 5634"/>
            </a:avLst>
          </a:prstGeom>
          <a:solidFill xmlns:a="http://schemas.openxmlformats.org/drawingml/2006/main">
            <a:srgbClr val="E7F5EE"/>
          </a:solidFill>
          <a:ln xmlns:a="http://schemas.openxmlformats.org/drawingml/2006/main" w="11430">
            <a:solidFill>
              <a:srgbClr val="CBD8E3"/>
            </a:solidFill>
            <a:prstDash val="solid"/>
          </a:ln>
        </p:spPr>
      </p:sp>
      <p:sp>
        <p:nvSpPr>
          <p:cNvPr id="37" name="box-76-504">
            <a:extLst xmlns:a="http://schemas.openxmlformats.org/drawingml/2006/main">
              <a:ext uri="{FF2B5EF4-FFF2-40B4-BE49-F238E27FC236}">
                <a16:creationId xmlns:a16="http://schemas.microsoft.com/office/drawing/2014/main" id="{8D818537-5313-45D1-B52F-790342689F1F}"/>
              </a:ext>
            </a:extLst>
          </p:cNvPr>
          <p:cNvSpPr>
            <a:spLocks xmlns:a="http://schemas.openxmlformats.org/drawingml/2006/main" noGrp="1"/>
          </p:cNvSpPr>
          <p:nvPr/>
        </p:nvSpPr>
        <p:spPr>
          <a:xfrm xmlns:a="http://schemas.openxmlformats.org/drawingml/2006/main">
            <a:off x="723900" y="4800600"/>
            <a:ext cx="1257300" cy="323850"/>
          </a:xfrm>
          <a:prstGeom xmlns:a="http://schemas.openxmlformats.org/drawingml/2006/main" prst="roundRect">
            <a:avLst>
              <a:gd name="adj" fmla="val 23529"/>
            </a:avLst>
          </a:prstGeom>
          <a:solidFill xmlns:a="http://schemas.openxmlformats.org/drawingml/2006/main">
            <a:srgbClr val="2D8A62"/>
          </a:solidFill>
          <a:ln xmlns:a="http://schemas.openxmlformats.org/drawingml/2006/main" w="7620">
            <a:solidFill>
              <a:srgbClr val="2D8A62"/>
            </a:solidFill>
            <a:prstDash val="solid"/>
          </a:ln>
        </p:spPr>
        <p:txBody>
          <a:bodyPr xmlns:a="http://schemas.openxmlformats.org/drawingml/2006/main">
            <a:noAutofit/>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ARCHITECTURE</a:t>
            </a:r>
          </a:p>
        </p:txBody>
      </p:sp>
      <p:sp>
        <p:nvSpPr>
          <p:cNvPr id="38" name="text-230-503-BASELINE ENGINEE">
            <a:extLst xmlns:a="http://schemas.openxmlformats.org/drawingml/2006/main">
              <a:ext uri="{FF2B5EF4-FFF2-40B4-BE49-F238E27FC236}">
                <a16:creationId xmlns:a16="http://schemas.microsoft.com/office/drawing/2014/main" id="{AAF523AB-5947-40D3-B4F1-C57211189215}"/>
              </a:ext>
            </a:extLst>
          </p:cNvPr>
          <p:cNvSpPr>
            <a:spLocks xmlns:a="http://schemas.openxmlformats.org/drawingml/2006/main" noGrp="1"/>
          </p:cNvSpPr>
          <p:nvPr/>
        </p:nvSpPr>
        <p:spPr>
          <a:xfrm xmlns:a="http://schemas.openxmlformats.org/drawingml/2006/main">
            <a:off x="2190750" y="47910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1">
                <a:solidFill>
                  <a:srgbClr val="7890A6"/>
                </a:solidFill>
                <a:latin typeface="Arial"/>
                <a:ea typeface="Arial"/>
                <a:cs typeface="Arial"/>
              </a:defRPr>
            </a:pPr>
            <a:r>
              <a:rPr sz="900" b="1">
                <a:solidFill>
                  <a:srgbClr val="7890A6"/>
                </a:solidFill>
                <a:latin typeface="Arial"/>
                <a:ea typeface="Arial"/>
                <a:cs typeface="Arial"/>
              </a:rPr>
              <a:t>BASELINE ENGINEERING</a:t>
            </a:r>
          </a:p>
        </p:txBody>
      </p:sp>
      <p:sp>
        <p:nvSpPr>
          <p:cNvPr id="39" name="text-230-529-Modular Monolith">
            <a:extLst xmlns:a="http://schemas.openxmlformats.org/drawingml/2006/main">
              <a:ext uri="{FF2B5EF4-FFF2-40B4-BE49-F238E27FC236}">
                <a16:creationId xmlns:a16="http://schemas.microsoft.com/office/drawing/2014/main" id="{1B043F39-F82C-4531-B793-F61A3183968F}"/>
              </a:ext>
            </a:extLst>
          </p:cNvPr>
          <p:cNvSpPr>
            <a:spLocks xmlns:a="http://schemas.openxmlformats.org/drawingml/2006/main" noGrp="1"/>
          </p:cNvSpPr>
          <p:nvPr/>
        </p:nvSpPr>
        <p:spPr>
          <a:xfrm xmlns:a="http://schemas.openxmlformats.org/drawingml/2006/main">
            <a:off x="2190750" y="50387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102744"/>
                </a:solidFill>
                <a:latin typeface="Arial"/>
                <a:ea typeface="Arial"/>
                <a:cs typeface="Arial"/>
              </a:defRPr>
            </a:pPr>
            <a:r>
              <a:rPr sz="1425" b="1">
                <a:solidFill>
                  <a:srgbClr val="102744"/>
                </a:solidFill>
                <a:latin typeface="Arial"/>
                <a:ea typeface="Arial"/>
                <a:cs typeface="Arial"/>
              </a:rPr>
              <a:t>Modular Monolith</a:t>
            </a:r>
          </a:p>
        </p:txBody>
      </p:sp>
      <p:sp>
        <p:nvSpPr>
          <p:cNvPr id="40" name="text-590-503-ALTERNATIVE">
            <a:extLst xmlns:a="http://schemas.openxmlformats.org/drawingml/2006/main">
              <a:ext uri="{FF2B5EF4-FFF2-40B4-BE49-F238E27FC236}">
                <a16:creationId xmlns:a16="http://schemas.microsoft.com/office/drawing/2014/main" id="{54BCEA1D-2A47-400D-A937-17EF50B983F7}"/>
              </a:ext>
            </a:extLst>
          </p:cNvPr>
          <p:cNvSpPr>
            <a:spLocks xmlns:a="http://schemas.openxmlformats.org/drawingml/2006/main" noGrp="1"/>
          </p:cNvSpPr>
          <p:nvPr/>
        </p:nvSpPr>
        <p:spPr>
          <a:xfrm xmlns:a="http://schemas.openxmlformats.org/drawingml/2006/main">
            <a:off x="5619750" y="479107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1">
                <a:solidFill>
                  <a:srgbClr val="7890A6"/>
                </a:solidFill>
                <a:latin typeface="Arial"/>
                <a:ea typeface="Arial"/>
                <a:cs typeface="Arial"/>
              </a:defRPr>
            </a:pPr>
            <a:r>
              <a:rPr sz="900" b="1">
                <a:solidFill>
                  <a:srgbClr val="7890A6"/>
                </a:solidFill>
                <a:latin typeface="Arial"/>
                <a:ea typeface="Arial"/>
                <a:cs typeface="Arial"/>
              </a:rPr>
              <a:t>ALTERNATIVE</a:t>
            </a:r>
          </a:p>
        </p:txBody>
      </p:sp>
      <p:sp>
        <p:nvSpPr>
          <p:cNvPr id="41" name="text-590-529-Microservices">
            <a:extLst xmlns:a="http://schemas.openxmlformats.org/drawingml/2006/main">
              <a:ext uri="{FF2B5EF4-FFF2-40B4-BE49-F238E27FC236}">
                <a16:creationId xmlns:a16="http://schemas.microsoft.com/office/drawing/2014/main" id="{5FFCC4DF-2C00-485F-A8BC-48ACE5E8B4E6}"/>
              </a:ext>
            </a:extLst>
          </p:cNvPr>
          <p:cNvSpPr>
            <a:spLocks xmlns:a="http://schemas.openxmlformats.org/drawingml/2006/main" noGrp="1"/>
          </p:cNvSpPr>
          <p:nvPr/>
        </p:nvSpPr>
        <p:spPr>
          <a:xfrm xmlns:a="http://schemas.openxmlformats.org/drawingml/2006/main">
            <a:off x="5619750" y="50387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62638"/>
                </a:solidFill>
                <a:latin typeface="Arial"/>
                <a:ea typeface="Arial"/>
                <a:cs typeface="Arial"/>
              </a:defRPr>
            </a:pPr>
            <a:r>
              <a:rPr sz="1350" b="1">
                <a:solidFill>
                  <a:srgbClr val="162638"/>
                </a:solidFill>
                <a:latin typeface="Arial"/>
                <a:ea typeface="Arial"/>
                <a:cs typeface="Arial"/>
              </a:rPr>
              <a:t>Microservices</a:t>
            </a:r>
          </a:p>
        </p:txBody>
      </p:sp>
      <p:sp>
        <p:nvSpPr>
          <p:cNvPr id="42" name="text-230-580-Transaction, tri">
            <a:extLst xmlns:a="http://schemas.openxmlformats.org/drawingml/2006/main">
              <a:ext uri="{FF2B5EF4-FFF2-40B4-BE49-F238E27FC236}">
                <a16:creationId xmlns:a16="http://schemas.microsoft.com/office/drawing/2014/main" id="{34420AF4-C50A-41B5-A691-CB8B9F1D51DF}"/>
              </a:ext>
            </a:extLst>
          </p:cNvPr>
          <p:cNvSpPr>
            <a:spLocks xmlns:a="http://schemas.openxmlformats.org/drawingml/2006/main" noGrp="1"/>
          </p:cNvSpPr>
          <p:nvPr/>
        </p:nvSpPr>
        <p:spPr>
          <a:xfrm xmlns:a="http://schemas.openxmlformats.org/drawingml/2006/main">
            <a:off x="2190750" y="552450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4B6075"/>
                </a:solidFill>
                <a:latin typeface="Arial"/>
                <a:ea typeface="Arial"/>
                <a:cs typeface="Arial"/>
              </a:defRPr>
            </a:pPr>
            <a:r>
              <a:rPr sz="1050" b="0">
                <a:solidFill>
                  <a:srgbClr val="4B6075"/>
                </a:solidFill>
                <a:latin typeface="Arial"/>
                <a:ea typeface="Arial"/>
                <a:cs typeface="Arial"/>
              </a:rPr>
              <a:t>Transaction, triển khai, debug và backup đơn giản hơn cho quy mô hiện tại.</a:t>
            </a:r>
          </a:p>
        </p:txBody>
      </p:sp>
      <p:sp>
        <p:nvSpPr>
          <p:cNvPr id="43" name="box-866-498">
            <a:extLst xmlns:a="http://schemas.openxmlformats.org/drawingml/2006/main">
              <a:ext uri="{FF2B5EF4-FFF2-40B4-BE49-F238E27FC236}">
                <a16:creationId xmlns:a16="http://schemas.microsoft.com/office/drawing/2014/main" id="{BEA077A5-00F1-4AA8-963D-EA7E2F4A474B}"/>
              </a:ext>
            </a:extLst>
          </p:cNvPr>
          <p:cNvSpPr>
            <a:spLocks xmlns:a="http://schemas.openxmlformats.org/drawingml/2006/main" noGrp="1"/>
          </p:cNvSpPr>
          <p:nvPr/>
        </p:nvSpPr>
        <p:spPr>
          <a:xfrm xmlns:a="http://schemas.openxmlformats.org/drawingml/2006/main">
            <a:off x="8248650" y="4743450"/>
            <a:ext cx="31813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2383">
            <a:solidFill>
              <a:srgbClr val="2D8A62"/>
            </a:solidFill>
            <a:prstDash val="solid"/>
          </a:ln>
        </p:spPr>
      </p:sp>
      <p:sp>
        <p:nvSpPr>
          <p:cNvPr id="44" name="text-882-508-REOPEN TRIGGER">
            <a:extLst xmlns:a="http://schemas.openxmlformats.org/drawingml/2006/main">
              <a:ext uri="{FF2B5EF4-FFF2-40B4-BE49-F238E27FC236}">
                <a16:creationId xmlns:a16="http://schemas.microsoft.com/office/drawing/2014/main" id="{E9B332AE-22AA-4FCB-B781-4D96D21E163A}"/>
              </a:ext>
            </a:extLst>
          </p:cNvPr>
          <p:cNvSpPr>
            <a:spLocks xmlns:a="http://schemas.openxmlformats.org/drawingml/2006/main" noGrp="1"/>
          </p:cNvSpPr>
          <p:nvPr/>
        </p:nvSpPr>
        <p:spPr>
          <a:xfrm xmlns:a="http://schemas.openxmlformats.org/drawingml/2006/main">
            <a:off x="8401050" y="4838700"/>
            <a:ext cx="2876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25" b="1">
                <a:solidFill>
                  <a:srgbClr val="2D8A62"/>
                </a:solidFill>
                <a:latin typeface="Arial"/>
                <a:ea typeface="Arial"/>
                <a:cs typeface="Arial"/>
              </a:defRPr>
            </a:pPr>
            <a:r>
              <a:rPr sz="825" b="1">
                <a:solidFill>
                  <a:srgbClr val="2D8A62"/>
                </a:solidFill>
                <a:latin typeface="Arial"/>
                <a:ea typeface="Arial"/>
                <a:cs typeface="Arial"/>
              </a:rPr>
              <a:t>REOPEN TRIGGER</a:t>
            </a:r>
          </a:p>
        </p:txBody>
      </p:sp>
      <p:sp>
        <p:nvSpPr>
          <p:cNvPr id="45" name="text-884-529-Có evidence về s">
            <a:extLst xmlns:a="http://schemas.openxmlformats.org/drawingml/2006/main">
              <a:ext uri="{FF2B5EF4-FFF2-40B4-BE49-F238E27FC236}">
                <a16:creationId xmlns:a16="http://schemas.microsoft.com/office/drawing/2014/main" id="{F6E1DBD5-773E-4314-B7E6-FBAE944767CC}"/>
              </a:ext>
            </a:extLst>
          </p:cNvPr>
          <p:cNvSpPr>
            <a:spLocks xmlns:a="http://schemas.openxmlformats.org/drawingml/2006/main" noGrp="1"/>
          </p:cNvSpPr>
          <p:nvPr/>
        </p:nvSpPr>
        <p:spPr>
          <a:xfrm xmlns:a="http://schemas.openxmlformats.org/drawingml/2006/main">
            <a:off x="8420100" y="5038725"/>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63" b="0">
                <a:solidFill>
                  <a:srgbClr val="4B6075"/>
                </a:solidFill>
                <a:latin typeface="Arial"/>
                <a:ea typeface="Arial"/>
                <a:cs typeface="Arial"/>
              </a:defRPr>
            </a:pPr>
            <a:r>
              <a:rPr sz="863" b="0">
                <a:solidFill>
                  <a:srgbClr val="4B6075"/>
                </a:solidFill>
                <a:latin typeface="Arial"/>
                <a:ea typeface="Arial"/>
                <a:cs typeface="Arial"/>
              </a:rPr>
              <a:t>Có evidence về scale, isolation hoặc ownership độc lập</a:t>
            </a:r>
          </a:p>
        </p:txBody>
      </p:sp>
      <p:sp>
        <p:nvSpPr>
          <p:cNvPr id="46" name="text-884-560-↓  Successor Dec">
            <a:extLst xmlns:a="http://schemas.openxmlformats.org/drawingml/2006/main">
              <a:ext uri="{FF2B5EF4-FFF2-40B4-BE49-F238E27FC236}">
                <a16:creationId xmlns:a16="http://schemas.microsoft.com/office/drawing/2014/main" id="{6275A831-99F4-41F6-975D-42EB7B5430D5}"/>
              </a:ext>
            </a:extLst>
          </p:cNvPr>
          <p:cNvSpPr>
            <a:spLocks xmlns:a="http://schemas.openxmlformats.org/drawingml/2006/main" noGrp="1"/>
          </p:cNvSpPr>
          <p:nvPr/>
        </p:nvSpPr>
        <p:spPr>
          <a:xfrm xmlns:a="http://schemas.openxmlformats.org/drawingml/2006/main">
            <a:off x="8420100" y="5334000"/>
            <a:ext cx="283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863" b="1">
                <a:solidFill>
                  <a:srgbClr val="102744"/>
                </a:solidFill>
                <a:latin typeface="Arial"/>
                <a:ea typeface="Arial"/>
                <a:cs typeface="Arial"/>
              </a:defRPr>
            </a:pPr>
            <a:r>
              <a:rPr sz="863" b="1">
                <a:solidFill>
                  <a:srgbClr val="102744"/>
                </a:solidFill>
                <a:latin typeface="Arial"/>
                <a:ea typeface="Arial"/>
                <a:cs typeface="Arial"/>
              </a:rPr>
              <a:t>↓  Successor Decision</a:t>
            </a:r>
          </a:p>
        </p:txBody>
      </p:sp>
      <p:sp>
        <p:nvSpPr>
          <p:cNvPr id="47" name="text-884-580-├ retain current">
            <a:extLst xmlns:a="http://schemas.openxmlformats.org/drawingml/2006/main">
              <a:ext uri="{FF2B5EF4-FFF2-40B4-BE49-F238E27FC236}">
                <a16:creationId xmlns:a16="http://schemas.microsoft.com/office/drawing/2014/main" id="{FECF0B42-BFC4-4F6D-9427-F9B2760A6E07}"/>
              </a:ext>
            </a:extLst>
          </p:cNvPr>
          <p:cNvSpPr>
            <a:spLocks xmlns:a="http://schemas.openxmlformats.org/drawingml/2006/main" noGrp="1"/>
          </p:cNvSpPr>
          <p:nvPr/>
        </p:nvSpPr>
        <p:spPr>
          <a:xfrm xmlns:a="http://schemas.openxmlformats.org/drawingml/2006/main">
            <a:off x="8420100" y="55245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788" b="0">
                <a:solidFill>
                  <a:srgbClr val="4B6075"/>
                </a:solidFill>
                <a:latin typeface="Arial"/>
                <a:ea typeface="Arial"/>
                <a:cs typeface="Arial"/>
              </a:defRPr>
            </a:pPr>
            <a:r>
              <a:rPr sz="788" b="0">
                <a:solidFill>
                  <a:srgbClr val="4B6075"/>
                </a:solidFill>
                <a:latin typeface="Arial"/>
                <a:ea typeface="Arial"/>
                <a:cs typeface="Arial"/>
              </a:rPr>
              <a:t>├ retain current baseline</a:t>
            </a:r>
          </a:p>
          <a:p xmlns:a="http://schemas.openxmlformats.org/drawingml/2006/main">
            <a:pPr algn="ctr">
              <a:defRPr sz="788" b="0">
                <a:solidFill>
                  <a:srgbClr val="4B6075"/>
                </a:solidFill>
                <a:latin typeface="Arial"/>
                <a:ea typeface="Arial"/>
                <a:cs typeface="Arial"/>
              </a:defRPr>
            </a:pPr>
            <a:r>
              <a:rPr sz="788" b="0">
                <a:solidFill>
                  <a:srgbClr val="4B6075"/>
                </a:solidFill>
                <a:latin typeface="Arial"/>
                <a:ea typeface="Arial"/>
                <a:cs typeface="Arial"/>
              </a:rPr>
              <a:t>└ select qualified alternative</a:t>
            </a:r>
          </a:p>
        </p:txBody>
      </p:sp>
      <p:sp>
        <p:nvSpPr>
          <p:cNvPr id="48" name="box-328-635">
            <a:extLst xmlns:a="http://schemas.openxmlformats.org/drawingml/2006/main">
              <a:ext uri="{FF2B5EF4-FFF2-40B4-BE49-F238E27FC236}">
                <a16:creationId xmlns:a16="http://schemas.microsoft.com/office/drawing/2014/main" id="{62F898FF-8645-484B-B11D-A61BC2F097C6}"/>
              </a:ext>
            </a:extLst>
          </p:cNvPr>
          <p:cNvSpPr>
            <a:spLocks xmlns:a="http://schemas.openxmlformats.org/drawingml/2006/main" noGrp="1"/>
          </p:cNvSpPr>
          <p:nvPr/>
        </p:nvSpPr>
        <p:spPr>
          <a:xfrm xmlns:a="http://schemas.openxmlformats.org/drawingml/2006/main">
            <a:off x="3124200" y="6048375"/>
            <a:ext cx="5943600" cy="361950"/>
          </a:xfrm>
          <a:prstGeom xmlns:a="http://schemas.openxmlformats.org/drawingml/2006/main" prst="roundRect">
            <a:avLst>
              <a:gd name="adj" fmla="val 21053"/>
            </a:avLst>
          </a:prstGeom>
          <a:solidFill xmlns:a="http://schemas.openxmlformats.org/drawingml/2006/main">
            <a:srgbClr val="102744"/>
          </a:solidFill>
          <a:ln xmlns:a="http://schemas.openxmlformats.org/drawingml/2006/main" w="7620">
            <a:solidFill>
              <a:srgbClr val="102744"/>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Q-15 = PARTIAL / NO WINNER · Flutter vẫn là viable evaluated alternative</a:t>
            </a:r>
          </a:p>
        </p:txBody>
      </p:sp>
    </p:spTree>
    <p:extLst>
      <p:ext uri="{BB962C8B-B14F-4D97-AF65-F5344CB8AC3E}">
        <p14:creationId xmlns:p14="http://schemas.microsoft.com/office/powerpoint/2010/main" val="10916993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box-0-0">
            <a:extLst xmlns:a="http://schemas.openxmlformats.org/drawingml/2006/main">
              <a:ext uri="{FF2B5EF4-FFF2-40B4-BE49-F238E27FC236}">
                <a16:creationId xmlns:a16="http://schemas.microsoft.com/office/drawing/2014/main" id="{4975A8CB-62CB-4C87-A50C-93E74E3501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02744"/>
          </a:solidFill>
          <a:ln xmlns:a="http://schemas.openxmlformats.org/drawingml/2006/main" w="0">
            <a:noFill/>
            <a:prstDash val="solid"/>
          </a:ln>
        </p:spPr>
      </p:sp>
      <p:sp>
        <p:nvSpPr>
          <p:cNvPr id="2" name="text-54-28-DECISION">
            <a:extLst xmlns:a="http://schemas.openxmlformats.org/drawingml/2006/main">
              <a:ext uri="{FF2B5EF4-FFF2-40B4-BE49-F238E27FC236}">
                <a16:creationId xmlns:a16="http://schemas.microsoft.com/office/drawing/2014/main" id="{F215802D-0A8E-44F9-8516-3DA7CF73A77D}"/>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02744"/>
                </a:solidFill>
                <a:latin typeface="Arial"/>
                <a:ea typeface="Arial"/>
                <a:cs typeface="Arial"/>
              </a:defRPr>
            </a:pPr>
            <a:r>
              <a:rPr sz="1050" b="1">
                <a:solidFill>
                  <a:srgbClr val="102744"/>
                </a:solidFill>
                <a:latin typeface="Arial"/>
                <a:ea typeface="Arial"/>
                <a:cs typeface="Arial"/>
              </a:rPr>
              <a:t>DECISION</a:t>
            </a:r>
          </a:p>
        </p:txBody>
      </p:sp>
      <p:sp>
        <p:nvSpPr>
          <p:cNvPr id="3" name="text-54-56-Ba quyết định cầ">
            <a:extLst xmlns:a="http://schemas.openxmlformats.org/drawingml/2006/main">
              <a:ext uri="{FF2B5EF4-FFF2-40B4-BE49-F238E27FC236}">
                <a16:creationId xmlns:a16="http://schemas.microsoft.com/office/drawing/2014/main" id="{7827B0D2-8B2C-46FA-8B5F-592E68A75403}"/>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Ba quyết định cần Management review</a:t>
            </a:r>
          </a:p>
        </p:txBody>
      </p:sp>
      <p:sp>
        <p:nvSpPr>
          <p:cNvPr id="4" name="line-54-116">
            <a:extLst xmlns:a="http://schemas.openxmlformats.org/drawingml/2006/main">
              <a:ext uri="{FF2B5EF4-FFF2-40B4-BE49-F238E27FC236}">
                <a16:creationId xmlns:a16="http://schemas.microsoft.com/office/drawing/2014/main" id="{9B242333-BAB7-41BD-876B-72BE167CE378}"/>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FEATURE-">
            <a:extLst xmlns:a="http://schemas.openxmlformats.org/drawingml/2006/main">
              <a:ext uri="{FF2B5EF4-FFF2-40B4-BE49-F238E27FC236}">
                <a16:creationId xmlns:a16="http://schemas.microsoft.com/office/drawing/2014/main" id="{B299D4AB-222E-4511-BDE2-0EFE21F0ABF7}"/>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FEATURE-001@0.12 · DOC-04@0.13 · TECH-001@0.14</a:t>
            </a:r>
          </a:p>
        </p:txBody>
      </p:sp>
      <p:sp>
        <p:nvSpPr>
          <p:cNvPr id="6" name="text-1170-680-15">
            <a:extLst xmlns:a="http://schemas.openxmlformats.org/drawingml/2006/main">
              <a:ext uri="{FF2B5EF4-FFF2-40B4-BE49-F238E27FC236}">
                <a16:creationId xmlns:a16="http://schemas.microsoft.com/office/drawing/2014/main" id="{ADA59B33-26D1-4AB9-9A99-4623EF7B9155}"/>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15</a:t>
            </a:r>
          </a:p>
        </p:txBody>
      </p:sp>
      <p:sp>
        <p:nvSpPr>
          <p:cNvPr id="7" name="diagram-meta-15">
            <a:extLst xmlns:a="http://schemas.openxmlformats.org/drawingml/2006/main">
              <a:ext uri="{FF2B5EF4-FFF2-40B4-BE49-F238E27FC236}">
                <a16:creationId xmlns:a16="http://schemas.microsoft.com/office/drawing/2014/main" id="{71FA9CD6-5C23-4B21-982B-31944EC88329}"/>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5">
            <a:extLst xmlns:a="http://schemas.openxmlformats.org/drawingml/2006/main">
              <a:ext uri="{FF2B5EF4-FFF2-40B4-BE49-F238E27FC236}">
                <a16:creationId xmlns:a16="http://schemas.microsoft.com/office/drawing/2014/main" id="{18098D79-F337-4229-856B-8B2B7EA61073}"/>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Presentation synthesis</a:t>
            </a:r>
          </a:p>
        </p:txBody>
      </p:sp>
      <p:sp>
        <p:nvSpPr>
          <p:cNvPr id="9" name="diagram-source-15">
            <a:extLst xmlns:a="http://schemas.openxmlformats.org/drawingml/2006/main">
              <a:ext uri="{FF2B5EF4-FFF2-40B4-BE49-F238E27FC236}">
                <a16:creationId xmlns:a16="http://schemas.microsoft.com/office/drawing/2014/main" id="{25222D56-1518-4D11-9B39-C675F3A08349}"/>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FEATURE-001 + DOC-04 + TECH-001</a:t>
            </a:r>
          </a:p>
        </p:txBody>
      </p:sp>
      <p:sp>
        <p:nvSpPr>
          <p:cNvPr id="10" name="diagram-why-15">
            <a:extLst xmlns:a="http://schemas.openxmlformats.org/drawingml/2006/main">
              <a:ext uri="{FF2B5EF4-FFF2-40B4-BE49-F238E27FC236}">
                <a16:creationId xmlns:a16="http://schemas.microsoft.com/office/drawing/2014/main" id="{893D76DC-4A35-47EF-B1D9-F7C30C5CD634}"/>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Tách ba quyết định management</a:t>
            </a:r>
          </a:p>
        </p:txBody>
      </p:sp>
      <p:sp>
        <p:nvSpPr>
          <p:cNvPr id="11" name="box-58-156">
            <a:extLst xmlns:a="http://schemas.openxmlformats.org/drawingml/2006/main">
              <a:ext uri="{FF2B5EF4-FFF2-40B4-BE49-F238E27FC236}">
                <a16:creationId xmlns:a16="http://schemas.microsoft.com/office/drawing/2014/main" id="{EB0525B4-4E1B-48BC-8CE4-7130079EA964}"/>
              </a:ext>
            </a:extLst>
          </p:cNvPr>
          <p:cNvSpPr>
            <a:spLocks xmlns:a="http://schemas.openxmlformats.org/drawingml/2006/main" noGrp="1"/>
          </p:cNvSpPr>
          <p:nvPr/>
        </p:nvSpPr>
        <p:spPr>
          <a:xfrm xmlns:a="http://schemas.openxmlformats.org/drawingml/2006/main">
            <a:off x="552450" y="1485900"/>
            <a:ext cx="3314700" cy="3143250"/>
          </a:xfrm>
          <a:prstGeom xmlns:a="http://schemas.openxmlformats.org/drawingml/2006/main" prst="roundRect">
            <a:avLst>
              <a:gd name="adj" fmla="val 2424"/>
            </a:avLst>
          </a:prstGeom>
          <a:solidFill xmlns:a="http://schemas.openxmlformats.org/drawingml/2006/main">
            <a:srgbClr val="E8F7F9"/>
          </a:solidFill>
          <a:ln xmlns:a="http://schemas.openxmlformats.org/drawingml/2006/main" w="16193">
            <a:solidFill>
              <a:srgbClr val="2F8FC2"/>
            </a:solidFill>
            <a:prstDash val="solid"/>
          </a:ln>
        </p:spPr>
      </p:sp>
      <p:sp>
        <p:nvSpPr>
          <p:cNvPr id="12" name="box-80-178">
            <a:extLst xmlns:a="http://schemas.openxmlformats.org/drawingml/2006/main">
              <a:ext uri="{FF2B5EF4-FFF2-40B4-BE49-F238E27FC236}">
                <a16:creationId xmlns:a16="http://schemas.microsoft.com/office/drawing/2014/main" id="{F2CBCE79-E22B-4590-99E3-198EA4A0EE51}"/>
              </a:ext>
            </a:extLst>
          </p:cNvPr>
          <p:cNvSpPr>
            <a:spLocks xmlns:a="http://schemas.openxmlformats.org/drawingml/2006/main" noGrp="1"/>
          </p:cNvSpPr>
          <p:nvPr/>
        </p:nvSpPr>
        <p:spPr>
          <a:xfrm xmlns:a="http://schemas.openxmlformats.org/drawingml/2006/main">
            <a:off x="762000" y="1695450"/>
            <a:ext cx="476250" cy="476250"/>
          </a:xfrm>
          <a:prstGeom xmlns:a="http://schemas.openxmlformats.org/drawingml/2006/main" prst="ellipse">
            <a:avLst/>
          </a:prstGeom>
          <a:solidFill xmlns:a="http://schemas.openxmlformats.org/drawingml/2006/main">
            <a:srgbClr val="2F8FC2"/>
          </a:solidFill>
          <a:ln xmlns:a="http://schemas.openxmlformats.org/drawingml/2006/main" w="11430">
            <a:solidFill>
              <a:srgbClr val="2F8FC2"/>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3" name="text-146-178-FEATURE">
            <a:extLst xmlns:a="http://schemas.openxmlformats.org/drawingml/2006/main">
              <a:ext uri="{FF2B5EF4-FFF2-40B4-BE49-F238E27FC236}">
                <a16:creationId xmlns:a16="http://schemas.microsoft.com/office/drawing/2014/main" id="{49919530-F0F3-4C13-BA4D-529A951043B3}"/>
              </a:ext>
            </a:extLst>
          </p:cNvPr>
          <p:cNvSpPr>
            <a:spLocks xmlns:a="http://schemas.openxmlformats.org/drawingml/2006/main" noGrp="1"/>
          </p:cNvSpPr>
          <p:nvPr/>
        </p:nvSpPr>
        <p:spPr>
          <a:xfrm xmlns:a="http://schemas.openxmlformats.org/drawingml/2006/main">
            <a:off x="1390650" y="16954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02744"/>
                </a:solidFill>
                <a:latin typeface="Arial"/>
                <a:ea typeface="Arial"/>
                <a:cs typeface="Arial"/>
              </a:defRPr>
            </a:pPr>
            <a:r>
              <a:rPr sz="2025" b="1">
                <a:solidFill>
                  <a:srgbClr val="102744"/>
                </a:solidFill>
                <a:latin typeface="Arial"/>
                <a:ea typeface="Arial"/>
                <a:cs typeface="Arial"/>
              </a:rPr>
              <a:t>FEATURE</a:t>
            </a:r>
          </a:p>
        </p:txBody>
      </p:sp>
      <p:sp>
        <p:nvSpPr>
          <p:cNvPr id="14" name="text-84-244-Capability + Sco">
            <a:extLst xmlns:a="http://schemas.openxmlformats.org/drawingml/2006/main">
              <a:ext uri="{FF2B5EF4-FFF2-40B4-BE49-F238E27FC236}">
                <a16:creationId xmlns:a16="http://schemas.microsoft.com/office/drawing/2014/main" id="{78EED855-3BDA-4DAB-A564-824A41976C80}"/>
              </a:ext>
            </a:extLst>
          </p:cNvPr>
          <p:cNvSpPr>
            <a:spLocks xmlns:a="http://schemas.openxmlformats.org/drawingml/2006/main" noGrp="1"/>
          </p:cNvSpPr>
          <p:nvPr/>
        </p:nvSpPr>
        <p:spPr>
          <a:xfrm xmlns:a="http://schemas.openxmlformats.org/drawingml/2006/main">
            <a:off x="800100" y="2324100"/>
            <a:ext cx="281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2F8FC2"/>
                </a:solidFill>
                <a:latin typeface="Arial"/>
                <a:ea typeface="Arial"/>
                <a:cs typeface="Arial"/>
              </a:defRPr>
            </a:pPr>
            <a:r>
              <a:rPr sz="1200" b="1">
                <a:solidFill>
                  <a:srgbClr val="2F8FC2"/>
                </a:solidFill>
                <a:latin typeface="Arial"/>
                <a:ea typeface="Arial"/>
                <a:cs typeface="Arial"/>
              </a:rPr>
              <a:t>Capability + Scope Boundary</a:t>
            </a:r>
          </a:p>
        </p:txBody>
      </p:sp>
      <p:sp>
        <p:nvSpPr>
          <p:cNvPr id="15" name="text-88-300-Core v0 có giải ">
            <a:extLst xmlns:a="http://schemas.openxmlformats.org/drawingml/2006/main">
              <a:ext uri="{FF2B5EF4-FFF2-40B4-BE49-F238E27FC236}">
                <a16:creationId xmlns:a16="http://schemas.microsoft.com/office/drawing/2014/main" id="{490541D8-CB39-4390-81D9-5B4D90B79710}"/>
              </a:ext>
            </a:extLst>
          </p:cNvPr>
          <p:cNvSpPr>
            <a:spLocks xmlns:a="http://schemas.openxmlformats.org/drawingml/2006/main" noGrp="1"/>
          </p:cNvSpPr>
          <p:nvPr/>
        </p:nvSpPr>
        <p:spPr>
          <a:xfrm xmlns:a="http://schemas.openxmlformats.org/drawingml/2006/main">
            <a:off x="838200" y="2857500"/>
            <a:ext cx="2743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0">
                <a:solidFill>
                  <a:srgbClr val="162638"/>
                </a:solidFill>
                <a:latin typeface="Arial"/>
                <a:ea typeface="Arial"/>
                <a:cs typeface="Arial"/>
              </a:defRPr>
            </a:pPr>
            <a:r>
              <a:rPr sz="1500" b="0">
                <a:solidFill>
                  <a:srgbClr val="162638"/>
                </a:solidFill>
                <a:latin typeface="Arial"/>
                <a:ea typeface="Arial"/>
                <a:cs typeface="Arial"/>
              </a:rPr>
              <a:t>Core v0 có giải quyết đúng năng lực và ranh giới công ty cần trước không?</a:t>
            </a:r>
          </a:p>
        </p:txBody>
      </p:sp>
      <p:sp>
        <p:nvSpPr>
          <p:cNvPr id="16" name="box-82-430">
            <a:extLst xmlns:a="http://schemas.openxmlformats.org/drawingml/2006/main">
              <a:ext uri="{FF2B5EF4-FFF2-40B4-BE49-F238E27FC236}">
                <a16:creationId xmlns:a16="http://schemas.microsoft.com/office/drawing/2014/main" id="{50C09AB5-ED26-4EC1-B67F-937FE0E94AC3}"/>
              </a:ext>
            </a:extLst>
          </p:cNvPr>
          <p:cNvSpPr>
            <a:spLocks xmlns:a="http://schemas.openxmlformats.org/drawingml/2006/main" noGrp="1"/>
          </p:cNvSpPr>
          <p:nvPr/>
        </p:nvSpPr>
        <p:spPr>
          <a:xfrm xmlns:a="http://schemas.openxmlformats.org/drawingml/2006/main">
            <a:off x="781050" y="4095750"/>
            <a:ext cx="285750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762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825" b="1">
                <a:solidFill>
                  <a:srgbClr val="4B6075"/>
                </a:solidFill>
                <a:latin typeface="Arial"/>
                <a:ea typeface="Arial"/>
                <a:cs typeface="Arial"/>
              </a:defRPr>
            </a:pPr>
            <a:r>
              <a:rPr sz="825" b="1">
                <a:solidFill>
                  <a:srgbClr val="4B6075"/>
                </a:solidFill>
                <a:latin typeface="Arial"/>
                <a:ea typeface="Arial"/>
                <a:cs typeface="Arial"/>
              </a:rPr>
              <a:t>Approve · Approve with conditions · Revise · Need more evidence</a:t>
            </a:r>
          </a:p>
        </p:txBody>
      </p:sp>
      <p:sp>
        <p:nvSpPr>
          <p:cNvPr id="17" name="box-444-156">
            <a:extLst xmlns:a="http://schemas.openxmlformats.org/drawingml/2006/main">
              <a:ext uri="{FF2B5EF4-FFF2-40B4-BE49-F238E27FC236}">
                <a16:creationId xmlns:a16="http://schemas.microsoft.com/office/drawing/2014/main" id="{EB59FB94-506C-4255-92D6-D799D5B0E903}"/>
              </a:ext>
            </a:extLst>
          </p:cNvPr>
          <p:cNvSpPr>
            <a:spLocks xmlns:a="http://schemas.openxmlformats.org/drawingml/2006/main" noGrp="1"/>
          </p:cNvSpPr>
          <p:nvPr/>
        </p:nvSpPr>
        <p:spPr>
          <a:xfrm xmlns:a="http://schemas.openxmlformats.org/drawingml/2006/main">
            <a:off x="4229100" y="1485900"/>
            <a:ext cx="3314700" cy="3143250"/>
          </a:xfrm>
          <a:prstGeom xmlns:a="http://schemas.openxmlformats.org/drawingml/2006/main" prst="roundRect">
            <a:avLst>
              <a:gd name="adj" fmla="val 2424"/>
            </a:avLst>
          </a:prstGeom>
          <a:solidFill xmlns:a="http://schemas.openxmlformats.org/drawingml/2006/main">
            <a:srgbClr val="EAF3F9"/>
          </a:solidFill>
          <a:ln xmlns:a="http://schemas.openxmlformats.org/drawingml/2006/main" w="16193">
            <a:solidFill>
              <a:srgbClr val="2169A8"/>
            </a:solidFill>
            <a:prstDash val="solid"/>
          </a:ln>
        </p:spPr>
      </p:sp>
      <p:sp>
        <p:nvSpPr>
          <p:cNvPr id="18" name="box-466-178">
            <a:extLst xmlns:a="http://schemas.openxmlformats.org/drawingml/2006/main">
              <a:ext uri="{FF2B5EF4-FFF2-40B4-BE49-F238E27FC236}">
                <a16:creationId xmlns:a16="http://schemas.microsoft.com/office/drawing/2014/main" id="{6A266F26-B3E7-44FF-80C7-4970CE4635FE}"/>
              </a:ext>
            </a:extLst>
          </p:cNvPr>
          <p:cNvSpPr>
            <a:spLocks xmlns:a="http://schemas.openxmlformats.org/drawingml/2006/main" noGrp="1"/>
          </p:cNvSpPr>
          <p:nvPr/>
        </p:nvSpPr>
        <p:spPr>
          <a:xfrm xmlns:a="http://schemas.openxmlformats.org/drawingml/2006/main">
            <a:off x="4438650" y="1695450"/>
            <a:ext cx="476250" cy="476250"/>
          </a:xfrm>
          <a:prstGeom xmlns:a="http://schemas.openxmlformats.org/drawingml/2006/main" prst="ellipse">
            <a:avLst/>
          </a:prstGeom>
          <a:solidFill xmlns:a="http://schemas.openxmlformats.org/drawingml/2006/main">
            <a:srgbClr val="2169A8"/>
          </a:solidFill>
          <a:ln xmlns:a="http://schemas.openxmlformats.org/drawingml/2006/main" w="11430">
            <a:solidFill>
              <a:srgbClr val="2169A8"/>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9" name="text-532-178-SPEC">
            <a:extLst xmlns:a="http://schemas.openxmlformats.org/drawingml/2006/main">
              <a:ext uri="{FF2B5EF4-FFF2-40B4-BE49-F238E27FC236}">
                <a16:creationId xmlns:a16="http://schemas.microsoft.com/office/drawing/2014/main" id="{0ACB152D-5B27-43AB-A575-9A1013703B10}"/>
              </a:ext>
            </a:extLst>
          </p:cNvPr>
          <p:cNvSpPr>
            <a:spLocks xmlns:a="http://schemas.openxmlformats.org/drawingml/2006/main" noGrp="1"/>
          </p:cNvSpPr>
          <p:nvPr/>
        </p:nvSpPr>
        <p:spPr>
          <a:xfrm xmlns:a="http://schemas.openxmlformats.org/drawingml/2006/main">
            <a:off x="5067300" y="16954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02744"/>
                </a:solidFill>
                <a:latin typeface="Arial"/>
                <a:ea typeface="Arial"/>
                <a:cs typeface="Arial"/>
              </a:defRPr>
            </a:pPr>
            <a:r>
              <a:rPr sz="2025" b="1">
                <a:solidFill>
                  <a:srgbClr val="102744"/>
                </a:solidFill>
                <a:latin typeface="Arial"/>
                <a:ea typeface="Arial"/>
                <a:cs typeface="Arial"/>
              </a:rPr>
              <a:t>SPEC</a:t>
            </a:r>
          </a:p>
        </p:txBody>
      </p:sp>
      <p:sp>
        <p:nvSpPr>
          <p:cNvPr id="20" name="text-470-244-Correctness Cont">
            <a:extLst xmlns:a="http://schemas.openxmlformats.org/drawingml/2006/main">
              <a:ext uri="{FF2B5EF4-FFF2-40B4-BE49-F238E27FC236}">
                <a16:creationId xmlns:a16="http://schemas.microsoft.com/office/drawing/2014/main" id="{AD196918-3270-4ACB-9628-A8FAD531BDC3}"/>
              </a:ext>
            </a:extLst>
          </p:cNvPr>
          <p:cNvSpPr>
            <a:spLocks xmlns:a="http://schemas.openxmlformats.org/drawingml/2006/main" noGrp="1"/>
          </p:cNvSpPr>
          <p:nvPr/>
        </p:nvSpPr>
        <p:spPr>
          <a:xfrm xmlns:a="http://schemas.openxmlformats.org/drawingml/2006/main">
            <a:off x="4476750" y="2324100"/>
            <a:ext cx="281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2169A8"/>
                </a:solidFill>
                <a:latin typeface="Arial"/>
                <a:ea typeface="Arial"/>
                <a:cs typeface="Arial"/>
              </a:defRPr>
            </a:pPr>
            <a:r>
              <a:rPr sz="1200" b="1">
                <a:solidFill>
                  <a:srgbClr val="2169A8"/>
                </a:solidFill>
                <a:latin typeface="Arial"/>
                <a:ea typeface="Arial"/>
                <a:cs typeface="Arial"/>
              </a:rPr>
              <a:t>Correctness Contract</a:t>
            </a:r>
          </a:p>
        </p:txBody>
      </p:sp>
      <p:sp>
        <p:nvSpPr>
          <p:cNvPr id="21" name="text-474-300-Các quy tắc về i">
            <a:extLst xmlns:a="http://schemas.openxmlformats.org/drawingml/2006/main">
              <a:ext uri="{FF2B5EF4-FFF2-40B4-BE49-F238E27FC236}">
                <a16:creationId xmlns:a16="http://schemas.microsoft.com/office/drawing/2014/main" id="{726561AF-7280-4429-989E-EA59A6DE862F}"/>
              </a:ext>
            </a:extLst>
          </p:cNvPr>
          <p:cNvSpPr>
            <a:spLocks xmlns:a="http://schemas.openxmlformats.org/drawingml/2006/main" noGrp="1"/>
          </p:cNvSpPr>
          <p:nvPr/>
        </p:nvSpPr>
        <p:spPr>
          <a:xfrm xmlns:a="http://schemas.openxmlformats.org/drawingml/2006/main">
            <a:off x="4514850" y="2857500"/>
            <a:ext cx="2743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0">
                <a:solidFill>
                  <a:srgbClr val="162638"/>
                </a:solidFill>
                <a:latin typeface="Arial"/>
                <a:ea typeface="Arial"/>
                <a:cs typeface="Arial"/>
              </a:defRPr>
            </a:pPr>
            <a:r>
              <a:rPr sz="1500" b="0">
                <a:solidFill>
                  <a:srgbClr val="162638"/>
                </a:solidFill>
                <a:latin typeface="Arial"/>
                <a:ea typeface="Arial"/>
                <a:cs typeface="Arial"/>
              </a:rPr>
              <a:t>Các quy tắc về identity, workspace, structure, quyền, release và recovery có đúng không?</a:t>
            </a:r>
          </a:p>
        </p:txBody>
      </p:sp>
      <p:sp>
        <p:nvSpPr>
          <p:cNvPr id="22" name="box-468-430">
            <a:extLst xmlns:a="http://schemas.openxmlformats.org/drawingml/2006/main">
              <a:ext uri="{FF2B5EF4-FFF2-40B4-BE49-F238E27FC236}">
                <a16:creationId xmlns:a16="http://schemas.microsoft.com/office/drawing/2014/main" id="{6EDBC102-D0DA-403E-BFF9-10CDD6724339}"/>
              </a:ext>
            </a:extLst>
          </p:cNvPr>
          <p:cNvSpPr>
            <a:spLocks xmlns:a="http://schemas.openxmlformats.org/drawingml/2006/main" noGrp="1"/>
          </p:cNvSpPr>
          <p:nvPr/>
        </p:nvSpPr>
        <p:spPr>
          <a:xfrm xmlns:a="http://schemas.openxmlformats.org/drawingml/2006/main">
            <a:off x="4457700" y="4095750"/>
            <a:ext cx="285750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762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825" b="1">
                <a:solidFill>
                  <a:srgbClr val="4B6075"/>
                </a:solidFill>
                <a:latin typeface="Arial"/>
                <a:ea typeface="Arial"/>
                <a:cs typeface="Arial"/>
              </a:defRPr>
            </a:pPr>
            <a:r>
              <a:rPr sz="825" b="1">
                <a:solidFill>
                  <a:srgbClr val="4B6075"/>
                </a:solidFill>
                <a:latin typeface="Arial"/>
                <a:ea typeface="Arial"/>
                <a:cs typeface="Arial"/>
              </a:rPr>
              <a:t>Approve · Approve with conditions · Revise · Need more evidence</a:t>
            </a:r>
          </a:p>
        </p:txBody>
      </p:sp>
      <p:sp>
        <p:nvSpPr>
          <p:cNvPr id="23" name="box-830-156">
            <a:extLst xmlns:a="http://schemas.openxmlformats.org/drawingml/2006/main">
              <a:ext uri="{FF2B5EF4-FFF2-40B4-BE49-F238E27FC236}">
                <a16:creationId xmlns:a16="http://schemas.microsoft.com/office/drawing/2014/main" id="{F4493BE3-A7A4-4BEE-8601-354DAF69914E}"/>
              </a:ext>
            </a:extLst>
          </p:cNvPr>
          <p:cNvSpPr>
            <a:spLocks xmlns:a="http://schemas.openxmlformats.org/drawingml/2006/main" noGrp="1"/>
          </p:cNvSpPr>
          <p:nvPr/>
        </p:nvSpPr>
        <p:spPr>
          <a:xfrm xmlns:a="http://schemas.openxmlformats.org/drawingml/2006/main">
            <a:off x="7905750" y="1485900"/>
            <a:ext cx="3314700" cy="3143250"/>
          </a:xfrm>
          <a:prstGeom xmlns:a="http://schemas.openxmlformats.org/drawingml/2006/main" prst="roundRect">
            <a:avLst>
              <a:gd name="adj" fmla="val 2424"/>
            </a:avLst>
          </a:prstGeom>
          <a:solidFill xmlns:a="http://schemas.openxmlformats.org/drawingml/2006/main">
            <a:srgbClr val="F0EDFA"/>
          </a:solidFill>
          <a:ln xmlns:a="http://schemas.openxmlformats.org/drawingml/2006/main" w="16193">
            <a:solidFill>
              <a:srgbClr val="6C5AA8"/>
            </a:solidFill>
            <a:prstDash val="solid"/>
          </a:ln>
        </p:spPr>
      </p:sp>
      <p:sp>
        <p:nvSpPr>
          <p:cNvPr id="24" name="box-852-178">
            <a:extLst xmlns:a="http://schemas.openxmlformats.org/drawingml/2006/main">
              <a:ext uri="{FF2B5EF4-FFF2-40B4-BE49-F238E27FC236}">
                <a16:creationId xmlns:a16="http://schemas.microsoft.com/office/drawing/2014/main" id="{356FBBA5-2920-4009-89D1-576D9F2C6458}"/>
              </a:ext>
            </a:extLst>
          </p:cNvPr>
          <p:cNvSpPr>
            <a:spLocks xmlns:a="http://schemas.openxmlformats.org/drawingml/2006/main" noGrp="1"/>
          </p:cNvSpPr>
          <p:nvPr/>
        </p:nvSpPr>
        <p:spPr>
          <a:xfrm xmlns:a="http://schemas.openxmlformats.org/drawingml/2006/main">
            <a:off x="8115300" y="1695450"/>
            <a:ext cx="476250" cy="476250"/>
          </a:xfrm>
          <a:prstGeom xmlns:a="http://schemas.openxmlformats.org/drawingml/2006/main" prst="ellipse">
            <a:avLst/>
          </a:prstGeom>
          <a:solidFill xmlns:a="http://schemas.openxmlformats.org/drawingml/2006/main">
            <a:srgbClr val="6C5AA8"/>
          </a:solidFill>
          <a:ln xmlns:a="http://schemas.openxmlformats.org/drawingml/2006/main" w="11430">
            <a:solidFill>
              <a:srgbClr val="6C5AA8"/>
            </a:solidFill>
            <a:prstDash val="solid"/>
          </a:ln>
        </p:spPr>
        <p:txBody>
          <a:bodyPr xmlns:a="http://schemas.openxmlformats.org/drawingml/2006/main">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5" name="text-918-178-TECH">
            <a:extLst xmlns:a="http://schemas.openxmlformats.org/drawingml/2006/main">
              <a:ext uri="{FF2B5EF4-FFF2-40B4-BE49-F238E27FC236}">
                <a16:creationId xmlns:a16="http://schemas.microsoft.com/office/drawing/2014/main" id="{80ABD23F-0F6E-4679-9AF7-8C804FE53514}"/>
              </a:ext>
            </a:extLst>
          </p:cNvPr>
          <p:cNvSpPr>
            <a:spLocks xmlns:a="http://schemas.openxmlformats.org/drawingml/2006/main" noGrp="1"/>
          </p:cNvSpPr>
          <p:nvPr/>
        </p:nvSpPr>
        <p:spPr>
          <a:xfrm xmlns:a="http://schemas.openxmlformats.org/drawingml/2006/main">
            <a:off x="8743950" y="16954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02744"/>
                </a:solidFill>
                <a:latin typeface="Arial"/>
                <a:ea typeface="Arial"/>
                <a:cs typeface="Arial"/>
              </a:defRPr>
            </a:pPr>
            <a:r>
              <a:rPr sz="2025" b="1">
                <a:solidFill>
                  <a:srgbClr val="102744"/>
                </a:solidFill>
                <a:latin typeface="Arial"/>
                <a:ea typeface="Arial"/>
                <a:cs typeface="Arial"/>
              </a:rPr>
              <a:t>TECH</a:t>
            </a:r>
          </a:p>
        </p:txBody>
      </p:sp>
      <p:sp>
        <p:nvSpPr>
          <p:cNvPr id="26" name="text-856-244-Engineering Base">
            <a:extLst xmlns:a="http://schemas.openxmlformats.org/drawingml/2006/main">
              <a:ext uri="{FF2B5EF4-FFF2-40B4-BE49-F238E27FC236}">
                <a16:creationId xmlns:a16="http://schemas.microsoft.com/office/drawing/2014/main" id="{1BAF2117-AC2F-46E9-8594-1FCAF174D0CE}"/>
              </a:ext>
            </a:extLst>
          </p:cNvPr>
          <p:cNvSpPr>
            <a:spLocks xmlns:a="http://schemas.openxmlformats.org/drawingml/2006/main" noGrp="1"/>
          </p:cNvSpPr>
          <p:nvPr/>
        </p:nvSpPr>
        <p:spPr>
          <a:xfrm xmlns:a="http://schemas.openxmlformats.org/drawingml/2006/main">
            <a:off x="8153400" y="2324100"/>
            <a:ext cx="281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6C5AA8"/>
                </a:solidFill>
                <a:latin typeface="Arial"/>
                <a:ea typeface="Arial"/>
                <a:cs typeface="Arial"/>
              </a:defRPr>
            </a:pPr>
            <a:r>
              <a:rPr sz="1200" b="1">
                <a:solidFill>
                  <a:srgbClr val="6C5AA8"/>
                </a:solidFill>
                <a:latin typeface="Arial"/>
                <a:ea typeface="Arial"/>
                <a:cs typeface="Arial"/>
              </a:rPr>
              <a:t>Engineering Baseline</a:t>
            </a:r>
          </a:p>
        </p:txBody>
      </p:sp>
      <p:sp>
        <p:nvSpPr>
          <p:cNvPr id="27" name="text-860-300-Có chấp nhận bas">
            <a:extLst xmlns:a="http://schemas.openxmlformats.org/drawingml/2006/main">
              <a:ext uri="{FF2B5EF4-FFF2-40B4-BE49-F238E27FC236}">
                <a16:creationId xmlns:a16="http://schemas.microsoft.com/office/drawing/2014/main" id="{1FB861EA-FF37-4FCB-8186-D23AA2CEDB8F}"/>
              </a:ext>
            </a:extLst>
          </p:cNvPr>
          <p:cNvSpPr>
            <a:spLocks xmlns:a="http://schemas.openxmlformats.org/drawingml/2006/main" noGrp="1"/>
          </p:cNvSpPr>
          <p:nvPr/>
        </p:nvSpPr>
        <p:spPr>
          <a:xfrm xmlns:a="http://schemas.openxmlformats.org/drawingml/2006/main">
            <a:off x="8191500" y="2857500"/>
            <a:ext cx="2743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0">
                <a:solidFill>
                  <a:srgbClr val="162638"/>
                </a:solidFill>
                <a:latin typeface="Arial"/>
                <a:ea typeface="Arial"/>
                <a:cs typeface="Arial"/>
              </a:defRPr>
            </a:pPr>
            <a:r>
              <a:rPr sz="1500" b="0">
                <a:solidFill>
                  <a:srgbClr val="162638"/>
                </a:solidFill>
                <a:latin typeface="Arial"/>
                <a:ea typeface="Arial"/>
                <a:cs typeface="Arial"/>
              </a:rPr>
              <a:t>Có chấp nhận baseline Engineering này để tiếp tục qualification và implementation không?</a:t>
            </a:r>
          </a:p>
        </p:txBody>
      </p:sp>
      <p:sp>
        <p:nvSpPr>
          <p:cNvPr id="28" name="box-854-430">
            <a:extLst xmlns:a="http://schemas.openxmlformats.org/drawingml/2006/main">
              <a:ext uri="{FF2B5EF4-FFF2-40B4-BE49-F238E27FC236}">
                <a16:creationId xmlns:a16="http://schemas.microsoft.com/office/drawing/2014/main" id="{C4DC4079-BF2C-4C06-8271-4865679A7C71}"/>
              </a:ext>
            </a:extLst>
          </p:cNvPr>
          <p:cNvSpPr>
            <a:spLocks xmlns:a="http://schemas.openxmlformats.org/drawingml/2006/main" noGrp="1"/>
          </p:cNvSpPr>
          <p:nvPr/>
        </p:nvSpPr>
        <p:spPr>
          <a:xfrm xmlns:a="http://schemas.openxmlformats.org/drawingml/2006/main">
            <a:off x="8134350" y="4095750"/>
            <a:ext cx="285750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7620">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825" b="1">
                <a:solidFill>
                  <a:srgbClr val="4B6075"/>
                </a:solidFill>
                <a:latin typeface="Arial"/>
                <a:ea typeface="Arial"/>
                <a:cs typeface="Arial"/>
              </a:defRPr>
            </a:pPr>
            <a:r>
              <a:rPr sz="825" b="1">
                <a:solidFill>
                  <a:srgbClr val="4B6075"/>
                </a:solidFill>
                <a:latin typeface="Arial"/>
                <a:ea typeface="Arial"/>
                <a:cs typeface="Arial"/>
              </a:rPr>
              <a:t>Approve · Approve with conditions · Revise · Need more evidence</a:t>
            </a:r>
          </a:p>
        </p:txBody>
      </p:sp>
      <p:sp>
        <p:nvSpPr>
          <p:cNvPr id="29" name="box-104-530">
            <a:extLst xmlns:a="http://schemas.openxmlformats.org/drawingml/2006/main">
              <a:ext uri="{FF2B5EF4-FFF2-40B4-BE49-F238E27FC236}">
                <a16:creationId xmlns:a16="http://schemas.microsoft.com/office/drawing/2014/main" id="{34F13742-5E7D-4009-9485-067BF51DE357}"/>
              </a:ext>
            </a:extLst>
          </p:cNvPr>
          <p:cNvSpPr>
            <a:spLocks xmlns:a="http://schemas.openxmlformats.org/drawingml/2006/main" noGrp="1"/>
          </p:cNvSpPr>
          <p:nvPr/>
        </p:nvSpPr>
        <p:spPr>
          <a:xfrm xmlns:a="http://schemas.openxmlformats.org/drawingml/2006/main">
            <a:off x="990600" y="5048250"/>
            <a:ext cx="10210800" cy="876300"/>
          </a:xfrm>
          <a:prstGeom xmlns:a="http://schemas.openxmlformats.org/drawingml/2006/main" prst="roundRect">
            <a:avLst>
              <a:gd name="adj" fmla="val 8696"/>
            </a:avLst>
          </a:prstGeom>
          <a:solidFill xmlns:a="http://schemas.openxmlformats.org/drawingml/2006/main">
            <a:srgbClr val="102744"/>
          </a:solidFill>
          <a:ln xmlns:a="http://schemas.openxmlformats.org/drawingml/2006/main" w="11430">
            <a:solidFill>
              <a:srgbClr val="102744"/>
            </a:solidFill>
            <a:prstDash val="solid"/>
          </a:ln>
        </p:spPr>
      </p:sp>
      <p:sp>
        <p:nvSpPr>
          <p:cNvPr id="30" name="text-126-554-FEATURE decision">
            <a:extLst xmlns:a="http://schemas.openxmlformats.org/drawingml/2006/main">
              <a:ext uri="{FF2B5EF4-FFF2-40B4-BE49-F238E27FC236}">
                <a16:creationId xmlns:a16="http://schemas.microsoft.com/office/drawing/2014/main" id="{FA1E2AE0-E543-476E-A734-ABFC7CA88215}"/>
              </a:ext>
            </a:extLst>
          </p:cNvPr>
          <p:cNvSpPr>
            <a:spLocks xmlns:a="http://schemas.openxmlformats.org/drawingml/2006/main" noGrp="1"/>
          </p:cNvSpPr>
          <p:nvPr/>
        </p:nvSpPr>
        <p:spPr>
          <a:xfrm xmlns:a="http://schemas.openxmlformats.org/drawingml/2006/main">
            <a:off x="1200150" y="52768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FEATURE decision</a:t>
            </a:r>
          </a:p>
        </p:txBody>
      </p:sp>
      <p:sp>
        <p:nvSpPr>
          <p:cNvPr id="31" name="text-294-549-→">
            <a:extLst xmlns:a="http://schemas.openxmlformats.org/drawingml/2006/main">
              <a:ext uri="{FF2B5EF4-FFF2-40B4-BE49-F238E27FC236}">
                <a16:creationId xmlns:a16="http://schemas.microsoft.com/office/drawing/2014/main" id="{DB00830C-5751-4AE4-807D-C7E3186259BE}"/>
              </a:ext>
            </a:extLst>
          </p:cNvPr>
          <p:cNvSpPr>
            <a:spLocks xmlns:a="http://schemas.openxmlformats.org/drawingml/2006/main" noGrp="1"/>
          </p:cNvSpPr>
          <p:nvPr/>
        </p:nvSpPr>
        <p:spPr>
          <a:xfrm xmlns:a="http://schemas.openxmlformats.org/drawingml/2006/main">
            <a:off x="2800350" y="5229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8EC7E7"/>
                </a:solidFill>
                <a:latin typeface="Arial"/>
                <a:ea typeface="Arial"/>
                <a:cs typeface="Arial"/>
              </a:defRPr>
            </a:pPr>
            <a:r>
              <a:rPr sz="1650" b="1">
                <a:solidFill>
                  <a:srgbClr val="8EC7E7"/>
                </a:solidFill>
                <a:latin typeface="Arial"/>
                <a:ea typeface="Arial"/>
                <a:cs typeface="Arial"/>
              </a:rPr>
              <a:t>→</a:t>
            </a:r>
          </a:p>
        </p:txBody>
      </p:sp>
      <p:sp>
        <p:nvSpPr>
          <p:cNvPr id="32" name="text-330-554-SPEC decision">
            <a:extLst xmlns:a="http://schemas.openxmlformats.org/drawingml/2006/main">
              <a:ext uri="{FF2B5EF4-FFF2-40B4-BE49-F238E27FC236}">
                <a16:creationId xmlns:a16="http://schemas.microsoft.com/office/drawing/2014/main" id="{96C5CB18-CFB0-4F0B-8CBE-64AB27140E77}"/>
              </a:ext>
            </a:extLst>
          </p:cNvPr>
          <p:cNvSpPr>
            <a:spLocks xmlns:a="http://schemas.openxmlformats.org/drawingml/2006/main" noGrp="1"/>
          </p:cNvSpPr>
          <p:nvPr/>
        </p:nvSpPr>
        <p:spPr>
          <a:xfrm xmlns:a="http://schemas.openxmlformats.org/drawingml/2006/main">
            <a:off x="3143250" y="52768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SPEC decision</a:t>
            </a:r>
          </a:p>
        </p:txBody>
      </p:sp>
      <p:sp>
        <p:nvSpPr>
          <p:cNvPr id="33" name="text-498-549-→">
            <a:extLst xmlns:a="http://schemas.openxmlformats.org/drawingml/2006/main">
              <a:ext uri="{FF2B5EF4-FFF2-40B4-BE49-F238E27FC236}">
                <a16:creationId xmlns:a16="http://schemas.microsoft.com/office/drawing/2014/main" id="{0AD93B5C-DFEC-4591-914C-642358F8CBF7}"/>
              </a:ext>
            </a:extLst>
          </p:cNvPr>
          <p:cNvSpPr>
            <a:spLocks xmlns:a="http://schemas.openxmlformats.org/drawingml/2006/main" noGrp="1"/>
          </p:cNvSpPr>
          <p:nvPr/>
        </p:nvSpPr>
        <p:spPr>
          <a:xfrm xmlns:a="http://schemas.openxmlformats.org/drawingml/2006/main">
            <a:off x="4743450" y="5229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8EC7E7"/>
                </a:solidFill>
                <a:latin typeface="Arial"/>
                <a:ea typeface="Arial"/>
                <a:cs typeface="Arial"/>
              </a:defRPr>
            </a:pPr>
            <a:r>
              <a:rPr sz="1650" b="1">
                <a:solidFill>
                  <a:srgbClr val="8EC7E7"/>
                </a:solidFill>
                <a:latin typeface="Arial"/>
                <a:ea typeface="Arial"/>
                <a:cs typeface="Arial"/>
              </a:rPr>
              <a:t>→</a:t>
            </a:r>
          </a:p>
        </p:txBody>
      </p:sp>
      <p:sp>
        <p:nvSpPr>
          <p:cNvPr id="34" name="text-534-554-TECH baseline">
            <a:extLst xmlns:a="http://schemas.openxmlformats.org/drawingml/2006/main">
              <a:ext uri="{FF2B5EF4-FFF2-40B4-BE49-F238E27FC236}">
                <a16:creationId xmlns:a16="http://schemas.microsoft.com/office/drawing/2014/main" id="{C3A5EAF4-067D-406B-AF57-1439BE1FBE94}"/>
              </a:ext>
            </a:extLst>
          </p:cNvPr>
          <p:cNvSpPr>
            <a:spLocks xmlns:a="http://schemas.openxmlformats.org/drawingml/2006/main" noGrp="1"/>
          </p:cNvSpPr>
          <p:nvPr/>
        </p:nvSpPr>
        <p:spPr>
          <a:xfrm xmlns:a="http://schemas.openxmlformats.org/drawingml/2006/main">
            <a:off x="5086350" y="52768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TECH baseline</a:t>
            </a:r>
          </a:p>
        </p:txBody>
      </p:sp>
      <p:sp>
        <p:nvSpPr>
          <p:cNvPr id="35" name="text-702-549-→">
            <a:extLst xmlns:a="http://schemas.openxmlformats.org/drawingml/2006/main">
              <a:ext uri="{FF2B5EF4-FFF2-40B4-BE49-F238E27FC236}">
                <a16:creationId xmlns:a16="http://schemas.microsoft.com/office/drawing/2014/main" id="{9D01B337-051F-45FA-9879-65EE917497B7}"/>
              </a:ext>
            </a:extLst>
          </p:cNvPr>
          <p:cNvSpPr>
            <a:spLocks xmlns:a="http://schemas.openxmlformats.org/drawingml/2006/main" noGrp="1"/>
          </p:cNvSpPr>
          <p:nvPr/>
        </p:nvSpPr>
        <p:spPr>
          <a:xfrm xmlns:a="http://schemas.openxmlformats.org/drawingml/2006/main">
            <a:off x="6686550" y="5229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8EC7E7"/>
                </a:solidFill>
                <a:latin typeface="Arial"/>
                <a:ea typeface="Arial"/>
                <a:cs typeface="Arial"/>
              </a:defRPr>
            </a:pPr>
            <a:r>
              <a:rPr sz="1650" b="1">
                <a:solidFill>
                  <a:srgbClr val="8EC7E7"/>
                </a:solidFill>
                <a:latin typeface="Arial"/>
                <a:ea typeface="Arial"/>
                <a:cs typeface="Arial"/>
              </a:rPr>
              <a:t>→</a:t>
            </a:r>
          </a:p>
        </p:txBody>
      </p:sp>
      <p:sp>
        <p:nvSpPr>
          <p:cNvPr id="36" name="text-738-554-Qualification">
            <a:extLst xmlns:a="http://schemas.openxmlformats.org/drawingml/2006/main">
              <a:ext uri="{FF2B5EF4-FFF2-40B4-BE49-F238E27FC236}">
                <a16:creationId xmlns:a16="http://schemas.microsoft.com/office/drawing/2014/main" id="{9C839EC7-6E37-4358-BF0D-6715AC526D3E}"/>
              </a:ext>
            </a:extLst>
          </p:cNvPr>
          <p:cNvSpPr>
            <a:spLocks xmlns:a="http://schemas.openxmlformats.org/drawingml/2006/main" noGrp="1"/>
          </p:cNvSpPr>
          <p:nvPr/>
        </p:nvSpPr>
        <p:spPr>
          <a:xfrm xmlns:a="http://schemas.openxmlformats.org/drawingml/2006/main">
            <a:off x="7029450" y="52768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Qualification</a:t>
            </a:r>
          </a:p>
        </p:txBody>
      </p:sp>
      <p:sp>
        <p:nvSpPr>
          <p:cNvPr id="37" name="text-906-549-→">
            <a:extLst xmlns:a="http://schemas.openxmlformats.org/drawingml/2006/main">
              <a:ext uri="{FF2B5EF4-FFF2-40B4-BE49-F238E27FC236}">
                <a16:creationId xmlns:a16="http://schemas.microsoft.com/office/drawing/2014/main" id="{0D2BE467-BB47-404C-8881-A2D3952FEC06}"/>
              </a:ext>
            </a:extLst>
          </p:cNvPr>
          <p:cNvSpPr>
            <a:spLocks xmlns:a="http://schemas.openxmlformats.org/drawingml/2006/main" noGrp="1"/>
          </p:cNvSpPr>
          <p:nvPr/>
        </p:nvSpPr>
        <p:spPr>
          <a:xfrm xmlns:a="http://schemas.openxmlformats.org/drawingml/2006/main">
            <a:off x="8629650" y="5229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8EC7E7"/>
                </a:solidFill>
                <a:latin typeface="Arial"/>
                <a:ea typeface="Arial"/>
                <a:cs typeface="Arial"/>
              </a:defRPr>
            </a:pPr>
            <a:r>
              <a:rPr sz="1650" b="1">
                <a:solidFill>
                  <a:srgbClr val="8EC7E7"/>
                </a:solidFill>
                <a:latin typeface="Arial"/>
                <a:ea typeface="Arial"/>
                <a:cs typeface="Arial"/>
              </a:rPr>
              <a:t>→</a:t>
            </a:r>
          </a:p>
        </p:txBody>
      </p:sp>
      <p:sp>
        <p:nvSpPr>
          <p:cNvPr id="38" name="text-942-554-Implementation">
            <a:extLst xmlns:a="http://schemas.openxmlformats.org/drawingml/2006/main">
              <a:ext uri="{FF2B5EF4-FFF2-40B4-BE49-F238E27FC236}">
                <a16:creationId xmlns:a16="http://schemas.microsoft.com/office/drawing/2014/main" id="{2B0E2D6B-C1B1-49D2-B043-B233BA897080}"/>
              </a:ext>
            </a:extLst>
          </p:cNvPr>
          <p:cNvSpPr>
            <a:spLocks xmlns:a="http://schemas.openxmlformats.org/drawingml/2006/main" noGrp="1"/>
          </p:cNvSpPr>
          <p:nvPr/>
        </p:nvSpPr>
        <p:spPr>
          <a:xfrm xmlns:a="http://schemas.openxmlformats.org/drawingml/2006/main">
            <a:off x="8972550" y="52768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Implementation</a:t>
            </a:r>
          </a:p>
        </p:txBody>
      </p:sp>
      <p:sp>
        <p:nvSpPr>
          <p:cNvPr id="39" name="text-270-640-Trạng thái hiện ">
            <a:extLst xmlns:a="http://schemas.openxmlformats.org/drawingml/2006/main">
              <a:ext uri="{FF2B5EF4-FFF2-40B4-BE49-F238E27FC236}">
                <a16:creationId xmlns:a16="http://schemas.microsoft.com/office/drawing/2014/main" id="{EE687794-ED9A-4C4F-9952-506CC1753230}"/>
              </a:ext>
            </a:extLst>
          </p:cNvPr>
          <p:cNvSpPr>
            <a:spLocks xmlns:a="http://schemas.openxmlformats.org/drawingml/2006/main" noGrp="1"/>
          </p:cNvSpPr>
          <p:nvPr/>
        </p:nvSpPr>
        <p:spPr>
          <a:xfrm xmlns:a="http://schemas.openxmlformats.org/drawingml/2006/main">
            <a:off x="2571750" y="609600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1">
                <a:solidFill>
                  <a:srgbClr val="B94A55"/>
                </a:solidFill>
                <a:latin typeface="Arial"/>
                <a:ea typeface="Arial"/>
                <a:cs typeface="Arial"/>
              </a:defRPr>
            </a:pPr>
            <a:r>
              <a:rPr sz="1200" b="1">
                <a:solidFill>
                  <a:srgbClr val="B94A55"/>
                </a:solidFill>
                <a:latin typeface="Arial"/>
                <a:ea typeface="Arial"/>
                <a:cs typeface="Arial"/>
              </a:rPr>
              <a:t>Trạng thái hiện tại: các quyết định Product Decision Authority vẫn NOT-RUN.</a:t>
            </a:r>
          </a:p>
        </p:txBody>
      </p:sp>
    </p:spTree>
    <p:extLst>
      <p:ext uri="{BB962C8B-B14F-4D97-AF65-F5344CB8AC3E}">
        <p14:creationId xmlns:p14="http://schemas.microsoft.com/office/powerpoint/2010/main" val="20852359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ox-0-0">
            <a:extLst xmlns:a="http://schemas.openxmlformats.org/drawingml/2006/main">
              <a:ext uri="{FF2B5EF4-FFF2-40B4-BE49-F238E27FC236}">
                <a16:creationId xmlns:a16="http://schemas.microsoft.com/office/drawing/2014/main" id="{6C580223-1F64-4629-95EC-11E065D6C6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02744"/>
          </a:solidFill>
          <a:ln xmlns:a="http://schemas.openxmlformats.org/drawingml/2006/main" w="0">
            <a:noFill/>
            <a:prstDash val="solid"/>
          </a:ln>
        </p:spPr>
      </p:sp>
      <p:sp>
        <p:nvSpPr>
          <p:cNvPr id="2" name="text-54-28-APPENDIX">
            <a:extLst xmlns:a="http://schemas.openxmlformats.org/drawingml/2006/main">
              <a:ext uri="{FF2B5EF4-FFF2-40B4-BE49-F238E27FC236}">
                <a16:creationId xmlns:a16="http://schemas.microsoft.com/office/drawing/2014/main" id="{C070B4BA-53A3-42A2-A74C-700295A9E338}"/>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02744"/>
                </a:solidFill>
                <a:latin typeface="Arial"/>
                <a:ea typeface="Arial"/>
                <a:cs typeface="Arial"/>
              </a:defRPr>
            </a:pPr>
            <a:r>
              <a:rPr sz="1050" b="1">
                <a:solidFill>
                  <a:srgbClr val="102744"/>
                </a:solidFill>
                <a:latin typeface="Arial"/>
                <a:ea typeface="Arial"/>
                <a:cs typeface="Arial"/>
              </a:rPr>
              <a:t>APPENDIX</a:t>
            </a:r>
          </a:p>
        </p:txBody>
      </p:sp>
      <p:sp>
        <p:nvSpPr>
          <p:cNvPr id="3" name="text-54-56-ARCH-VIEW-RBAC-0">
            <a:extLst xmlns:a="http://schemas.openxmlformats.org/drawingml/2006/main">
              <a:ext uri="{FF2B5EF4-FFF2-40B4-BE49-F238E27FC236}">
                <a16:creationId xmlns:a16="http://schemas.microsoft.com/office/drawing/2014/main" id="{47088CF3-907C-432D-9330-DA9258EEE31D}"/>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ARCH-VIEW-RBAC-001 — Principal-role-scope authorization model</a:t>
            </a:r>
          </a:p>
        </p:txBody>
      </p:sp>
      <p:sp>
        <p:nvSpPr>
          <p:cNvPr id="4" name="line-54-116">
            <a:extLst xmlns:a="http://schemas.openxmlformats.org/drawingml/2006/main">
              <a:ext uri="{FF2B5EF4-FFF2-40B4-BE49-F238E27FC236}">
                <a16:creationId xmlns:a16="http://schemas.microsoft.com/office/drawing/2014/main" id="{8E673574-38BB-41C4-BAC5-11C9CAD6B6D2}"/>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DOC-05@0">
            <a:extLst xmlns:a="http://schemas.openxmlformats.org/drawingml/2006/main">
              <a:ext uri="{FF2B5EF4-FFF2-40B4-BE49-F238E27FC236}">
                <a16:creationId xmlns:a16="http://schemas.microsoft.com/office/drawing/2014/main" id="{8626ABDF-F4A7-4D0E-BF2F-95264E4D632E}"/>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DOC-05@0.20 · ARCH-VIEW-RBAC-001</a:t>
            </a:r>
          </a:p>
        </p:txBody>
      </p:sp>
      <p:sp>
        <p:nvSpPr>
          <p:cNvPr id="6" name="text-1170-680-16">
            <a:extLst xmlns:a="http://schemas.openxmlformats.org/drawingml/2006/main">
              <a:ext uri="{FF2B5EF4-FFF2-40B4-BE49-F238E27FC236}">
                <a16:creationId xmlns:a16="http://schemas.microsoft.com/office/drawing/2014/main" id="{F7F43C94-DF86-4787-B6F9-EB7A3A3E2168}"/>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16</a:t>
            </a:r>
          </a:p>
        </p:txBody>
      </p:sp>
      <p:sp>
        <p:nvSpPr>
          <p:cNvPr id="7" name="diagram-meta-16">
            <a:extLst xmlns:a="http://schemas.openxmlformats.org/drawingml/2006/main">
              <a:ext uri="{FF2B5EF4-FFF2-40B4-BE49-F238E27FC236}">
                <a16:creationId xmlns:a16="http://schemas.microsoft.com/office/drawing/2014/main" id="{7C593DCC-FEB7-49FA-8FC6-06F092FF2618}"/>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6">
            <a:extLst xmlns:a="http://schemas.openxmlformats.org/drawingml/2006/main">
              <a:ext uri="{FF2B5EF4-FFF2-40B4-BE49-F238E27FC236}">
                <a16:creationId xmlns:a16="http://schemas.microsoft.com/office/drawing/2014/main" id="{A6C70663-C267-4C51-B7A9-304EC3951B2B}"/>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Direct reuse</a:t>
            </a:r>
          </a:p>
        </p:txBody>
      </p:sp>
      <p:sp>
        <p:nvSpPr>
          <p:cNvPr id="9" name="diagram-source-16">
            <a:extLst xmlns:a="http://schemas.openxmlformats.org/drawingml/2006/main">
              <a:ext uri="{FF2B5EF4-FFF2-40B4-BE49-F238E27FC236}">
                <a16:creationId xmlns:a16="http://schemas.microsoft.com/office/drawing/2014/main" id="{7F2F9C3C-68AA-4710-B815-17F240239F28}"/>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ARCH-VIEW-RBAC-001</a:t>
            </a:r>
          </a:p>
        </p:txBody>
      </p:sp>
      <p:sp>
        <p:nvSpPr>
          <p:cNvPr id="10" name="diagram-why-16">
            <a:extLst xmlns:a="http://schemas.openxmlformats.org/drawingml/2006/main">
              <a:ext uri="{FF2B5EF4-FFF2-40B4-BE49-F238E27FC236}">
                <a16:creationId xmlns:a16="http://schemas.microsoft.com/office/drawing/2014/main" id="{49EAFD30-A985-40CB-A8B5-049023865B02}"/>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Đối chiếu mô hình RBAC hiện hành</a:t>
            </a:r>
          </a:p>
        </p:txBody>
      </p:sp>
      <p:sp>
        <p:nvSpPr>
          <p:cNvPr id="11" name="source-link-16-ARCH-VIEW-RBAC-001">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0CD5664D-2914-4886-BAC2-38A10DDB13CD}"/>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ARCH-VIEW-RBAC-001 — RBAC domain</a:t>
            </a:r>
          </a:p>
        </p:txBody>
      </p:sp>
      <p:sp>
        <p:nvSpPr>
          <p:cNvPr id="12" name="box-54-154">
            <a:extLst xmlns:a="http://schemas.openxmlformats.org/drawingml/2006/main">
              <a:ext uri="{FF2B5EF4-FFF2-40B4-BE49-F238E27FC236}">
                <a16:creationId xmlns:a16="http://schemas.microsoft.com/office/drawing/2014/main" id="{A0842610-0DB5-4089-AF1F-DFC595FF05BE}"/>
              </a:ext>
            </a:extLst>
          </p:cNvPr>
          <p:cNvSpPr>
            <a:spLocks xmlns:a="http://schemas.openxmlformats.org/drawingml/2006/main" noGrp="1"/>
          </p:cNvSpPr>
          <p:nvPr/>
        </p:nvSpPr>
        <p:spPr>
          <a:xfrm xmlns:a="http://schemas.openxmlformats.org/drawingml/2006/main">
            <a:off x="514350" y="1466850"/>
            <a:ext cx="11144250" cy="4629150"/>
          </a:xfrm>
          <a:prstGeom xmlns:a="http://schemas.openxmlformats.org/drawingml/2006/main" prst="roundRect">
            <a:avLst>
              <a:gd name="adj" fmla="val 1646"/>
            </a:avLst>
          </a:prstGeom>
          <a:solidFill xmlns:a="http://schemas.openxmlformats.org/drawingml/2006/main">
            <a:srgbClr val="FFFFFF"/>
          </a:solidFill>
          <a:ln xmlns:a="http://schemas.openxmlformats.org/drawingml/2006/main" w="10478">
            <a:solidFill>
              <a:srgbClr val="CBD8E3"/>
            </a:solidFill>
            <a:prstDash val="solid"/>
          </a:ln>
        </p:spPr>
      </p:sp>
      <p:pic>
        <p:nvPicPr>
          <p:cNvPr id="27" name="evidence-ARCH-VIEW-RBAC-001"/>
          <p:cNvPicPr>
            <a:picLocks xmlns:a="http://schemas.openxmlformats.org/drawingml/2006/main" noChangeAspect="1"/>
          </p:cNvPicPr>
          <p:nvPr/>
        </p:nvPicPr>
        <p:blipFill>
          <a:blip xmlns:r="http://schemas.openxmlformats.org/officeDocument/2006/relationships" xmlns:a="http://schemas.openxmlformats.org/drawingml/2006/main" r:embed="R9bd770d0cc1e4f49"/>
          <a:stretch xmlns:a="http://schemas.openxmlformats.org/drawingml/2006/main"/>
        </p:blipFill>
        <p:spPr>
          <a:xfrm xmlns:a="http://schemas.openxmlformats.org/drawingml/2006/main">
            <a:off x="2275398" y="1543050"/>
            <a:ext cx="7622153" cy="4476750"/>
          </a:xfrm>
          <a:prstGeom xmlns:a="http://schemas.openxmlformats.org/drawingml/2006/main" prst="rect">
            <a:avLst/>
          </a:prstGeom>
        </p:spPr>
      </p:pic>
      <p:sp>
        <p:nvSpPr>
          <p:cNvPr id="14" name="text-86-646-Bản controlled n">
            <a:extLst xmlns:a="http://schemas.openxmlformats.org/drawingml/2006/main">
              <a:ext uri="{FF2B5EF4-FFF2-40B4-BE49-F238E27FC236}">
                <a16:creationId xmlns:a16="http://schemas.microsoft.com/office/drawing/2014/main" id="{8350E27C-DAB9-4D07-8905-43F5F5E841E8}"/>
              </a:ext>
            </a:extLst>
          </p:cNvPr>
          <p:cNvSpPr>
            <a:spLocks xmlns:a="http://schemas.openxmlformats.org/drawingml/2006/main" noGrp="1"/>
          </p:cNvSpPr>
          <p:nvPr/>
        </p:nvSpPr>
        <p:spPr>
          <a:xfrm xmlns:a="http://schemas.openxmlformats.org/drawingml/2006/main">
            <a:off x="819150" y="6153150"/>
            <a:ext cx="1055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0">
                <a:solidFill>
                  <a:srgbClr val="4B6075"/>
                </a:solidFill>
                <a:latin typeface="Arial"/>
                <a:ea typeface="Arial"/>
                <a:cs typeface="Arial"/>
              </a:defRPr>
            </a:pPr>
            <a:r>
              <a:rPr sz="975" b="0">
                <a:solidFill>
                  <a:srgbClr val="4B6075"/>
                </a:solidFill>
                <a:latin typeface="Arial"/>
                <a:ea typeface="Arial"/>
                <a:cs typeface="Arial"/>
              </a:rPr>
              <a:t>Bản controlled nguyên gốc. Dùng management simplification ở phần chính; mở hyperlink để xem SVG toàn độ phân giải.</a:t>
            </a:r>
          </a:p>
        </p:txBody>
      </p:sp>
    </p:spTree>
    <p:extLst>
      <p:ext uri="{BB962C8B-B14F-4D97-AF65-F5344CB8AC3E}">
        <p14:creationId xmlns:p14="http://schemas.microsoft.com/office/powerpoint/2010/main" val="111024935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ox-0-0">
            <a:extLst xmlns:a="http://schemas.openxmlformats.org/drawingml/2006/main">
              <a:ext uri="{FF2B5EF4-FFF2-40B4-BE49-F238E27FC236}">
                <a16:creationId xmlns:a16="http://schemas.microsoft.com/office/drawing/2014/main" id="{7B163D76-39C6-4123-9CF0-05CFE35301C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02744"/>
          </a:solidFill>
          <a:ln xmlns:a="http://schemas.openxmlformats.org/drawingml/2006/main" w="0">
            <a:noFill/>
            <a:prstDash val="solid"/>
          </a:ln>
        </p:spPr>
      </p:sp>
      <p:sp>
        <p:nvSpPr>
          <p:cNvPr id="2" name="text-54-28-APPENDIX">
            <a:extLst xmlns:a="http://schemas.openxmlformats.org/drawingml/2006/main">
              <a:ext uri="{FF2B5EF4-FFF2-40B4-BE49-F238E27FC236}">
                <a16:creationId xmlns:a16="http://schemas.microsoft.com/office/drawing/2014/main" id="{9207518F-4F06-4475-A598-EBFAC5FD198B}"/>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02744"/>
                </a:solidFill>
                <a:latin typeface="Arial"/>
                <a:ea typeface="Arial"/>
                <a:cs typeface="Arial"/>
              </a:defRPr>
            </a:pPr>
            <a:r>
              <a:rPr sz="1050" b="1">
                <a:solidFill>
                  <a:srgbClr val="102744"/>
                </a:solidFill>
                <a:latin typeface="Arial"/>
                <a:ea typeface="Arial"/>
                <a:cs typeface="Arial"/>
              </a:rPr>
              <a:t>APPENDIX</a:t>
            </a:r>
          </a:p>
        </p:txBody>
      </p:sp>
      <p:sp>
        <p:nvSpPr>
          <p:cNvPr id="3" name="text-54-56-TECH-D04 — Runti">
            <a:extLst xmlns:a="http://schemas.openxmlformats.org/drawingml/2006/main">
              <a:ext uri="{FF2B5EF4-FFF2-40B4-BE49-F238E27FC236}">
                <a16:creationId xmlns:a16="http://schemas.microsoft.com/office/drawing/2014/main" id="{E459F8B7-A887-40B8-8C8B-50E32C5BBD12}"/>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TECH-D04 — Runtime &amp; Protocol View</a:t>
            </a:r>
          </a:p>
        </p:txBody>
      </p:sp>
      <p:sp>
        <p:nvSpPr>
          <p:cNvPr id="4" name="line-54-116">
            <a:extLst xmlns:a="http://schemas.openxmlformats.org/drawingml/2006/main">
              <a:ext uri="{FF2B5EF4-FFF2-40B4-BE49-F238E27FC236}">
                <a16:creationId xmlns:a16="http://schemas.microsoft.com/office/drawing/2014/main" id="{4D74B729-7278-4FC1-8065-160F4608A229}"/>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TECH-VIE">
            <a:extLst xmlns:a="http://schemas.openxmlformats.org/drawingml/2006/main">
              <a:ext uri="{FF2B5EF4-FFF2-40B4-BE49-F238E27FC236}">
                <a16:creationId xmlns:a16="http://schemas.microsoft.com/office/drawing/2014/main" id="{57FBF01D-7A6C-4259-A9DE-963E671CC440}"/>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TECH-VIEWS@0.2 · TECH-D04</a:t>
            </a:r>
          </a:p>
        </p:txBody>
      </p:sp>
      <p:sp>
        <p:nvSpPr>
          <p:cNvPr id="6" name="text-1170-680-17">
            <a:extLst xmlns:a="http://schemas.openxmlformats.org/drawingml/2006/main">
              <a:ext uri="{FF2B5EF4-FFF2-40B4-BE49-F238E27FC236}">
                <a16:creationId xmlns:a16="http://schemas.microsoft.com/office/drawing/2014/main" id="{2AB548AB-258A-47F1-84A7-DA3139B9D66A}"/>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17</a:t>
            </a:r>
          </a:p>
        </p:txBody>
      </p:sp>
      <p:sp>
        <p:nvSpPr>
          <p:cNvPr id="7" name="diagram-meta-17">
            <a:extLst xmlns:a="http://schemas.openxmlformats.org/drawingml/2006/main">
              <a:ext uri="{FF2B5EF4-FFF2-40B4-BE49-F238E27FC236}">
                <a16:creationId xmlns:a16="http://schemas.microsoft.com/office/drawing/2014/main" id="{3B5A539B-DD48-46B0-B2D6-ADE8385850A4}"/>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7">
            <a:extLst xmlns:a="http://schemas.openxmlformats.org/drawingml/2006/main">
              <a:ext uri="{FF2B5EF4-FFF2-40B4-BE49-F238E27FC236}">
                <a16:creationId xmlns:a16="http://schemas.microsoft.com/office/drawing/2014/main" id="{96D30201-8252-40DB-BD3C-AD173F3899CD}"/>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Direct reuse</a:t>
            </a:r>
          </a:p>
        </p:txBody>
      </p:sp>
      <p:sp>
        <p:nvSpPr>
          <p:cNvPr id="9" name="diagram-source-17">
            <a:extLst xmlns:a="http://schemas.openxmlformats.org/drawingml/2006/main">
              <a:ext uri="{FF2B5EF4-FFF2-40B4-BE49-F238E27FC236}">
                <a16:creationId xmlns:a16="http://schemas.microsoft.com/office/drawing/2014/main" id="{8679D2C0-04D8-4B87-B900-65C555496A36}"/>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TECH-D04</a:t>
            </a:r>
          </a:p>
        </p:txBody>
      </p:sp>
      <p:sp>
        <p:nvSpPr>
          <p:cNvPr id="10" name="diagram-why-17">
            <a:extLst xmlns:a="http://schemas.openxmlformats.org/drawingml/2006/main">
              <a:ext uri="{FF2B5EF4-FFF2-40B4-BE49-F238E27FC236}">
                <a16:creationId xmlns:a16="http://schemas.microsoft.com/office/drawing/2014/main" id="{D85F11B8-4569-4892-9FC6-6F60C80746BF}"/>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Xem sâu protocol và trust zone</a:t>
            </a:r>
          </a:p>
        </p:txBody>
      </p:sp>
      <p:sp>
        <p:nvSpPr>
          <p:cNvPr id="11" name="source-link-17-TECH-D04">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164D8A4C-3280-4B94-85F9-FD885119E165}"/>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TECH-D04 — Runtime &amp; Protocol</a:t>
            </a:r>
          </a:p>
        </p:txBody>
      </p:sp>
      <p:sp>
        <p:nvSpPr>
          <p:cNvPr id="12" name="box-54-154">
            <a:extLst xmlns:a="http://schemas.openxmlformats.org/drawingml/2006/main">
              <a:ext uri="{FF2B5EF4-FFF2-40B4-BE49-F238E27FC236}">
                <a16:creationId xmlns:a16="http://schemas.microsoft.com/office/drawing/2014/main" id="{185E9EB3-5EF8-45CF-ACAD-77EEEE4B3891}"/>
              </a:ext>
            </a:extLst>
          </p:cNvPr>
          <p:cNvSpPr>
            <a:spLocks xmlns:a="http://schemas.openxmlformats.org/drawingml/2006/main" noGrp="1"/>
          </p:cNvSpPr>
          <p:nvPr/>
        </p:nvSpPr>
        <p:spPr>
          <a:xfrm xmlns:a="http://schemas.openxmlformats.org/drawingml/2006/main">
            <a:off x="514350" y="1466850"/>
            <a:ext cx="11144250" cy="4629150"/>
          </a:xfrm>
          <a:prstGeom xmlns:a="http://schemas.openxmlformats.org/drawingml/2006/main" prst="roundRect">
            <a:avLst>
              <a:gd name="adj" fmla="val 1646"/>
            </a:avLst>
          </a:prstGeom>
          <a:solidFill xmlns:a="http://schemas.openxmlformats.org/drawingml/2006/main">
            <a:srgbClr val="FFFFFF"/>
          </a:solidFill>
          <a:ln xmlns:a="http://schemas.openxmlformats.org/drawingml/2006/main" w="10478">
            <a:solidFill>
              <a:srgbClr val="CBD8E3"/>
            </a:solidFill>
            <a:prstDash val="solid"/>
          </a:ln>
        </p:spPr>
      </p:sp>
      <p:pic>
        <p:nvPicPr>
          <p:cNvPr id="27" name="evidence-TECH-D04"/>
          <p:cNvPicPr>
            <a:picLocks xmlns:a="http://schemas.openxmlformats.org/drawingml/2006/main" noChangeAspect="1"/>
          </p:cNvPicPr>
          <p:nvPr/>
        </p:nvPicPr>
        <p:blipFill>
          <a:blip xmlns:r="http://schemas.openxmlformats.org/officeDocument/2006/relationships" xmlns:a="http://schemas.openxmlformats.org/drawingml/2006/main" r:embed="R0aefde2d5ae24f0e"/>
          <a:stretch xmlns:a="http://schemas.openxmlformats.org/drawingml/2006/main"/>
        </p:blipFill>
        <p:spPr>
          <a:xfrm xmlns:a="http://schemas.openxmlformats.org/drawingml/2006/main">
            <a:off x="3188579" y="1543050"/>
            <a:ext cx="5795792" cy="4476750"/>
          </a:xfrm>
          <a:prstGeom xmlns:a="http://schemas.openxmlformats.org/drawingml/2006/main" prst="rect">
            <a:avLst/>
          </a:prstGeom>
        </p:spPr>
      </p:pic>
      <p:sp>
        <p:nvSpPr>
          <p:cNvPr id="14" name="text-86-646-Bản controlled n">
            <a:extLst xmlns:a="http://schemas.openxmlformats.org/drawingml/2006/main">
              <a:ext uri="{FF2B5EF4-FFF2-40B4-BE49-F238E27FC236}">
                <a16:creationId xmlns:a16="http://schemas.microsoft.com/office/drawing/2014/main" id="{54316016-2CEB-45FD-A156-6741E560F1FE}"/>
              </a:ext>
            </a:extLst>
          </p:cNvPr>
          <p:cNvSpPr>
            <a:spLocks xmlns:a="http://schemas.openxmlformats.org/drawingml/2006/main" noGrp="1"/>
          </p:cNvSpPr>
          <p:nvPr/>
        </p:nvSpPr>
        <p:spPr>
          <a:xfrm xmlns:a="http://schemas.openxmlformats.org/drawingml/2006/main">
            <a:off x="819150" y="6153150"/>
            <a:ext cx="1055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0">
                <a:solidFill>
                  <a:srgbClr val="4B6075"/>
                </a:solidFill>
                <a:latin typeface="Arial"/>
                <a:ea typeface="Arial"/>
                <a:cs typeface="Arial"/>
              </a:defRPr>
            </a:pPr>
            <a:r>
              <a:rPr sz="975" b="0">
                <a:solidFill>
                  <a:srgbClr val="4B6075"/>
                </a:solidFill>
                <a:latin typeface="Arial"/>
                <a:ea typeface="Arial"/>
                <a:cs typeface="Arial"/>
              </a:rPr>
              <a:t>Bản controlled nguyên gốc. Dùng management simplification ở phần chính; mở hyperlink để xem SVG toàn độ phân giải.</a:t>
            </a:r>
          </a:p>
        </p:txBody>
      </p:sp>
    </p:spTree>
    <p:extLst>
      <p:ext uri="{BB962C8B-B14F-4D97-AF65-F5344CB8AC3E}">
        <p14:creationId xmlns:p14="http://schemas.microsoft.com/office/powerpoint/2010/main" val="8035893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ox-0-0">
            <a:extLst xmlns:a="http://schemas.openxmlformats.org/drawingml/2006/main">
              <a:ext uri="{FF2B5EF4-FFF2-40B4-BE49-F238E27FC236}">
                <a16:creationId xmlns:a16="http://schemas.microsoft.com/office/drawing/2014/main" id="{A1921A13-8FFE-4493-8802-2DA1A2A096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02744"/>
          </a:solidFill>
          <a:ln xmlns:a="http://schemas.openxmlformats.org/drawingml/2006/main" w="0">
            <a:noFill/>
            <a:prstDash val="solid"/>
          </a:ln>
        </p:spPr>
      </p:sp>
      <p:sp>
        <p:nvSpPr>
          <p:cNvPr id="2" name="text-54-28-APPENDIX">
            <a:extLst xmlns:a="http://schemas.openxmlformats.org/drawingml/2006/main">
              <a:ext uri="{FF2B5EF4-FFF2-40B4-BE49-F238E27FC236}">
                <a16:creationId xmlns:a16="http://schemas.microsoft.com/office/drawing/2014/main" id="{928720F8-51B9-44CF-B183-10599339E8DE}"/>
              </a:ext>
            </a:extLst>
          </p:cNvPr>
          <p:cNvSpPr>
            <a:spLocks xmlns:a="http://schemas.openxmlformats.org/drawingml/2006/main" noGrp="1"/>
          </p:cNvSpPr>
          <p:nvPr/>
        </p:nvSpPr>
        <p:spPr>
          <a:xfrm xmlns:a="http://schemas.openxmlformats.org/drawingml/2006/main">
            <a:off x="514350" y="266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02744"/>
                </a:solidFill>
                <a:latin typeface="Arial"/>
                <a:ea typeface="Arial"/>
                <a:cs typeface="Arial"/>
              </a:defRPr>
            </a:pPr>
            <a:r>
              <a:rPr sz="1050" b="1">
                <a:solidFill>
                  <a:srgbClr val="102744"/>
                </a:solidFill>
                <a:latin typeface="Arial"/>
                <a:ea typeface="Arial"/>
                <a:cs typeface="Arial"/>
              </a:rPr>
              <a:t>APPENDIX</a:t>
            </a:r>
          </a:p>
        </p:txBody>
      </p:sp>
      <p:sp>
        <p:nvSpPr>
          <p:cNvPr id="3" name="text-54-56-TECH-D05 — Deplo">
            <a:extLst xmlns:a="http://schemas.openxmlformats.org/drawingml/2006/main">
              <a:ext uri="{FF2B5EF4-FFF2-40B4-BE49-F238E27FC236}">
                <a16:creationId xmlns:a16="http://schemas.microsoft.com/office/drawing/2014/main" id="{C8AD356C-BE0F-4938-9710-41F21B7F5A56}"/>
              </a:ext>
            </a:extLst>
          </p:cNvPr>
          <p:cNvSpPr>
            <a:spLocks xmlns:a="http://schemas.openxmlformats.org/drawingml/2006/main" noGrp="1"/>
          </p:cNvSpPr>
          <p:nvPr/>
        </p:nvSpPr>
        <p:spPr>
          <a:xfrm xmlns:a="http://schemas.openxmlformats.org/drawingml/2006/main">
            <a:off x="514350" y="5334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744"/>
                </a:solidFill>
                <a:latin typeface="Arial"/>
                <a:ea typeface="Arial"/>
                <a:cs typeface="Arial"/>
              </a:defRPr>
            </a:pPr>
            <a:r>
              <a:rPr sz="2400" b="1">
                <a:solidFill>
                  <a:srgbClr val="102744"/>
                </a:solidFill>
                <a:latin typeface="Arial"/>
                <a:ea typeface="Arial"/>
                <a:cs typeface="Arial"/>
              </a:rPr>
              <a:t>TECH-D05 — Deployment View</a:t>
            </a:r>
          </a:p>
        </p:txBody>
      </p:sp>
      <p:sp>
        <p:nvSpPr>
          <p:cNvPr id="4" name="line-54-116">
            <a:extLst xmlns:a="http://schemas.openxmlformats.org/drawingml/2006/main">
              <a:ext uri="{FF2B5EF4-FFF2-40B4-BE49-F238E27FC236}">
                <a16:creationId xmlns:a16="http://schemas.microsoft.com/office/drawing/2014/main" id="{9AA4BE19-9A43-41E1-80D7-02CC49422EE7}"/>
              </a:ext>
            </a:extLst>
          </p:cNvPr>
          <p:cNvSpPr>
            <a:spLocks xmlns:a="http://schemas.openxmlformats.org/drawingml/2006/main" noGrp="1"/>
          </p:cNvSpPr>
          <p:nvPr/>
        </p:nvSpPr>
        <p:spPr>
          <a:xfrm xmlns:a="http://schemas.openxmlformats.org/drawingml/2006/main">
            <a:off x="514350" y="1104900"/>
            <a:ext cx="11144250" cy="19050"/>
          </a:xfrm>
          <a:prstGeom xmlns:a="http://schemas.openxmlformats.org/drawingml/2006/main" prst="rect">
            <a:avLst/>
          </a:prstGeom>
          <a:solidFill xmlns:a="http://schemas.openxmlformats.org/drawingml/2006/main">
            <a:srgbClr val="CBD8E3"/>
          </a:solidFill>
          <a:ln xmlns:a="http://schemas.openxmlformats.org/drawingml/2006/main" w="0">
            <a:solidFill>
              <a:srgbClr val="CBD8E3"/>
            </a:solidFill>
            <a:prstDash val="solid"/>
          </a:ln>
        </p:spPr>
      </p:sp>
      <p:sp>
        <p:nvSpPr>
          <p:cNvPr id="5" name="text-54-683-Source: TECH-VIE">
            <a:extLst xmlns:a="http://schemas.openxmlformats.org/drawingml/2006/main">
              <a:ext uri="{FF2B5EF4-FFF2-40B4-BE49-F238E27FC236}">
                <a16:creationId xmlns:a16="http://schemas.microsoft.com/office/drawing/2014/main" id="{AD7A1950-49B9-4FAA-BB0B-DC960FD533C1}"/>
              </a:ext>
            </a:extLst>
          </p:cNvPr>
          <p:cNvSpPr>
            <a:spLocks xmlns:a="http://schemas.openxmlformats.org/drawingml/2006/main" noGrp="1"/>
          </p:cNvSpPr>
          <p:nvPr/>
        </p:nvSpPr>
        <p:spPr>
          <a:xfrm xmlns:a="http://schemas.openxmlformats.org/drawingml/2006/main">
            <a:off x="514350" y="65055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890A6"/>
                </a:solidFill>
                <a:latin typeface="Arial"/>
                <a:ea typeface="Arial"/>
                <a:cs typeface="Arial"/>
              </a:defRPr>
            </a:pPr>
            <a:r>
              <a:rPr sz="825" b="0">
                <a:solidFill>
                  <a:srgbClr val="7890A6"/>
                </a:solidFill>
                <a:latin typeface="Arial"/>
                <a:ea typeface="Arial"/>
                <a:cs typeface="Arial"/>
              </a:rPr>
              <a:t>Source: TECH-VIEWS@0.2 · TECH-D05</a:t>
            </a:r>
          </a:p>
        </p:txBody>
      </p:sp>
      <p:sp>
        <p:nvSpPr>
          <p:cNvPr id="6" name="text-1170-680-18">
            <a:extLst xmlns:a="http://schemas.openxmlformats.org/drawingml/2006/main">
              <a:ext uri="{FF2B5EF4-FFF2-40B4-BE49-F238E27FC236}">
                <a16:creationId xmlns:a16="http://schemas.microsoft.com/office/drawing/2014/main" id="{A03E2FA6-D095-4A49-9BF3-7B1DD2458E8A}"/>
              </a:ext>
            </a:extLst>
          </p:cNvPr>
          <p:cNvSpPr>
            <a:spLocks xmlns:a="http://schemas.openxmlformats.org/drawingml/2006/main" noGrp="1"/>
          </p:cNvSpPr>
          <p:nvPr/>
        </p:nvSpPr>
        <p:spPr>
          <a:xfrm xmlns:a="http://schemas.openxmlformats.org/drawingml/2006/main">
            <a:off x="11144250" y="64770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1">
                <a:solidFill>
                  <a:srgbClr val="7890A6"/>
                </a:solidFill>
                <a:latin typeface="Arial"/>
                <a:ea typeface="Arial"/>
                <a:cs typeface="Arial"/>
              </a:defRPr>
            </a:pPr>
            <a:r>
              <a:rPr sz="975" b="1">
                <a:solidFill>
                  <a:srgbClr val="7890A6"/>
                </a:solidFill>
                <a:latin typeface="Arial"/>
                <a:ea typeface="Arial"/>
                <a:cs typeface="Arial"/>
              </a:rPr>
              <a:t>18</a:t>
            </a:r>
          </a:p>
        </p:txBody>
      </p:sp>
      <p:sp>
        <p:nvSpPr>
          <p:cNvPr id="7" name="diagram-meta-18">
            <a:extLst xmlns:a="http://schemas.openxmlformats.org/drawingml/2006/main">
              <a:ext uri="{FF2B5EF4-FFF2-40B4-BE49-F238E27FC236}">
                <a16:creationId xmlns:a16="http://schemas.microsoft.com/office/drawing/2014/main" id="{02B6208F-823D-497F-89DD-A52BC84565C7}"/>
              </a:ext>
            </a:extLst>
          </p:cNvPr>
          <p:cNvSpPr>
            <a:spLocks xmlns:a="http://schemas.openxmlformats.org/drawingml/2006/main" noGrp="1"/>
          </p:cNvSpPr>
          <p:nvPr/>
        </p:nvSpPr>
        <p:spPr>
          <a:xfrm xmlns:a="http://schemas.openxmlformats.org/drawingml/2006/main">
            <a:off x="514350" y="1162050"/>
            <a:ext cx="6953250" cy="209550"/>
          </a:xfrm>
          <a:prstGeom xmlns:a="http://schemas.openxmlformats.org/drawingml/2006/main" prst="roundRect">
            <a:avLst>
              <a:gd name="adj" fmla="val 36364"/>
            </a:avLst>
          </a:prstGeom>
          <a:solidFill xmlns:a="http://schemas.openxmlformats.org/drawingml/2006/main">
            <a:srgbClr val="F4F7FA"/>
          </a:solidFill>
          <a:ln xmlns:a="http://schemas.openxmlformats.org/drawingml/2006/main" w="7620">
            <a:solidFill>
              <a:srgbClr val="CBD8E3"/>
            </a:solidFill>
            <a:prstDash val="solid"/>
          </a:ln>
        </p:spPr>
      </p:sp>
      <p:sp>
        <p:nvSpPr>
          <p:cNvPr id="8" name="diagram-mode-18">
            <a:extLst xmlns:a="http://schemas.openxmlformats.org/drawingml/2006/main">
              <a:ext uri="{FF2B5EF4-FFF2-40B4-BE49-F238E27FC236}">
                <a16:creationId xmlns:a16="http://schemas.microsoft.com/office/drawing/2014/main" id="{18BF7B9C-AA88-4F6C-B0EC-D6C1E8C6C2BE}"/>
              </a:ext>
            </a:extLst>
          </p:cNvPr>
          <p:cNvSpPr>
            <a:spLocks xmlns:a="http://schemas.openxmlformats.org/drawingml/2006/main" noGrp="1"/>
          </p:cNvSpPr>
          <p:nvPr/>
        </p:nvSpPr>
        <p:spPr>
          <a:xfrm xmlns:a="http://schemas.openxmlformats.org/drawingml/2006/main">
            <a:off x="628650" y="1190625"/>
            <a:ext cx="1809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13" b="1">
                <a:solidFill>
                  <a:srgbClr val="102744"/>
                </a:solidFill>
                <a:latin typeface="Arial"/>
                <a:ea typeface="Arial"/>
                <a:cs typeface="Arial"/>
              </a:defRPr>
            </a:pPr>
            <a:r>
              <a:rPr sz="713" b="1">
                <a:solidFill>
                  <a:srgbClr val="102744"/>
                </a:solidFill>
                <a:latin typeface="Arial"/>
                <a:ea typeface="Arial"/>
                <a:cs typeface="Arial"/>
              </a:rPr>
              <a:t>Direct reuse</a:t>
            </a:r>
          </a:p>
        </p:txBody>
      </p:sp>
      <p:sp>
        <p:nvSpPr>
          <p:cNvPr id="9" name="diagram-source-18">
            <a:extLst xmlns:a="http://schemas.openxmlformats.org/drawingml/2006/main">
              <a:ext uri="{FF2B5EF4-FFF2-40B4-BE49-F238E27FC236}">
                <a16:creationId xmlns:a16="http://schemas.microsoft.com/office/drawing/2014/main" id="{8C5C2D0F-15CE-41BF-B43F-3DC74FB980CD}"/>
              </a:ext>
            </a:extLst>
          </p:cNvPr>
          <p:cNvSpPr>
            <a:spLocks xmlns:a="http://schemas.openxmlformats.org/drawingml/2006/main" noGrp="1"/>
          </p:cNvSpPr>
          <p:nvPr/>
        </p:nvSpPr>
        <p:spPr>
          <a:xfrm xmlns:a="http://schemas.openxmlformats.org/drawingml/2006/main">
            <a:off x="2457450" y="1190625"/>
            <a:ext cx="2000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Nguồn: TECH-D05</a:t>
            </a:r>
          </a:p>
        </p:txBody>
      </p:sp>
      <p:sp>
        <p:nvSpPr>
          <p:cNvPr id="10" name="diagram-why-18">
            <a:extLst xmlns:a="http://schemas.openxmlformats.org/drawingml/2006/main">
              <a:ext uri="{FF2B5EF4-FFF2-40B4-BE49-F238E27FC236}">
                <a16:creationId xmlns:a16="http://schemas.microsoft.com/office/drawing/2014/main" id="{49EE9834-8E52-4CF3-A424-BC45E77978E3}"/>
              </a:ext>
            </a:extLst>
          </p:cNvPr>
          <p:cNvSpPr>
            <a:spLocks xmlns:a="http://schemas.openxmlformats.org/drawingml/2006/main" noGrp="1"/>
          </p:cNvSpPr>
          <p:nvPr/>
        </p:nvSpPr>
        <p:spPr>
          <a:xfrm xmlns:a="http://schemas.openxmlformats.org/drawingml/2006/main">
            <a:off x="4514850" y="1190625"/>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0">
                <a:solidFill>
                  <a:srgbClr val="4B6075"/>
                </a:solidFill>
                <a:latin typeface="Arial"/>
                <a:ea typeface="Arial"/>
                <a:cs typeface="Arial"/>
              </a:defRPr>
            </a:pPr>
            <a:r>
              <a:rPr sz="690" b="0">
                <a:solidFill>
                  <a:srgbClr val="4B6075"/>
                </a:solidFill>
                <a:latin typeface="Arial"/>
                <a:ea typeface="Arial"/>
                <a:cs typeface="Arial"/>
              </a:rPr>
              <a:t>Vì sao dùng: Xem sâu deployment, backup và failure boundary</a:t>
            </a:r>
          </a:p>
        </p:txBody>
      </p:sp>
      <p:sp>
        <p:nvSpPr>
          <p:cNvPr id="11" name="source-link-18-TECH-D05">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F860BE40-E791-4A59-861F-4679811C19D2}"/>
              </a:ext>
            </a:extLst>
          </p:cNvPr>
          <p:cNvSpPr>
            <a:spLocks xmlns:a="http://schemas.openxmlformats.org/drawingml/2006/main" noGrp="1"/>
          </p:cNvSpPr>
          <p:nvPr/>
        </p:nvSpPr>
        <p:spPr>
          <a:xfrm xmlns:a="http://schemas.openxmlformats.org/drawingml/2006/main">
            <a:off x="7600950" y="1162050"/>
            <a:ext cx="40386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CBD8E3"/>
            </a:solidFill>
            <a:prstDash val="solid"/>
          </a:ln>
        </p:spPr>
        <p:txBody>
          <a:bodyPr xmlns:a="http://schemas.openxmlformats.org/drawingml/2006/main">
            <a:noAutofit/>
          </a:bodyPr>
          <a:lstStyle xmlns:a="http://schemas.openxmlformats.org/drawingml/2006/main"/>
          <a:p xmlns:a="http://schemas.openxmlformats.org/drawingml/2006/main">
            <a:pPr algn="ctr">
              <a:defRPr sz="788" b="1">
                <a:solidFill>
                  <a:srgbClr val="2169A8"/>
                </a:solidFill>
                <a:latin typeface="Arial"/>
                <a:ea typeface="Arial"/>
                <a:cs typeface="Arial"/>
              </a:defRPr>
            </a:pPr>
            <a:r>
              <a:rPr sz="788" b="1">
                <a:solidFill>
                  <a:srgbClr val="2169A8"/>
                </a:solidFill>
                <a:latin typeface="Arial"/>
                <a:ea typeface="Arial"/>
                <a:cs typeface="Arial"/>
              </a:rPr>
              <a:t>Controlled View ↗ TECH-D05 — Deployment</a:t>
            </a:r>
          </a:p>
        </p:txBody>
      </p:sp>
      <p:sp>
        <p:nvSpPr>
          <p:cNvPr id="12" name="box-54-154">
            <a:extLst xmlns:a="http://schemas.openxmlformats.org/drawingml/2006/main">
              <a:ext uri="{FF2B5EF4-FFF2-40B4-BE49-F238E27FC236}">
                <a16:creationId xmlns:a16="http://schemas.microsoft.com/office/drawing/2014/main" id="{7D672E44-DE24-4360-9C2D-3262A42DCDE8}"/>
              </a:ext>
            </a:extLst>
          </p:cNvPr>
          <p:cNvSpPr>
            <a:spLocks xmlns:a="http://schemas.openxmlformats.org/drawingml/2006/main" noGrp="1"/>
          </p:cNvSpPr>
          <p:nvPr/>
        </p:nvSpPr>
        <p:spPr>
          <a:xfrm xmlns:a="http://schemas.openxmlformats.org/drawingml/2006/main">
            <a:off x="514350" y="1466850"/>
            <a:ext cx="11144250" cy="4629150"/>
          </a:xfrm>
          <a:prstGeom xmlns:a="http://schemas.openxmlformats.org/drawingml/2006/main" prst="roundRect">
            <a:avLst>
              <a:gd name="adj" fmla="val 1646"/>
            </a:avLst>
          </a:prstGeom>
          <a:solidFill xmlns:a="http://schemas.openxmlformats.org/drawingml/2006/main">
            <a:srgbClr val="FFFFFF"/>
          </a:solidFill>
          <a:ln xmlns:a="http://schemas.openxmlformats.org/drawingml/2006/main" w="10478">
            <a:solidFill>
              <a:srgbClr val="CBD8E3"/>
            </a:solidFill>
            <a:prstDash val="solid"/>
          </a:ln>
        </p:spPr>
      </p:sp>
      <p:pic>
        <p:nvPicPr>
          <p:cNvPr id="27" name="evidence-TECH-D05"/>
          <p:cNvPicPr>
            <a:picLocks xmlns:a="http://schemas.openxmlformats.org/drawingml/2006/main" noChangeAspect="1"/>
          </p:cNvPicPr>
          <p:nvPr/>
        </p:nvPicPr>
        <p:blipFill>
          <a:blip xmlns:r="http://schemas.openxmlformats.org/officeDocument/2006/relationships" xmlns:a="http://schemas.openxmlformats.org/drawingml/2006/main" r:embed="R80919d0390e840d2"/>
          <a:stretch xmlns:a="http://schemas.openxmlformats.org/drawingml/2006/main"/>
        </p:blipFill>
        <p:spPr>
          <a:xfrm xmlns:a="http://schemas.openxmlformats.org/drawingml/2006/main">
            <a:off x="2129189" y="1543050"/>
            <a:ext cx="7914573" cy="4476750"/>
          </a:xfrm>
          <a:prstGeom xmlns:a="http://schemas.openxmlformats.org/drawingml/2006/main" prst="rect">
            <a:avLst/>
          </a:prstGeom>
        </p:spPr>
      </p:pic>
      <p:sp>
        <p:nvSpPr>
          <p:cNvPr id="14" name="text-86-646-Bản controlled n">
            <a:extLst xmlns:a="http://schemas.openxmlformats.org/drawingml/2006/main">
              <a:ext uri="{FF2B5EF4-FFF2-40B4-BE49-F238E27FC236}">
                <a16:creationId xmlns:a16="http://schemas.microsoft.com/office/drawing/2014/main" id="{9A2523E1-AE61-4E07-816B-4E4BC2BA920C}"/>
              </a:ext>
            </a:extLst>
          </p:cNvPr>
          <p:cNvSpPr>
            <a:spLocks xmlns:a="http://schemas.openxmlformats.org/drawingml/2006/main" noGrp="1"/>
          </p:cNvSpPr>
          <p:nvPr/>
        </p:nvSpPr>
        <p:spPr>
          <a:xfrm xmlns:a="http://schemas.openxmlformats.org/drawingml/2006/main">
            <a:off x="819150" y="6153150"/>
            <a:ext cx="1055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0">
                <a:solidFill>
                  <a:srgbClr val="4B6075"/>
                </a:solidFill>
                <a:latin typeface="Arial"/>
                <a:ea typeface="Arial"/>
                <a:cs typeface="Arial"/>
              </a:defRPr>
            </a:pPr>
            <a:r>
              <a:rPr sz="975" b="0">
                <a:solidFill>
                  <a:srgbClr val="4B6075"/>
                </a:solidFill>
                <a:latin typeface="Arial"/>
                <a:ea typeface="Arial"/>
                <a:cs typeface="Arial"/>
              </a:rPr>
              <a:t>Bản controlled nguyên gốc. Dùng management simplification ở phần chính; mở hyperlink để xem SVG toàn độ phân giải.</a:t>
            </a:r>
          </a:p>
        </p:txBody>
      </p:sp>
    </p:spTree>
    <p:extLst>
      <p:ext uri="{BB962C8B-B14F-4D97-AF65-F5344CB8AC3E}">
        <p14:creationId xmlns:p14="http://schemas.microsoft.com/office/powerpoint/2010/main" val="1605048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2026-09-16T04:38:37.1910000Z</dcterms:created>
  <dcterms:modified xsi:type="dcterms:W3CDTF">2026-09-16T04:38:37.1920000Z</dcterms:modified>
</coreProperties>
</file>