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Sơ đồ mở đầu đặt buổi review theo đúng thứ tự từ nhu cầu đến thực hiện.</a:t>
            </a:r>
          </a:p>
          <a:p>
            <a:endParaRPr/>
          </a:p>
          <a:p>
            <a:r>
              <a:t>Feature, Spec và Tech là ba quyết định riêng. Product Decision Authority vẫn chưa ghi nhận quyết định nào, trạng thái hiện tại là NOT-RUN.</a:t>
            </a:r>
          </a:p>
          <a:p>
            <a:endParaRPr/>
          </a:p>
          <a:p>
            <a:r>
              <a:t>Đây không phải kế hoạch triển khai và cũng chưa chứng minh hệ thống đã sẵn sàng để xây dựng.</a:t>
            </a:r>
          </a:p>
          <a:p>
            <a:endParaRPr/>
          </a:p>
          <a:p>
            <a:r>
              <a:t>Khi trình bày, tôi đi từ trái sang phải và dừng ở ba điểm management cần chốt.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này liệt kê 12 Controlled Views thực sự được dùng trong buổi review.</a:t>
            </a:r>
          </a:p>
          <a:p>
            <a:endParaRPr/>
          </a:p>
          <a:p>
            <a:r>
              <a:t>Mỗi ID mở đúng bản SVG tại commit baseline đã dùng để tạo deck. Inventory 38 view vẫn nằm ở deliverable riêng.</a:t>
            </a:r>
          </a:p>
          <a:p>
            <a:endParaRPr/>
          </a:p>
          <a:p>
            <a:r>
              <a:t>Các view không xuất hiện ở đây vẫn còn hiệu lực. Tôi chỉ loại chúng khỏi main deck vì chúng không hỗ trợ trực tiếp cho quyết định management.</a:t>
            </a:r>
          </a:p>
          <a:p>
            <a:endParaRPr/>
          </a:p>
          <a:p>
            <a:r>
              <a:t>Có thể mở view chi tiết khi cần đọc nhãn nhỏ hoặc kiểm tra source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bản đồ năng lực rút từ 14 controlled Feature groups.</a:t>
            </a:r>
          </a:p>
          <a:p>
            <a:endParaRPr/>
          </a:p>
          <a:p>
            <a:r>
              <a:t>Năm nhóm xung quanh Core v0 tạo thành một vòng đời dữ liệu kỹ thuật có kiểm soát, không phải danh sách màn hình hay sơ đồ module.</a:t>
            </a:r>
          </a:p>
          <a:p>
            <a:endParaRPr/>
          </a:p>
          <a:p>
            <a:r>
              <a:t>Điểm cần xác nhận là các nhóm năng lực này đã phản ánh đúng sản phẩm công ty cần hay chưa.</a:t>
            </a:r>
          </a:p>
          <a:p>
            <a:endParaRPr/>
          </a:p>
          <a:p>
            <a:r>
              <a:t>Sơ đồ không cho biết Feature nào đã được code hoặc đã PASS qualification.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Hai cột xác định ranh giới Core v0 trước khi Engineering đi sâu hơn vào thiết kế.</a:t>
            </a:r>
          </a:p>
          <a:p>
            <a:endParaRPr/>
          </a:p>
          <a:p>
            <a:r>
              <a:t>Bên trái là phần sản phẩm phải giải quyết. Bên phải là phần để sau hoặc nằm ngoài phạm vi hiện tại.</a:t>
            </a:r>
          </a:p>
          <a:p>
            <a:endParaRPr/>
          </a:p>
          <a:p>
            <a:r>
              <a:t>Các mục để sau không bị loại vĩnh viễn và cũng không được ngầm tính vào Core v0.</a:t>
            </a:r>
          </a:p>
          <a:p>
            <a:endParaRPr/>
          </a:p>
          <a:p>
            <a:r>
              <a:t>Câu hỏi cuối slide là nội dung management cần xác nhận.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này tách Feature, Spec và Tech để tránh một quyết định bị hiểu thành phê duyệt cả ba lớp.</a:t>
            </a:r>
          </a:p>
          <a:p>
            <a:endParaRPr/>
          </a:p>
          <a:p>
            <a:r>
              <a:t>Spec giữ các quy tắc đúng của sản phẩm và nghĩa vụ kiểm chứng. Tech chỉ chọn cách Engineering đáp ứng các quy tắc đó.</a:t>
            </a:r>
          </a:p>
          <a:p>
            <a:endParaRPr/>
          </a:p>
          <a:p>
            <a:r>
              <a:t>Con số 87 là số requirement trong SRS hiện hành, không phải số requirement đã được kiểm chứng.</a:t>
            </a:r>
          </a:p>
          <a:p>
            <a:endParaRPr/>
          </a:p>
          <a:p>
            <a:r>
              <a:t>Khi trình bày, tôi đi từ capability sang correctness contract rồi mới sang giải pháp kỹ thuật.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bản rút gọn của DATA-VIEW-CORE-001.</a:t>
            </a:r>
          </a:p>
          <a:p>
            <a:endParaRPr/>
          </a:p>
          <a:p>
            <a:r>
              <a:t>Tôi dùng sơ đồ này vì Checkout, Review và Release đều phụ thuộc vào việc phân biệt Document, Revision, Version và Generation.</a:t>
            </a:r>
          </a:p>
          <a:p>
            <a:endParaRPr/>
          </a:p>
          <a:p>
            <a:r>
              <a:t>Document giữ danh tính ổn định. Generation là snapshot nội dung bất biến do hệ thống ghi nhận.</a:t>
            </a:r>
          </a:p>
          <a:p>
            <a:endParaRPr/>
          </a:p>
          <a:p>
            <a:r>
              <a:t>G001 đến G004 chỉ là mã minh họa, không phải quy tắc numbering hoặc một loại Version thứ hai.</a:t>
            </a:r>
          </a:p>
          <a:p>
            <a:endParaRPr/>
          </a:p>
          <a:p>
            <a:r>
              <a:t>Khi trình bày, đi từ Document sang Revision A, sau đó sang Revision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này gom trách nhiệm Workspace, Checkout, Reference và Check-in vào một luồng dễ theo dõi.</a:t>
            </a:r>
          </a:p>
          <a:p>
            <a:endParaRPr/>
          </a:p>
          <a:p>
            <a:r>
              <a:t>Checkout mở một controlled editing session. Khi Check-in, Server kiểm tra lại quyền, reservation, baseline và phạm vi trước lúc commit.</a:t>
            </a:r>
          </a:p>
          <a:p>
            <a:endParaRPr/>
          </a:p>
          <a:p>
            <a:r>
              <a:t>Check-in thành công kết thúc quyền giữ sửa trong phạm vi đã xác nhận. Nếu thất bại, hệ thống giữ local work để người dùng xử lý tiếp.</a:t>
            </a:r>
          </a:p>
          <a:p>
            <a:endParaRPr/>
          </a:p>
          <a:p>
            <a:r>
              <a:t>Các mũi tên không mô tả chunk transfer, điều hướng UI hoặc cơ chế tự merge CAD và Office.</a:t>
            </a:r>
          </a:p>
          <a:p>
            <a:endParaRPr/>
          </a:p>
          <a:p>
            <a:r>
              <a:t>Phần Reference ở dưới là nhánh riêng và không có quyền ghi ngược vào tài liệu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Structure Snapshot giữ đúng Generation của từng thành phần tại thời điểm Release.</a:t>
            </a:r>
          </a:p>
          <a:p>
            <a:endParaRPr/>
          </a:p>
          <a:p>
            <a:r>
              <a:t>Tôi dùng bản rút gọn này để giải thích vì sao một baseline cũ vẫn tái tạo được sau khi các component có Generation mới.</a:t>
            </a:r>
          </a:p>
          <a:p>
            <a:endParaRPr/>
          </a:p>
          <a:p>
            <a:r>
              <a:t>S12 tiếp tục trỏ tới B3 và C9. Nó không tự chạy theo head hiện tại.</a:t>
            </a:r>
          </a:p>
          <a:p>
            <a:endParaRPr/>
          </a:p>
          <a:p>
            <a:r>
              <a:t>Sơ đồ không quy định bảng database, giao diện BOM hoặc cơ chế tự lan truyền Revision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Ở slide này có một ý chính: Release giữ đúng baseline đã được duyệt.</a:t>
            </a:r>
          </a:p>
          <a:p>
            <a:endParaRPr/>
          </a:p>
          <a:p>
            <a:r>
              <a:t>Server kiểm tra lại exact Generation, Structure Snapshot, approval, quyền hiện hành và Artifact trước khi tạo Release Record.</a:t>
            </a:r>
          </a:p>
          <a:p>
            <a:endParaRPr/>
          </a:p>
          <a:p>
            <a:r>
              <a:t>Vài tháng sau, hệ thống phải lấy lại đúng baseline đó thay vì chọn file mới nhất.</a:t>
            </a:r>
          </a:p>
          <a:p>
            <a:endParaRPr/>
          </a:p>
          <a:p>
            <a:r>
              <a:t>Approval chưa đủ để bảo đảm Release thành công, và một Project không bắt buộc phải phát hành toàn bộ tài liệu cùng lúc.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Khối A dùng mô hình quyền hiện hành: Security Principal, exact Role Definition Version và Authorization Scope tạo thành Role Assignment.</a:t>
            </a:r>
          </a:p>
          <a:p>
            <a:endParaRPr/>
          </a:p>
          <a:p>
            <a:r>
              <a:t>Sau khi tìm được assignment phù hợp, Server mới áp dụng Permission và business gates.</a:t>
            </a:r>
          </a:p>
          <a:p>
            <a:endParaRPr/>
          </a:p>
          <a:p>
            <a:r>
              <a:t>Ba khối còn lại cho thấy cách giữ correctness khi dữ liệu stale, request phải retry hoặc một bước xử lý thất bại.</a:t>
            </a:r>
          </a:p>
          <a:p>
            <a:endParaRPr/>
          </a:p>
          <a:p>
            <a:r>
              <a:t>Đây không phải mô hình Account Type hoặc Permission Policy cũ. Audit chỉ ghi bằng chứng, không cấp quyền và không thay quyết định nghiệp vụ.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Chuỗi phía trên nối requirement với acceptance, verification và bằng chứng thực thi.</a:t>
            </a:r>
          </a:p>
          <a:p>
            <a:endParaRPr/>
          </a:p>
          <a:p>
            <a:r>
              <a:t>Tôi dùng ví dụ Release để cho thấy một câu yêu cầu phải dẫn đến cách kiểm tra cụ thể.</a:t>
            </a:r>
          </a:p>
          <a:p>
            <a:endParaRPr/>
          </a:p>
          <a:p>
            <a:r>
              <a:t>Việc đã viết verification method chưa có nghĩa là kết quả PASS. Executed evidence phải được ghi riêng sau khi chạy kiểm chứng.</a:t>
            </a:r>
          </a:p>
          <a:p>
            <a:endParaRPr/>
          </a:p>
          <a:p>
            <a:r>
              <a:t>Đọc chuỗi trên trước, sau đó đối chiếu ví dụ ở phần dưới.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Sơ đồ này rút gọn TECH-D01 và phần deployment liên quan trong TECH-D05.</a:t>
            </a:r>
          </a:p>
          <a:p>
            <a:endParaRPr/>
          </a:p>
          <a:p>
            <a:r>
              <a:t>React cung cấp business UI dùng chung. Java/Spring giữ Core Server authority. Workspace .NET xử lý ranh giới Windows và file cục bộ.</a:t>
            </a:r>
          </a:p>
          <a:p>
            <a:endParaRPr/>
          </a:p>
          <a:p>
            <a:r>
              <a:t>Format Worker boundary đã được chọn, nhưng chỉ dùng khi CAD, Office hoặc license yêu cầu. Runtime và toolchain cụ thể vẫn chưa được chọn, qualification còn NOT-RUN.</a:t>
            </a:r>
          </a:p>
          <a:p>
            <a:endParaRPr/>
          </a:p>
          <a:p>
            <a:r>
              <a:t>Đây chưa phải topology production, sizing, HA design hoặc bằng chứng các technology đã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này gắn từng technology với một trách nhiệm và ranh giới công việc cụ thể.</a:t>
            </a:r>
          </a:p>
          <a:p>
            <a:endParaRPr/>
          </a:p>
          <a:p>
            <a:r>
              <a:t>Java/Spring giữ Core Server. .NET nằm ở Windows integration boundary. React là business UI chung cho Web và Desktop.</a:t>
            </a:r>
          </a:p>
          <a:p>
            <a:endParaRPr/>
          </a:p>
          <a:p>
            <a:r>
              <a:t>Cách chia này tránh tạo hai backend hoặc hai bộ giao diện nghiệp vụ cạnh tranh.</a:t>
            </a:r>
          </a:p>
          <a:p>
            <a:endParaRPr/>
          </a:p>
          <a:p>
            <a:r>
              <a:t>Bảng chưa chọn runtime và toolchain cho Format Worker, cũng chưa chứng minh compatibility hay operational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TECH-D08 ghi baseline Engineering, alternative và điều kiện mở lại từng quyết định.</a:t>
            </a:r>
          </a:p>
          <a:p>
            <a:endParaRPr/>
          </a:p>
          <a:p>
            <a:r>
              <a:t>Khi trigger xảy ra, Successor Decision có thể giữ baseline hiện tại hoặc chọn một alternative đã qualification.</a:t>
            </a:r>
          </a:p>
          <a:p>
            <a:endParaRPr/>
          </a:p>
          <a:p>
            <a:r>
              <a:t>Trigger không tự động chọn .NET, Flutter hoặc Microservices.</a:t>
            </a:r>
          </a:p>
          <a:p>
            <a:endParaRPr/>
          </a:p>
          <a:p>
            <a:r>
              <a:t>Q-15 vẫn là PARTIAL / NO WINNER. Flutter vẫn là viable evaluated alternative, còn Product Decision Authority chưa phê duyệt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ARCH-VIEW-RBAC-001 nguyên bản dùng làm source cho bản rút gọn ở slide 10.</a:t>
            </a:r>
          </a:p>
          <a:p>
            <a:endParaRPr/>
          </a:p>
          <a:p>
            <a:r>
              <a:t>Cần nhìn mối liên kết giữa Security Principal, exact Role Definition Version, Authorization Scope và Role Assignment.</a:t>
            </a:r>
          </a:p>
          <a:p>
            <a:endParaRPr/>
          </a:p>
          <a:p>
            <a:r>
              <a:t>Vị trí đường nối không biểu thị thứ tự đánh giá. Đây cũng không phải workflow người dùng, thiết kế UI hoặc database schema.</a:t>
            </a:r>
          </a:p>
          <a:p>
            <a:endParaRPr/>
          </a:p>
          <a:p>
            <a:r>
              <a:t>Mở SVG toàn độ phân giải nếu cần kiểm tra từng quan hệ.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TECH-D04 nguyên bản về runtime boundary, protocol và trust zone.</a:t>
            </a:r>
          </a:p>
          <a:p>
            <a:endParaRPr/>
          </a:p>
          <a:p>
            <a:r>
              <a:t>View này nằm ở appendix để trả lời câu hỏi kỹ thuật khi cần, thay vì làm nặng phần trình bày chính.</a:t>
            </a:r>
          </a:p>
          <a:p>
            <a:endParaRPr/>
          </a:p>
          <a:p>
            <a:r>
              <a:t>Nó chưa ấn định port, số host, firewall rule, capacity, HA hoặc runtime cụ thể của Format Worker.</a:t>
            </a:r>
          </a:p>
          <a:p>
            <a:endParaRPr/>
          </a:p>
          <a:p>
            <a:r>
              <a:t>Khi đọc, bắt đầu từ Web và Windows user zone, đi xuống Server trust zone rồi xem Worker contract ở bên phải.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TECH-D05 nguyên bản về deployment và failure boundary của Engineering baseline.</a:t>
            </a:r>
          </a:p>
          <a:p>
            <a:endParaRPr/>
          </a:p>
          <a:p>
            <a:r>
              <a:t>Sơ đồ cho thấy Server VM là một failure domain, backup tách riêng và Windows Format Worker được cô lập.</a:t>
            </a:r>
          </a:p>
          <a:p>
            <a:endParaRPr/>
          </a:p>
          <a:p>
            <a:r>
              <a:t>Nó chưa phải production topology được duyệt, chưa có capacity result và không cam kết HA.</a:t>
            </a:r>
          </a:p>
          <a:p>
            <a:endParaRPr/>
          </a:p>
          <a:p>
            <a:r>
              <a:t>Khi cần đọc nhãn nhỏ, mở controlled SVG bằng hyperlink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evphuclam/IDEAEngineering/blob/f269a0445737a7efd7f406ee51517149a8967afa/docs/product/instances/idea-engineering/evidence/IE-VEV-ARCH-CORR-005/ARCH-VIEW-RBAC-001.svg" TargetMode="External"/><Relationship Id="rId13" Type="http://schemas.openxmlformats.org/officeDocument/2006/relationships/hyperlink" Target="https://github.com/devphuclam/IDEAEngineering/blob/f269a0445737a7efd7f406ee51517149a8967afa/docs/product/instances/idea-engineering/evidence/IE-VEV-TECH-VIEW-002/TECH-D04.svg" TargetMode="External"/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DATA-VIEW-CORE-001.svg" TargetMode="External"/><Relationship Id="rId7" Type="http://schemas.openxmlformats.org/officeDocument/2006/relationships/hyperlink" Target="https://github.com/devphuclam/IDEAEngineering/blob/f269a0445737a7efd7f406ee51517149a8967afa/docs/product/instances/idea-engineering/evidence/IE-VEV-ARCH-CORR-005/ARCH-VIEW-SEQ-003.svg" TargetMode="External"/><Relationship Id="rId12" Type="http://schemas.openxmlformats.org/officeDocument/2006/relationships/hyperlink" Target="https://github.com/devphuclam/IDEAEngineering/blob/f269a0445737a7efd7f406ee51517149a8967afa/docs/product/instances/idea-engineering/evidence/IE-VEV-TECH-VIEW-002/TECH-D08.sv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evphuclam/IDEAEngineering/blob/f269a0445737a7efd7f406ee51517149a8967afa/docs/product/instances/idea-engineering/evidence/IE-VEV-ARCH-CORR-005/DATA-VIEW-WS-001.svg" TargetMode="External"/><Relationship Id="rId11" Type="http://schemas.openxmlformats.org/officeDocument/2006/relationships/hyperlink" Target="https://github.com/devphuclam/IDEAEngineering/blob/f269a0445737a7efd7f406ee51517149a8967afa/docs/product/instances/idea-engineering/evidence/IE-VEV-TECH-VIEW-002/TECH-D03.svg" TargetMode="External"/><Relationship Id="rId5" Type="http://schemas.openxmlformats.org/officeDocument/2006/relationships/hyperlink" Target="https://github.com/devphuclam/IDEAEngineering/blob/f269a0445737a7efd7f406ee51517149a8967afa/docs/product/instances/idea-engineering/evidence/IE-VEV-ARCH-CORR-005/ARCH-VIEW-SEQ-002.svg" TargetMode="External"/><Relationship Id="rId10" Type="http://schemas.openxmlformats.org/officeDocument/2006/relationships/hyperlink" Target="https://github.com/devphuclam/IDEAEngineering/blob/f269a0445737a7efd7f406ee51517149a8967afa/docs/product/instances/idea-engineering/evidence/IE-VEV-TECH-VIEW-002/TECH-D01.svg" TargetMode="External"/><Relationship Id="rId4" Type="http://schemas.openxmlformats.org/officeDocument/2006/relationships/hyperlink" Target="https://github.com/devphuclam/IDEAEngineering/blob/f269a0445737a7efd7f406ee51517149a8967afa/docs/product/instances/idea-engineering/evidence/IE-VEV-ARCH-CORR-005/ARCH-VIEW-MOD-002.svg" TargetMode="External"/><Relationship Id="rId9" Type="http://schemas.openxmlformats.org/officeDocument/2006/relationships/hyperlink" Target="https://github.com/devphuclam/IDEAEngineering/blob/f269a0445737a7efd7f406ee51517149a8967afa/docs/product/instances/idea-engineering/evidence/IE-VEV-ARCH-CORR-005/DATA-VIEW-AUTH-001.svg" TargetMode="External"/><Relationship Id="rId14" Type="http://schemas.openxmlformats.org/officeDocument/2006/relationships/hyperlink" Target="https://github.com/devphuclam/IDEAEngineering/blob/f269a0445737a7efd7f406ee51517149a8967afa/docs/product/instances/idea-engineering/evidence/IE-VEV-TECH-VIEW-002/TECH-D05.sv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DATA-VIEW-CORE-001.sv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ARCH-VIEW-SEQ-002.sv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DATA-VIEW-CORE-001.sv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ARCH-VIEW-SEQ-003.sv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DATA-VIEW-AUTH-001.sv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TECH-VIEW-002/TECH-D01.sv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TECH-VIEW-002/TECH-D03.sv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TECH-VIEW-002/TECH-D08.sv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ARCH-CORR-005/ARCH-VIEW-RBAC-001.sv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TECH-VIEW-002/TECH-D04.sv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phuclam/IDEAEngineering/blob/f269a0445737a7efd7f406ee51517149a8967afa/docs/product/instances/idea-engineering/evidence/IE-VEV-TECH-VIEW-002/TECH-D05.sv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x-0-0">
            <a:extLst>
              <a:ext uri="{FF2B5EF4-FFF2-40B4-BE49-F238E27FC236}">
                <a16:creationId xmlns:a16="http://schemas.microsoft.com/office/drawing/2014/main" id="{A1C470FE-4183-4A79-BDBC-AFD5EF9CE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F8FC2"/>
          </a:solidFill>
          <a:ln w="0">
            <a:solidFill>
              <a:srgbClr val="2F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72-38-IDEA">
            <a:extLst>
              <a:ext uri="{FF2B5EF4-FFF2-40B4-BE49-F238E27FC236}">
                <a16:creationId xmlns:a16="http://schemas.microsoft.com/office/drawing/2014/main" id="{F330075D-298C-4283-9DA4-48D3CFD131A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619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</a:t>
            </a:r>
          </a:p>
        </p:txBody>
      </p:sp>
      <p:sp>
        <p:nvSpPr>
          <p:cNvPr id="3" name="box-49-42">
            <a:extLst>
              <a:ext uri="{FF2B5EF4-FFF2-40B4-BE49-F238E27FC236}">
                <a16:creationId xmlns:a16="http://schemas.microsoft.com/office/drawing/2014/main" id="{9D49CA16-3625-486B-9391-C6A966C8BC88}"/>
              </a:ext>
            </a:extLst>
          </p:cNvPr>
          <p:cNvSpPr>
            <a:spLocks noGrp="1"/>
          </p:cNvSpPr>
          <p:nvPr/>
        </p:nvSpPr>
        <p:spPr>
          <a:xfrm>
            <a:off x="466725" y="400050"/>
            <a:ext cx="133350" cy="133350"/>
          </a:xfrm>
          <a:prstGeom prst="ellipse">
            <a:avLst/>
          </a:prstGeom>
          <a:solidFill>
            <a:srgbClr val="E1262D"/>
          </a:solidFill>
          <a:ln w="0">
            <a:solidFill>
              <a:srgbClr val="E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72-128-IDEA Engineering">
            <a:extLst>
              <a:ext uri="{FF2B5EF4-FFF2-40B4-BE49-F238E27FC236}">
                <a16:creationId xmlns:a16="http://schemas.microsoft.com/office/drawing/2014/main" id="{F56B24C5-8261-4F77-95D5-76B4D2E6E0E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 Engineering Core v0</a:t>
            </a:r>
          </a:p>
        </p:txBody>
      </p:sp>
      <p:sp>
        <p:nvSpPr>
          <p:cNvPr id="5" name="text-72-188-Product &amp; Techno">
            <a:extLst>
              <a:ext uri="{FF2B5EF4-FFF2-40B4-BE49-F238E27FC236}">
                <a16:creationId xmlns:a16="http://schemas.microsoft.com/office/drawing/2014/main" id="{7B8EE7B9-4758-4578-B39F-364CB7870B0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BFD7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D7EA"/>
                </a:solidFill>
                <a:latin typeface="Arial"/>
                <a:ea typeface="Arial"/>
                <a:cs typeface="Arial"/>
              </a:rPr>
              <a:t>Product &amp; Technology Decision Framework</a:t>
            </a:r>
          </a:p>
        </p:txBody>
      </p:sp>
      <p:sp>
        <p:nvSpPr>
          <p:cNvPr id="6" name="text-72-260-DOC-01@0.6 · DOC">
            <a:extLst>
              <a:ext uri="{FF2B5EF4-FFF2-40B4-BE49-F238E27FC236}">
                <a16:creationId xmlns:a16="http://schemas.microsoft.com/office/drawing/2014/main" id="{929D305B-9898-4AA1-BCB5-5E18D75E10C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9FB8C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8CB"/>
                </a:solidFill>
                <a:latin typeface="Arial"/>
                <a:ea typeface="Arial"/>
                <a:cs typeface="Arial"/>
              </a:rPr>
              <a:t>DOC-01@0.6 · DOC-04@0.13 · DOC-05@0.20</a:t>
            </a:r>
          </a:p>
        </p:txBody>
      </p:sp>
      <p:sp>
        <p:nvSpPr>
          <p:cNvPr id="7" name="box-72-310">
            <a:extLst>
              <a:ext uri="{FF2B5EF4-FFF2-40B4-BE49-F238E27FC236}">
                <a16:creationId xmlns:a16="http://schemas.microsoft.com/office/drawing/2014/main" id="{3463C627-1C49-4B0B-875C-2A21C35296E5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657350" cy="1371600"/>
          </a:xfrm>
          <a:prstGeom prst="roundRect">
            <a:avLst>
              <a:gd name="adj" fmla="val 5556"/>
            </a:avLst>
          </a:prstGeom>
          <a:solidFill>
            <a:srgbClr val="17385F"/>
          </a:solidFill>
          <a:ln w="1905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86-335-Nhu cầu">
            <a:extLst>
              <a:ext uri="{FF2B5EF4-FFF2-40B4-BE49-F238E27FC236}">
                <a16:creationId xmlns:a16="http://schemas.microsoft.com/office/drawing/2014/main" id="{2DB4959D-F221-499C-BA8A-219EA3E57436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139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Nhu cầu</a:t>
            </a:r>
          </a:p>
        </p:txBody>
      </p:sp>
      <p:sp>
        <p:nvSpPr>
          <p:cNvPr id="9" name="text-87-385-Business / Engin">
            <a:extLst>
              <a:ext uri="{FF2B5EF4-FFF2-40B4-BE49-F238E27FC236}">
                <a16:creationId xmlns:a16="http://schemas.microsoft.com/office/drawing/2014/main" id="{4E316E7F-AABE-4AA4-AEEE-DC20D44C8831}"/>
              </a:ext>
            </a:extLst>
          </p:cNvPr>
          <p:cNvSpPr>
            <a:spLocks noGrp="1"/>
          </p:cNvSpPr>
          <p:nvPr/>
        </p:nvSpPr>
        <p:spPr>
          <a:xfrm>
            <a:off x="828675" y="3667125"/>
            <a:ext cx="13716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CADC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CEB"/>
                </a:solidFill>
                <a:latin typeface="Arial"/>
                <a:ea typeface="Arial"/>
                <a:cs typeface="Arial"/>
              </a:rPr>
              <a:t>Business / Engineering</a:t>
            </a:r>
          </a:p>
        </p:txBody>
      </p:sp>
      <p:sp>
        <p:nvSpPr>
          <p:cNvPr id="10" name="text-252-355-→">
            <a:extLst>
              <a:ext uri="{FF2B5EF4-FFF2-40B4-BE49-F238E27FC236}">
                <a16:creationId xmlns:a16="http://schemas.microsoft.com/office/drawing/2014/main" id="{3EC1E168-4FA6-4BAC-89CA-9DE15497D024}"/>
              </a:ext>
            </a:extLst>
          </p:cNvPr>
          <p:cNvSpPr>
            <a:spLocks noGrp="1"/>
          </p:cNvSpPr>
          <p:nvPr/>
        </p:nvSpPr>
        <p:spPr>
          <a:xfrm>
            <a:off x="2400300" y="3381375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box-304-310">
            <a:extLst>
              <a:ext uri="{FF2B5EF4-FFF2-40B4-BE49-F238E27FC236}">
                <a16:creationId xmlns:a16="http://schemas.microsoft.com/office/drawing/2014/main" id="{438BD08A-4C33-431C-A3BA-43E57048A849}"/>
              </a:ext>
            </a:extLst>
          </p:cNvPr>
          <p:cNvSpPr>
            <a:spLocks noGrp="1"/>
          </p:cNvSpPr>
          <p:nvPr/>
        </p:nvSpPr>
        <p:spPr>
          <a:xfrm>
            <a:off x="2895600" y="2952750"/>
            <a:ext cx="1657350" cy="1371600"/>
          </a:xfrm>
          <a:prstGeom prst="roundRect">
            <a:avLst>
              <a:gd name="adj" fmla="val 5556"/>
            </a:avLst>
          </a:prstGeom>
          <a:solidFill>
            <a:srgbClr val="16314F"/>
          </a:solidFill>
          <a:ln w="19050">
            <a:solidFill>
              <a:srgbClr val="2F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318-335-FEATURE">
            <a:extLst>
              <a:ext uri="{FF2B5EF4-FFF2-40B4-BE49-F238E27FC236}">
                <a16:creationId xmlns:a16="http://schemas.microsoft.com/office/drawing/2014/main" id="{70DCDA9B-2CCC-41CB-BDEB-C0E18FC891A0}"/>
              </a:ext>
            </a:extLst>
          </p:cNvPr>
          <p:cNvSpPr>
            <a:spLocks noGrp="1"/>
          </p:cNvSpPr>
          <p:nvPr/>
        </p:nvSpPr>
        <p:spPr>
          <a:xfrm>
            <a:off x="3028950" y="3190875"/>
            <a:ext cx="139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3" name="text-319-385-Phạm vi cần có">
            <a:extLst>
              <a:ext uri="{FF2B5EF4-FFF2-40B4-BE49-F238E27FC236}">
                <a16:creationId xmlns:a16="http://schemas.microsoft.com/office/drawing/2014/main" id="{F1515167-875A-4F3D-B5E6-A7519BD408D1}"/>
              </a:ext>
            </a:extLst>
          </p:cNvPr>
          <p:cNvSpPr>
            <a:spLocks noGrp="1"/>
          </p:cNvSpPr>
          <p:nvPr/>
        </p:nvSpPr>
        <p:spPr>
          <a:xfrm>
            <a:off x="3038475" y="3667125"/>
            <a:ext cx="13716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CADC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CEB"/>
                </a:solidFill>
                <a:latin typeface="Arial"/>
                <a:ea typeface="Arial"/>
                <a:cs typeface="Arial"/>
              </a:rPr>
              <a:t>Phạm vi cần có</a:t>
            </a:r>
          </a:p>
        </p:txBody>
      </p:sp>
      <p:sp>
        <p:nvSpPr>
          <p:cNvPr id="14" name="text-484-355-→">
            <a:extLst>
              <a:ext uri="{FF2B5EF4-FFF2-40B4-BE49-F238E27FC236}">
                <a16:creationId xmlns:a16="http://schemas.microsoft.com/office/drawing/2014/main" id="{B08016C2-3AB6-4D08-AF2C-753CD11857E5}"/>
              </a:ext>
            </a:extLst>
          </p:cNvPr>
          <p:cNvSpPr>
            <a:spLocks noGrp="1"/>
          </p:cNvSpPr>
          <p:nvPr/>
        </p:nvSpPr>
        <p:spPr>
          <a:xfrm>
            <a:off x="4610100" y="3381375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box-536-310">
            <a:extLst>
              <a:ext uri="{FF2B5EF4-FFF2-40B4-BE49-F238E27FC236}">
                <a16:creationId xmlns:a16="http://schemas.microsoft.com/office/drawing/2014/main" id="{68D1441B-A086-4D1F-8974-B778F8B21860}"/>
              </a:ext>
            </a:extLst>
          </p:cNvPr>
          <p:cNvSpPr>
            <a:spLocks noGrp="1"/>
          </p:cNvSpPr>
          <p:nvPr/>
        </p:nvSpPr>
        <p:spPr>
          <a:xfrm>
            <a:off x="5105400" y="2952750"/>
            <a:ext cx="1657350" cy="1371600"/>
          </a:xfrm>
          <a:prstGeom prst="roundRect">
            <a:avLst>
              <a:gd name="adj" fmla="val 5556"/>
            </a:avLst>
          </a:prstGeom>
          <a:solidFill>
            <a:srgbClr val="16314F"/>
          </a:solidFill>
          <a:ln w="19050">
            <a:solidFill>
              <a:srgbClr val="5EA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550-335-SPEC">
            <a:extLst>
              <a:ext uri="{FF2B5EF4-FFF2-40B4-BE49-F238E27FC236}">
                <a16:creationId xmlns:a16="http://schemas.microsoft.com/office/drawing/2014/main" id="{9DD012BC-6C7B-4177-BE85-E56763C7594E}"/>
              </a:ext>
            </a:extLst>
          </p:cNvPr>
          <p:cNvSpPr>
            <a:spLocks noGrp="1"/>
          </p:cNvSpPr>
          <p:nvPr/>
        </p:nvSpPr>
        <p:spPr>
          <a:xfrm>
            <a:off x="5238750" y="3190875"/>
            <a:ext cx="139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17" name="text-551-385-Điều gì phải luô">
            <a:extLst>
              <a:ext uri="{FF2B5EF4-FFF2-40B4-BE49-F238E27FC236}">
                <a16:creationId xmlns:a16="http://schemas.microsoft.com/office/drawing/2014/main" id="{2ECF61DD-BA8C-4E68-988E-BB03805833E7}"/>
              </a:ext>
            </a:extLst>
          </p:cNvPr>
          <p:cNvSpPr>
            <a:spLocks noGrp="1"/>
          </p:cNvSpPr>
          <p:nvPr/>
        </p:nvSpPr>
        <p:spPr>
          <a:xfrm>
            <a:off x="5248275" y="3667125"/>
            <a:ext cx="13716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CADC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CEB"/>
                </a:solidFill>
                <a:latin typeface="Arial"/>
                <a:ea typeface="Arial"/>
                <a:cs typeface="Arial"/>
              </a:rPr>
              <a:t>Điều gì phải luôn đúng</a:t>
            </a:r>
          </a:p>
        </p:txBody>
      </p:sp>
      <p:sp>
        <p:nvSpPr>
          <p:cNvPr id="18" name="text-716-355-→">
            <a:extLst>
              <a:ext uri="{FF2B5EF4-FFF2-40B4-BE49-F238E27FC236}">
                <a16:creationId xmlns:a16="http://schemas.microsoft.com/office/drawing/2014/main" id="{23BA17CB-05D8-4B8E-A88F-4E5D48F7A52E}"/>
              </a:ext>
            </a:extLst>
          </p:cNvPr>
          <p:cNvSpPr>
            <a:spLocks noGrp="1"/>
          </p:cNvSpPr>
          <p:nvPr/>
        </p:nvSpPr>
        <p:spPr>
          <a:xfrm>
            <a:off x="6819900" y="3381375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box-768-310">
            <a:extLst>
              <a:ext uri="{FF2B5EF4-FFF2-40B4-BE49-F238E27FC236}">
                <a16:creationId xmlns:a16="http://schemas.microsoft.com/office/drawing/2014/main" id="{91386FA5-CF5A-4793-BDBF-4E40995F1F34}"/>
              </a:ext>
            </a:extLst>
          </p:cNvPr>
          <p:cNvSpPr>
            <a:spLocks noGrp="1"/>
          </p:cNvSpPr>
          <p:nvPr/>
        </p:nvSpPr>
        <p:spPr>
          <a:xfrm>
            <a:off x="7315200" y="2952750"/>
            <a:ext cx="1657350" cy="1371600"/>
          </a:xfrm>
          <a:prstGeom prst="roundRect">
            <a:avLst>
              <a:gd name="adj" fmla="val 5556"/>
            </a:avLst>
          </a:prstGeom>
          <a:solidFill>
            <a:srgbClr val="16314F"/>
          </a:solidFill>
          <a:ln w="19050">
            <a:solidFill>
              <a:srgbClr val="A69A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782-335-TECH">
            <a:extLst>
              <a:ext uri="{FF2B5EF4-FFF2-40B4-BE49-F238E27FC236}">
                <a16:creationId xmlns:a16="http://schemas.microsoft.com/office/drawing/2014/main" id="{7E7BD1B8-AB95-4B6E-AC99-7956AEA53CAE}"/>
              </a:ext>
            </a:extLst>
          </p:cNvPr>
          <p:cNvSpPr>
            <a:spLocks noGrp="1"/>
          </p:cNvSpPr>
          <p:nvPr/>
        </p:nvSpPr>
        <p:spPr>
          <a:xfrm>
            <a:off x="7448550" y="3190875"/>
            <a:ext cx="139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21" name="text-783-385-Cách Engineering">
            <a:extLst>
              <a:ext uri="{FF2B5EF4-FFF2-40B4-BE49-F238E27FC236}">
                <a16:creationId xmlns:a16="http://schemas.microsoft.com/office/drawing/2014/main" id="{DD7763E0-15E4-4137-B13C-EF514095A608}"/>
              </a:ext>
            </a:extLst>
          </p:cNvPr>
          <p:cNvSpPr>
            <a:spLocks noGrp="1"/>
          </p:cNvSpPr>
          <p:nvPr/>
        </p:nvSpPr>
        <p:spPr>
          <a:xfrm>
            <a:off x="7458075" y="3667125"/>
            <a:ext cx="13716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CADC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CEB"/>
                </a:solidFill>
                <a:latin typeface="Arial"/>
                <a:ea typeface="Arial"/>
                <a:cs typeface="Arial"/>
              </a:rPr>
              <a:t>Cách Engineering xây dựng</a:t>
            </a:r>
          </a:p>
        </p:txBody>
      </p:sp>
      <p:sp>
        <p:nvSpPr>
          <p:cNvPr id="22" name="text-948-355-→">
            <a:extLst>
              <a:ext uri="{FF2B5EF4-FFF2-40B4-BE49-F238E27FC236}">
                <a16:creationId xmlns:a16="http://schemas.microsoft.com/office/drawing/2014/main" id="{CED96854-926C-4E0E-AFCA-A94331BE3BE7}"/>
              </a:ext>
            </a:extLst>
          </p:cNvPr>
          <p:cNvSpPr>
            <a:spLocks noGrp="1"/>
          </p:cNvSpPr>
          <p:nvPr/>
        </p:nvSpPr>
        <p:spPr>
          <a:xfrm>
            <a:off x="9029700" y="3381375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box-1000-310">
            <a:extLst>
              <a:ext uri="{FF2B5EF4-FFF2-40B4-BE49-F238E27FC236}">
                <a16:creationId xmlns:a16="http://schemas.microsoft.com/office/drawing/2014/main" id="{9874BC2A-1FB6-43F8-B0A7-D0B97EF5548E}"/>
              </a:ext>
            </a:extLst>
          </p:cNvPr>
          <p:cNvSpPr>
            <a:spLocks noGrp="1"/>
          </p:cNvSpPr>
          <p:nvPr/>
        </p:nvSpPr>
        <p:spPr>
          <a:xfrm>
            <a:off x="9525000" y="2952750"/>
            <a:ext cx="1657350" cy="1371600"/>
          </a:xfrm>
          <a:prstGeom prst="roundRect">
            <a:avLst>
              <a:gd name="adj" fmla="val 5556"/>
            </a:avLst>
          </a:prstGeom>
          <a:solidFill>
            <a:srgbClr val="16314F"/>
          </a:solidFill>
          <a:ln w="19050">
            <a:solidFill>
              <a:srgbClr val="2D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1014-335-Thực hiện">
            <a:extLst>
              <a:ext uri="{FF2B5EF4-FFF2-40B4-BE49-F238E27FC236}">
                <a16:creationId xmlns:a16="http://schemas.microsoft.com/office/drawing/2014/main" id="{61078565-B165-4E60-BC53-1027F509DBD4}"/>
              </a:ext>
            </a:extLst>
          </p:cNvPr>
          <p:cNvSpPr>
            <a:spLocks noGrp="1"/>
          </p:cNvSpPr>
          <p:nvPr/>
        </p:nvSpPr>
        <p:spPr>
          <a:xfrm>
            <a:off x="9658350" y="3190875"/>
            <a:ext cx="1390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Thực hiện</a:t>
            </a:r>
          </a:p>
        </p:txBody>
      </p:sp>
      <p:sp>
        <p:nvSpPr>
          <p:cNvPr id="25" name="text-1015-385-Qualification + ">
            <a:extLst>
              <a:ext uri="{FF2B5EF4-FFF2-40B4-BE49-F238E27FC236}">
                <a16:creationId xmlns:a16="http://schemas.microsoft.com/office/drawing/2014/main" id="{5A157C6E-1129-4BE5-B1A8-3A12FE6B4C17}"/>
              </a:ext>
            </a:extLst>
          </p:cNvPr>
          <p:cNvSpPr>
            <a:spLocks noGrp="1"/>
          </p:cNvSpPr>
          <p:nvPr/>
        </p:nvSpPr>
        <p:spPr>
          <a:xfrm>
            <a:off x="9667875" y="3667125"/>
            <a:ext cx="13716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CADC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CEB"/>
                </a:solidFill>
                <a:latin typeface="Arial"/>
                <a:ea typeface="Arial"/>
                <a:cs typeface="Arial"/>
              </a:rPr>
              <a:t>Qualification + Implementation</a:t>
            </a:r>
          </a:p>
        </p:txBody>
      </p:sp>
      <p:sp>
        <p:nvSpPr>
          <p:cNvPr id="26" name="text-72-525-Tách ba tầng để ">
            <a:extLst>
              <a:ext uri="{FF2B5EF4-FFF2-40B4-BE49-F238E27FC236}">
                <a16:creationId xmlns:a16="http://schemas.microsoft.com/office/drawing/2014/main" id="{06D9FCC1-DB54-4BBB-888E-3E00D4C17BD5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Tách ba tầng để phạm vi, quy tắc đúng và giải pháp kỹ thuật không lẫn vai trò.</a:t>
            </a:r>
          </a:p>
        </p:txBody>
      </p:sp>
      <p:sp>
        <p:nvSpPr>
          <p:cNvPr id="27" name="text-72-659-Management revie">
            <a:extLst>
              <a:ext uri="{FF2B5EF4-FFF2-40B4-BE49-F238E27FC236}">
                <a16:creationId xmlns:a16="http://schemas.microsoft.com/office/drawing/2014/main" id="{0B5D3A19-2B19-49B8-9BC7-E7BE1B84613E}"/>
              </a:ext>
            </a:extLst>
          </p:cNvPr>
          <p:cNvSpPr>
            <a:spLocks noGrp="1"/>
          </p:cNvSpPr>
          <p:nvPr/>
        </p:nvSpPr>
        <p:spPr>
          <a:xfrm>
            <a:off x="685800" y="62769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9FB8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8CB"/>
                </a:solidFill>
                <a:latin typeface="Arial"/>
                <a:ea typeface="Arial"/>
                <a:cs typeface="Arial"/>
              </a:rPr>
              <a:t>Management review · 16/09/2026</a:t>
            </a:r>
          </a:p>
        </p:txBody>
      </p:sp>
      <p:sp>
        <p:nvSpPr>
          <p:cNvPr id="28" name="text-745-659-DOC-01@0.6 · DOC">
            <a:extLst>
              <a:ext uri="{FF2B5EF4-FFF2-40B4-BE49-F238E27FC236}">
                <a16:creationId xmlns:a16="http://schemas.microsoft.com/office/drawing/2014/main" id="{7BB339E4-6B38-443A-BA75-F3720AFD38A7}"/>
              </a:ext>
            </a:extLst>
          </p:cNvPr>
          <p:cNvSpPr>
            <a:spLocks noGrp="1"/>
          </p:cNvSpPr>
          <p:nvPr/>
        </p:nvSpPr>
        <p:spPr>
          <a:xfrm>
            <a:off x="7096125" y="6276975"/>
            <a:ext cx="44100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9FB8C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8CB"/>
                </a:solidFill>
                <a:latin typeface="Arial"/>
                <a:ea typeface="Arial"/>
                <a:cs typeface="Arial"/>
              </a:rPr>
              <a:t>DOC-01@0.6 · DOC-04@0.13 · DOC-05@0.20</a:t>
            </a:r>
          </a:p>
        </p:txBody>
      </p:sp>
    </p:spTree>
    <p:extLst>
      <p:ext uri="{BB962C8B-B14F-4D97-AF65-F5344CB8AC3E}">
        <p14:creationId xmlns:p14="http://schemas.microsoft.com/office/powerpoint/2010/main" val="90458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ox-0-0">
            <a:extLst>
              <a:ext uri="{FF2B5EF4-FFF2-40B4-BE49-F238E27FC236}">
                <a16:creationId xmlns:a16="http://schemas.microsoft.com/office/drawing/2014/main" id="{E1D8DE41-6301-44D7-AFE5-3BB841DFA9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027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DECISION FRAME">
            <a:extLst>
              <a:ext uri="{FF2B5EF4-FFF2-40B4-BE49-F238E27FC236}">
                <a16:creationId xmlns:a16="http://schemas.microsoft.com/office/drawing/2014/main" id="{78B983AA-9785-494C-8A1C-EEFC3F79C6E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DECISION FRAME</a:t>
            </a:r>
          </a:p>
        </p:txBody>
      </p:sp>
      <p:sp>
        <p:nvSpPr>
          <p:cNvPr id="3" name="text-54-56-Controlled Views">
            <a:extLst>
              <a:ext uri="{FF2B5EF4-FFF2-40B4-BE49-F238E27FC236}">
                <a16:creationId xmlns:a16="http://schemas.microsoft.com/office/drawing/2014/main" id="{30BFFCAB-0D1C-4BC3-95BF-1922B0CEAE1C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Controlled Views dùng trong buổi review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43A837D0-6904-42BE-8B8A-75F52E353B32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5@0.20 · DO">
            <a:extLst>
              <a:ext uri="{FF2B5EF4-FFF2-40B4-BE49-F238E27FC236}">
                <a16:creationId xmlns:a16="http://schemas.microsoft.com/office/drawing/2014/main" id="{AE5CFD70-FE87-48DB-8998-8EBA223F13C4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DOC-05@0.20 · DOC-06@0.16 · TECH-VIEWS@0.2</a:t>
            </a:r>
          </a:p>
        </p:txBody>
      </p:sp>
      <p:sp>
        <p:nvSpPr>
          <p:cNvPr id="6" name="text-1170-680-02">
            <a:extLst>
              <a:ext uri="{FF2B5EF4-FFF2-40B4-BE49-F238E27FC236}">
                <a16:creationId xmlns:a16="http://schemas.microsoft.com/office/drawing/2014/main" id="{AF094D4E-1E3D-4AC2-941E-017DD60D83E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62-132-12 view hỗ trợ t">
            <a:extLst>
              <a:ext uri="{FF2B5EF4-FFF2-40B4-BE49-F238E27FC236}">
                <a16:creationId xmlns:a16="http://schemas.microsoft.com/office/drawing/2014/main" id="{DDA5B1CA-E694-4FA1-95FE-6A40EF37B981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10953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12 view hỗ trợ trực tiếp cho phần trình bày. Inventory 38 view được lưu riêng để tra cứu.</a:t>
            </a:r>
          </a:p>
        </p:txBody>
      </p:sp>
      <p:sp>
        <p:nvSpPr>
          <p:cNvPr id="8" name="text-62-176-SPEC / DATA">
            <a:extLst>
              <a:ext uri="{FF2B5EF4-FFF2-40B4-BE49-F238E27FC236}">
                <a16:creationId xmlns:a16="http://schemas.microsoft.com/office/drawing/2014/main" id="{9F0E5561-D351-4784-9EDA-03A469408BAE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/ DATA</a:t>
            </a:r>
          </a:p>
        </p:txBody>
      </p:sp>
      <p:sp>
        <p:nvSpPr>
          <p:cNvPr id="9" name="source-link-2-DATA-VIEW-CORE-001">
            <a:hlinkClick r:id="rId3"/>
            <a:extLst>
              <a:ext uri="{FF2B5EF4-FFF2-40B4-BE49-F238E27FC236}">
                <a16:creationId xmlns:a16="http://schemas.microsoft.com/office/drawing/2014/main" id="{CF68D67B-79DF-4400-90D2-E010BC786BC6}"/>
              </a:ext>
            </a:extLst>
          </p:cNvPr>
          <p:cNvSpPr>
            <a:spLocks noGrp="1"/>
          </p:cNvSpPr>
          <p:nvPr/>
        </p:nvSpPr>
        <p:spPr>
          <a:xfrm>
            <a:off x="590550" y="20193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DATA-VIEW-CORE-001 · Released-baseline identity ↗</a:t>
            </a:r>
          </a:p>
        </p:txBody>
      </p:sp>
      <p:sp>
        <p:nvSpPr>
          <p:cNvPr id="10" name="text-622-213-Slide 6">
            <a:extLst>
              <a:ext uri="{FF2B5EF4-FFF2-40B4-BE49-F238E27FC236}">
                <a16:creationId xmlns:a16="http://schemas.microsoft.com/office/drawing/2014/main" id="{D9D94017-ACE1-4AD4-884A-2D8CFB6CF2CC}"/>
              </a:ext>
            </a:extLst>
          </p:cNvPr>
          <p:cNvSpPr>
            <a:spLocks noGrp="1"/>
          </p:cNvSpPr>
          <p:nvPr/>
        </p:nvSpPr>
        <p:spPr>
          <a:xfrm>
            <a:off x="5924550" y="20288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6</a:t>
            </a:r>
          </a:p>
        </p:txBody>
      </p:sp>
      <p:sp>
        <p:nvSpPr>
          <p:cNvPr id="11" name="line-62-242">
            <a:extLst>
              <a:ext uri="{FF2B5EF4-FFF2-40B4-BE49-F238E27FC236}">
                <a16:creationId xmlns:a16="http://schemas.microsoft.com/office/drawing/2014/main" id="{C082383F-2C19-4E76-9055-F5D320EC0F2C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ource-link-2-ARCH-VIEW-MOD-002">
            <a:hlinkClick r:id="rId4"/>
            <a:extLst>
              <a:ext uri="{FF2B5EF4-FFF2-40B4-BE49-F238E27FC236}">
                <a16:creationId xmlns:a16="http://schemas.microsoft.com/office/drawing/2014/main" id="{4B68F22C-F7FE-46A3-94DD-595C670C5EE2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ARCH-VIEW-MOD-002 · Controlled Workspace responsibilities ↗</a:t>
            </a:r>
          </a:p>
        </p:txBody>
      </p:sp>
      <p:sp>
        <p:nvSpPr>
          <p:cNvPr id="13" name="text-622-261-Slide 7">
            <a:extLst>
              <a:ext uri="{FF2B5EF4-FFF2-40B4-BE49-F238E27FC236}">
                <a16:creationId xmlns:a16="http://schemas.microsoft.com/office/drawing/2014/main" id="{7FB6CA99-E3C8-4815-BD7C-D4BA4FEC0096}"/>
              </a:ext>
            </a:extLst>
          </p:cNvPr>
          <p:cNvSpPr>
            <a:spLocks noGrp="1"/>
          </p:cNvSpPr>
          <p:nvPr/>
        </p:nvSpPr>
        <p:spPr>
          <a:xfrm>
            <a:off x="5924550" y="24860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7</a:t>
            </a:r>
          </a:p>
        </p:txBody>
      </p:sp>
      <p:sp>
        <p:nvSpPr>
          <p:cNvPr id="14" name="line-62-290">
            <a:extLst>
              <a:ext uri="{FF2B5EF4-FFF2-40B4-BE49-F238E27FC236}">
                <a16:creationId xmlns:a16="http://schemas.microsoft.com/office/drawing/2014/main" id="{80B5E583-BE18-477F-8895-EECC4F4F14B0}"/>
              </a:ext>
            </a:extLst>
          </p:cNvPr>
          <p:cNvSpPr>
            <a:spLocks noGrp="1"/>
          </p:cNvSpPr>
          <p:nvPr/>
        </p:nvSpPr>
        <p:spPr>
          <a:xfrm>
            <a:off x="590550" y="27622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ource-link-2-ARCH-VIEW-SEQ-002">
            <a:hlinkClick r:id="rId5"/>
            <a:extLst>
              <a:ext uri="{FF2B5EF4-FFF2-40B4-BE49-F238E27FC236}">
                <a16:creationId xmlns:a16="http://schemas.microsoft.com/office/drawing/2014/main" id="{B402F0D0-F80D-4A45-AF3C-72CB9818F97A}"/>
              </a:ext>
            </a:extLst>
          </p:cNvPr>
          <p:cNvSpPr>
            <a:spLocks noGrp="1"/>
          </p:cNvSpPr>
          <p:nvPr/>
        </p:nvSpPr>
        <p:spPr>
          <a:xfrm>
            <a:off x="590550" y="29337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ARCH-VIEW-SEQ-002 · Atomic Check-in publication ↗</a:t>
            </a:r>
          </a:p>
        </p:txBody>
      </p:sp>
      <p:sp>
        <p:nvSpPr>
          <p:cNvPr id="16" name="text-622-309-Slide 7">
            <a:extLst>
              <a:ext uri="{FF2B5EF4-FFF2-40B4-BE49-F238E27FC236}">
                <a16:creationId xmlns:a16="http://schemas.microsoft.com/office/drawing/2014/main" id="{D9547FB4-7DE7-4C5B-83C7-467711BEA43A}"/>
              </a:ext>
            </a:extLst>
          </p:cNvPr>
          <p:cNvSpPr>
            <a:spLocks noGrp="1"/>
          </p:cNvSpPr>
          <p:nvPr/>
        </p:nvSpPr>
        <p:spPr>
          <a:xfrm>
            <a:off x="5924550" y="29432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7</a:t>
            </a:r>
          </a:p>
        </p:txBody>
      </p:sp>
      <p:sp>
        <p:nvSpPr>
          <p:cNvPr id="17" name="line-62-338">
            <a:extLst>
              <a:ext uri="{FF2B5EF4-FFF2-40B4-BE49-F238E27FC236}">
                <a16:creationId xmlns:a16="http://schemas.microsoft.com/office/drawing/2014/main" id="{C6C28D69-12B4-4C92-948E-2A5C01DC5463}"/>
              </a:ext>
            </a:extLst>
          </p:cNvPr>
          <p:cNvSpPr>
            <a:spLocks noGrp="1"/>
          </p:cNvSpPr>
          <p:nvPr/>
        </p:nvSpPr>
        <p:spPr>
          <a:xfrm>
            <a:off x="590550" y="32194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ource-link-2-DATA-VIEW-WS-001">
            <a:hlinkClick r:id="rId6"/>
            <a:extLst>
              <a:ext uri="{FF2B5EF4-FFF2-40B4-BE49-F238E27FC236}">
                <a16:creationId xmlns:a16="http://schemas.microsoft.com/office/drawing/2014/main" id="{B57215B4-8D8A-4253-968B-416008716596}"/>
              </a:ext>
            </a:extLst>
          </p:cNvPr>
          <p:cNvSpPr>
            <a:spLocks noGrp="1"/>
          </p:cNvSpPr>
          <p:nvPr/>
        </p:nvSpPr>
        <p:spPr>
          <a:xfrm>
            <a:off x="590550" y="33909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DATA-VIEW-WS-001 · Workspace and Check-in evidence ↗</a:t>
            </a:r>
          </a:p>
        </p:txBody>
      </p:sp>
      <p:sp>
        <p:nvSpPr>
          <p:cNvPr id="19" name="text-622-357-Slide 7">
            <a:extLst>
              <a:ext uri="{FF2B5EF4-FFF2-40B4-BE49-F238E27FC236}">
                <a16:creationId xmlns:a16="http://schemas.microsoft.com/office/drawing/2014/main" id="{7E87A228-F988-4253-BB96-00BB5950A9A0}"/>
              </a:ext>
            </a:extLst>
          </p:cNvPr>
          <p:cNvSpPr>
            <a:spLocks noGrp="1"/>
          </p:cNvSpPr>
          <p:nvPr/>
        </p:nvSpPr>
        <p:spPr>
          <a:xfrm>
            <a:off x="5924550" y="34004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7</a:t>
            </a:r>
          </a:p>
        </p:txBody>
      </p:sp>
      <p:sp>
        <p:nvSpPr>
          <p:cNvPr id="20" name="line-62-386">
            <a:extLst>
              <a:ext uri="{FF2B5EF4-FFF2-40B4-BE49-F238E27FC236}">
                <a16:creationId xmlns:a16="http://schemas.microsoft.com/office/drawing/2014/main" id="{E8ADA1AC-648F-4D4D-B4F1-0FF997EE19CE}"/>
              </a:ext>
            </a:extLst>
          </p:cNvPr>
          <p:cNvSpPr>
            <a:spLocks noGrp="1"/>
          </p:cNvSpPr>
          <p:nvPr/>
        </p:nvSpPr>
        <p:spPr>
          <a:xfrm>
            <a:off x="590550" y="36766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ource-link-2-ARCH-VIEW-SEQ-003">
            <a:hlinkClick r:id="rId7"/>
            <a:extLst>
              <a:ext uri="{FF2B5EF4-FFF2-40B4-BE49-F238E27FC236}">
                <a16:creationId xmlns:a16="http://schemas.microsoft.com/office/drawing/2014/main" id="{199E072A-8A9F-4C04-97B8-4C90DA1C5AC9}"/>
              </a:ext>
            </a:extLst>
          </p:cNvPr>
          <p:cNvSpPr>
            <a:spLocks noGrp="1"/>
          </p:cNvSpPr>
          <p:nvPr/>
        </p:nvSpPr>
        <p:spPr>
          <a:xfrm>
            <a:off x="590550" y="38481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ARCH-VIEW-SEQ-003 · Review and exact Release ↗</a:t>
            </a:r>
          </a:p>
        </p:txBody>
      </p:sp>
      <p:sp>
        <p:nvSpPr>
          <p:cNvPr id="22" name="text-622-405-Slide 9">
            <a:extLst>
              <a:ext uri="{FF2B5EF4-FFF2-40B4-BE49-F238E27FC236}">
                <a16:creationId xmlns:a16="http://schemas.microsoft.com/office/drawing/2014/main" id="{F8443CC9-8BDC-4B82-84AD-CCD503B3439F}"/>
              </a:ext>
            </a:extLst>
          </p:cNvPr>
          <p:cNvSpPr>
            <a:spLocks noGrp="1"/>
          </p:cNvSpPr>
          <p:nvPr/>
        </p:nvSpPr>
        <p:spPr>
          <a:xfrm>
            <a:off x="5924550" y="38576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9</a:t>
            </a:r>
          </a:p>
        </p:txBody>
      </p:sp>
      <p:sp>
        <p:nvSpPr>
          <p:cNvPr id="23" name="line-62-434">
            <a:extLst>
              <a:ext uri="{FF2B5EF4-FFF2-40B4-BE49-F238E27FC236}">
                <a16:creationId xmlns:a16="http://schemas.microsoft.com/office/drawing/2014/main" id="{49617225-7E8D-496F-83A7-236582A1028B}"/>
              </a:ext>
            </a:extLst>
          </p:cNvPr>
          <p:cNvSpPr>
            <a:spLocks noGrp="1"/>
          </p:cNvSpPr>
          <p:nvPr/>
        </p:nvSpPr>
        <p:spPr>
          <a:xfrm>
            <a:off x="590550" y="41338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ource-link-2-ARCH-VIEW-RBAC-001">
            <a:hlinkClick r:id="rId8"/>
            <a:extLst>
              <a:ext uri="{FF2B5EF4-FFF2-40B4-BE49-F238E27FC236}">
                <a16:creationId xmlns:a16="http://schemas.microsoft.com/office/drawing/2014/main" id="{A9A72AAB-6A67-4B08-AC93-E82E7512D1E2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ARCH-VIEW-RBAC-001 · Principal-role-scope model ↗</a:t>
            </a:r>
          </a:p>
        </p:txBody>
      </p:sp>
      <p:sp>
        <p:nvSpPr>
          <p:cNvPr id="25" name="text-622-453-10, 16">
            <a:extLst>
              <a:ext uri="{FF2B5EF4-FFF2-40B4-BE49-F238E27FC236}">
                <a16:creationId xmlns:a16="http://schemas.microsoft.com/office/drawing/2014/main" id="{7A17FF57-61FE-4236-9A53-DFC1CD933B04}"/>
              </a:ext>
            </a:extLst>
          </p:cNvPr>
          <p:cNvSpPr>
            <a:spLocks noGrp="1"/>
          </p:cNvSpPr>
          <p:nvPr/>
        </p:nvSpPr>
        <p:spPr>
          <a:xfrm>
            <a:off x="5924550" y="43148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10, 16</a:t>
            </a:r>
          </a:p>
        </p:txBody>
      </p:sp>
      <p:sp>
        <p:nvSpPr>
          <p:cNvPr id="26" name="line-62-482">
            <a:extLst>
              <a:ext uri="{FF2B5EF4-FFF2-40B4-BE49-F238E27FC236}">
                <a16:creationId xmlns:a16="http://schemas.microsoft.com/office/drawing/2014/main" id="{C67AC64B-8DD4-4C64-81E7-4E2164E0D111}"/>
              </a:ext>
            </a:extLst>
          </p:cNvPr>
          <p:cNvSpPr>
            <a:spLocks noGrp="1"/>
          </p:cNvSpPr>
          <p:nvPr/>
        </p:nvSpPr>
        <p:spPr>
          <a:xfrm>
            <a:off x="590550" y="45910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ource-link-2-DATA-VIEW-AUTH-001">
            <a:hlinkClick r:id="rId9"/>
            <a:extLst>
              <a:ext uri="{FF2B5EF4-FFF2-40B4-BE49-F238E27FC236}">
                <a16:creationId xmlns:a16="http://schemas.microsoft.com/office/drawing/2014/main" id="{83C0265F-532F-4D1D-AF08-253A0D924989}"/>
              </a:ext>
            </a:extLst>
          </p:cNvPr>
          <p:cNvSpPr>
            <a:spLocks noGrp="1"/>
          </p:cNvSpPr>
          <p:nvPr/>
        </p:nvSpPr>
        <p:spPr>
          <a:xfrm>
            <a:off x="590550" y="4762500"/>
            <a:ext cx="52959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DATA-VIEW-AUTH-001 · Role Definition, Scope and Assignment ↗</a:t>
            </a:r>
          </a:p>
        </p:txBody>
      </p:sp>
      <p:sp>
        <p:nvSpPr>
          <p:cNvPr id="28" name="text-622-501-Slide 10">
            <a:extLst>
              <a:ext uri="{FF2B5EF4-FFF2-40B4-BE49-F238E27FC236}">
                <a16:creationId xmlns:a16="http://schemas.microsoft.com/office/drawing/2014/main" id="{5030F292-6FF8-4ED8-905C-CD3B84BBC984}"/>
              </a:ext>
            </a:extLst>
          </p:cNvPr>
          <p:cNvSpPr>
            <a:spLocks noGrp="1"/>
          </p:cNvSpPr>
          <p:nvPr/>
        </p:nvSpPr>
        <p:spPr>
          <a:xfrm>
            <a:off x="5924550" y="47720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10</a:t>
            </a:r>
          </a:p>
        </p:txBody>
      </p:sp>
      <p:sp>
        <p:nvSpPr>
          <p:cNvPr id="29" name="line-62-530">
            <a:extLst>
              <a:ext uri="{FF2B5EF4-FFF2-40B4-BE49-F238E27FC236}">
                <a16:creationId xmlns:a16="http://schemas.microsoft.com/office/drawing/2014/main" id="{88EC06D4-F5D0-45B3-9978-C3590635EAD2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619125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760-176-TECH">
            <a:extLst>
              <a:ext uri="{FF2B5EF4-FFF2-40B4-BE49-F238E27FC236}">
                <a16:creationId xmlns:a16="http://schemas.microsoft.com/office/drawing/2014/main" id="{0ADB1B14-5D68-4328-915F-536DA8461E42}"/>
              </a:ext>
            </a:extLst>
          </p:cNvPr>
          <p:cNvSpPr>
            <a:spLocks noGrp="1"/>
          </p:cNvSpPr>
          <p:nvPr/>
        </p:nvSpPr>
        <p:spPr>
          <a:xfrm>
            <a:off x="7239000" y="167640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31" name="source-link-2-TECH-D01">
            <a:hlinkClick r:id="rId10"/>
            <a:extLst>
              <a:ext uri="{FF2B5EF4-FFF2-40B4-BE49-F238E27FC236}">
                <a16:creationId xmlns:a16="http://schemas.microsoft.com/office/drawing/2014/main" id="{78C6BAA6-A2FB-4661-BDB4-1A994379A145}"/>
              </a:ext>
            </a:extLst>
          </p:cNvPr>
          <p:cNvSpPr>
            <a:spLocks noGrp="1"/>
          </p:cNvSpPr>
          <p:nvPr/>
        </p:nvSpPr>
        <p:spPr>
          <a:xfrm>
            <a:off x="7239000" y="2019300"/>
            <a:ext cx="34861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TECH-D01 · Technology Stack Overview ↗</a:t>
            </a:r>
          </a:p>
        </p:txBody>
      </p:sp>
      <p:sp>
        <p:nvSpPr>
          <p:cNvPr id="32" name="text-1130-213-Slide 12">
            <a:extLst>
              <a:ext uri="{FF2B5EF4-FFF2-40B4-BE49-F238E27FC236}">
                <a16:creationId xmlns:a16="http://schemas.microsoft.com/office/drawing/2014/main" id="{2A7F7BBA-101D-4A9E-B250-D6749684EA2E}"/>
              </a:ext>
            </a:extLst>
          </p:cNvPr>
          <p:cNvSpPr>
            <a:spLocks noGrp="1"/>
          </p:cNvSpPr>
          <p:nvPr/>
        </p:nvSpPr>
        <p:spPr>
          <a:xfrm>
            <a:off x="10763250" y="20288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12</a:t>
            </a:r>
          </a:p>
        </p:txBody>
      </p:sp>
      <p:sp>
        <p:nvSpPr>
          <p:cNvPr id="33" name="line-760-242">
            <a:extLst>
              <a:ext uri="{FF2B5EF4-FFF2-40B4-BE49-F238E27FC236}">
                <a16:creationId xmlns:a16="http://schemas.microsoft.com/office/drawing/2014/main" id="{C39D9FF9-A381-46DC-84ED-7EF30B765435}"/>
              </a:ext>
            </a:extLst>
          </p:cNvPr>
          <p:cNvSpPr>
            <a:spLocks noGrp="1"/>
          </p:cNvSpPr>
          <p:nvPr/>
        </p:nvSpPr>
        <p:spPr>
          <a:xfrm>
            <a:off x="7239000" y="2305050"/>
            <a:ext cx="438150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ource-link-2-TECH-D03">
            <a:hlinkClick r:id="rId11"/>
            <a:extLst>
              <a:ext uri="{FF2B5EF4-FFF2-40B4-BE49-F238E27FC236}">
                <a16:creationId xmlns:a16="http://schemas.microsoft.com/office/drawing/2014/main" id="{B6245CA4-24B9-4463-A245-DE2A8422DFF9}"/>
              </a:ext>
            </a:extLst>
          </p:cNvPr>
          <p:cNvSpPr>
            <a:spLocks noGrp="1"/>
          </p:cNvSpPr>
          <p:nvPr/>
        </p:nvSpPr>
        <p:spPr>
          <a:xfrm>
            <a:off x="7239000" y="2476500"/>
            <a:ext cx="34861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TECH-D03 · Technology Layer Mapping ↗</a:t>
            </a:r>
          </a:p>
        </p:txBody>
      </p:sp>
      <p:sp>
        <p:nvSpPr>
          <p:cNvPr id="35" name="text-1130-261-Slide 13">
            <a:extLst>
              <a:ext uri="{FF2B5EF4-FFF2-40B4-BE49-F238E27FC236}">
                <a16:creationId xmlns:a16="http://schemas.microsoft.com/office/drawing/2014/main" id="{C5884EDC-3886-4414-91F2-F0B6724F3653}"/>
              </a:ext>
            </a:extLst>
          </p:cNvPr>
          <p:cNvSpPr>
            <a:spLocks noGrp="1"/>
          </p:cNvSpPr>
          <p:nvPr/>
        </p:nvSpPr>
        <p:spPr>
          <a:xfrm>
            <a:off x="10763250" y="24860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13</a:t>
            </a:r>
          </a:p>
        </p:txBody>
      </p:sp>
      <p:sp>
        <p:nvSpPr>
          <p:cNvPr id="36" name="line-760-290">
            <a:extLst>
              <a:ext uri="{FF2B5EF4-FFF2-40B4-BE49-F238E27FC236}">
                <a16:creationId xmlns:a16="http://schemas.microsoft.com/office/drawing/2014/main" id="{0895699E-65FC-4093-8872-859985F4314D}"/>
              </a:ext>
            </a:extLst>
          </p:cNvPr>
          <p:cNvSpPr>
            <a:spLocks noGrp="1"/>
          </p:cNvSpPr>
          <p:nvPr/>
        </p:nvSpPr>
        <p:spPr>
          <a:xfrm>
            <a:off x="7239000" y="2762250"/>
            <a:ext cx="438150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ource-link-2-TECH-D08">
            <a:hlinkClick r:id="rId12"/>
            <a:extLst>
              <a:ext uri="{FF2B5EF4-FFF2-40B4-BE49-F238E27FC236}">
                <a16:creationId xmlns:a16="http://schemas.microsoft.com/office/drawing/2014/main" id="{C812B5E8-81CA-4FAB-A1DF-83D7E1ACD6EF}"/>
              </a:ext>
            </a:extLst>
          </p:cNvPr>
          <p:cNvSpPr>
            <a:spLocks noGrp="1"/>
          </p:cNvSpPr>
          <p:nvPr/>
        </p:nvSpPr>
        <p:spPr>
          <a:xfrm>
            <a:off x="7239000" y="2933700"/>
            <a:ext cx="34861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TECH-D08 · Decision and Reopen Map ↗</a:t>
            </a:r>
          </a:p>
        </p:txBody>
      </p:sp>
      <p:sp>
        <p:nvSpPr>
          <p:cNvPr id="38" name="text-1130-309-Slide 14">
            <a:extLst>
              <a:ext uri="{FF2B5EF4-FFF2-40B4-BE49-F238E27FC236}">
                <a16:creationId xmlns:a16="http://schemas.microsoft.com/office/drawing/2014/main" id="{70A39DC3-E3D2-40CE-A682-199375ED22AE}"/>
              </a:ext>
            </a:extLst>
          </p:cNvPr>
          <p:cNvSpPr>
            <a:spLocks noGrp="1"/>
          </p:cNvSpPr>
          <p:nvPr/>
        </p:nvSpPr>
        <p:spPr>
          <a:xfrm>
            <a:off x="10763250" y="29432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14</a:t>
            </a:r>
          </a:p>
        </p:txBody>
      </p:sp>
      <p:sp>
        <p:nvSpPr>
          <p:cNvPr id="39" name="line-760-338">
            <a:extLst>
              <a:ext uri="{FF2B5EF4-FFF2-40B4-BE49-F238E27FC236}">
                <a16:creationId xmlns:a16="http://schemas.microsoft.com/office/drawing/2014/main" id="{94EC2C4B-887B-4B33-94CD-180EA25FF865}"/>
              </a:ext>
            </a:extLst>
          </p:cNvPr>
          <p:cNvSpPr>
            <a:spLocks noGrp="1"/>
          </p:cNvSpPr>
          <p:nvPr/>
        </p:nvSpPr>
        <p:spPr>
          <a:xfrm>
            <a:off x="7239000" y="3219450"/>
            <a:ext cx="438150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760-410-APPENDIX / DEEP ">
            <a:extLst>
              <a:ext uri="{FF2B5EF4-FFF2-40B4-BE49-F238E27FC236}">
                <a16:creationId xmlns:a16="http://schemas.microsoft.com/office/drawing/2014/main" id="{344D6CDD-8A55-4B9A-96B9-DBBDFBFCD00A}"/>
              </a:ext>
            </a:extLst>
          </p:cNvPr>
          <p:cNvSpPr>
            <a:spLocks noGrp="1"/>
          </p:cNvSpPr>
          <p:nvPr/>
        </p:nvSpPr>
        <p:spPr>
          <a:xfrm>
            <a:off x="7239000" y="390525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APPENDIX / DEEP DIVE</a:t>
            </a:r>
          </a:p>
        </p:txBody>
      </p:sp>
      <p:sp>
        <p:nvSpPr>
          <p:cNvPr id="41" name="source-link-2-TECH-D04">
            <a:hlinkClick r:id="rId13"/>
            <a:extLst>
              <a:ext uri="{FF2B5EF4-FFF2-40B4-BE49-F238E27FC236}">
                <a16:creationId xmlns:a16="http://schemas.microsoft.com/office/drawing/2014/main" id="{C61989DC-D534-4888-8903-362141503556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34861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TECH-D04 · Runtime and Protocol View ↗</a:t>
            </a:r>
          </a:p>
        </p:txBody>
      </p:sp>
      <p:sp>
        <p:nvSpPr>
          <p:cNvPr id="42" name="text-1130-447-Slide 17">
            <a:extLst>
              <a:ext uri="{FF2B5EF4-FFF2-40B4-BE49-F238E27FC236}">
                <a16:creationId xmlns:a16="http://schemas.microsoft.com/office/drawing/2014/main" id="{6DA6B7BA-AA35-4602-B646-AF0C8F00BB4A}"/>
              </a:ext>
            </a:extLst>
          </p:cNvPr>
          <p:cNvSpPr>
            <a:spLocks noGrp="1"/>
          </p:cNvSpPr>
          <p:nvPr/>
        </p:nvSpPr>
        <p:spPr>
          <a:xfrm>
            <a:off x="10763250" y="42576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17</a:t>
            </a:r>
          </a:p>
        </p:txBody>
      </p:sp>
      <p:sp>
        <p:nvSpPr>
          <p:cNvPr id="43" name="line-760-476">
            <a:extLst>
              <a:ext uri="{FF2B5EF4-FFF2-40B4-BE49-F238E27FC236}">
                <a16:creationId xmlns:a16="http://schemas.microsoft.com/office/drawing/2014/main" id="{D5F06D05-36CF-411B-A15D-7F95B3433FD9}"/>
              </a:ext>
            </a:extLst>
          </p:cNvPr>
          <p:cNvSpPr>
            <a:spLocks noGrp="1"/>
          </p:cNvSpPr>
          <p:nvPr/>
        </p:nvSpPr>
        <p:spPr>
          <a:xfrm>
            <a:off x="7239000" y="4533900"/>
            <a:ext cx="438150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ource-link-2-TECH-D05">
            <a:hlinkClick r:id="rId14"/>
            <a:extLst>
              <a:ext uri="{FF2B5EF4-FFF2-40B4-BE49-F238E27FC236}">
                <a16:creationId xmlns:a16="http://schemas.microsoft.com/office/drawing/2014/main" id="{C2FC11BE-6578-4C0A-B3C8-EDD07ED61F9F}"/>
              </a:ext>
            </a:extLst>
          </p:cNvPr>
          <p:cNvSpPr>
            <a:spLocks noGrp="1"/>
          </p:cNvSpPr>
          <p:nvPr/>
        </p:nvSpPr>
        <p:spPr>
          <a:xfrm>
            <a:off x="7239000" y="4705350"/>
            <a:ext cx="34861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TECH-D05 · Deployment View ↗</a:t>
            </a:r>
          </a:p>
        </p:txBody>
      </p:sp>
      <p:sp>
        <p:nvSpPr>
          <p:cNvPr id="45" name="text-1130-495-Slide 18">
            <a:extLst>
              <a:ext uri="{FF2B5EF4-FFF2-40B4-BE49-F238E27FC236}">
                <a16:creationId xmlns:a16="http://schemas.microsoft.com/office/drawing/2014/main" id="{FF463DB5-B714-4D9D-ABF9-351CFB367B23}"/>
              </a:ext>
            </a:extLst>
          </p:cNvPr>
          <p:cNvSpPr>
            <a:spLocks noGrp="1"/>
          </p:cNvSpPr>
          <p:nvPr/>
        </p:nvSpPr>
        <p:spPr>
          <a:xfrm>
            <a:off x="10763250" y="471487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88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Slide 18</a:t>
            </a:r>
          </a:p>
        </p:txBody>
      </p:sp>
      <p:sp>
        <p:nvSpPr>
          <p:cNvPr id="46" name="line-760-524">
            <a:extLst>
              <a:ext uri="{FF2B5EF4-FFF2-40B4-BE49-F238E27FC236}">
                <a16:creationId xmlns:a16="http://schemas.microsoft.com/office/drawing/2014/main" id="{F17F0894-7C1D-4B48-A416-2399C5AC9493}"/>
              </a:ext>
            </a:extLst>
          </p:cNvPr>
          <p:cNvSpPr>
            <a:spLocks noGrp="1"/>
          </p:cNvSpPr>
          <p:nvPr/>
        </p:nvSpPr>
        <p:spPr>
          <a:xfrm>
            <a:off x="7239000" y="4991100"/>
            <a:ext cx="4381500" cy="9525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-760-574-26 view còn lại ">
            <a:extLst>
              <a:ext uri="{FF2B5EF4-FFF2-40B4-BE49-F238E27FC236}">
                <a16:creationId xmlns:a16="http://schemas.microsoft.com/office/drawing/2014/main" id="{A0269C0E-19B8-48B5-8D44-262CA19C1626}"/>
              </a:ext>
            </a:extLst>
          </p:cNvPr>
          <p:cNvSpPr>
            <a:spLocks noGrp="1"/>
          </p:cNvSpPr>
          <p:nvPr/>
        </p:nvSpPr>
        <p:spPr>
          <a:xfrm>
            <a:off x="7239000" y="5467350"/>
            <a:ext cx="4381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26 view còn lại vẫn nằm trong controlled package.</a:t>
            </a:r>
          </a:p>
        </p:txBody>
      </p:sp>
    </p:spTree>
    <p:extLst>
      <p:ext uri="{BB962C8B-B14F-4D97-AF65-F5344CB8AC3E}">
        <p14:creationId xmlns:p14="http://schemas.microsoft.com/office/powerpoint/2010/main" val="14157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x-0-0">
            <a:extLst>
              <a:ext uri="{FF2B5EF4-FFF2-40B4-BE49-F238E27FC236}">
                <a16:creationId xmlns:a16="http://schemas.microsoft.com/office/drawing/2014/main" id="{43489CCA-D46C-464A-91B1-0930A17C48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F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FEATURE">
            <a:extLst>
              <a:ext uri="{FF2B5EF4-FFF2-40B4-BE49-F238E27FC236}">
                <a16:creationId xmlns:a16="http://schemas.microsoft.com/office/drawing/2014/main" id="{8F4FF8FC-B963-49B1-A2EA-83AE1F471D7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F8F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FC2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3" name="text-54-56-Feature — Core v">
            <a:extLst>
              <a:ext uri="{FF2B5EF4-FFF2-40B4-BE49-F238E27FC236}">
                <a16:creationId xmlns:a16="http://schemas.microsoft.com/office/drawing/2014/main" id="{B1432015-7F9E-4C80-8DDB-5D43917D8D77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Feature — Core v0 cung cấp những năng lực gì?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77A377C4-884F-4664-993A-743098E5B027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1@0.6 · DOC">
            <a:extLst>
              <a:ext uri="{FF2B5EF4-FFF2-40B4-BE49-F238E27FC236}">
                <a16:creationId xmlns:a16="http://schemas.microsoft.com/office/drawing/2014/main" id="{882EB1C1-1781-422F-A7DE-100A24E7F878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DOC-01@0.6 · DOC-03@0.7 · FEATURE-001@0.12</a:t>
            </a:r>
          </a:p>
        </p:txBody>
      </p:sp>
      <p:sp>
        <p:nvSpPr>
          <p:cNvPr id="6" name="text-1170-680-03">
            <a:extLst>
              <a:ext uri="{FF2B5EF4-FFF2-40B4-BE49-F238E27FC236}">
                <a16:creationId xmlns:a16="http://schemas.microsoft.com/office/drawing/2014/main" id="{3287F07C-6A22-4D39-9F81-DA1EDAE2393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diagram-source-3">
            <a:extLst>
              <a:ext uri="{FF2B5EF4-FFF2-40B4-BE49-F238E27FC236}">
                <a16:creationId xmlns:a16="http://schemas.microsoft.com/office/drawing/2014/main" id="{0C497A0E-A2AB-47F3-B398-BDEE04A6D0A7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Based on FEATURE-001 + DOC-03</a:t>
            </a:r>
          </a:p>
        </p:txBody>
      </p:sp>
      <p:sp>
        <p:nvSpPr>
          <p:cNvPr id="8" name="box-493-258">
            <a:extLst>
              <a:ext uri="{FF2B5EF4-FFF2-40B4-BE49-F238E27FC236}">
                <a16:creationId xmlns:a16="http://schemas.microsoft.com/office/drawing/2014/main" id="{35F8DDF0-5018-444E-99A9-32F35DD7E1B2}"/>
              </a:ext>
            </a:extLst>
          </p:cNvPr>
          <p:cNvSpPr>
            <a:spLocks noGrp="1"/>
          </p:cNvSpPr>
          <p:nvPr/>
        </p:nvSpPr>
        <p:spPr>
          <a:xfrm>
            <a:off x="4695825" y="2457450"/>
            <a:ext cx="2800350" cy="1562100"/>
          </a:xfrm>
          <a:prstGeom prst="roundRect">
            <a:avLst>
              <a:gd name="adj" fmla="val 4878"/>
            </a:avLst>
          </a:prstGeom>
          <a:solidFill>
            <a:srgbClr val="102744"/>
          </a:solidFill>
          <a:ln w="1143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 ENGINEERING</a:t>
            </a:r>
          </a:p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v0</a:t>
            </a:r>
          </a:p>
        </p:txBody>
      </p:sp>
      <p:sp>
        <p:nvSpPr>
          <p:cNvPr id="9" name="box-74-160">
            <a:extLst>
              <a:ext uri="{FF2B5EF4-FFF2-40B4-BE49-F238E27FC236}">
                <a16:creationId xmlns:a16="http://schemas.microsoft.com/office/drawing/2014/main" id="{E27C1C0B-3DAE-48DF-A4EF-7B10111A44A5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2914650" cy="1219200"/>
          </a:xfrm>
          <a:prstGeom prst="roundRect">
            <a:avLst>
              <a:gd name="adj" fmla="val 6250"/>
            </a:avLst>
          </a:prstGeom>
          <a:solidFill>
            <a:srgbClr val="EAF3F9"/>
          </a:solidFill>
          <a:ln w="14288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90-176-Controlled Produ">
            <a:extLst>
              <a:ext uri="{FF2B5EF4-FFF2-40B4-BE49-F238E27FC236}">
                <a16:creationId xmlns:a16="http://schemas.microsoft.com/office/drawing/2014/main" id="{05566EDC-4D6E-441E-8290-8928D511EF99}"/>
              </a:ext>
            </a:extLst>
          </p:cNvPr>
          <p:cNvSpPr>
            <a:spLocks noGrp="1"/>
          </p:cNvSpPr>
          <p:nvPr/>
        </p:nvSpPr>
        <p:spPr>
          <a:xfrm>
            <a:off x="857250" y="1676400"/>
            <a:ext cx="26098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Controlled Product Data</a:t>
            </a:r>
          </a:p>
        </p:txBody>
      </p:sp>
      <p:sp>
        <p:nvSpPr>
          <p:cNvPr id="11" name="text-92-218-Identity · Revis">
            <a:extLst>
              <a:ext uri="{FF2B5EF4-FFF2-40B4-BE49-F238E27FC236}">
                <a16:creationId xmlns:a16="http://schemas.microsoft.com/office/drawing/2014/main" id="{8EC6424B-CD2B-4C1E-9DD1-58176E59F145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Identity · Revision · Version</a:t>
            </a:r>
          </a:p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Generation · Metadata · History</a:t>
            </a:r>
          </a:p>
        </p:txBody>
      </p:sp>
      <p:sp>
        <p:nvSpPr>
          <p:cNvPr id="12" name="box-74-444">
            <a:extLst>
              <a:ext uri="{FF2B5EF4-FFF2-40B4-BE49-F238E27FC236}">
                <a16:creationId xmlns:a16="http://schemas.microsoft.com/office/drawing/2014/main" id="{3CCF7676-9CF2-4D06-9B2D-76DA6A03F855}"/>
              </a:ext>
            </a:extLst>
          </p:cNvPr>
          <p:cNvSpPr>
            <a:spLocks noGrp="1"/>
          </p:cNvSpPr>
          <p:nvPr/>
        </p:nvSpPr>
        <p:spPr>
          <a:xfrm>
            <a:off x="704850" y="4229100"/>
            <a:ext cx="2914650" cy="1219200"/>
          </a:xfrm>
          <a:prstGeom prst="roundRect">
            <a:avLst>
              <a:gd name="adj" fmla="val 6250"/>
            </a:avLst>
          </a:prstGeom>
          <a:solidFill>
            <a:srgbClr val="E8F7F9"/>
          </a:solidFill>
          <a:ln w="14288">
            <a:solidFill>
              <a:srgbClr val="2F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90-460-Engineering Work">
            <a:extLst>
              <a:ext uri="{FF2B5EF4-FFF2-40B4-BE49-F238E27FC236}">
                <a16:creationId xmlns:a16="http://schemas.microsoft.com/office/drawing/2014/main" id="{3E03B989-7DCC-418C-88BD-9EA0FA98B228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26098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Engineering Workspace</a:t>
            </a:r>
          </a:p>
        </p:txBody>
      </p:sp>
      <p:sp>
        <p:nvSpPr>
          <p:cNvPr id="14" name="text-92-502-Checkout · Refer">
            <a:extLst>
              <a:ext uri="{FF2B5EF4-FFF2-40B4-BE49-F238E27FC236}">
                <a16:creationId xmlns:a16="http://schemas.microsoft.com/office/drawing/2014/main" id="{3D956C56-36B8-4FE3-84B4-2174189AFC4B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Checkout · Reference · Workspace</a:t>
            </a:r>
          </a:p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Check-in · Conflict recovery</a:t>
            </a:r>
          </a:p>
        </p:txBody>
      </p:sp>
      <p:sp>
        <p:nvSpPr>
          <p:cNvPr id="15" name="box-900-160">
            <a:extLst>
              <a:ext uri="{FF2B5EF4-FFF2-40B4-BE49-F238E27FC236}">
                <a16:creationId xmlns:a16="http://schemas.microsoft.com/office/drawing/2014/main" id="{98D827B5-7A4D-4CF2-ABDA-4AE3B2042C30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2914650" cy="1219200"/>
          </a:xfrm>
          <a:prstGeom prst="roundRect">
            <a:avLst>
              <a:gd name="adj" fmla="val 6250"/>
            </a:avLst>
          </a:prstGeom>
          <a:solidFill>
            <a:srgbClr val="FFF4DD"/>
          </a:solidFill>
          <a:ln w="14288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916-176-Product Structur">
            <a:extLst>
              <a:ext uri="{FF2B5EF4-FFF2-40B4-BE49-F238E27FC236}">
                <a16:creationId xmlns:a16="http://schemas.microsoft.com/office/drawing/2014/main" id="{CFBFD1CB-705D-4627-B6E5-CE98AC9C4C27}"/>
              </a:ext>
            </a:extLst>
          </p:cNvPr>
          <p:cNvSpPr>
            <a:spLocks noGrp="1"/>
          </p:cNvSpPr>
          <p:nvPr/>
        </p:nvSpPr>
        <p:spPr>
          <a:xfrm>
            <a:off x="8724900" y="1676400"/>
            <a:ext cx="26098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Product Structure</a:t>
            </a:r>
          </a:p>
        </p:txBody>
      </p:sp>
      <p:sp>
        <p:nvSpPr>
          <p:cNvPr id="17" name="text-918-218-Relations · Occu">
            <a:extLst>
              <a:ext uri="{FF2B5EF4-FFF2-40B4-BE49-F238E27FC236}">
                <a16:creationId xmlns:a16="http://schemas.microsoft.com/office/drawing/2014/main" id="{6D0C4DD8-7FA7-490E-A48F-C499280F33FE}"/>
              </a:ext>
            </a:extLst>
          </p:cNvPr>
          <p:cNvSpPr>
            <a:spLocks noGrp="1"/>
          </p:cNvSpPr>
          <p:nvPr/>
        </p:nvSpPr>
        <p:spPr>
          <a:xfrm>
            <a:off x="8743950" y="20764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Relations · Occurrences · BOM</a:t>
            </a:r>
          </a:p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Immutable Structure Snapshot</a:t>
            </a:r>
          </a:p>
        </p:txBody>
      </p:sp>
      <p:sp>
        <p:nvSpPr>
          <p:cNvPr id="18" name="box-900-444">
            <a:extLst>
              <a:ext uri="{FF2B5EF4-FFF2-40B4-BE49-F238E27FC236}">
                <a16:creationId xmlns:a16="http://schemas.microsoft.com/office/drawing/2014/main" id="{BF458117-D6D6-4FCC-A576-02E9003AEE12}"/>
              </a:ext>
            </a:extLst>
          </p:cNvPr>
          <p:cNvSpPr>
            <a:spLocks noGrp="1"/>
          </p:cNvSpPr>
          <p:nvPr/>
        </p:nvSpPr>
        <p:spPr>
          <a:xfrm>
            <a:off x="8572500" y="4229100"/>
            <a:ext cx="2914650" cy="1219200"/>
          </a:xfrm>
          <a:prstGeom prst="roundRect">
            <a:avLst>
              <a:gd name="adj" fmla="val 6250"/>
            </a:avLst>
          </a:prstGeom>
          <a:solidFill>
            <a:srgbClr val="E7F5EE"/>
          </a:solidFill>
          <a:ln w="14288">
            <a:solidFill>
              <a:srgbClr val="2D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916-460-Governance">
            <a:extLst>
              <a:ext uri="{FF2B5EF4-FFF2-40B4-BE49-F238E27FC236}">
                <a16:creationId xmlns:a16="http://schemas.microsoft.com/office/drawing/2014/main" id="{E94B6DF3-0017-42D1-BDFA-E1B24F9E6C6C}"/>
              </a:ext>
            </a:extLst>
          </p:cNvPr>
          <p:cNvSpPr>
            <a:spLocks noGrp="1"/>
          </p:cNvSpPr>
          <p:nvPr/>
        </p:nvSpPr>
        <p:spPr>
          <a:xfrm>
            <a:off x="8724900" y="4381500"/>
            <a:ext cx="26098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0" name="text-918-502-Review · Approva">
            <a:extLst>
              <a:ext uri="{FF2B5EF4-FFF2-40B4-BE49-F238E27FC236}">
                <a16:creationId xmlns:a16="http://schemas.microsoft.com/office/drawing/2014/main" id="{B433B8D5-1395-4821-B25B-9BE0ACEC1E5D}"/>
              </a:ext>
            </a:extLst>
          </p:cNvPr>
          <p:cNvSpPr>
            <a:spLocks noGrp="1"/>
          </p:cNvSpPr>
          <p:nvPr/>
        </p:nvSpPr>
        <p:spPr>
          <a:xfrm>
            <a:off x="8743950" y="47815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Review · Approval · Release</a:t>
            </a:r>
          </a:p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Authorization · Audit</a:t>
            </a:r>
          </a:p>
        </p:txBody>
      </p:sp>
      <p:sp>
        <p:nvSpPr>
          <p:cNvPr id="21" name="box-424-500">
            <a:extLst>
              <a:ext uri="{FF2B5EF4-FFF2-40B4-BE49-F238E27FC236}">
                <a16:creationId xmlns:a16="http://schemas.microsoft.com/office/drawing/2014/main" id="{5F58852E-2510-4CB2-90DF-83AC22C03D4A}"/>
              </a:ext>
            </a:extLst>
          </p:cNvPr>
          <p:cNvSpPr>
            <a:spLocks noGrp="1"/>
          </p:cNvSpPr>
          <p:nvPr/>
        </p:nvSpPr>
        <p:spPr>
          <a:xfrm>
            <a:off x="4038600" y="4762500"/>
            <a:ext cx="4114800" cy="1219200"/>
          </a:xfrm>
          <a:prstGeom prst="roundRect">
            <a:avLst>
              <a:gd name="adj" fmla="val 6250"/>
            </a:avLst>
          </a:prstGeom>
          <a:solidFill>
            <a:srgbClr val="F0EDFA"/>
          </a:solidFill>
          <a:ln w="14288">
            <a:solidFill>
              <a:srgbClr val="6C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440-516-Integration &amp; Ac">
            <a:extLst>
              <a:ext uri="{FF2B5EF4-FFF2-40B4-BE49-F238E27FC236}">
                <a16:creationId xmlns:a16="http://schemas.microsoft.com/office/drawing/2014/main" id="{7F3ADD70-91A0-4CF8-960B-934AD9312F6B}"/>
              </a:ext>
            </a:extLst>
          </p:cNvPr>
          <p:cNvSpPr>
            <a:spLocks noGrp="1"/>
          </p:cNvSpPr>
          <p:nvPr/>
        </p:nvSpPr>
        <p:spPr>
          <a:xfrm>
            <a:off x="4191000" y="4914900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Integration &amp; Access</a:t>
            </a:r>
          </a:p>
        </p:txBody>
      </p:sp>
      <p:sp>
        <p:nvSpPr>
          <p:cNvPr id="23" name="text-442-558-IRONCAD / Office">
            <a:extLst>
              <a:ext uri="{FF2B5EF4-FFF2-40B4-BE49-F238E27FC236}">
                <a16:creationId xmlns:a16="http://schemas.microsoft.com/office/drawing/2014/main" id="{94AE016A-2528-4751-964F-1212EBAECBBC}"/>
              </a:ext>
            </a:extLst>
          </p:cNvPr>
          <p:cNvSpPr>
            <a:spLocks noGrp="1"/>
          </p:cNvSpPr>
          <p:nvPr/>
        </p:nvSpPr>
        <p:spPr>
          <a:xfrm>
            <a:off x="4210050" y="5314950"/>
            <a:ext cx="37719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IRONCAD / Office · Search / Browse</a:t>
            </a:r>
          </a:p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Web / Windows · EN / VI / JA</a:t>
            </a:r>
          </a:p>
        </p:txBody>
      </p:sp>
      <p:sp>
        <p:nvSpPr>
          <p:cNvPr id="24" name="text-405-212-↖">
            <a:extLst>
              <a:ext uri="{FF2B5EF4-FFF2-40B4-BE49-F238E27FC236}">
                <a16:creationId xmlns:a16="http://schemas.microsoft.com/office/drawing/2014/main" id="{8CBC97CD-87DF-47FA-9D34-FE1D559C70D5}"/>
              </a:ext>
            </a:extLst>
          </p:cNvPr>
          <p:cNvSpPr>
            <a:spLocks noGrp="1"/>
          </p:cNvSpPr>
          <p:nvPr/>
        </p:nvSpPr>
        <p:spPr>
          <a:xfrm>
            <a:off x="3857625" y="20193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↖</a:t>
            </a:r>
          </a:p>
        </p:txBody>
      </p:sp>
      <p:sp>
        <p:nvSpPr>
          <p:cNvPr id="25" name="text-405-407-↙">
            <a:extLst>
              <a:ext uri="{FF2B5EF4-FFF2-40B4-BE49-F238E27FC236}">
                <a16:creationId xmlns:a16="http://schemas.microsoft.com/office/drawing/2014/main" id="{99F75E49-F185-4362-B3F3-C10C4885866C}"/>
              </a:ext>
            </a:extLst>
          </p:cNvPr>
          <p:cNvSpPr>
            <a:spLocks noGrp="1"/>
          </p:cNvSpPr>
          <p:nvPr/>
        </p:nvSpPr>
        <p:spPr>
          <a:xfrm>
            <a:off x="3857625" y="3876675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↙</a:t>
            </a:r>
          </a:p>
        </p:txBody>
      </p:sp>
      <p:sp>
        <p:nvSpPr>
          <p:cNvPr id="26" name="text-803-212-↗">
            <a:extLst>
              <a:ext uri="{FF2B5EF4-FFF2-40B4-BE49-F238E27FC236}">
                <a16:creationId xmlns:a16="http://schemas.microsoft.com/office/drawing/2014/main" id="{CF40F398-3750-4C35-B865-DF256603CD0D}"/>
              </a:ext>
            </a:extLst>
          </p:cNvPr>
          <p:cNvSpPr>
            <a:spLocks noGrp="1"/>
          </p:cNvSpPr>
          <p:nvPr/>
        </p:nvSpPr>
        <p:spPr>
          <a:xfrm>
            <a:off x="7648575" y="20193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27" name="text-803-407-↘">
            <a:extLst>
              <a:ext uri="{FF2B5EF4-FFF2-40B4-BE49-F238E27FC236}">
                <a16:creationId xmlns:a16="http://schemas.microsoft.com/office/drawing/2014/main" id="{91FAFEBF-48FA-402C-8359-839FAD36DB7A}"/>
              </a:ext>
            </a:extLst>
          </p:cNvPr>
          <p:cNvSpPr>
            <a:spLocks noGrp="1"/>
          </p:cNvSpPr>
          <p:nvPr/>
        </p:nvSpPr>
        <p:spPr>
          <a:xfrm>
            <a:off x="7648575" y="3876675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28" name="text-605-427-↓">
            <a:extLst>
              <a:ext uri="{FF2B5EF4-FFF2-40B4-BE49-F238E27FC236}">
                <a16:creationId xmlns:a16="http://schemas.microsoft.com/office/drawing/2014/main" id="{BD574FD4-199A-4736-AEB7-98E68933ABCD}"/>
              </a:ext>
            </a:extLst>
          </p:cNvPr>
          <p:cNvSpPr>
            <a:spLocks noGrp="1"/>
          </p:cNvSpPr>
          <p:nvPr/>
        </p:nvSpPr>
        <p:spPr>
          <a:xfrm>
            <a:off x="5762625" y="40671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9" name="box-386-636">
            <a:extLst>
              <a:ext uri="{FF2B5EF4-FFF2-40B4-BE49-F238E27FC236}">
                <a16:creationId xmlns:a16="http://schemas.microsoft.com/office/drawing/2014/main" id="{3CAB3F23-BC6A-49CB-AC6B-DFDEB3BEF8CC}"/>
              </a:ext>
            </a:extLst>
          </p:cNvPr>
          <p:cNvSpPr>
            <a:spLocks noGrp="1"/>
          </p:cNvSpPr>
          <p:nvPr/>
        </p:nvSpPr>
        <p:spPr>
          <a:xfrm>
            <a:off x="3676650" y="6057900"/>
            <a:ext cx="4838700" cy="323850"/>
          </a:xfrm>
          <a:prstGeom prst="roundRect">
            <a:avLst>
              <a:gd name="adj" fmla="val 23529"/>
            </a:avLst>
          </a:prstGeom>
          <a:solidFill>
            <a:srgbClr val="F4F7FA"/>
          </a:solidFill>
          <a:ln w="7620">
            <a:solidFill>
              <a:srgbClr val="F4F7FA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6075"/>
                </a:solidFill>
                <a:latin typeface="Arial"/>
                <a:ea typeface="Arial"/>
                <a:cs typeface="Arial"/>
              </a:rPr>
              <a:t>14 nhóm Feature được kiểm soát dưới bản đồ năng lực này</a:t>
            </a:r>
          </a:p>
        </p:txBody>
      </p:sp>
    </p:spTree>
    <p:extLst>
      <p:ext uri="{BB962C8B-B14F-4D97-AF65-F5344CB8AC3E}">
        <p14:creationId xmlns:p14="http://schemas.microsoft.com/office/powerpoint/2010/main" val="76696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ox-0-0">
            <a:extLst>
              <a:ext uri="{FF2B5EF4-FFF2-40B4-BE49-F238E27FC236}">
                <a16:creationId xmlns:a16="http://schemas.microsoft.com/office/drawing/2014/main" id="{E90F1462-5D0C-43EC-B617-6C6FF6F8A5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F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FEATURE">
            <a:extLst>
              <a:ext uri="{FF2B5EF4-FFF2-40B4-BE49-F238E27FC236}">
                <a16:creationId xmlns:a16="http://schemas.microsoft.com/office/drawing/2014/main" id="{0892D78E-AA6D-4921-9C29-031356FF1C8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F8F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FC2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3" name="text-54-56-Feature — Core v">
            <a:extLst>
              <a:ext uri="{FF2B5EF4-FFF2-40B4-BE49-F238E27FC236}">
                <a16:creationId xmlns:a16="http://schemas.microsoft.com/office/drawing/2014/main" id="{DBDF1FD0-A442-49B8-884A-3E392E251647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Feature — Core v0 làm gì và không làm gì?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776A0A2E-7DC0-44DC-B701-1DC753A390A4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1@0.6 · DOC">
            <a:extLst>
              <a:ext uri="{FF2B5EF4-FFF2-40B4-BE49-F238E27FC236}">
                <a16:creationId xmlns:a16="http://schemas.microsoft.com/office/drawing/2014/main" id="{88B049C3-896C-4ABD-A522-68467A828007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DOC-01@0.6 · DOC-04@0.13</a:t>
            </a:r>
          </a:p>
        </p:txBody>
      </p:sp>
      <p:sp>
        <p:nvSpPr>
          <p:cNvPr id="6" name="text-1170-680-04">
            <a:extLst>
              <a:ext uri="{FF2B5EF4-FFF2-40B4-BE49-F238E27FC236}">
                <a16:creationId xmlns:a16="http://schemas.microsoft.com/office/drawing/2014/main" id="{9851365B-EAC4-4F0E-8A82-1D3DC8F0872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diagram-source-4">
            <a:extLst>
              <a:ext uri="{FF2B5EF4-FFF2-40B4-BE49-F238E27FC236}">
                <a16:creationId xmlns:a16="http://schemas.microsoft.com/office/drawing/2014/main" id="{B74EEA73-BAFC-4ABA-B3E1-41B293559A1F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Based on DOC-01 + DOC-04</a:t>
            </a:r>
          </a:p>
        </p:txBody>
      </p:sp>
      <p:sp>
        <p:nvSpPr>
          <p:cNvPr id="8" name="box-62-148">
            <a:extLst>
              <a:ext uri="{FF2B5EF4-FFF2-40B4-BE49-F238E27FC236}">
                <a16:creationId xmlns:a16="http://schemas.microsoft.com/office/drawing/2014/main" id="{83243A7E-E4BE-4ACA-9929-DA89A983AB9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5276850" cy="4171950"/>
          </a:xfrm>
          <a:prstGeom prst="roundRect">
            <a:avLst>
              <a:gd name="adj" fmla="val 1826"/>
            </a:avLst>
          </a:prstGeom>
          <a:solidFill>
            <a:srgbClr val="EAF3F9"/>
          </a:solidFill>
          <a:ln w="14288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-664-148">
            <a:extLst>
              <a:ext uri="{FF2B5EF4-FFF2-40B4-BE49-F238E27FC236}">
                <a16:creationId xmlns:a16="http://schemas.microsoft.com/office/drawing/2014/main" id="{442106C3-0E24-4C75-B4A5-84550AE40204}"/>
              </a:ext>
            </a:extLst>
          </p:cNvPr>
          <p:cNvSpPr>
            <a:spLocks noGrp="1"/>
          </p:cNvSpPr>
          <p:nvPr/>
        </p:nvSpPr>
        <p:spPr>
          <a:xfrm>
            <a:off x="6324600" y="1409700"/>
            <a:ext cx="5276850" cy="4171950"/>
          </a:xfrm>
          <a:prstGeom prst="roundRect">
            <a:avLst>
              <a:gd name="adj" fmla="val 1826"/>
            </a:avLst>
          </a:prstGeom>
          <a:solidFill>
            <a:srgbClr val="F4F7FA"/>
          </a:solidFill>
          <a:ln w="14288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-84-170">
            <a:extLst>
              <a:ext uri="{FF2B5EF4-FFF2-40B4-BE49-F238E27FC236}">
                <a16:creationId xmlns:a16="http://schemas.microsoft.com/office/drawing/2014/main" id="{2C757266-8C1A-4924-9AD8-6DEF63F4F7DC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169A8"/>
          </a:solidFill>
          <a:ln w="762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TRONG CORE v0</a:t>
            </a:r>
          </a:p>
        </p:txBody>
      </p:sp>
      <p:sp>
        <p:nvSpPr>
          <p:cNvPr id="11" name="box-686-170">
            <a:extLst>
              <a:ext uri="{FF2B5EF4-FFF2-40B4-BE49-F238E27FC236}">
                <a16:creationId xmlns:a16="http://schemas.microsoft.com/office/drawing/2014/main" id="{58387852-D148-4273-9D71-1EFF8266F477}"/>
              </a:ext>
            </a:extLst>
          </p:cNvPr>
          <p:cNvSpPr>
            <a:spLocks noGrp="1"/>
          </p:cNvSpPr>
          <p:nvPr/>
        </p:nvSpPr>
        <p:spPr>
          <a:xfrm>
            <a:off x="6534150" y="1619250"/>
            <a:ext cx="2438400" cy="323850"/>
          </a:xfrm>
          <a:prstGeom prst="roundRect">
            <a:avLst>
              <a:gd name="adj" fmla="val 23529"/>
            </a:avLst>
          </a:prstGeom>
          <a:solidFill>
            <a:srgbClr val="7890A6"/>
          </a:solidFill>
          <a:ln w="7620">
            <a:solidFill>
              <a:srgbClr val="7890A6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NGOÀI PHẠM VI / ĐỂ SAU</a:t>
            </a:r>
          </a:p>
        </p:txBody>
      </p:sp>
      <p:sp>
        <p:nvSpPr>
          <p:cNvPr id="12" name="box-92-240">
            <a:extLst>
              <a:ext uri="{FF2B5EF4-FFF2-40B4-BE49-F238E27FC236}">
                <a16:creationId xmlns:a16="http://schemas.microsoft.com/office/drawing/2014/main" id="{99EF5407-85E2-4B46-BB41-A46294A25A75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85725" cy="85725"/>
          </a:xfrm>
          <a:prstGeom prst="ellipse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12-232-Controlled Produ">
            <a:extLst>
              <a:ext uri="{FF2B5EF4-FFF2-40B4-BE49-F238E27FC236}">
                <a16:creationId xmlns:a16="http://schemas.microsoft.com/office/drawing/2014/main" id="{718D4890-8EDA-49D5-8C6D-93A7139869BD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Controlled Product Data và lịch sử bất biến</a:t>
            </a:r>
          </a:p>
        </p:txBody>
      </p:sp>
      <p:sp>
        <p:nvSpPr>
          <p:cNvPr id="14" name="box-92-298">
            <a:extLst>
              <a:ext uri="{FF2B5EF4-FFF2-40B4-BE49-F238E27FC236}">
                <a16:creationId xmlns:a16="http://schemas.microsoft.com/office/drawing/2014/main" id="{75DAEAF9-BD8D-47D8-BACD-162E161E49E1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85725" cy="85725"/>
          </a:xfrm>
          <a:prstGeom prst="ellipse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112-290-Workspace, Check">
            <a:extLst>
              <a:ext uri="{FF2B5EF4-FFF2-40B4-BE49-F238E27FC236}">
                <a16:creationId xmlns:a16="http://schemas.microsoft.com/office/drawing/2014/main" id="{FECD958E-62D3-4720-B86F-606A600505A2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Workspace, Checkout, Reference, Check-in</a:t>
            </a:r>
          </a:p>
        </p:txBody>
      </p:sp>
      <p:sp>
        <p:nvSpPr>
          <p:cNvPr id="16" name="box-92-356">
            <a:extLst>
              <a:ext uri="{FF2B5EF4-FFF2-40B4-BE49-F238E27FC236}">
                <a16:creationId xmlns:a16="http://schemas.microsoft.com/office/drawing/2014/main" id="{6D9DBC39-9B97-492F-AA1B-58B8CEA55B6A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85725" cy="85725"/>
          </a:xfrm>
          <a:prstGeom prst="ellipse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-112-348-Product Structur">
            <a:extLst>
              <a:ext uri="{FF2B5EF4-FFF2-40B4-BE49-F238E27FC236}">
                <a16:creationId xmlns:a16="http://schemas.microsoft.com/office/drawing/2014/main" id="{5786D309-EB83-4C96-92EC-215018026FE6}"/>
              </a:ext>
            </a:extLst>
          </p:cNvPr>
          <p:cNvSpPr>
            <a:spLocks noGrp="1"/>
          </p:cNvSpPr>
          <p:nvPr/>
        </p:nvSpPr>
        <p:spPr>
          <a:xfrm>
            <a:off x="1066800" y="33147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Product Structure, BOM và Structure Snapshot</a:t>
            </a:r>
          </a:p>
        </p:txBody>
      </p:sp>
      <p:sp>
        <p:nvSpPr>
          <p:cNvPr id="18" name="box-92-414">
            <a:extLst>
              <a:ext uri="{FF2B5EF4-FFF2-40B4-BE49-F238E27FC236}">
                <a16:creationId xmlns:a16="http://schemas.microsoft.com/office/drawing/2014/main" id="{4F419D18-6A7E-46F3-8B7C-D015E1EC3DD8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85725" cy="85725"/>
          </a:xfrm>
          <a:prstGeom prst="ellipse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112-406-Review, Approval">
            <a:extLst>
              <a:ext uri="{FF2B5EF4-FFF2-40B4-BE49-F238E27FC236}">
                <a16:creationId xmlns:a16="http://schemas.microsoft.com/office/drawing/2014/main" id="{4FA2AF38-3F55-4C69-B9C8-4BE39B510936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Review, Approval, Release và lấy lại đúng baseline</a:t>
            </a:r>
          </a:p>
        </p:txBody>
      </p:sp>
      <p:sp>
        <p:nvSpPr>
          <p:cNvPr id="20" name="box-92-472">
            <a:extLst>
              <a:ext uri="{FF2B5EF4-FFF2-40B4-BE49-F238E27FC236}">
                <a16:creationId xmlns:a16="http://schemas.microsoft.com/office/drawing/2014/main" id="{DDF59778-0091-4835-9802-341C2FDF465D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85725" cy="85725"/>
          </a:xfrm>
          <a:prstGeom prst="ellipse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-112-464-Authorization, A">
            <a:extLst>
              <a:ext uri="{FF2B5EF4-FFF2-40B4-BE49-F238E27FC236}">
                <a16:creationId xmlns:a16="http://schemas.microsoft.com/office/drawing/2014/main" id="{264A5793-223F-40A6-85C5-1A2E63C82AC6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Authorization, Audit, Search, CAD/Office và 3 ngôn ngữ</a:t>
            </a:r>
          </a:p>
        </p:txBody>
      </p:sp>
      <p:sp>
        <p:nvSpPr>
          <p:cNvPr id="24" name="box-694-298">
            <a:extLst>
              <a:ext uri="{FF2B5EF4-FFF2-40B4-BE49-F238E27FC236}">
                <a16:creationId xmlns:a16="http://schemas.microsoft.com/office/drawing/2014/main" id="{E581EC1F-D9F4-4C63-A72C-D3989E1E4173}"/>
              </a:ext>
            </a:extLst>
          </p:cNvPr>
          <p:cNvSpPr>
            <a:spLocks noGrp="1"/>
          </p:cNvSpPr>
          <p:nvPr/>
        </p:nvSpPr>
        <p:spPr>
          <a:xfrm>
            <a:off x="6610350" y="2838450"/>
            <a:ext cx="85725" cy="85725"/>
          </a:xfrm>
          <a:prstGeom prst="ellipse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714-290-Mua hàng, chấm c">
            <a:extLst>
              <a:ext uri="{FF2B5EF4-FFF2-40B4-BE49-F238E27FC236}">
                <a16:creationId xmlns:a16="http://schemas.microsoft.com/office/drawing/2014/main" id="{9D6B9B83-A33F-4891-BF05-D5F2B9753603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Mua hàng, chấm công, tính chi phí, điều hành sản xuất</a:t>
            </a:r>
          </a:p>
        </p:txBody>
      </p:sp>
      <p:sp>
        <p:nvSpPr>
          <p:cNvPr id="26" name="box-694-356">
            <a:extLst>
              <a:ext uri="{FF2B5EF4-FFF2-40B4-BE49-F238E27FC236}">
                <a16:creationId xmlns:a16="http://schemas.microsoft.com/office/drawing/2014/main" id="{F5A19E62-8DD8-44B8-A2EB-2A729D99C74A}"/>
              </a:ext>
            </a:extLst>
          </p:cNvPr>
          <p:cNvSpPr>
            <a:spLocks noGrp="1"/>
          </p:cNvSpPr>
          <p:nvPr/>
        </p:nvSpPr>
        <p:spPr>
          <a:xfrm>
            <a:off x="6610350" y="3390900"/>
            <a:ext cx="85725" cy="85725"/>
          </a:xfrm>
          <a:prstGeom prst="ellipse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714-348-Quản lý tiến độ ">
            <a:extLst>
              <a:ext uri="{FF2B5EF4-FFF2-40B4-BE49-F238E27FC236}">
                <a16:creationId xmlns:a16="http://schemas.microsoft.com/office/drawing/2014/main" id="{40F96103-6443-4264-9D6C-7DFF0C8E3731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Quản lý tiến độ dự án đầy đủ và ECR/ECO hoàn chỉnh</a:t>
            </a:r>
          </a:p>
        </p:txBody>
      </p:sp>
      <p:sp>
        <p:nvSpPr>
          <p:cNvPr id="28" name="box-694-414">
            <a:extLst>
              <a:ext uri="{FF2B5EF4-FFF2-40B4-BE49-F238E27FC236}">
                <a16:creationId xmlns:a16="http://schemas.microsoft.com/office/drawing/2014/main" id="{062891C3-2D71-4B44-984B-1F5B065B5FC3}"/>
              </a:ext>
            </a:extLst>
          </p:cNvPr>
          <p:cNvSpPr>
            <a:spLocks noGrp="1"/>
          </p:cNvSpPr>
          <p:nvPr/>
        </p:nvSpPr>
        <p:spPr>
          <a:xfrm>
            <a:off x="6610350" y="3943350"/>
            <a:ext cx="85725" cy="85725"/>
          </a:xfrm>
          <a:prstGeom prst="ellipse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714-406-Multi-site, bulk">
            <a:extLst>
              <a:ext uri="{FF2B5EF4-FFF2-40B4-BE49-F238E27FC236}">
                <a16:creationId xmlns:a16="http://schemas.microsoft.com/office/drawing/2014/main" id="{4120A181-A935-4B3A-9272-72A40AA84A66}"/>
              </a:ext>
            </a:extLst>
          </p:cNvPr>
          <p:cNvSpPr>
            <a:spLocks noGrp="1"/>
          </p:cNvSpPr>
          <p:nvPr/>
        </p:nvSpPr>
        <p:spPr>
          <a:xfrm>
            <a:off x="6800850" y="38671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Multi-site, bulk migration và bộ Purge tự động</a:t>
            </a:r>
          </a:p>
        </p:txBody>
      </p:sp>
      <p:sp>
        <p:nvSpPr>
          <p:cNvPr id="30" name="box-694-472">
            <a:extLst>
              <a:ext uri="{FF2B5EF4-FFF2-40B4-BE49-F238E27FC236}">
                <a16:creationId xmlns:a16="http://schemas.microsoft.com/office/drawing/2014/main" id="{99D888D6-AF93-4CA7-9A81-D1E0A6326C7C}"/>
              </a:ext>
            </a:extLst>
          </p:cNvPr>
          <p:cNvSpPr>
            <a:spLocks noGrp="1"/>
          </p:cNvSpPr>
          <p:nvPr/>
        </p:nvSpPr>
        <p:spPr>
          <a:xfrm>
            <a:off x="6610350" y="4495800"/>
            <a:ext cx="85725" cy="85725"/>
          </a:xfrm>
          <a:prstGeom prst="ellipse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714-464-Trình thiết kế w">
            <a:extLst>
              <a:ext uri="{FF2B5EF4-FFF2-40B4-BE49-F238E27FC236}">
                <a16:creationId xmlns:a16="http://schemas.microsoft.com/office/drawing/2014/main" id="{06D2DD19-76BB-4C8B-B367-C069D57953B0}"/>
              </a:ext>
            </a:extLst>
          </p:cNvPr>
          <p:cNvSpPr>
            <a:spLocks noGrp="1"/>
          </p:cNvSpPr>
          <p:nvPr/>
        </p:nvSpPr>
        <p:spPr>
          <a:xfrm>
            <a:off x="6800850" y="44196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Trình thiết kế workflow kéo-thả và thêm mọi CAD profile</a:t>
            </a:r>
          </a:p>
        </p:txBody>
      </p:sp>
    </p:spTree>
    <p:extLst>
      <p:ext uri="{BB962C8B-B14F-4D97-AF65-F5344CB8AC3E}">
        <p14:creationId xmlns:p14="http://schemas.microsoft.com/office/powerpoint/2010/main" val="167763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ox-0-0">
            <a:extLst>
              <a:ext uri="{FF2B5EF4-FFF2-40B4-BE49-F238E27FC236}">
                <a16:creationId xmlns:a16="http://schemas.microsoft.com/office/drawing/2014/main" id="{D06BD1C2-F6EE-4C4D-83DA-216516671A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D98A8185-21D6-48E5-BBFF-6A0C5F8EAC5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Hệ thống ">
            <a:extLst>
              <a:ext uri="{FF2B5EF4-FFF2-40B4-BE49-F238E27FC236}">
                <a16:creationId xmlns:a16="http://schemas.microsoft.com/office/drawing/2014/main" id="{23D3DB69-710E-4BA0-9765-8E1B7EE8DA9D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Hệ thống bắt buộc phải vận hành đúng như thế nào?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1B1BB116-D153-46E5-89DE-0D8C989A7E74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VV">
            <a:extLst>
              <a:ext uri="{FF2B5EF4-FFF2-40B4-BE49-F238E27FC236}">
                <a16:creationId xmlns:a16="http://schemas.microsoft.com/office/drawing/2014/main" id="{CB4B564B-B8D5-4253-BA62-9897766960EB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VVP@0.16</a:t>
            </a:r>
          </a:p>
        </p:txBody>
      </p:sp>
      <p:sp>
        <p:nvSpPr>
          <p:cNvPr id="6" name="text-1170-680-05">
            <a:extLst>
              <a:ext uri="{FF2B5EF4-FFF2-40B4-BE49-F238E27FC236}">
                <a16:creationId xmlns:a16="http://schemas.microsoft.com/office/drawing/2014/main" id="{FF1A1718-7760-469A-913C-5281279F3C9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diagram-source-5">
            <a:extLst>
              <a:ext uri="{FF2B5EF4-FFF2-40B4-BE49-F238E27FC236}">
                <a16:creationId xmlns:a16="http://schemas.microsoft.com/office/drawing/2014/main" id="{E73C5C83-04B2-4DF5-9229-C82AD309D333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Based on DOC-04 + VVP</a:t>
            </a:r>
          </a:p>
        </p:txBody>
      </p:sp>
      <p:sp>
        <p:nvSpPr>
          <p:cNvPr id="8" name="box-64-210">
            <a:extLst>
              <a:ext uri="{FF2B5EF4-FFF2-40B4-BE49-F238E27FC236}">
                <a16:creationId xmlns:a16="http://schemas.microsoft.com/office/drawing/2014/main" id="{72F452B0-69E3-413F-9FB6-3BA43FFAEF82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495550" cy="1371600"/>
          </a:xfrm>
          <a:prstGeom prst="roundRect">
            <a:avLst>
              <a:gd name="adj" fmla="val 5556"/>
            </a:avLst>
          </a:prstGeom>
          <a:solidFill>
            <a:srgbClr val="E8F7F9"/>
          </a:solidFill>
          <a:ln w="14288">
            <a:solidFill>
              <a:srgbClr val="2F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-80-226">
            <a:extLst>
              <a:ext uri="{FF2B5EF4-FFF2-40B4-BE49-F238E27FC236}">
                <a16:creationId xmlns:a16="http://schemas.microsoft.com/office/drawing/2014/main" id="{31BA2044-2260-46B4-B253-EE9E17D1314C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361950" cy="361950"/>
          </a:xfrm>
          <a:prstGeom prst="ellipse">
            <a:avLst/>
          </a:prstGeom>
          <a:solidFill>
            <a:srgbClr val="2F8FC2"/>
          </a:solidFill>
          <a:ln w="11430">
            <a:solidFill>
              <a:srgbClr val="2F8FC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-132-225-FEATURE">
            <a:extLst>
              <a:ext uri="{FF2B5EF4-FFF2-40B4-BE49-F238E27FC236}">
                <a16:creationId xmlns:a16="http://schemas.microsoft.com/office/drawing/2014/main" id="{194E23C2-A301-44C6-BAE9-F7BF57FFCA3D}"/>
              </a:ext>
            </a:extLst>
          </p:cNvPr>
          <p:cNvSpPr>
            <a:spLocks noGrp="1"/>
          </p:cNvSpPr>
          <p:nvPr/>
        </p:nvSpPr>
        <p:spPr>
          <a:xfrm>
            <a:off x="1257300" y="2143125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1" name="text-84-276-Năng lực và phạm">
            <a:extLst>
              <a:ext uri="{FF2B5EF4-FFF2-40B4-BE49-F238E27FC236}">
                <a16:creationId xmlns:a16="http://schemas.microsoft.com/office/drawing/2014/main" id="{FB8796F4-D7C6-4845-B6A4-A578029DC665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21145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Năng lực và phạm vi sản phẩm</a:t>
            </a:r>
          </a:p>
        </p:txBody>
      </p:sp>
      <p:sp>
        <p:nvSpPr>
          <p:cNvPr id="12" name="text-334-248-→">
            <a:extLst>
              <a:ext uri="{FF2B5EF4-FFF2-40B4-BE49-F238E27FC236}">
                <a16:creationId xmlns:a16="http://schemas.microsoft.com/office/drawing/2014/main" id="{8E80B8E3-B26A-4D0B-B23D-D100990D870F}"/>
              </a:ext>
            </a:extLst>
          </p:cNvPr>
          <p:cNvSpPr>
            <a:spLocks noGrp="1"/>
          </p:cNvSpPr>
          <p:nvPr/>
        </p:nvSpPr>
        <p:spPr>
          <a:xfrm>
            <a:off x="3181350" y="23622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box-396-150">
            <a:extLst>
              <a:ext uri="{FF2B5EF4-FFF2-40B4-BE49-F238E27FC236}">
                <a16:creationId xmlns:a16="http://schemas.microsoft.com/office/drawing/2014/main" id="{3984D5A4-436A-4EEA-A9D1-AB44FA31E15F}"/>
              </a:ext>
            </a:extLst>
          </p:cNvPr>
          <p:cNvSpPr>
            <a:spLocks noGrp="1"/>
          </p:cNvSpPr>
          <p:nvPr/>
        </p:nvSpPr>
        <p:spPr>
          <a:xfrm>
            <a:off x="3771900" y="1428750"/>
            <a:ext cx="4648200" cy="3714750"/>
          </a:xfrm>
          <a:prstGeom prst="roundRect">
            <a:avLst>
              <a:gd name="adj" fmla="val 2051"/>
            </a:avLst>
          </a:prstGeom>
          <a:solidFill>
            <a:srgbClr val="EAF3F9"/>
          </a:solidFill>
          <a:ln w="1905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-434-170">
            <a:extLst>
              <a:ext uri="{FF2B5EF4-FFF2-40B4-BE49-F238E27FC236}">
                <a16:creationId xmlns:a16="http://schemas.microsoft.com/office/drawing/2014/main" id="{A54A5179-387F-4C8C-969C-8FBE8D00FAB5}"/>
              </a:ext>
            </a:extLst>
          </p:cNvPr>
          <p:cNvSpPr>
            <a:spLocks noGrp="1"/>
          </p:cNvSpPr>
          <p:nvPr/>
        </p:nvSpPr>
        <p:spPr>
          <a:xfrm>
            <a:off x="4133850" y="1619250"/>
            <a:ext cx="3924300" cy="323850"/>
          </a:xfrm>
          <a:prstGeom prst="roundRect">
            <a:avLst>
              <a:gd name="adj" fmla="val 23529"/>
            </a:avLst>
          </a:prstGeom>
          <a:solidFill>
            <a:srgbClr val="2169A8"/>
          </a:solidFill>
          <a:ln w="762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 = CÁC QUY TẮC SẢN PHẨM PHẢI ĐÁP ỨNG</a:t>
            </a:r>
          </a:p>
        </p:txBody>
      </p:sp>
      <p:sp>
        <p:nvSpPr>
          <p:cNvPr id="15" name="box-426-232">
            <a:extLst>
              <a:ext uri="{FF2B5EF4-FFF2-40B4-BE49-F238E27FC236}">
                <a16:creationId xmlns:a16="http://schemas.microsoft.com/office/drawing/2014/main" id="{F54694F1-FF95-427B-AE7B-E2E99027CA9E}"/>
              </a:ext>
            </a:extLst>
          </p:cNvPr>
          <p:cNvSpPr>
            <a:spLocks noGrp="1"/>
          </p:cNvSpPr>
          <p:nvPr/>
        </p:nvSpPr>
        <p:spPr>
          <a:xfrm>
            <a:off x="4057650" y="2209800"/>
            <a:ext cx="18859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Ngữ nghĩa thông tin</a:t>
            </a:r>
          </a:p>
        </p:txBody>
      </p:sp>
      <p:sp>
        <p:nvSpPr>
          <p:cNvPr id="16" name="box-646-232">
            <a:extLst>
              <a:ext uri="{FF2B5EF4-FFF2-40B4-BE49-F238E27FC236}">
                <a16:creationId xmlns:a16="http://schemas.microsoft.com/office/drawing/2014/main" id="{D2E284A8-A659-4A4D-B298-D86064D599C6}"/>
              </a:ext>
            </a:extLst>
          </p:cNvPr>
          <p:cNvSpPr>
            <a:spLocks noGrp="1"/>
          </p:cNvSpPr>
          <p:nvPr/>
        </p:nvSpPr>
        <p:spPr>
          <a:xfrm>
            <a:off x="6153150" y="2209800"/>
            <a:ext cx="18859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Chuyển trạng thái</a:t>
            </a:r>
          </a:p>
        </p:txBody>
      </p:sp>
      <p:sp>
        <p:nvSpPr>
          <p:cNvPr id="17" name="box-426-297">
            <a:extLst>
              <a:ext uri="{FF2B5EF4-FFF2-40B4-BE49-F238E27FC236}">
                <a16:creationId xmlns:a16="http://schemas.microsoft.com/office/drawing/2014/main" id="{414BF7D3-C633-4E1B-85C6-78DA91ABD3FF}"/>
              </a:ext>
            </a:extLst>
          </p:cNvPr>
          <p:cNvSpPr>
            <a:spLocks noGrp="1"/>
          </p:cNvSpPr>
          <p:nvPr/>
        </p:nvSpPr>
        <p:spPr>
          <a:xfrm>
            <a:off x="4057650" y="2828925"/>
            <a:ext cx="18859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Quy tắc nghiệp vụ</a:t>
            </a:r>
          </a:p>
        </p:txBody>
      </p:sp>
      <p:sp>
        <p:nvSpPr>
          <p:cNvPr id="18" name="box-646-297">
            <a:extLst>
              <a:ext uri="{FF2B5EF4-FFF2-40B4-BE49-F238E27FC236}">
                <a16:creationId xmlns:a16="http://schemas.microsoft.com/office/drawing/2014/main" id="{F5CC94BF-9E40-4D06-9D0F-9A0291B99E0F}"/>
              </a:ext>
            </a:extLst>
          </p:cNvPr>
          <p:cNvSpPr>
            <a:spLocks noGrp="1"/>
          </p:cNvSpPr>
          <p:nvPr/>
        </p:nvSpPr>
        <p:spPr>
          <a:xfrm>
            <a:off x="6153150" y="2828925"/>
            <a:ext cx="18859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Quyền và policy</a:t>
            </a:r>
          </a:p>
        </p:txBody>
      </p:sp>
      <p:sp>
        <p:nvSpPr>
          <p:cNvPr id="19" name="box-426-362">
            <a:extLst>
              <a:ext uri="{FF2B5EF4-FFF2-40B4-BE49-F238E27FC236}">
                <a16:creationId xmlns:a16="http://schemas.microsoft.com/office/drawing/2014/main" id="{F73D258A-BBEA-4B9D-80AE-863EBFA74D7B}"/>
              </a:ext>
            </a:extLst>
          </p:cNvPr>
          <p:cNvSpPr>
            <a:spLocks noGrp="1"/>
          </p:cNvSpPr>
          <p:nvPr/>
        </p:nvSpPr>
        <p:spPr>
          <a:xfrm>
            <a:off x="4057650" y="3448050"/>
            <a:ext cx="18859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Hành vi khi lỗi</a:t>
            </a:r>
          </a:p>
        </p:txBody>
      </p:sp>
      <p:sp>
        <p:nvSpPr>
          <p:cNvPr id="20" name="box-646-362">
            <a:extLst>
              <a:ext uri="{FF2B5EF4-FFF2-40B4-BE49-F238E27FC236}">
                <a16:creationId xmlns:a16="http://schemas.microsoft.com/office/drawing/2014/main" id="{CB51DC75-0473-4078-BDF5-74AFA6A92281}"/>
              </a:ext>
            </a:extLst>
          </p:cNvPr>
          <p:cNvSpPr>
            <a:spLocks noGrp="1"/>
          </p:cNvSpPr>
          <p:nvPr/>
        </p:nvSpPr>
        <p:spPr>
          <a:xfrm>
            <a:off x="6153150" y="3448050"/>
            <a:ext cx="18859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Phục hồi và retry</a:t>
            </a:r>
          </a:p>
        </p:txBody>
      </p:sp>
      <p:sp>
        <p:nvSpPr>
          <p:cNvPr id="21" name="box-426-427">
            <a:extLst>
              <a:ext uri="{FF2B5EF4-FFF2-40B4-BE49-F238E27FC236}">
                <a16:creationId xmlns:a16="http://schemas.microsoft.com/office/drawing/2014/main" id="{534B9574-52BF-4276-A6EF-4480F83D1726}"/>
              </a:ext>
            </a:extLst>
          </p:cNvPr>
          <p:cNvSpPr>
            <a:spLocks noGrp="1"/>
          </p:cNvSpPr>
          <p:nvPr/>
        </p:nvSpPr>
        <p:spPr>
          <a:xfrm>
            <a:off x="4057650" y="4067175"/>
            <a:ext cx="40767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Acceptance + Verification</a:t>
            </a:r>
          </a:p>
        </p:txBody>
      </p:sp>
      <p:sp>
        <p:nvSpPr>
          <p:cNvPr id="22" name="text-894-248-→">
            <a:extLst>
              <a:ext uri="{FF2B5EF4-FFF2-40B4-BE49-F238E27FC236}">
                <a16:creationId xmlns:a16="http://schemas.microsoft.com/office/drawing/2014/main" id="{32C97E99-CCCA-42C7-8763-7F506B53F6E0}"/>
              </a:ext>
            </a:extLst>
          </p:cNvPr>
          <p:cNvSpPr>
            <a:spLocks noGrp="1"/>
          </p:cNvSpPr>
          <p:nvPr/>
        </p:nvSpPr>
        <p:spPr>
          <a:xfrm>
            <a:off x="8515350" y="23622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box-956-210">
            <a:extLst>
              <a:ext uri="{FF2B5EF4-FFF2-40B4-BE49-F238E27FC236}">
                <a16:creationId xmlns:a16="http://schemas.microsoft.com/office/drawing/2014/main" id="{DEE16856-863D-4ABE-B014-6349A9C481B4}"/>
              </a:ext>
            </a:extLst>
          </p:cNvPr>
          <p:cNvSpPr>
            <a:spLocks noGrp="1"/>
          </p:cNvSpPr>
          <p:nvPr/>
        </p:nvSpPr>
        <p:spPr>
          <a:xfrm>
            <a:off x="9105900" y="2000250"/>
            <a:ext cx="2495550" cy="1371600"/>
          </a:xfrm>
          <a:prstGeom prst="roundRect">
            <a:avLst>
              <a:gd name="adj" fmla="val 5556"/>
            </a:avLst>
          </a:prstGeom>
          <a:solidFill>
            <a:srgbClr val="F0EDFA"/>
          </a:solidFill>
          <a:ln w="14288">
            <a:solidFill>
              <a:srgbClr val="6C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-972-226">
            <a:extLst>
              <a:ext uri="{FF2B5EF4-FFF2-40B4-BE49-F238E27FC236}">
                <a16:creationId xmlns:a16="http://schemas.microsoft.com/office/drawing/2014/main" id="{69C3000B-B663-4BCF-9DC0-8B7C24EFFEC7}"/>
              </a:ext>
            </a:extLst>
          </p:cNvPr>
          <p:cNvSpPr>
            <a:spLocks noGrp="1"/>
          </p:cNvSpPr>
          <p:nvPr/>
        </p:nvSpPr>
        <p:spPr>
          <a:xfrm>
            <a:off x="9258300" y="2152650"/>
            <a:ext cx="361950" cy="361950"/>
          </a:xfrm>
          <a:prstGeom prst="ellipse">
            <a:avLst/>
          </a:prstGeom>
          <a:solidFill>
            <a:srgbClr val="6C5AA8"/>
          </a:solidFill>
          <a:ln w="11430">
            <a:solidFill>
              <a:srgbClr val="6C5A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text-1024-225-TECH">
            <a:extLst>
              <a:ext uri="{FF2B5EF4-FFF2-40B4-BE49-F238E27FC236}">
                <a16:creationId xmlns:a16="http://schemas.microsoft.com/office/drawing/2014/main" id="{8FCBFB60-24F4-4D22-808B-6FFAAC1FCCA2}"/>
              </a:ext>
            </a:extLst>
          </p:cNvPr>
          <p:cNvSpPr>
            <a:spLocks noGrp="1"/>
          </p:cNvSpPr>
          <p:nvPr/>
        </p:nvSpPr>
        <p:spPr>
          <a:xfrm>
            <a:off x="9753600" y="2143125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26" name="text-976-276-Kiến trúc và côn">
            <a:extLst>
              <a:ext uri="{FF2B5EF4-FFF2-40B4-BE49-F238E27FC236}">
                <a16:creationId xmlns:a16="http://schemas.microsoft.com/office/drawing/2014/main" id="{0E053E92-4279-46C0-AB21-5A98DB58B543}"/>
              </a:ext>
            </a:extLst>
          </p:cNvPr>
          <p:cNvSpPr>
            <a:spLocks noGrp="1"/>
          </p:cNvSpPr>
          <p:nvPr/>
        </p:nvSpPr>
        <p:spPr>
          <a:xfrm>
            <a:off x="9296400" y="2628900"/>
            <a:ext cx="21145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Kiến trúc và công nghệ đáp ứng Spec</a:t>
            </a:r>
          </a:p>
        </p:txBody>
      </p:sp>
    </p:spTree>
    <p:extLst>
      <p:ext uri="{BB962C8B-B14F-4D97-AF65-F5344CB8AC3E}">
        <p14:creationId xmlns:p14="http://schemas.microsoft.com/office/powerpoint/2010/main" val="98720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ox-0-0">
            <a:extLst>
              <a:ext uri="{FF2B5EF4-FFF2-40B4-BE49-F238E27FC236}">
                <a16:creationId xmlns:a16="http://schemas.microsoft.com/office/drawing/2014/main" id="{8AE40AE5-8FD1-424A-B087-5F020CC976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71063F14-580F-4FBB-AA0B-A22E11469B8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Danh tính">
            <a:extLst>
              <a:ext uri="{FF2B5EF4-FFF2-40B4-BE49-F238E27FC236}">
                <a16:creationId xmlns:a16="http://schemas.microsoft.com/office/drawing/2014/main" id="{C220059A-FEBD-4928-A353-ED3ADA2186EB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Danh tính và lịch sử dữ liệu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8905EDD1-C2C8-4934-8591-36F4AA62B619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DO">
            <a:extLst>
              <a:ext uri="{FF2B5EF4-FFF2-40B4-BE49-F238E27FC236}">
                <a16:creationId xmlns:a16="http://schemas.microsoft.com/office/drawing/2014/main" id="{5546CEDF-FDE1-4577-8697-AA2B95080559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DOC-06@0.16</a:t>
            </a:r>
          </a:p>
        </p:txBody>
      </p:sp>
      <p:sp>
        <p:nvSpPr>
          <p:cNvPr id="6" name="text-1170-680-06">
            <a:extLst>
              <a:ext uri="{FF2B5EF4-FFF2-40B4-BE49-F238E27FC236}">
                <a16:creationId xmlns:a16="http://schemas.microsoft.com/office/drawing/2014/main" id="{06B925C7-14F4-4D0B-B016-8CD2790D371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diagram-source-6">
            <a:extLst>
              <a:ext uri="{FF2B5EF4-FFF2-40B4-BE49-F238E27FC236}">
                <a16:creationId xmlns:a16="http://schemas.microsoft.com/office/drawing/2014/main" id="{C1B754D2-D6E7-4F83-BF52-6EC726530F36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Simplified from DATA-VIEW-CORE-001</a:t>
            </a:r>
          </a:p>
        </p:txBody>
      </p:sp>
      <p:sp>
        <p:nvSpPr>
          <p:cNvPr id="8" name="source-link-6-DATA-VIEW-CORE-001">
            <a:hlinkClick r:id="rId3"/>
            <a:extLst>
              <a:ext uri="{FF2B5EF4-FFF2-40B4-BE49-F238E27FC236}">
                <a16:creationId xmlns:a16="http://schemas.microsoft.com/office/drawing/2014/main" id="{2174C062-4E2A-4479-85A9-07267AC92E36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DATA-VIEW-CORE-001 · Released baseline identity ↗</a:t>
            </a:r>
          </a:p>
        </p:txBody>
      </p:sp>
      <p:sp>
        <p:nvSpPr>
          <p:cNvPr id="9" name="box-64-154">
            <a:extLst>
              <a:ext uri="{FF2B5EF4-FFF2-40B4-BE49-F238E27FC236}">
                <a16:creationId xmlns:a16="http://schemas.microsoft.com/office/drawing/2014/main" id="{7A1941E6-33C1-4EB8-89E4-980E7040C0C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2857500" cy="4381500"/>
          </a:xfrm>
          <a:prstGeom prst="roundRect">
            <a:avLst>
              <a:gd name="adj" fmla="val 2667"/>
            </a:avLst>
          </a:prstGeom>
          <a:solidFill>
            <a:srgbClr val="102744"/>
          </a:solidFill>
          <a:ln w="11430">
            <a:solidFill>
              <a:srgbClr val="10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02-196-LOGICAL&#10;DOCUMENT">
            <a:extLst>
              <a:ext uri="{FF2B5EF4-FFF2-40B4-BE49-F238E27FC236}">
                <a16:creationId xmlns:a16="http://schemas.microsoft.com/office/drawing/2014/main" id="{4700CBD2-71B6-40D1-930B-8220389CD539}"/>
              </a:ext>
            </a:extLst>
          </p:cNvPr>
          <p:cNvSpPr>
            <a:spLocks noGrp="1"/>
          </p:cNvSpPr>
          <p:nvPr/>
        </p:nvSpPr>
        <p:spPr>
          <a:xfrm>
            <a:off x="971550" y="1866900"/>
            <a:ext cx="21336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LOGICAL</a:t>
            </a:r>
          </a:p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1" name="text-94-307-Danh tính ổn địn">
            <a:extLst>
              <a:ext uri="{FF2B5EF4-FFF2-40B4-BE49-F238E27FC236}">
                <a16:creationId xmlns:a16="http://schemas.microsoft.com/office/drawing/2014/main" id="{DE06F12E-A6D0-481A-9C86-A22853C4A176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286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0">
                <a:solidFill>
                  <a:srgbClr val="C9DB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BEA"/>
                </a:solidFill>
                <a:latin typeface="Arial"/>
                <a:ea typeface="Arial"/>
                <a:cs typeface="Arial"/>
              </a:rPr>
              <a:t>Danh tính ổn định</a:t>
            </a:r>
          </a:p>
          <a:p>
            <a:pPr algn="ctr">
              <a:defRPr sz="1425" b="0">
                <a:solidFill>
                  <a:srgbClr val="C9DB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BEA"/>
                </a:solidFill>
                <a:latin typeface="Arial"/>
                <a:ea typeface="Arial"/>
                <a:cs typeface="Arial"/>
              </a:rPr>
              <a:t>qua toàn bộ lịch sử</a:t>
            </a:r>
          </a:p>
        </p:txBody>
      </p:sp>
      <p:sp>
        <p:nvSpPr>
          <p:cNvPr id="12" name="box-100-420">
            <a:extLst>
              <a:ext uri="{FF2B5EF4-FFF2-40B4-BE49-F238E27FC236}">
                <a16:creationId xmlns:a16="http://schemas.microsoft.com/office/drawing/2014/main" id="{B24D7459-EB61-4C7F-BB37-2D5783436D95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2171700" cy="323850"/>
          </a:xfrm>
          <a:prstGeom prst="roundRect">
            <a:avLst>
              <a:gd name="adj" fmla="val 23529"/>
            </a:avLst>
          </a:prstGeom>
          <a:solidFill>
            <a:srgbClr val="26496E"/>
          </a:solidFill>
          <a:ln w="7620">
            <a:solidFill>
              <a:srgbClr val="26496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Đổi tên ≠ tài liệu mới</a:t>
            </a:r>
          </a:p>
        </p:txBody>
      </p:sp>
      <p:sp>
        <p:nvSpPr>
          <p:cNvPr id="13" name="box-82-474">
            <a:extLst>
              <a:ext uri="{FF2B5EF4-FFF2-40B4-BE49-F238E27FC236}">
                <a16:creationId xmlns:a16="http://schemas.microsoft.com/office/drawing/2014/main" id="{3215D3E1-B81A-42CF-AC30-6000A69508B1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2514600" cy="323850"/>
          </a:xfrm>
          <a:prstGeom prst="roundRect">
            <a:avLst>
              <a:gd name="adj" fmla="val 23529"/>
            </a:avLst>
          </a:prstGeom>
          <a:solidFill>
            <a:srgbClr val="26496E"/>
          </a:solidFill>
          <a:ln w="7620">
            <a:solidFill>
              <a:srgbClr val="26496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Published Generation bất biến</a:t>
            </a:r>
          </a:p>
        </p:txBody>
      </p:sp>
      <p:sp>
        <p:nvSpPr>
          <p:cNvPr id="14" name="text-370-330-→">
            <a:extLst>
              <a:ext uri="{FF2B5EF4-FFF2-40B4-BE49-F238E27FC236}">
                <a16:creationId xmlns:a16="http://schemas.microsoft.com/office/drawing/2014/main" id="{8C603F0A-0733-4422-98FC-D81B4115AC89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70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box-430-150">
            <a:extLst>
              <a:ext uri="{FF2B5EF4-FFF2-40B4-BE49-F238E27FC236}">
                <a16:creationId xmlns:a16="http://schemas.microsoft.com/office/drawing/2014/main" id="{045B88DC-1EF2-4434-8926-16BE53694C2B}"/>
              </a:ext>
            </a:extLst>
          </p:cNvPr>
          <p:cNvSpPr>
            <a:spLocks noGrp="1"/>
          </p:cNvSpPr>
          <p:nvPr/>
        </p:nvSpPr>
        <p:spPr>
          <a:xfrm>
            <a:off x="4095750" y="1428750"/>
            <a:ext cx="3333750" cy="4419600"/>
          </a:xfrm>
          <a:prstGeom prst="roundRect">
            <a:avLst>
              <a:gd name="adj" fmla="val 2286"/>
            </a:avLst>
          </a:prstGeom>
          <a:solidFill>
            <a:srgbClr val="EAF3F9"/>
          </a:solidFill>
          <a:ln w="14288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-454-170">
            <a:extLst>
              <a:ext uri="{FF2B5EF4-FFF2-40B4-BE49-F238E27FC236}">
                <a16:creationId xmlns:a16="http://schemas.microsoft.com/office/drawing/2014/main" id="{3E91A8AD-95D8-448D-9AEB-41662C378343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2876550" cy="323850"/>
          </a:xfrm>
          <a:prstGeom prst="roundRect">
            <a:avLst>
              <a:gd name="adj" fmla="val 23529"/>
            </a:avLst>
          </a:prstGeom>
          <a:solidFill>
            <a:srgbClr val="2169A8"/>
          </a:solidFill>
          <a:ln w="762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REVISION A</a:t>
            </a:r>
          </a:p>
        </p:txBody>
      </p:sp>
      <p:sp>
        <p:nvSpPr>
          <p:cNvPr id="17" name="box-468-242">
            <a:extLst>
              <a:ext uri="{FF2B5EF4-FFF2-40B4-BE49-F238E27FC236}">
                <a16:creationId xmlns:a16="http://schemas.microsoft.com/office/drawing/2014/main" id="{0BBFC9D5-E773-4616-A75F-3A1CCE89D78E}"/>
              </a:ext>
            </a:extLst>
          </p:cNvPr>
          <p:cNvSpPr>
            <a:spLocks noGrp="1"/>
          </p:cNvSpPr>
          <p:nvPr/>
        </p:nvSpPr>
        <p:spPr>
          <a:xfrm>
            <a:off x="4457700" y="2305050"/>
            <a:ext cx="12192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Version 1</a:t>
            </a:r>
          </a:p>
        </p:txBody>
      </p:sp>
      <p:sp>
        <p:nvSpPr>
          <p:cNvPr id="18" name="text-600-248-→">
            <a:extLst>
              <a:ext uri="{FF2B5EF4-FFF2-40B4-BE49-F238E27FC236}">
                <a16:creationId xmlns:a16="http://schemas.microsoft.com/office/drawing/2014/main" id="{B4FBE31C-9649-43D7-8CE0-3E7130B29445}"/>
              </a:ext>
            </a:extLst>
          </p:cNvPr>
          <p:cNvSpPr>
            <a:spLocks noGrp="1"/>
          </p:cNvSpPr>
          <p:nvPr/>
        </p:nvSpPr>
        <p:spPr>
          <a:xfrm>
            <a:off x="5715000" y="236220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box-650-242">
            <a:extLst>
              <a:ext uri="{FF2B5EF4-FFF2-40B4-BE49-F238E27FC236}">
                <a16:creationId xmlns:a16="http://schemas.microsoft.com/office/drawing/2014/main" id="{A158F666-8D4B-4130-9760-A28E8AB4C30A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895350" cy="590550"/>
          </a:xfrm>
          <a:prstGeom prst="roundRect">
            <a:avLst>
              <a:gd name="adj" fmla="val 12903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G001</a:t>
            </a:r>
          </a:p>
        </p:txBody>
      </p:sp>
      <p:sp>
        <p:nvSpPr>
          <p:cNvPr id="20" name="box-468-346">
            <a:extLst>
              <a:ext uri="{FF2B5EF4-FFF2-40B4-BE49-F238E27FC236}">
                <a16:creationId xmlns:a16="http://schemas.microsoft.com/office/drawing/2014/main" id="{BD54DEB5-C789-4D8B-9CBD-E6C5908AA56B}"/>
              </a:ext>
            </a:extLst>
          </p:cNvPr>
          <p:cNvSpPr>
            <a:spLocks noGrp="1"/>
          </p:cNvSpPr>
          <p:nvPr/>
        </p:nvSpPr>
        <p:spPr>
          <a:xfrm>
            <a:off x="4457700" y="3295650"/>
            <a:ext cx="12192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Version 2</a:t>
            </a:r>
          </a:p>
        </p:txBody>
      </p:sp>
      <p:sp>
        <p:nvSpPr>
          <p:cNvPr id="21" name="text-600-352-→">
            <a:extLst>
              <a:ext uri="{FF2B5EF4-FFF2-40B4-BE49-F238E27FC236}">
                <a16:creationId xmlns:a16="http://schemas.microsoft.com/office/drawing/2014/main" id="{F1D4C6C8-ED8F-4175-A1A7-132E2BCEFBB8}"/>
              </a:ext>
            </a:extLst>
          </p:cNvPr>
          <p:cNvSpPr>
            <a:spLocks noGrp="1"/>
          </p:cNvSpPr>
          <p:nvPr/>
        </p:nvSpPr>
        <p:spPr>
          <a:xfrm>
            <a:off x="5715000" y="335280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box-650-346">
            <a:extLst>
              <a:ext uri="{FF2B5EF4-FFF2-40B4-BE49-F238E27FC236}">
                <a16:creationId xmlns:a16="http://schemas.microsoft.com/office/drawing/2014/main" id="{6F0EE45B-6FE2-4C23-8BFD-96F3986B936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895350" cy="590550"/>
          </a:xfrm>
          <a:prstGeom prst="roundRect">
            <a:avLst>
              <a:gd name="adj" fmla="val 12903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G002</a:t>
            </a:r>
          </a:p>
        </p:txBody>
      </p:sp>
      <p:sp>
        <p:nvSpPr>
          <p:cNvPr id="23" name="box-468-450">
            <a:extLst>
              <a:ext uri="{FF2B5EF4-FFF2-40B4-BE49-F238E27FC236}">
                <a16:creationId xmlns:a16="http://schemas.microsoft.com/office/drawing/2014/main" id="{E626E04F-9051-49A7-B543-54A995C0ED88}"/>
              </a:ext>
            </a:extLst>
          </p:cNvPr>
          <p:cNvSpPr>
            <a:spLocks noGrp="1"/>
          </p:cNvSpPr>
          <p:nvPr/>
        </p:nvSpPr>
        <p:spPr>
          <a:xfrm>
            <a:off x="4457700" y="4286250"/>
            <a:ext cx="12192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Version 3</a:t>
            </a:r>
          </a:p>
        </p:txBody>
      </p:sp>
      <p:sp>
        <p:nvSpPr>
          <p:cNvPr id="24" name="text-600-456-→">
            <a:extLst>
              <a:ext uri="{FF2B5EF4-FFF2-40B4-BE49-F238E27FC236}">
                <a16:creationId xmlns:a16="http://schemas.microsoft.com/office/drawing/2014/main" id="{D8AD0AD8-C93D-43BA-85AA-A0663A1F2731}"/>
              </a:ext>
            </a:extLst>
          </p:cNvPr>
          <p:cNvSpPr>
            <a:spLocks noGrp="1"/>
          </p:cNvSpPr>
          <p:nvPr/>
        </p:nvSpPr>
        <p:spPr>
          <a:xfrm>
            <a:off x="5715000" y="434340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box-650-450">
            <a:extLst>
              <a:ext uri="{FF2B5EF4-FFF2-40B4-BE49-F238E27FC236}">
                <a16:creationId xmlns:a16="http://schemas.microsoft.com/office/drawing/2014/main" id="{9621A352-EBF0-48E0-B2F5-8328700F7E1A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895350" cy="590550"/>
          </a:xfrm>
          <a:prstGeom prst="roundRect">
            <a:avLst>
              <a:gd name="adj" fmla="val 12903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G003</a:t>
            </a:r>
          </a:p>
        </p:txBody>
      </p:sp>
      <p:sp>
        <p:nvSpPr>
          <p:cNvPr id="26" name="text-474-558-Version tăng tro">
            <a:extLst>
              <a:ext uri="{FF2B5EF4-FFF2-40B4-BE49-F238E27FC236}">
                <a16:creationId xmlns:a16="http://schemas.microsoft.com/office/drawing/2014/main" id="{280F3ADF-414A-46D6-AF2A-6AE8BE41F89D}"/>
              </a:ext>
            </a:extLst>
          </p:cNvPr>
          <p:cNvSpPr>
            <a:spLocks noGrp="1"/>
          </p:cNvSpPr>
          <p:nvPr/>
        </p:nvSpPr>
        <p:spPr>
          <a:xfrm>
            <a:off x="4514850" y="53149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Version tăng trong cùng Revision</a:t>
            </a:r>
          </a:p>
        </p:txBody>
      </p:sp>
      <p:sp>
        <p:nvSpPr>
          <p:cNvPr id="27" name="text-788-330-→">
            <a:extLst>
              <a:ext uri="{FF2B5EF4-FFF2-40B4-BE49-F238E27FC236}">
                <a16:creationId xmlns:a16="http://schemas.microsoft.com/office/drawing/2014/main" id="{AA7E3CA2-F142-482E-8FC7-3F809DAFA691}"/>
              </a:ext>
            </a:extLst>
          </p:cNvPr>
          <p:cNvSpPr>
            <a:spLocks noGrp="1"/>
          </p:cNvSpPr>
          <p:nvPr/>
        </p:nvSpPr>
        <p:spPr>
          <a:xfrm>
            <a:off x="7505700" y="314325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70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box-848-150">
            <a:extLst>
              <a:ext uri="{FF2B5EF4-FFF2-40B4-BE49-F238E27FC236}">
                <a16:creationId xmlns:a16="http://schemas.microsoft.com/office/drawing/2014/main" id="{36FD1A00-2F36-424D-92F3-554F46873422}"/>
              </a:ext>
            </a:extLst>
          </p:cNvPr>
          <p:cNvSpPr>
            <a:spLocks noGrp="1"/>
          </p:cNvSpPr>
          <p:nvPr/>
        </p:nvSpPr>
        <p:spPr>
          <a:xfrm>
            <a:off x="8077200" y="1428750"/>
            <a:ext cx="3524250" cy="4419600"/>
          </a:xfrm>
          <a:prstGeom prst="roundRect">
            <a:avLst>
              <a:gd name="adj" fmla="val 2162"/>
            </a:avLst>
          </a:prstGeom>
          <a:solidFill>
            <a:srgbClr val="FFF4DD"/>
          </a:solidFill>
          <a:ln w="14288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ox-872-170">
            <a:extLst>
              <a:ext uri="{FF2B5EF4-FFF2-40B4-BE49-F238E27FC236}">
                <a16:creationId xmlns:a16="http://schemas.microsoft.com/office/drawing/2014/main" id="{507924A3-EDC6-4F87-BD39-E2C8F7A93CB8}"/>
              </a:ext>
            </a:extLst>
          </p:cNvPr>
          <p:cNvSpPr>
            <a:spLocks noGrp="1"/>
          </p:cNvSpPr>
          <p:nvPr/>
        </p:nvSpPr>
        <p:spPr>
          <a:xfrm>
            <a:off x="8305800" y="1619250"/>
            <a:ext cx="3067050" cy="323850"/>
          </a:xfrm>
          <a:prstGeom prst="roundRect">
            <a:avLst>
              <a:gd name="adj" fmla="val 23529"/>
            </a:avLst>
          </a:prstGeom>
          <a:solidFill>
            <a:srgbClr val="C58A1E"/>
          </a:solidFill>
          <a:ln w="762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REVISION B</a:t>
            </a:r>
          </a:p>
        </p:txBody>
      </p:sp>
      <p:sp>
        <p:nvSpPr>
          <p:cNvPr id="30" name="box-912-292">
            <a:extLst>
              <a:ext uri="{FF2B5EF4-FFF2-40B4-BE49-F238E27FC236}">
                <a16:creationId xmlns:a16="http://schemas.microsoft.com/office/drawing/2014/main" id="{BC2BF829-31A6-44DE-AFE6-1F5456CB79E7}"/>
              </a:ext>
            </a:extLst>
          </p:cNvPr>
          <p:cNvSpPr>
            <a:spLocks noGrp="1"/>
          </p:cNvSpPr>
          <p:nvPr/>
        </p:nvSpPr>
        <p:spPr>
          <a:xfrm>
            <a:off x="8686800" y="2781300"/>
            <a:ext cx="12192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Version 1</a:t>
            </a:r>
          </a:p>
        </p:txBody>
      </p:sp>
      <p:sp>
        <p:nvSpPr>
          <p:cNvPr id="31" name="text-1046-301-→">
            <a:extLst>
              <a:ext uri="{FF2B5EF4-FFF2-40B4-BE49-F238E27FC236}">
                <a16:creationId xmlns:a16="http://schemas.microsoft.com/office/drawing/2014/main" id="{39DDB38C-01B4-46CE-8A58-31D9385DA2FC}"/>
              </a:ext>
            </a:extLst>
          </p:cNvPr>
          <p:cNvSpPr>
            <a:spLocks noGrp="1"/>
          </p:cNvSpPr>
          <p:nvPr/>
        </p:nvSpPr>
        <p:spPr>
          <a:xfrm>
            <a:off x="9963150" y="28670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box-1096-292">
            <a:extLst>
              <a:ext uri="{FF2B5EF4-FFF2-40B4-BE49-F238E27FC236}">
                <a16:creationId xmlns:a16="http://schemas.microsoft.com/office/drawing/2014/main" id="{1AF63D65-2D05-43BB-A968-3A02AD334F66}"/>
              </a:ext>
            </a:extLst>
          </p:cNvPr>
          <p:cNvSpPr>
            <a:spLocks noGrp="1"/>
          </p:cNvSpPr>
          <p:nvPr/>
        </p:nvSpPr>
        <p:spPr>
          <a:xfrm>
            <a:off x="10439400" y="2781300"/>
            <a:ext cx="895350" cy="647700"/>
          </a:xfrm>
          <a:prstGeom prst="roundRect">
            <a:avLst>
              <a:gd name="adj" fmla="val 11765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G004</a:t>
            </a:r>
          </a:p>
        </p:txBody>
      </p:sp>
      <p:sp>
        <p:nvSpPr>
          <p:cNvPr id="33" name="text-884-405-Revision mới bắt">
            <a:extLst>
              <a:ext uri="{FF2B5EF4-FFF2-40B4-BE49-F238E27FC236}">
                <a16:creationId xmlns:a16="http://schemas.microsoft.com/office/drawing/2014/main" id="{A72EA276-2496-4B40-AECA-C5CB0E39D248}"/>
              </a:ext>
            </a:extLst>
          </p:cNvPr>
          <p:cNvSpPr>
            <a:spLocks noGrp="1"/>
          </p:cNvSpPr>
          <p:nvPr/>
        </p:nvSpPr>
        <p:spPr>
          <a:xfrm>
            <a:off x="8420100" y="3857625"/>
            <a:ext cx="28765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Revision mới bắt đầu lại từ Version 1</a:t>
            </a:r>
          </a:p>
        </p:txBody>
      </p:sp>
      <p:sp>
        <p:nvSpPr>
          <p:cNvPr id="34" name="box-872-494">
            <a:extLst>
              <a:ext uri="{FF2B5EF4-FFF2-40B4-BE49-F238E27FC236}">
                <a16:creationId xmlns:a16="http://schemas.microsoft.com/office/drawing/2014/main" id="{9E42A208-0701-4051-98F2-2BF5E9AEBF3B}"/>
              </a:ext>
            </a:extLst>
          </p:cNvPr>
          <p:cNvSpPr>
            <a:spLocks noGrp="1"/>
          </p:cNvSpPr>
          <p:nvPr/>
        </p:nvSpPr>
        <p:spPr>
          <a:xfrm>
            <a:off x="8305800" y="4705350"/>
            <a:ext cx="30670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Generation = snapshot nội dung</a:t>
            </a:r>
          </a:p>
          <a:p>
            <a:pPr algn="ctr">
              <a:defRPr sz="12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bất biến do hệ thống ghi nhận</a:t>
            </a:r>
          </a:p>
        </p:txBody>
      </p:sp>
      <p:sp>
        <p:nvSpPr>
          <p:cNvPr id="35" name="text-410-635-Hệ thống lưu đượ">
            <a:extLst>
              <a:ext uri="{FF2B5EF4-FFF2-40B4-BE49-F238E27FC236}">
                <a16:creationId xmlns:a16="http://schemas.microsoft.com/office/drawing/2014/main" id="{7934BBDF-9667-42BB-8C4F-E992845E24FB}"/>
              </a:ext>
            </a:extLst>
          </p:cNvPr>
          <p:cNvSpPr>
            <a:spLocks noGrp="1"/>
          </p:cNvSpPr>
          <p:nvPr/>
        </p:nvSpPr>
        <p:spPr>
          <a:xfrm>
            <a:off x="3905250" y="6048375"/>
            <a:ext cx="79438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Hệ thống lưu được toàn bộ lịch sử kỹ thuật của tài liệu.</a:t>
            </a:r>
          </a:p>
        </p:txBody>
      </p:sp>
    </p:spTree>
    <p:extLst>
      <p:ext uri="{BB962C8B-B14F-4D97-AF65-F5344CB8AC3E}">
        <p14:creationId xmlns:p14="http://schemas.microsoft.com/office/powerpoint/2010/main" val="183100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x-0-0">
            <a:extLst>
              <a:ext uri="{FF2B5EF4-FFF2-40B4-BE49-F238E27FC236}">
                <a16:creationId xmlns:a16="http://schemas.microsoft.com/office/drawing/2014/main" id="{AC9CD4FD-015E-4AD8-B48D-21478DBC8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2C5B7793-EDE1-4557-A58A-DC1D1F515CE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Chỉnh sửa">
            <a:extLst>
              <a:ext uri="{FF2B5EF4-FFF2-40B4-BE49-F238E27FC236}">
                <a16:creationId xmlns:a16="http://schemas.microsoft.com/office/drawing/2014/main" id="{1E7E16DE-8F4E-404F-BD64-A8F915B679B3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Chỉnh sửa tài liệu mà không phá lịch sử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A7D7CA09-289E-49F3-B7F4-FE8D2D160B0B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DO">
            <a:extLst>
              <a:ext uri="{FF2B5EF4-FFF2-40B4-BE49-F238E27FC236}">
                <a16:creationId xmlns:a16="http://schemas.microsoft.com/office/drawing/2014/main" id="{10FCA672-285E-41CE-9BE6-8A31DF17E5D4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DOC-05@0.20 · DOC-06@0.16 · DOC-08@0.12</a:t>
            </a:r>
          </a:p>
        </p:txBody>
      </p:sp>
      <p:sp>
        <p:nvSpPr>
          <p:cNvPr id="6" name="text-1170-680-07">
            <a:extLst>
              <a:ext uri="{FF2B5EF4-FFF2-40B4-BE49-F238E27FC236}">
                <a16:creationId xmlns:a16="http://schemas.microsoft.com/office/drawing/2014/main" id="{D4B6ACE7-2B62-4E14-816B-BC3735E480E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diagram-source-7">
            <a:extLst>
              <a:ext uri="{FF2B5EF4-FFF2-40B4-BE49-F238E27FC236}">
                <a16:creationId xmlns:a16="http://schemas.microsoft.com/office/drawing/2014/main" id="{FE4DFFC0-D669-4A61-871D-49B1FCA1037A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Sources: ARCH-VIEW-MOD-002 · ARCH-VIEW-SEQ-002 · DATA-VIEW-WS-001</a:t>
            </a:r>
          </a:p>
        </p:txBody>
      </p:sp>
      <p:sp>
        <p:nvSpPr>
          <p:cNvPr id="8" name="source-link-7-ARCH-VIEW-SEQ-002">
            <a:hlinkClick r:id="rId3"/>
            <a:extLst>
              <a:ext uri="{FF2B5EF4-FFF2-40B4-BE49-F238E27FC236}">
                <a16:creationId xmlns:a16="http://schemas.microsoft.com/office/drawing/2014/main" id="{046CF681-520D-45EE-A9C9-7903EA18486A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ARCH-VIEW-SEQ-002 · Atomic Check-in ↗</a:t>
            </a:r>
          </a:p>
        </p:txBody>
      </p:sp>
      <p:sp>
        <p:nvSpPr>
          <p:cNvPr id="9" name="box-58-176">
            <a:extLst>
              <a:ext uri="{FF2B5EF4-FFF2-40B4-BE49-F238E27FC236}">
                <a16:creationId xmlns:a16="http://schemas.microsoft.com/office/drawing/2014/main" id="{013DC232-09D6-44C9-8017-D4995597D14D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1619250" cy="1276350"/>
          </a:xfrm>
          <a:prstGeom prst="roundRect">
            <a:avLst>
              <a:gd name="adj" fmla="val 5970"/>
            </a:avLst>
          </a:prstGeom>
          <a:solidFill>
            <a:srgbClr val="102744"/>
          </a:solidFill>
          <a:ln w="1143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0" name="text-70-232-Current G005">
            <a:extLst>
              <a:ext uri="{FF2B5EF4-FFF2-40B4-BE49-F238E27FC236}">
                <a16:creationId xmlns:a16="http://schemas.microsoft.com/office/drawing/2014/main" id="{2BA7078C-B0EC-4697-9B43-E2ADC2FDD92A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C9DB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DBEA"/>
                </a:solidFill>
                <a:latin typeface="Arial"/>
                <a:ea typeface="Arial"/>
                <a:cs typeface="Arial"/>
              </a:rPr>
              <a:t>Current G005</a:t>
            </a:r>
          </a:p>
        </p:txBody>
      </p:sp>
      <p:sp>
        <p:nvSpPr>
          <p:cNvPr id="11" name="text-232-208-→">
            <a:extLst>
              <a:ext uri="{FF2B5EF4-FFF2-40B4-BE49-F238E27FC236}">
                <a16:creationId xmlns:a16="http://schemas.microsoft.com/office/drawing/2014/main" id="{BB0D5444-2C7D-41EE-8A06-A5E5F5E06734}"/>
              </a:ext>
            </a:extLst>
          </p:cNvPr>
          <p:cNvSpPr>
            <a:spLocks noGrp="1"/>
          </p:cNvSpPr>
          <p:nvPr/>
        </p:nvSpPr>
        <p:spPr>
          <a:xfrm>
            <a:off x="2209800" y="1981200"/>
            <a:ext cx="266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box-260-176">
            <a:extLst>
              <a:ext uri="{FF2B5EF4-FFF2-40B4-BE49-F238E27FC236}">
                <a16:creationId xmlns:a16="http://schemas.microsoft.com/office/drawing/2014/main" id="{45255D0E-962E-4E7D-B219-0773A8B98A0B}"/>
              </a:ext>
            </a:extLst>
          </p:cNvPr>
          <p:cNvSpPr>
            <a:spLocks noGrp="1"/>
          </p:cNvSpPr>
          <p:nvPr/>
        </p:nvSpPr>
        <p:spPr>
          <a:xfrm>
            <a:off x="2476500" y="1676400"/>
            <a:ext cx="1619250" cy="1276350"/>
          </a:xfrm>
          <a:prstGeom prst="roundRect">
            <a:avLst>
              <a:gd name="adj" fmla="val 5970"/>
            </a:avLst>
          </a:prstGeom>
          <a:solidFill>
            <a:srgbClr val="EAF3F9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3" name="text-272-232-Reservation&#10;Acto">
            <a:extLst>
              <a:ext uri="{FF2B5EF4-FFF2-40B4-BE49-F238E27FC236}">
                <a16:creationId xmlns:a16="http://schemas.microsoft.com/office/drawing/2014/main" id="{A335AF9B-2886-4EC9-9D02-1C0B54EBADD7}"/>
              </a:ext>
            </a:extLst>
          </p:cNvPr>
          <p:cNvSpPr>
            <a:spLocks noGrp="1"/>
          </p:cNvSpPr>
          <p:nvPr/>
        </p:nvSpPr>
        <p:spPr>
          <a:xfrm>
            <a:off x="2590800" y="220980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Reservation</a:t>
            </a:r>
          </a:p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Actor + Workspace + G005</a:t>
            </a:r>
          </a:p>
        </p:txBody>
      </p:sp>
      <p:sp>
        <p:nvSpPr>
          <p:cNvPr id="14" name="text-434-208-→">
            <a:extLst>
              <a:ext uri="{FF2B5EF4-FFF2-40B4-BE49-F238E27FC236}">
                <a16:creationId xmlns:a16="http://schemas.microsoft.com/office/drawing/2014/main" id="{C9DE7808-B040-496B-AE3A-3A7AE9671CB8}"/>
              </a:ext>
            </a:extLst>
          </p:cNvPr>
          <p:cNvSpPr>
            <a:spLocks noGrp="1"/>
          </p:cNvSpPr>
          <p:nvPr/>
        </p:nvSpPr>
        <p:spPr>
          <a:xfrm>
            <a:off x="4133850" y="1981200"/>
            <a:ext cx="266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box-462-176">
            <a:extLst>
              <a:ext uri="{FF2B5EF4-FFF2-40B4-BE49-F238E27FC236}">
                <a16:creationId xmlns:a16="http://schemas.microsoft.com/office/drawing/2014/main" id="{E035B9FC-9C92-4191-B48E-9CE0DB063103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1619250" cy="1276350"/>
          </a:xfrm>
          <a:prstGeom prst="roundRect">
            <a:avLst>
              <a:gd name="adj" fmla="val 5970"/>
            </a:avLst>
          </a:prstGeom>
          <a:solidFill>
            <a:srgbClr val="E8F7F9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16" name="text-474-232-Chỉnh sửa cục bộ">
            <a:extLst>
              <a:ext uri="{FF2B5EF4-FFF2-40B4-BE49-F238E27FC236}">
                <a16:creationId xmlns:a16="http://schemas.microsoft.com/office/drawing/2014/main" id="{75060DD9-2372-4FEC-B00D-E7CBD851C5F6}"/>
              </a:ext>
            </a:extLst>
          </p:cNvPr>
          <p:cNvSpPr>
            <a:spLocks noGrp="1"/>
          </p:cNvSpPr>
          <p:nvPr/>
        </p:nvSpPr>
        <p:spPr>
          <a:xfrm>
            <a:off x="4514850" y="220980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Chỉnh sửa cục bộ</a:t>
            </a:r>
          </a:p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trong Office / CAD</a:t>
            </a:r>
          </a:p>
        </p:txBody>
      </p:sp>
      <p:sp>
        <p:nvSpPr>
          <p:cNvPr id="17" name="text-636-208-→">
            <a:extLst>
              <a:ext uri="{FF2B5EF4-FFF2-40B4-BE49-F238E27FC236}">
                <a16:creationId xmlns:a16="http://schemas.microsoft.com/office/drawing/2014/main" id="{9582CD14-92D4-4C02-8656-E5C1577B166F}"/>
              </a:ext>
            </a:extLst>
          </p:cNvPr>
          <p:cNvSpPr>
            <a:spLocks noGrp="1"/>
          </p:cNvSpPr>
          <p:nvPr/>
        </p:nvSpPr>
        <p:spPr>
          <a:xfrm>
            <a:off x="6057900" y="1981200"/>
            <a:ext cx="266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box-664-176">
            <a:extLst>
              <a:ext uri="{FF2B5EF4-FFF2-40B4-BE49-F238E27FC236}">
                <a16:creationId xmlns:a16="http://schemas.microsoft.com/office/drawing/2014/main" id="{D30ADB7C-341C-4838-ACA4-D1D080822D7F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1619250" cy="1276350"/>
          </a:xfrm>
          <a:prstGeom prst="roundRect">
            <a:avLst>
              <a:gd name="adj" fmla="val 5970"/>
            </a:avLst>
          </a:prstGeom>
          <a:solidFill>
            <a:srgbClr val="F0EDFA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CHECK-IN</a:t>
            </a:r>
          </a:p>
        </p:txBody>
      </p:sp>
      <p:sp>
        <p:nvSpPr>
          <p:cNvPr id="19" name="text-676-232-Gửi thay đổi +&#10;O">
            <a:extLst>
              <a:ext uri="{FF2B5EF4-FFF2-40B4-BE49-F238E27FC236}">
                <a16:creationId xmlns:a16="http://schemas.microsoft.com/office/drawing/2014/main" id="{C4CAB9AA-F364-41CC-8447-B6FA68E29B3D}"/>
              </a:ext>
            </a:extLst>
          </p:cNvPr>
          <p:cNvSpPr>
            <a:spLocks noGrp="1"/>
          </p:cNvSpPr>
          <p:nvPr/>
        </p:nvSpPr>
        <p:spPr>
          <a:xfrm>
            <a:off x="6438900" y="220980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Gửi thay đổi +</a:t>
            </a:r>
          </a:p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OperationId + phạm vi</a:t>
            </a:r>
          </a:p>
        </p:txBody>
      </p:sp>
      <p:sp>
        <p:nvSpPr>
          <p:cNvPr id="20" name="text-838-208-→">
            <a:extLst>
              <a:ext uri="{FF2B5EF4-FFF2-40B4-BE49-F238E27FC236}">
                <a16:creationId xmlns:a16="http://schemas.microsoft.com/office/drawing/2014/main" id="{F14DB637-199A-4E5A-9988-B1EAF024334A}"/>
              </a:ext>
            </a:extLst>
          </p:cNvPr>
          <p:cNvSpPr>
            <a:spLocks noGrp="1"/>
          </p:cNvSpPr>
          <p:nvPr/>
        </p:nvSpPr>
        <p:spPr>
          <a:xfrm>
            <a:off x="7981950" y="1981200"/>
            <a:ext cx="266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box-866-176">
            <a:extLst>
              <a:ext uri="{FF2B5EF4-FFF2-40B4-BE49-F238E27FC236}">
                <a16:creationId xmlns:a16="http://schemas.microsoft.com/office/drawing/2014/main" id="{9F0D0EF6-0FAF-4A12-B893-7D00A0C4E6E0}"/>
              </a:ext>
            </a:extLst>
          </p:cNvPr>
          <p:cNvSpPr>
            <a:spLocks noGrp="1"/>
          </p:cNvSpPr>
          <p:nvPr/>
        </p:nvSpPr>
        <p:spPr>
          <a:xfrm>
            <a:off x="8248650" y="1676400"/>
            <a:ext cx="1619250" cy="1276350"/>
          </a:xfrm>
          <a:prstGeom prst="roundRect">
            <a:avLst>
              <a:gd name="adj" fmla="val 5970"/>
            </a:avLst>
          </a:prstGeom>
          <a:solidFill>
            <a:srgbClr val="FFF4DD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22" name="text-878-232-Revalidate tại l">
            <a:extLst>
              <a:ext uri="{FF2B5EF4-FFF2-40B4-BE49-F238E27FC236}">
                <a16:creationId xmlns:a16="http://schemas.microsoft.com/office/drawing/2014/main" id="{EB934ACF-FF03-4BA3-8BF4-35D9A2318868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Revalidate tại lúc commit</a:t>
            </a:r>
          </a:p>
        </p:txBody>
      </p:sp>
      <p:sp>
        <p:nvSpPr>
          <p:cNvPr id="23" name="box-1048-151">
            <a:extLst>
              <a:ext uri="{FF2B5EF4-FFF2-40B4-BE49-F238E27FC236}">
                <a16:creationId xmlns:a16="http://schemas.microsoft.com/office/drawing/2014/main" id="{D30437E9-11A4-46E8-AE61-A651699B46AA}"/>
              </a:ext>
            </a:extLst>
          </p:cNvPr>
          <p:cNvSpPr>
            <a:spLocks noGrp="1"/>
          </p:cNvSpPr>
          <p:nvPr/>
        </p:nvSpPr>
        <p:spPr>
          <a:xfrm>
            <a:off x="9982200" y="1438275"/>
            <a:ext cx="1600200" cy="179070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4288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1062-170-• Đúng quyền?">
            <a:extLst>
              <a:ext uri="{FF2B5EF4-FFF2-40B4-BE49-F238E27FC236}">
                <a16:creationId xmlns:a16="http://schemas.microsoft.com/office/drawing/2014/main" id="{1A26C92C-E3A4-4430-BAD2-09AEACDC563D}"/>
              </a:ext>
            </a:extLst>
          </p:cNvPr>
          <p:cNvSpPr>
            <a:spLocks noGrp="1"/>
          </p:cNvSpPr>
          <p:nvPr/>
        </p:nvSpPr>
        <p:spPr>
          <a:xfrm>
            <a:off x="10115550" y="1619250"/>
            <a:ext cx="13525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• Đúng quyền?</a:t>
            </a:r>
          </a:p>
        </p:txBody>
      </p:sp>
      <p:sp>
        <p:nvSpPr>
          <p:cNvPr id="25" name="text-1062-200-• Reservation hợ">
            <a:extLst>
              <a:ext uri="{FF2B5EF4-FFF2-40B4-BE49-F238E27FC236}">
                <a16:creationId xmlns:a16="http://schemas.microsoft.com/office/drawing/2014/main" id="{EEEB2BBF-14F2-404A-9F5F-88723E960B62}"/>
              </a:ext>
            </a:extLst>
          </p:cNvPr>
          <p:cNvSpPr>
            <a:spLocks noGrp="1"/>
          </p:cNvSpPr>
          <p:nvPr/>
        </p:nvSpPr>
        <p:spPr>
          <a:xfrm>
            <a:off x="10115550" y="1905000"/>
            <a:ext cx="13525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• Reservation hợp lệ?</a:t>
            </a:r>
          </a:p>
        </p:txBody>
      </p:sp>
      <p:sp>
        <p:nvSpPr>
          <p:cNvPr id="26" name="text-1062-230-• Baseline hiện ">
            <a:extLst>
              <a:ext uri="{FF2B5EF4-FFF2-40B4-BE49-F238E27FC236}">
                <a16:creationId xmlns:a16="http://schemas.microsoft.com/office/drawing/2014/main" id="{375187BA-C6DE-4B0B-918D-9141DC46CE1B}"/>
              </a:ext>
            </a:extLst>
          </p:cNvPr>
          <p:cNvSpPr>
            <a:spLocks noGrp="1"/>
          </p:cNvSpPr>
          <p:nvPr/>
        </p:nvSpPr>
        <p:spPr>
          <a:xfrm>
            <a:off x="10115550" y="2190750"/>
            <a:ext cx="13525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• Baseline hiện hành?</a:t>
            </a:r>
          </a:p>
        </p:txBody>
      </p:sp>
      <p:sp>
        <p:nvSpPr>
          <p:cNvPr id="27" name="text-1062-260-• Scope nhất quá">
            <a:extLst>
              <a:ext uri="{FF2B5EF4-FFF2-40B4-BE49-F238E27FC236}">
                <a16:creationId xmlns:a16="http://schemas.microsoft.com/office/drawing/2014/main" id="{5E7BC6D7-3A28-4E28-A28C-258F9AA883C5}"/>
              </a:ext>
            </a:extLst>
          </p:cNvPr>
          <p:cNvSpPr>
            <a:spLocks noGrp="1"/>
          </p:cNvSpPr>
          <p:nvPr/>
        </p:nvSpPr>
        <p:spPr>
          <a:xfrm>
            <a:off x="10115550" y="2476500"/>
            <a:ext cx="13525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• Scope nhất quán?</a:t>
            </a:r>
          </a:p>
        </p:txBody>
      </p:sp>
      <p:sp>
        <p:nvSpPr>
          <p:cNvPr id="28" name="text-1062-290-• Structure hợp ">
            <a:extLst>
              <a:ext uri="{FF2B5EF4-FFF2-40B4-BE49-F238E27FC236}">
                <a16:creationId xmlns:a16="http://schemas.microsoft.com/office/drawing/2014/main" id="{CA8181F4-2423-449D-8E3B-6D7561A7F936}"/>
              </a:ext>
            </a:extLst>
          </p:cNvPr>
          <p:cNvSpPr>
            <a:spLocks noGrp="1"/>
          </p:cNvSpPr>
          <p:nvPr/>
        </p:nvSpPr>
        <p:spPr>
          <a:xfrm>
            <a:off x="10115550" y="2762250"/>
            <a:ext cx="13525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• Structure hợp lệ?</a:t>
            </a:r>
          </a:p>
        </p:txBody>
      </p:sp>
      <p:sp>
        <p:nvSpPr>
          <p:cNvPr id="29" name="box-742-388">
            <a:extLst>
              <a:ext uri="{FF2B5EF4-FFF2-40B4-BE49-F238E27FC236}">
                <a16:creationId xmlns:a16="http://schemas.microsoft.com/office/drawing/2014/main" id="{A45A4CC4-45CF-4F80-9E58-0E1F3B8D5193}"/>
              </a:ext>
            </a:extLst>
          </p:cNvPr>
          <p:cNvSpPr>
            <a:spLocks noGrp="1"/>
          </p:cNvSpPr>
          <p:nvPr/>
        </p:nvSpPr>
        <p:spPr>
          <a:xfrm>
            <a:off x="7067550" y="3695700"/>
            <a:ext cx="2095500" cy="1257300"/>
          </a:xfrm>
          <a:prstGeom prst="roundRect">
            <a:avLst>
              <a:gd name="adj" fmla="val 6061"/>
            </a:avLst>
          </a:prstGeom>
          <a:solidFill>
            <a:srgbClr val="E7F5EE"/>
          </a:solidFill>
          <a:ln w="15240">
            <a:solidFill>
              <a:srgbClr val="2D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760-402-PASS">
            <a:extLst>
              <a:ext uri="{FF2B5EF4-FFF2-40B4-BE49-F238E27FC236}">
                <a16:creationId xmlns:a16="http://schemas.microsoft.com/office/drawing/2014/main" id="{D8D9494D-168C-48A0-ACF9-939CDE1AAEBC}"/>
              </a:ext>
            </a:extLst>
          </p:cNvPr>
          <p:cNvSpPr>
            <a:spLocks noGrp="1"/>
          </p:cNvSpPr>
          <p:nvPr/>
        </p:nvSpPr>
        <p:spPr>
          <a:xfrm>
            <a:off x="7239000" y="38290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text-756-442-Tạo G006 cho nội">
            <a:extLst>
              <a:ext uri="{FF2B5EF4-FFF2-40B4-BE49-F238E27FC236}">
                <a16:creationId xmlns:a16="http://schemas.microsoft.com/office/drawing/2014/main" id="{CA1E85CF-EEB9-456B-AEAB-D2B9C2E36C36}"/>
              </a:ext>
            </a:extLst>
          </p:cNvPr>
          <p:cNvSpPr>
            <a:spLocks noGrp="1"/>
          </p:cNvSpPr>
          <p:nvPr/>
        </p:nvSpPr>
        <p:spPr>
          <a:xfrm>
            <a:off x="7200900" y="4210050"/>
            <a:ext cx="18288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Tạo G006 cho nội dung đổi</a:t>
            </a:r>
          </a:p>
          <a:p>
            <a:pPr algn="ctr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Kết thúc Checkout trong phạm vi</a:t>
            </a:r>
          </a:p>
        </p:txBody>
      </p:sp>
      <p:sp>
        <p:nvSpPr>
          <p:cNvPr id="32" name="box-1000-388">
            <a:extLst>
              <a:ext uri="{FF2B5EF4-FFF2-40B4-BE49-F238E27FC236}">
                <a16:creationId xmlns:a16="http://schemas.microsoft.com/office/drawing/2014/main" id="{D0CEBEBC-B17E-4201-BB27-AA695F8B7306}"/>
              </a:ext>
            </a:extLst>
          </p:cNvPr>
          <p:cNvSpPr>
            <a:spLocks noGrp="1"/>
          </p:cNvSpPr>
          <p:nvPr/>
        </p:nvSpPr>
        <p:spPr>
          <a:xfrm>
            <a:off x="9525000" y="3695700"/>
            <a:ext cx="2095500" cy="1257300"/>
          </a:xfrm>
          <a:prstGeom prst="roundRect">
            <a:avLst>
              <a:gd name="adj" fmla="val 6061"/>
            </a:avLst>
          </a:prstGeom>
          <a:solidFill>
            <a:srgbClr val="FBEAEC"/>
          </a:solidFill>
          <a:ln w="15240">
            <a:solidFill>
              <a:srgbClr val="B9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-1018-402-FAIL">
            <a:extLst>
              <a:ext uri="{FF2B5EF4-FFF2-40B4-BE49-F238E27FC236}">
                <a16:creationId xmlns:a16="http://schemas.microsoft.com/office/drawing/2014/main" id="{EC60078F-FE34-4784-8239-2AAC86A759D8}"/>
              </a:ext>
            </a:extLst>
          </p:cNvPr>
          <p:cNvSpPr>
            <a:spLocks noGrp="1"/>
          </p:cNvSpPr>
          <p:nvPr/>
        </p:nvSpPr>
        <p:spPr>
          <a:xfrm>
            <a:off x="9696450" y="3829050"/>
            <a:ext cx="1752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B94A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4A55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34" name="text-1014-442-Chặn ghi không a">
            <a:extLst>
              <a:ext uri="{FF2B5EF4-FFF2-40B4-BE49-F238E27FC236}">
                <a16:creationId xmlns:a16="http://schemas.microsoft.com/office/drawing/2014/main" id="{6DF4A92A-AA8D-4294-8058-BA55AA805C58}"/>
              </a:ext>
            </a:extLst>
          </p:cNvPr>
          <p:cNvSpPr>
            <a:spLocks noGrp="1"/>
          </p:cNvSpPr>
          <p:nvPr/>
        </p:nvSpPr>
        <p:spPr>
          <a:xfrm>
            <a:off x="9658350" y="4210050"/>
            <a:ext cx="18288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Chặn ghi không an toàn</a:t>
            </a:r>
          </a:p>
          <a:p>
            <a:pPr algn="ctr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Giữ local work + giải thích</a:t>
            </a:r>
          </a:p>
        </p:txBody>
      </p:sp>
      <p:sp>
        <p:nvSpPr>
          <p:cNvPr id="35" name="text-890-338-↙">
            <a:extLst>
              <a:ext uri="{FF2B5EF4-FFF2-40B4-BE49-F238E27FC236}">
                <a16:creationId xmlns:a16="http://schemas.microsoft.com/office/drawing/2014/main" id="{116EDA75-AA3D-4EDB-920A-EEAD3C1AAB1E}"/>
              </a:ext>
            </a:extLst>
          </p:cNvPr>
          <p:cNvSpPr>
            <a:spLocks noGrp="1"/>
          </p:cNvSpPr>
          <p:nvPr/>
        </p:nvSpPr>
        <p:spPr>
          <a:xfrm>
            <a:off x="8477250" y="3219450"/>
            <a:ext cx="514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↙</a:t>
            </a:r>
          </a:p>
        </p:txBody>
      </p:sp>
      <p:sp>
        <p:nvSpPr>
          <p:cNvPr id="36" name="text-1090-338-↘">
            <a:extLst>
              <a:ext uri="{FF2B5EF4-FFF2-40B4-BE49-F238E27FC236}">
                <a16:creationId xmlns:a16="http://schemas.microsoft.com/office/drawing/2014/main" id="{B76E309F-CB9E-4F0C-9A3F-B7942051C175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514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B94A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4A55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37" name="box-58-374">
            <a:extLst>
              <a:ext uri="{FF2B5EF4-FFF2-40B4-BE49-F238E27FC236}">
                <a16:creationId xmlns:a16="http://schemas.microsoft.com/office/drawing/2014/main" id="{46752C9C-CD34-4C83-84A0-016C9E169A57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5619750" cy="194310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box-82-394">
            <a:extLst>
              <a:ext uri="{FF2B5EF4-FFF2-40B4-BE49-F238E27FC236}">
                <a16:creationId xmlns:a16="http://schemas.microsoft.com/office/drawing/2014/main" id="{01057998-3C07-4136-85C3-08FD8EB1CC66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7890A6"/>
          </a:solidFill>
          <a:ln w="7620">
            <a:solidFill>
              <a:srgbClr val="7890A6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39" name="text-82-444-Mở bản tham khảo">
            <a:extLst>
              <a:ext uri="{FF2B5EF4-FFF2-40B4-BE49-F238E27FC236}">
                <a16:creationId xmlns:a16="http://schemas.microsoft.com/office/drawing/2014/main" id="{C70B7494-EAB2-4EFD-AA33-D6CB27DDBF78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50292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Mở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bản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tham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khảo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theo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đúng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Generation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nhưng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không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nhận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quyền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công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bố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vào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tài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liệu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gốc</a:t>
            </a:r>
            <a:r>
              <a:rPr sz="1350" b="0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0" name="text-82-510-Nếu bản Referenc">
            <a:extLst>
              <a:ext uri="{FF2B5EF4-FFF2-40B4-BE49-F238E27FC236}">
                <a16:creationId xmlns:a16="http://schemas.microsoft.com/office/drawing/2014/main" id="{F87FFFCD-8B00-4AC9-9896-9058F84C6E73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50292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Nếu bản Reference bị sửa, UI phải đưa ra lựa chọn an toàn; không Check-in trực tiếp lên bản gốc.</a:t>
            </a:r>
          </a:p>
        </p:txBody>
      </p:sp>
      <p:sp>
        <p:nvSpPr>
          <p:cNvPr id="41" name="box-684-542">
            <a:extLst>
              <a:ext uri="{FF2B5EF4-FFF2-40B4-BE49-F238E27FC236}">
                <a16:creationId xmlns:a16="http://schemas.microsoft.com/office/drawing/2014/main" id="{5D4AE206-4358-4250-9951-C647997794DC}"/>
              </a:ext>
            </a:extLst>
          </p:cNvPr>
          <p:cNvSpPr>
            <a:spLocks noGrp="1"/>
          </p:cNvSpPr>
          <p:nvPr/>
        </p:nvSpPr>
        <p:spPr>
          <a:xfrm>
            <a:off x="6515100" y="5162550"/>
            <a:ext cx="5105400" cy="685800"/>
          </a:xfrm>
          <a:prstGeom prst="roundRect">
            <a:avLst>
              <a:gd name="adj" fmla="val 11111"/>
            </a:avLst>
          </a:prstGeom>
          <a:solidFill>
            <a:srgbClr val="102744"/>
          </a:solidFill>
          <a:ln w="1143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Checkout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soát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quyền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sửa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Check-in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thay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đổi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vào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thống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17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ox-0-0">
            <a:extLst>
              <a:ext uri="{FF2B5EF4-FFF2-40B4-BE49-F238E27FC236}">
                <a16:creationId xmlns:a16="http://schemas.microsoft.com/office/drawing/2014/main" id="{9F1D4405-A04E-4C2A-90E2-7482D1C9F5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57CC096A-5B21-43F6-BFFF-52CB9286DB8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Product S">
            <a:extLst>
              <a:ext uri="{FF2B5EF4-FFF2-40B4-BE49-F238E27FC236}">
                <a16:creationId xmlns:a16="http://schemas.microsoft.com/office/drawing/2014/main" id="{510959A2-0FC1-45DF-A7F2-BB00EB343E9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Product Structure phải tái tạo được lịch sử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6A86EDAE-701A-41E3-9E7E-2580A1F64229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DO">
            <a:extLst>
              <a:ext uri="{FF2B5EF4-FFF2-40B4-BE49-F238E27FC236}">
                <a16:creationId xmlns:a16="http://schemas.microsoft.com/office/drawing/2014/main" id="{83F18950-90B8-4432-9E75-6F598C77E239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DOC-05@0.20 · DOC-06@0.16</a:t>
            </a:r>
          </a:p>
        </p:txBody>
      </p:sp>
      <p:sp>
        <p:nvSpPr>
          <p:cNvPr id="6" name="text-1170-680-08">
            <a:extLst>
              <a:ext uri="{FF2B5EF4-FFF2-40B4-BE49-F238E27FC236}">
                <a16:creationId xmlns:a16="http://schemas.microsoft.com/office/drawing/2014/main" id="{DB07DD9F-63B9-462F-AD6C-8C6C5E193AC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diagram-source-8">
            <a:extLst>
              <a:ext uri="{FF2B5EF4-FFF2-40B4-BE49-F238E27FC236}">
                <a16:creationId xmlns:a16="http://schemas.microsoft.com/office/drawing/2014/main" id="{597A4823-7840-4AEC-8AF3-CC4F4F247135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Simplified from DATA-VIEW-CORE-001</a:t>
            </a:r>
          </a:p>
        </p:txBody>
      </p:sp>
      <p:sp>
        <p:nvSpPr>
          <p:cNvPr id="8" name="source-link-8-DATA-VIEW-CORE-001">
            <a:hlinkClick r:id="rId3"/>
            <a:extLst>
              <a:ext uri="{FF2B5EF4-FFF2-40B4-BE49-F238E27FC236}">
                <a16:creationId xmlns:a16="http://schemas.microsoft.com/office/drawing/2014/main" id="{63FB207E-9E7D-431C-BA8D-908D5D898FAE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DATA-VIEW-CORE-001 · Released baseline identity ↗</a:t>
            </a:r>
          </a:p>
        </p:txBody>
      </p:sp>
      <p:sp>
        <p:nvSpPr>
          <p:cNvPr id="9" name="box-64-154">
            <a:extLst>
              <a:ext uri="{FF2B5EF4-FFF2-40B4-BE49-F238E27FC236}">
                <a16:creationId xmlns:a16="http://schemas.microsoft.com/office/drawing/2014/main" id="{50710715-B6EF-40F1-9448-D8BC7D90545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3333750" cy="424815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-90-178">
            <a:extLst>
              <a:ext uri="{FF2B5EF4-FFF2-40B4-BE49-F238E27FC236}">
                <a16:creationId xmlns:a16="http://schemas.microsoft.com/office/drawing/2014/main" id="{FCD20868-1052-4803-82B2-3EFAF592197B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2838450" cy="323850"/>
          </a:xfrm>
          <a:prstGeom prst="roundRect">
            <a:avLst>
              <a:gd name="adj" fmla="val 23529"/>
            </a:avLst>
          </a:prstGeom>
          <a:solidFill>
            <a:srgbClr val="102744"/>
          </a:solidFill>
          <a:ln w="762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CẤU TRÚC TẠI THỜI ĐIỂM RELEASE</a:t>
            </a:r>
          </a:p>
        </p:txBody>
      </p:sp>
      <p:sp>
        <p:nvSpPr>
          <p:cNvPr id="11" name="box-136-242">
            <a:extLst>
              <a:ext uri="{FF2B5EF4-FFF2-40B4-BE49-F238E27FC236}">
                <a16:creationId xmlns:a16="http://schemas.microsoft.com/office/drawing/2014/main" id="{C72CD8B0-5D11-4D1C-A233-231F7543B1A1}"/>
              </a:ext>
            </a:extLst>
          </p:cNvPr>
          <p:cNvSpPr>
            <a:spLocks noGrp="1"/>
          </p:cNvSpPr>
          <p:nvPr/>
        </p:nvSpPr>
        <p:spPr>
          <a:xfrm>
            <a:off x="1295400" y="2305050"/>
            <a:ext cx="1981200" cy="666750"/>
          </a:xfrm>
          <a:prstGeom prst="roundRect">
            <a:avLst>
              <a:gd name="adj" fmla="val 11429"/>
            </a:avLst>
          </a:prstGeom>
          <a:solidFill>
            <a:srgbClr val="EAF3F9"/>
          </a:solidFill>
          <a:ln w="1143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Assembly A</a:t>
            </a:r>
          </a:p>
        </p:txBody>
      </p:sp>
      <p:sp>
        <p:nvSpPr>
          <p:cNvPr id="12" name="line-238-312">
            <a:extLst>
              <a:ext uri="{FF2B5EF4-FFF2-40B4-BE49-F238E27FC236}">
                <a16:creationId xmlns:a16="http://schemas.microsoft.com/office/drawing/2014/main" id="{43FEA16A-29A3-4D71-809D-1D262AA12372}"/>
              </a:ext>
            </a:extLst>
          </p:cNvPr>
          <p:cNvSpPr>
            <a:spLocks noGrp="1"/>
          </p:cNvSpPr>
          <p:nvPr/>
        </p:nvSpPr>
        <p:spPr>
          <a:xfrm>
            <a:off x="2266950" y="2971800"/>
            <a:ext cx="28575" cy="609600"/>
          </a:xfrm>
          <a:prstGeom prst="rect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-146-374">
            <a:extLst>
              <a:ext uri="{FF2B5EF4-FFF2-40B4-BE49-F238E27FC236}">
                <a16:creationId xmlns:a16="http://schemas.microsoft.com/office/drawing/2014/main" id="{7363C5B0-CEC1-4E69-9A2B-6B9FE73EFD7A}"/>
              </a:ext>
            </a:extLst>
          </p:cNvPr>
          <p:cNvSpPr>
            <a:spLocks noGrp="1"/>
          </p:cNvSpPr>
          <p:nvPr/>
        </p:nvSpPr>
        <p:spPr>
          <a:xfrm>
            <a:off x="1390650" y="3562350"/>
            <a:ext cx="1790700" cy="28575"/>
          </a:xfrm>
          <a:prstGeom prst="rect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-134-374">
            <a:extLst>
              <a:ext uri="{FF2B5EF4-FFF2-40B4-BE49-F238E27FC236}">
                <a16:creationId xmlns:a16="http://schemas.microsoft.com/office/drawing/2014/main" id="{B2990549-14E7-49BE-8FF0-47E198D65BE1}"/>
              </a:ext>
            </a:extLst>
          </p:cNvPr>
          <p:cNvSpPr>
            <a:spLocks noGrp="1"/>
          </p:cNvSpPr>
          <p:nvPr/>
        </p:nvSpPr>
        <p:spPr>
          <a:xfrm>
            <a:off x="1276350" y="3562350"/>
            <a:ext cx="28575" cy="266700"/>
          </a:xfrm>
          <a:prstGeom prst="rect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-78-402">
            <a:extLst>
              <a:ext uri="{FF2B5EF4-FFF2-40B4-BE49-F238E27FC236}">
                <a16:creationId xmlns:a16="http://schemas.microsoft.com/office/drawing/2014/main" id="{507B97D7-A810-4B9E-8E30-2837F7C3D7F4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990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Part B</a:t>
            </a:r>
          </a:p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6" name="line-246-374">
            <a:extLst>
              <a:ext uri="{FF2B5EF4-FFF2-40B4-BE49-F238E27FC236}">
                <a16:creationId xmlns:a16="http://schemas.microsoft.com/office/drawing/2014/main" id="{32F8A81C-B955-43D6-ADD9-F92314FCA882}"/>
              </a:ext>
            </a:extLst>
          </p:cNvPr>
          <p:cNvSpPr>
            <a:spLocks noGrp="1"/>
          </p:cNvSpPr>
          <p:nvPr/>
        </p:nvSpPr>
        <p:spPr>
          <a:xfrm>
            <a:off x="2343150" y="3562350"/>
            <a:ext cx="28575" cy="266700"/>
          </a:xfrm>
          <a:prstGeom prst="rect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-190-402">
            <a:extLst>
              <a:ext uri="{FF2B5EF4-FFF2-40B4-BE49-F238E27FC236}">
                <a16:creationId xmlns:a16="http://schemas.microsoft.com/office/drawing/2014/main" id="{7EB4500A-88FD-47B9-B83B-3C9D2BA90001}"/>
              </a:ext>
            </a:extLst>
          </p:cNvPr>
          <p:cNvSpPr>
            <a:spLocks noGrp="1"/>
          </p:cNvSpPr>
          <p:nvPr/>
        </p:nvSpPr>
        <p:spPr>
          <a:xfrm>
            <a:off x="1809750" y="3829050"/>
            <a:ext cx="990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Part C</a:t>
            </a:r>
          </a:p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8" name="line-358-374">
            <a:extLst>
              <a:ext uri="{FF2B5EF4-FFF2-40B4-BE49-F238E27FC236}">
                <a16:creationId xmlns:a16="http://schemas.microsoft.com/office/drawing/2014/main" id="{BB3EA4F4-D734-4E07-85ED-48BF78DC9A4D}"/>
              </a:ext>
            </a:extLst>
          </p:cNvPr>
          <p:cNvSpPr>
            <a:spLocks noGrp="1"/>
          </p:cNvSpPr>
          <p:nvPr/>
        </p:nvSpPr>
        <p:spPr>
          <a:xfrm>
            <a:off x="3409950" y="3562350"/>
            <a:ext cx="28575" cy="266700"/>
          </a:xfrm>
          <a:prstGeom prst="rect">
            <a:avLst/>
          </a:prstGeom>
          <a:solidFill>
            <a:srgbClr val="7890A6"/>
          </a:solidFill>
          <a:ln w="0">
            <a:solidFill>
              <a:srgbClr val="789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-302-402">
            <a:extLst>
              <a:ext uri="{FF2B5EF4-FFF2-40B4-BE49-F238E27FC236}">
                <a16:creationId xmlns:a16="http://schemas.microsoft.com/office/drawing/2014/main" id="{4A2EA0D5-041C-4C00-A2BA-E801E2069E8E}"/>
              </a:ext>
            </a:extLst>
          </p:cNvPr>
          <p:cNvSpPr>
            <a:spLocks noGrp="1"/>
          </p:cNvSpPr>
          <p:nvPr/>
        </p:nvSpPr>
        <p:spPr>
          <a:xfrm>
            <a:off x="2876550" y="3829050"/>
            <a:ext cx="9906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Drawing D</a:t>
            </a:r>
          </a:p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20" name="text-98-510-Quan hệ + occurr">
            <a:extLst>
              <a:ext uri="{FF2B5EF4-FFF2-40B4-BE49-F238E27FC236}">
                <a16:creationId xmlns:a16="http://schemas.microsoft.com/office/drawing/2014/main" id="{1599D5F7-7CBD-4B68-A647-8B39873F649D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2686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Quan hệ + occurrence + số lượng</a:t>
            </a:r>
          </a:p>
          <a:p>
            <a:pPr algn="ctr">
              <a:defRPr sz="12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được ghi nhận cùng baseline</a:t>
            </a:r>
          </a:p>
        </p:txBody>
      </p:sp>
      <p:sp>
        <p:nvSpPr>
          <p:cNvPr id="21" name="text-430-330-→">
            <a:extLst>
              <a:ext uri="{FF2B5EF4-FFF2-40B4-BE49-F238E27FC236}">
                <a16:creationId xmlns:a16="http://schemas.microsoft.com/office/drawing/2014/main" id="{4022BFFC-D58A-4958-A0E4-9CBC241BA2C7}"/>
              </a:ext>
            </a:extLst>
          </p:cNvPr>
          <p:cNvSpPr>
            <a:spLocks noGrp="1"/>
          </p:cNvSpPr>
          <p:nvPr/>
        </p:nvSpPr>
        <p:spPr>
          <a:xfrm>
            <a:off x="4095750" y="3143250"/>
            <a:ext cx="5524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70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box-500-150">
            <a:extLst>
              <a:ext uri="{FF2B5EF4-FFF2-40B4-BE49-F238E27FC236}">
                <a16:creationId xmlns:a16="http://schemas.microsoft.com/office/drawing/2014/main" id="{F3347B23-84A4-418F-8B26-1E5677C91823}"/>
              </a:ext>
            </a:extLst>
          </p:cNvPr>
          <p:cNvSpPr>
            <a:spLocks noGrp="1"/>
          </p:cNvSpPr>
          <p:nvPr/>
        </p:nvSpPr>
        <p:spPr>
          <a:xfrm>
            <a:off x="4762500" y="1428750"/>
            <a:ext cx="3219450" cy="4286250"/>
          </a:xfrm>
          <a:prstGeom prst="roundRect">
            <a:avLst>
              <a:gd name="adj" fmla="val 2367"/>
            </a:avLst>
          </a:prstGeom>
          <a:solidFill>
            <a:srgbClr val="E7F5EE"/>
          </a:solidFill>
          <a:ln w="19050">
            <a:solidFill>
              <a:srgbClr val="2D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-530-176">
            <a:extLst>
              <a:ext uri="{FF2B5EF4-FFF2-40B4-BE49-F238E27FC236}">
                <a16:creationId xmlns:a16="http://schemas.microsoft.com/office/drawing/2014/main" id="{7C2256AF-4644-4728-B569-3A7FB2CB39AD}"/>
              </a:ext>
            </a:extLst>
          </p:cNvPr>
          <p:cNvSpPr>
            <a:spLocks noGrp="1"/>
          </p:cNvSpPr>
          <p:nvPr/>
        </p:nvSpPr>
        <p:spPr>
          <a:xfrm>
            <a:off x="5048250" y="1676400"/>
            <a:ext cx="2647950" cy="323850"/>
          </a:xfrm>
          <a:prstGeom prst="roundRect">
            <a:avLst>
              <a:gd name="adj" fmla="val 23529"/>
            </a:avLst>
          </a:prstGeom>
          <a:solidFill>
            <a:srgbClr val="2D8A62"/>
          </a:solidFill>
          <a:ln w="762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 SNAPSHOT S12</a:t>
            </a:r>
          </a:p>
        </p:txBody>
      </p:sp>
      <p:sp>
        <p:nvSpPr>
          <p:cNvPr id="24" name="text-542-228-Exact immutable ">
            <a:extLst>
              <a:ext uri="{FF2B5EF4-FFF2-40B4-BE49-F238E27FC236}">
                <a16:creationId xmlns:a16="http://schemas.microsoft.com/office/drawing/2014/main" id="{60394376-1380-4117-A728-92B60435CD5E}"/>
              </a:ext>
            </a:extLst>
          </p:cNvPr>
          <p:cNvSpPr>
            <a:spLocks noGrp="1"/>
          </p:cNvSpPr>
          <p:nvPr/>
        </p:nvSpPr>
        <p:spPr>
          <a:xfrm>
            <a:off x="5162550" y="2171700"/>
            <a:ext cx="24193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Exact immutable pins</a:t>
            </a:r>
          </a:p>
        </p:txBody>
      </p:sp>
      <p:sp>
        <p:nvSpPr>
          <p:cNvPr id="25" name="box-546-286">
            <a:extLst>
              <a:ext uri="{FF2B5EF4-FFF2-40B4-BE49-F238E27FC236}">
                <a16:creationId xmlns:a16="http://schemas.microsoft.com/office/drawing/2014/main" id="{EDDECCE3-35FF-4D68-8B9F-1D9A70F7643A}"/>
              </a:ext>
            </a:extLst>
          </p:cNvPr>
          <p:cNvSpPr>
            <a:spLocks noGrp="1"/>
          </p:cNvSpPr>
          <p:nvPr/>
        </p:nvSpPr>
        <p:spPr>
          <a:xfrm>
            <a:off x="5200650" y="2724150"/>
            <a:ext cx="23431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Assembly A  →  Generation hiện hành</a:t>
            </a:r>
          </a:p>
        </p:txBody>
      </p:sp>
      <p:sp>
        <p:nvSpPr>
          <p:cNvPr id="26" name="box-546-348">
            <a:extLst>
              <a:ext uri="{FF2B5EF4-FFF2-40B4-BE49-F238E27FC236}">
                <a16:creationId xmlns:a16="http://schemas.microsoft.com/office/drawing/2014/main" id="{9D2D7E61-326F-434F-B25D-FCE261262D00}"/>
              </a:ext>
            </a:extLst>
          </p:cNvPr>
          <p:cNvSpPr>
            <a:spLocks noGrp="1"/>
          </p:cNvSpPr>
          <p:nvPr/>
        </p:nvSpPr>
        <p:spPr>
          <a:xfrm>
            <a:off x="5200650" y="3314700"/>
            <a:ext cx="23431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Part B  →  B3</a:t>
            </a:r>
          </a:p>
        </p:txBody>
      </p:sp>
      <p:sp>
        <p:nvSpPr>
          <p:cNvPr id="27" name="box-546-410">
            <a:extLst>
              <a:ext uri="{FF2B5EF4-FFF2-40B4-BE49-F238E27FC236}">
                <a16:creationId xmlns:a16="http://schemas.microsoft.com/office/drawing/2014/main" id="{BEAB39E6-CC15-4EA9-BE0B-4D121470EC33}"/>
              </a:ext>
            </a:extLst>
          </p:cNvPr>
          <p:cNvSpPr>
            <a:spLocks noGrp="1"/>
          </p:cNvSpPr>
          <p:nvPr/>
        </p:nvSpPr>
        <p:spPr>
          <a:xfrm>
            <a:off x="5200650" y="3905250"/>
            <a:ext cx="23431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Part C  →  C9</a:t>
            </a:r>
          </a:p>
        </p:txBody>
      </p:sp>
      <p:sp>
        <p:nvSpPr>
          <p:cNvPr id="28" name="box-546-472">
            <a:extLst>
              <a:ext uri="{FF2B5EF4-FFF2-40B4-BE49-F238E27FC236}">
                <a16:creationId xmlns:a16="http://schemas.microsoft.com/office/drawing/2014/main" id="{78D7FD85-F0AD-41E1-97AA-6E3EA6111C01}"/>
              </a:ext>
            </a:extLst>
          </p:cNvPr>
          <p:cNvSpPr>
            <a:spLocks noGrp="1"/>
          </p:cNvSpPr>
          <p:nvPr/>
        </p:nvSpPr>
        <p:spPr>
          <a:xfrm>
            <a:off x="5200650" y="4495800"/>
            <a:ext cx="23431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Drawing D  →  D2</a:t>
            </a:r>
          </a:p>
        </p:txBody>
      </p:sp>
      <p:sp>
        <p:nvSpPr>
          <p:cNvPr id="30" name="text-850-330-→">
            <a:extLst>
              <a:ext uri="{FF2B5EF4-FFF2-40B4-BE49-F238E27FC236}">
                <a16:creationId xmlns:a16="http://schemas.microsoft.com/office/drawing/2014/main" id="{9C1768CB-ACA2-42C5-B9E7-7D275DB718DE}"/>
              </a:ext>
            </a:extLst>
          </p:cNvPr>
          <p:cNvSpPr>
            <a:spLocks noGrp="1"/>
          </p:cNvSpPr>
          <p:nvPr/>
        </p:nvSpPr>
        <p:spPr>
          <a:xfrm>
            <a:off x="8096250" y="3143250"/>
            <a:ext cx="5524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70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box-920-154">
            <a:extLst>
              <a:ext uri="{FF2B5EF4-FFF2-40B4-BE49-F238E27FC236}">
                <a16:creationId xmlns:a16="http://schemas.microsoft.com/office/drawing/2014/main" id="{C86B25DF-3EFC-42B4-A5BE-AB2F343A8481}"/>
              </a:ext>
            </a:extLst>
          </p:cNvPr>
          <p:cNvSpPr>
            <a:spLocks noGrp="1"/>
          </p:cNvSpPr>
          <p:nvPr/>
        </p:nvSpPr>
        <p:spPr>
          <a:xfrm>
            <a:off x="8763000" y="1466850"/>
            <a:ext cx="2838450" cy="4248150"/>
          </a:xfrm>
          <a:prstGeom prst="roundRect">
            <a:avLst>
              <a:gd name="adj" fmla="val 2685"/>
            </a:avLst>
          </a:prstGeom>
          <a:solidFill>
            <a:srgbClr val="FFF4DD"/>
          </a:solidFill>
          <a:ln w="14288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box-992-178">
            <a:extLst>
              <a:ext uri="{FF2B5EF4-FFF2-40B4-BE49-F238E27FC236}">
                <a16:creationId xmlns:a16="http://schemas.microsoft.com/office/drawing/2014/main" id="{9AA0D8C7-304B-4893-931C-9FA084BBE329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C58A1E"/>
          </a:solidFill>
          <a:ln w="762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SAU NÀY</a:t>
            </a:r>
          </a:p>
        </p:txBody>
      </p:sp>
      <p:sp>
        <p:nvSpPr>
          <p:cNvPr id="33" name="text-964-260-Part B">
            <a:extLst>
              <a:ext uri="{FF2B5EF4-FFF2-40B4-BE49-F238E27FC236}">
                <a16:creationId xmlns:a16="http://schemas.microsoft.com/office/drawing/2014/main" id="{A5BD038F-B450-4B99-8D9B-499A27AEBF79}"/>
              </a:ext>
            </a:extLst>
          </p:cNvPr>
          <p:cNvSpPr>
            <a:spLocks noGrp="1"/>
          </p:cNvSpPr>
          <p:nvPr/>
        </p:nvSpPr>
        <p:spPr>
          <a:xfrm>
            <a:off x="9182100" y="2476500"/>
            <a:ext cx="933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Part B</a:t>
            </a:r>
          </a:p>
        </p:txBody>
      </p:sp>
      <p:sp>
        <p:nvSpPr>
          <p:cNvPr id="34" name="text-1074-260-B3  →  B4">
            <a:extLst>
              <a:ext uri="{FF2B5EF4-FFF2-40B4-BE49-F238E27FC236}">
                <a16:creationId xmlns:a16="http://schemas.microsoft.com/office/drawing/2014/main" id="{2CD57CB0-FC70-4DF9-A31C-3EEAA465BC25}"/>
              </a:ext>
            </a:extLst>
          </p:cNvPr>
          <p:cNvSpPr>
            <a:spLocks noGrp="1"/>
          </p:cNvSpPr>
          <p:nvPr/>
        </p:nvSpPr>
        <p:spPr>
          <a:xfrm>
            <a:off x="10229850" y="247650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B3  →  B4</a:t>
            </a:r>
          </a:p>
        </p:txBody>
      </p:sp>
      <p:sp>
        <p:nvSpPr>
          <p:cNvPr id="35" name="text-964-320-Part C">
            <a:extLst>
              <a:ext uri="{FF2B5EF4-FFF2-40B4-BE49-F238E27FC236}">
                <a16:creationId xmlns:a16="http://schemas.microsoft.com/office/drawing/2014/main" id="{49AB1710-E1D9-43B9-B91E-C082719813BD}"/>
              </a:ext>
            </a:extLst>
          </p:cNvPr>
          <p:cNvSpPr>
            <a:spLocks noGrp="1"/>
          </p:cNvSpPr>
          <p:nvPr/>
        </p:nvSpPr>
        <p:spPr>
          <a:xfrm>
            <a:off x="9182100" y="3048000"/>
            <a:ext cx="933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Part C</a:t>
            </a:r>
          </a:p>
        </p:txBody>
      </p:sp>
      <p:sp>
        <p:nvSpPr>
          <p:cNvPr id="36" name="text-1074-320-C9  →  C10">
            <a:extLst>
              <a:ext uri="{FF2B5EF4-FFF2-40B4-BE49-F238E27FC236}">
                <a16:creationId xmlns:a16="http://schemas.microsoft.com/office/drawing/2014/main" id="{67BCCC0A-FE7A-435F-B103-13F0CE76D5F8}"/>
              </a:ext>
            </a:extLst>
          </p:cNvPr>
          <p:cNvSpPr>
            <a:spLocks noGrp="1"/>
          </p:cNvSpPr>
          <p:nvPr/>
        </p:nvSpPr>
        <p:spPr>
          <a:xfrm>
            <a:off x="10229850" y="304800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C9  →  C10</a:t>
            </a:r>
          </a:p>
        </p:txBody>
      </p:sp>
      <p:sp>
        <p:nvSpPr>
          <p:cNvPr id="37" name="box-954-402">
            <a:extLst>
              <a:ext uri="{FF2B5EF4-FFF2-40B4-BE49-F238E27FC236}">
                <a16:creationId xmlns:a16="http://schemas.microsoft.com/office/drawing/2014/main" id="{7C3CF526-B63D-4A56-8EDB-82DEAC2FD36D}"/>
              </a:ext>
            </a:extLst>
          </p:cNvPr>
          <p:cNvSpPr>
            <a:spLocks noGrp="1"/>
          </p:cNvSpPr>
          <p:nvPr/>
        </p:nvSpPr>
        <p:spPr>
          <a:xfrm>
            <a:off x="9086850" y="3829050"/>
            <a:ext cx="2190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S12 vẫn là</a:t>
            </a:r>
          </a:p>
          <a:p>
            <a:pPr algn="ctr">
              <a:defRPr sz="17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B3 + C9 + D2</a:t>
            </a:r>
          </a:p>
        </p:txBody>
      </p:sp>
      <p:sp>
        <p:nvSpPr>
          <p:cNvPr id="38" name="text-958-530-Lịch sử không tự">
            <a:extLst>
              <a:ext uri="{FF2B5EF4-FFF2-40B4-BE49-F238E27FC236}">
                <a16:creationId xmlns:a16="http://schemas.microsoft.com/office/drawing/2014/main" id="{2DBFEAB3-7DDB-4D10-A8E1-5493509EFA26}"/>
              </a:ext>
            </a:extLst>
          </p:cNvPr>
          <p:cNvSpPr>
            <a:spLocks noGrp="1"/>
          </p:cNvSpPr>
          <p:nvPr/>
        </p:nvSpPr>
        <p:spPr>
          <a:xfrm>
            <a:off x="9124950" y="5048250"/>
            <a:ext cx="21145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Lịch sử không tự đổi theo head hiện tại</a:t>
            </a:r>
          </a:p>
        </p:txBody>
      </p:sp>
    </p:spTree>
    <p:extLst>
      <p:ext uri="{BB962C8B-B14F-4D97-AF65-F5344CB8AC3E}">
        <p14:creationId xmlns:p14="http://schemas.microsoft.com/office/powerpoint/2010/main" val="151478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ox-0-0">
            <a:extLst>
              <a:ext uri="{FF2B5EF4-FFF2-40B4-BE49-F238E27FC236}">
                <a16:creationId xmlns:a16="http://schemas.microsoft.com/office/drawing/2014/main" id="{9724BAA5-02BF-4567-A846-DD98021A32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5C671439-4FD7-4F50-868F-E5931C5A1BC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Release l">
            <a:extLst>
              <a:ext uri="{FF2B5EF4-FFF2-40B4-BE49-F238E27FC236}">
                <a16:creationId xmlns:a16="http://schemas.microsoft.com/office/drawing/2014/main" id="{E55C4D94-CF9C-4EC2-B051-3EADB72B6D19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Release là một baseline chính xác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1505EF83-50C0-439B-B89E-397F7FBC6B5F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DO">
            <a:extLst>
              <a:ext uri="{FF2B5EF4-FFF2-40B4-BE49-F238E27FC236}">
                <a16:creationId xmlns:a16="http://schemas.microsoft.com/office/drawing/2014/main" id="{E16A9A3F-DACC-4A6D-89BE-B3BBD9A93019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DOC-05@0.20 · DOC-06@0.16</a:t>
            </a:r>
          </a:p>
        </p:txBody>
      </p:sp>
      <p:sp>
        <p:nvSpPr>
          <p:cNvPr id="6" name="text-1170-680-09">
            <a:extLst>
              <a:ext uri="{FF2B5EF4-FFF2-40B4-BE49-F238E27FC236}">
                <a16:creationId xmlns:a16="http://schemas.microsoft.com/office/drawing/2014/main" id="{90788AFC-0EA9-4161-9CD4-6FD33A95D06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diagram-source-9">
            <a:extLst>
              <a:ext uri="{FF2B5EF4-FFF2-40B4-BE49-F238E27FC236}">
                <a16:creationId xmlns:a16="http://schemas.microsoft.com/office/drawing/2014/main" id="{F59938F8-D9E5-4183-A786-4335A2C35565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Simplified from ARCH-VIEW-SEQ-003</a:t>
            </a:r>
          </a:p>
        </p:txBody>
      </p:sp>
      <p:sp>
        <p:nvSpPr>
          <p:cNvPr id="8" name="source-link-9-ARCH-VIEW-SEQ-003">
            <a:hlinkClick r:id="rId3"/>
            <a:extLst>
              <a:ext uri="{FF2B5EF4-FFF2-40B4-BE49-F238E27FC236}">
                <a16:creationId xmlns:a16="http://schemas.microsoft.com/office/drawing/2014/main" id="{CE475D33-273D-464F-B5C0-80D032E85EA7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ARCH-VIEW-SEQ-003 · Review and Release ↗</a:t>
            </a:r>
          </a:p>
        </p:txBody>
      </p:sp>
      <p:sp>
        <p:nvSpPr>
          <p:cNvPr id="9" name="box-54-158">
            <a:extLst>
              <a:ext uri="{FF2B5EF4-FFF2-40B4-BE49-F238E27FC236}">
                <a16:creationId xmlns:a16="http://schemas.microsoft.com/office/drawing/2014/main" id="{8A4C6E09-F1EE-4DD8-83C6-24D9AB2F76DE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2857500" cy="167640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78-176-INPUT BASELINE">
            <a:extLst>
              <a:ext uri="{FF2B5EF4-FFF2-40B4-BE49-F238E27FC236}">
                <a16:creationId xmlns:a16="http://schemas.microsoft.com/office/drawing/2014/main" id="{7152D15E-3A27-4BCA-9FB7-F0BBAB29F0E5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400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INPUT BASELINE</a:t>
            </a:r>
          </a:p>
        </p:txBody>
      </p:sp>
      <p:sp>
        <p:nvSpPr>
          <p:cNvPr id="11" name="box-90-222">
            <a:extLst>
              <a:ext uri="{FF2B5EF4-FFF2-40B4-BE49-F238E27FC236}">
                <a16:creationId xmlns:a16="http://schemas.microsoft.com/office/drawing/2014/main" id="{94334434-0733-430C-817E-7F7E11FDA0FA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2171700" cy="29527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762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Exact Generations</a:t>
            </a:r>
          </a:p>
        </p:txBody>
      </p:sp>
      <p:sp>
        <p:nvSpPr>
          <p:cNvPr id="12" name="box-90-260">
            <a:extLst>
              <a:ext uri="{FF2B5EF4-FFF2-40B4-BE49-F238E27FC236}">
                <a16:creationId xmlns:a16="http://schemas.microsoft.com/office/drawing/2014/main" id="{2C695C50-E702-466C-BEF2-295A76CE8A75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2171700" cy="295275"/>
          </a:xfrm>
          <a:prstGeom prst="roundRect">
            <a:avLst>
              <a:gd name="adj" fmla="val 25806"/>
            </a:avLst>
          </a:prstGeom>
          <a:solidFill>
            <a:srgbClr val="E7F5EE"/>
          </a:solidFill>
          <a:ln w="762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Structure Snapshot</a:t>
            </a:r>
          </a:p>
        </p:txBody>
      </p:sp>
      <p:sp>
        <p:nvSpPr>
          <p:cNvPr id="13" name="box-90-298">
            <a:extLst>
              <a:ext uri="{FF2B5EF4-FFF2-40B4-BE49-F238E27FC236}">
                <a16:creationId xmlns:a16="http://schemas.microsoft.com/office/drawing/2014/main" id="{DF8239C9-1FCA-4FCD-BE9E-9E50091C2E7C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2171700" cy="29527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762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Required Representations</a:t>
            </a:r>
          </a:p>
        </p:txBody>
      </p:sp>
      <p:sp>
        <p:nvSpPr>
          <p:cNvPr id="14" name="text-360-214-→">
            <a:extLst>
              <a:ext uri="{FF2B5EF4-FFF2-40B4-BE49-F238E27FC236}">
                <a16:creationId xmlns:a16="http://schemas.microsoft.com/office/drawing/2014/main" id="{9A81B149-78E5-4CE2-A989-67AD8E9B882F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box-416-178">
            <a:extLst>
              <a:ext uri="{FF2B5EF4-FFF2-40B4-BE49-F238E27FC236}">
                <a16:creationId xmlns:a16="http://schemas.microsoft.com/office/drawing/2014/main" id="{8A43CF6B-2AC0-4227-927C-1233175BC199}"/>
              </a:ext>
            </a:extLst>
          </p:cNvPr>
          <p:cNvSpPr>
            <a:spLocks noGrp="1"/>
          </p:cNvSpPr>
          <p:nvPr/>
        </p:nvSpPr>
        <p:spPr>
          <a:xfrm>
            <a:off x="3962400" y="1695450"/>
            <a:ext cx="1352550" cy="800100"/>
          </a:xfrm>
          <a:prstGeom prst="roundRect">
            <a:avLst>
              <a:gd name="adj" fmla="val 9524"/>
            </a:avLst>
          </a:prstGeom>
          <a:solidFill>
            <a:srgbClr val="EAF3F9"/>
          </a:solidFill>
          <a:ln w="1143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6" name="text-562-198-→">
            <a:extLst>
              <a:ext uri="{FF2B5EF4-FFF2-40B4-BE49-F238E27FC236}">
                <a16:creationId xmlns:a16="http://schemas.microsoft.com/office/drawing/2014/main" id="{726438A4-B861-471D-A791-882406EB1BC5}"/>
              </a:ext>
            </a:extLst>
          </p:cNvPr>
          <p:cNvSpPr>
            <a:spLocks noGrp="1"/>
          </p:cNvSpPr>
          <p:nvPr/>
        </p:nvSpPr>
        <p:spPr>
          <a:xfrm>
            <a:off x="5353050" y="1885950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box-608-178">
            <a:extLst>
              <a:ext uri="{FF2B5EF4-FFF2-40B4-BE49-F238E27FC236}">
                <a16:creationId xmlns:a16="http://schemas.microsoft.com/office/drawing/2014/main" id="{A8D580CD-3CAA-4DE1-B272-6D21E60627ED}"/>
              </a:ext>
            </a:extLst>
          </p:cNvPr>
          <p:cNvSpPr>
            <a:spLocks noGrp="1"/>
          </p:cNvSpPr>
          <p:nvPr/>
        </p:nvSpPr>
        <p:spPr>
          <a:xfrm>
            <a:off x="5791200" y="1695450"/>
            <a:ext cx="1352550" cy="800100"/>
          </a:xfrm>
          <a:prstGeom prst="roundRect">
            <a:avLst>
              <a:gd name="adj" fmla="val 9524"/>
            </a:avLst>
          </a:prstGeom>
          <a:solidFill>
            <a:srgbClr val="EAF3F9"/>
          </a:solidFill>
          <a:ln w="1143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18" name="text-754-198-→">
            <a:extLst>
              <a:ext uri="{FF2B5EF4-FFF2-40B4-BE49-F238E27FC236}">
                <a16:creationId xmlns:a16="http://schemas.microsoft.com/office/drawing/2014/main" id="{34EC14D7-2434-4701-82B8-CC9BC86EC6F5}"/>
              </a:ext>
            </a:extLst>
          </p:cNvPr>
          <p:cNvSpPr>
            <a:spLocks noGrp="1"/>
          </p:cNvSpPr>
          <p:nvPr/>
        </p:nvSpPr>
        <p:spPr>
          <a:xfrm>
            <a:off x="7181850" y="1885950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box-800-146">
            <a:extLst>
              <a:ext uri="{FF2B5EF4-FFF2-40B4-BE49-F238E27FC236}">
                <a16:creationId xmlns:a16="http://schemas.microsoft.com/office/drawing/2014/main" id="{1D073892-6DE7-45B9-8C83-F18B7318F606}"/>
              </a:ext>
            </a:extLst>
          </p:cNvPr>
          <p:cNvSpPr>
            <a:spLocks noGrp="1"/>
          </p:cNvSpPr>
          <p:nvPr/>
        </p:nvSpPr>
        <p:spPr>
          <a:xfrm>
            <a:off x="7620000" y="1390650"/>
            <a:ext cx="2438400" cy="1409700"/>
          </a:xfrm>
          <a:prstGeom prst="roundRect">
            <a:avLst>
              <a:gd name="adj" fmla="val 5405"/>
            </a:avLst>
          </a:prstGeom>
          <a:solidFill>
            <a:srgbClr val="FFF4DD"/>
          </a:solidFill>
          <a:ln w="16193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818-162-RELEASE REVALIDA">
            <a:extLst>
              <a:ext uri="{FF2B5EF4-FFF2-40B4-BE49-F238E27FC236}">
                <a16:creationId xmlns:a16="http://schemas.microsoft.com/office/drawing/2014/main" id="{6CA98786-6D8C-4391-9482-0163152A7716}"/>
              </a:ext>
            </a:extLst>
          </p:cNvPr>
          <p:cNvSpPr>
            <a:spLocks noGrp="1"/>
          </p:cNvSpPr>
          <p:nvPr/>
        </p:nvSpPr>
        <p:spPr>
          <a:xfrm>
            <a:off x="7791450" y="15430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RELEASE REVALIDATION</a:t>
            </a:r>
          </a:p>
        </p:txBody>
      </p:sp>
      <p:sp>
        <p:nvSpPr>
          <p:cNvPr id="21" name="text-832-198-• Exact baseline">
            <a:extLst>
              <a:ext uri="{FF2B5EF4-FFF2-40B4-BE49-F238E27FC236}">
                <a16:creationId xmlns:a16="http://schemas.microsoft.com/office/drawing/2014/main" id="{F425CF7D-30DB-48C3-BC40-723C0C7A6E59}"/>
              </a:ext>
            </a:extLst>
          </p:cNvPr>
          <p:cNvSpPr>
            <a:spLocks noGrp="1"/>
          </p:cNvSpPr>
          <p:nvPr/>
        </p:nvSpPr>
        <p:spPr>
          <a:xfrm>
            <a:off x="7924800" y="188595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• Exact baseline</a:t>
            </a:r>
          </a:p>
        </p:txBody>
      </p:sp>
      <p:sp>
        <p:nvSpPr>
          <p:cNvPr id="22" name="text-832-216-• Đủ approval">
            <a:extLst>
              <a:ext uri="{FF2B5EF4-FFF2-40B4-BE49-F238E27FC236}">
                <a16:creationId xmlns:a16="http://schemas.microsoft.com/office/drawing/2014/main" id="{9E4416EA-824D-4096-858B-E3290AAAF5A9}"/>
              </a:ext>
            </a:extLst>
          </p:cNvPr>
          <p:cNvSpPr>
            <a:spLocks noGrp="1"/>
          </p:cNvSpPr>
          <p:nvPr/>
        </p:nvSpPr>
        <p:spPr>
          <a:xfrm>
            <a:off x="7924800" y="205740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• Đủ approval</a:t>
            </a:r>
          </a:p>
        </p:txBody>
      </p:sp>
      <p:sp>
        <p:nvSpPr>
          <p:cNvPr id="23" name="text-832-234-• Quyền hiện hàn">
            <a:extLst>
              <a:ext uri="{FF2B5EF4-FFF2-40B4-BE49-F238E27FC236}">
                <a16:creationId xmlns:a16="http://schemas.microsoft.com/office/drawing/2014/main" id="{008E9ACA-EA63-41CF-B6FE-5053C77994E3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• Quyền hiện hành</a:t>
            </a:r>
          </a:p>
        </p:txBody>
      </p:sp>
      <p:sp>
        <p:nvSpPr>
          <p:cNvPr id="24" name="text-832-252-• Cấu trúc đầy đ">
            <a:extLst>
              <a:ext uri="{FF2B5EF4-FFF2-40B4-BE49-F238E27FC236}">
                <a16:creationId xmlns:a16="http://schemas.microsoft.com/office/drawing/2014/main" id="{5AFC2D8A-D23D-4522-887A-5C9B67E21B4D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• Cấu trúc đầy đủ</a:t>
            </a:r>
          </a:p>
        </p:txBody>
      </p:sp>
      <p:sp>
        <p:nvSpPr>
          <p:cNvPr id="25" name="text-832-270-• Artifact sẵn s">
            <a:extLst>
              <a:ext uri="{FF2B5EF4-FFF2-40B4-BE49-F238E27FC236}">
                <a16:creationId xmlns:a16="http://schemas.microsoft.com/office/drawing/2014/main" id="{572C7E5E-4C8A-4D72-8332-A1634A18A43D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• Artifact sẵn sàng</a:t>
            </a:r>
          </a:p>
        </p:txBody>
      </p:sp>
      <p:sp>
        <p:nvSpPr>
          <p:cNvPr id="26" name="text-1062-198-→">
            <a:extLst>
              <a:ext uri="{FF2B5EF4-FFF2-40B4-BE49-F238E27FC236}">
                <a16:creationId xmlns:a16="http://schemas.microsoft.com/office/drawing/2014/main" id="{B4E72D36-23B6-48A0-BE81-20B11188973C}"/>
              </a:ext>
            </a:extLst>
          </p:cNvPr>
          <p:cNvSpPr>
            <a:spLocks noGrp="1"/>
          </p:cNvSpPr>
          <p:nvPr/>
        </p:nvSpPr>
        <p:spPr>
          <a:xfrm>
            <a:off x="10115550" y="1885950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box-1110-170">
            <a:extLst>
              <a:ext uri="{FF2B5EF4-FFF2-40B4-BE49-F238E27FC236}">
                <a16:creationId xmlns:a16="http://schemas.microsoft.com/office/drawing/2014/main" id="{F3058FF1-B320-4C6E-92B0-E45A11E6C1B6}"/>
              </a:ext>
            </a:extLst>
          </p:cNvPr>
          <p:cNvSpPr>
            <a:spLocks noGrp="1"/>
          </p:cNvSpPr>
          <p:nvPr/>
        </p:nvSpPr>
        <p:spPr>
          <a:xfrm>
            <a:off x="10572750" y="1619250"/>
            <a:ext cx="1104900" cy="952500"/>
          </a:xfrm>
          <a:prstGeom prst="roundRect">
            <a:avLst>
              <a:gd name="adj" fmla="val 8000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RELEASE</a:t>
            </a:r>
          </a:p>
          <a:p>
            <a:pPr algn="ctr">
              <a:defRPr sz="135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8" name="box-54-366">
            <a:extLst>
              <a:ext uri="{FF2B5EF4-FFF2-40B4-BE49-F238E27FC236}">
                <a16:creationId xmlns:a16="http://schemas.microsoft.com/office/drawing/2014/main" id="{B1CE9F4E-3ECF-4678-84B7-B5244318F75E}"/>
              </a:ext>
            </a:extLst>
          </p:cNvPr>
          <p:cNvSpPr>
            <a:spLocks noGrp="1"/>
          </p:cNvSpPr>
          <p:nvPr/>
        </p:nvSpPr>
        <p:spPr>
          <a:xfrm>
            <a:off x="514350" y="3486150"/>
            <a:ext cx="11163300" cy="2038350"/>
          </a:xfrm>
          <a:prstGeom prst="roundRect">
            <a:avLst>
              <a:gd name="adj" fmla="val 3738"/>
            </a:avLst>
          </a:prstGeom>
          <a:solidFill>
            <a:srgbClr val="102744"/>
          </a:solidFill>
          <a:ln w="11430">
            <a:solidFill>
              <a:srgbClr val="10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82-394-RELEASE">
            <a:extLst>
              <a:ext uri="{FF2B5EF4-FFF2-40B4-BE49-F238E27FC236}">
                <a16:creationId xmlns:a16="http://schemas.microsoft.com/office/drawing/2014/main" id="{7CA470E3-7A7B-4B64-AB1A-1D283BE53D2F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30" name="text-82-429-R24">
            <a:extLst>
              <a:ext uri="{FF2B5EF4-FFF2-40B4-BE49-F238E27FC236}">
                <a16:creationId xmlns:a16="http://schemas.microsoft.com/office/drawing/2014/main" id="{B723537B-BD52-4502-BA4F-3CC10CF8F1B0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R24</a:t>
            </a:r>
          </a:p>
        </p:txBody>
      </p:sp>
      <p:sp>
        <p:nvSpPr>
          <p:cNvPr id="31" name="text-84-466-baseline chính x">
            <a:extLst>
              <a:ext uri="{FF2B5EF4-FFF2-40B4-BE49-F238E27FC236}">
                <a16:creationId xmlns:a16="http://schemas.microsoft.com/office/drawing/2014/main" id="{5453A758-69EA-4BA6-B74D-94B761F9E806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17907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BFD7E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D7EA"/>
                </a:solidFill>
                <a:latin typeface="Arial"/>
                <a:ea typeface="Arial"/>
                <a:cs typeface="Arial"/>
              </a:rPr>
              <a:t>baseline chính xác</a:t>
            </a:r>
          </a:p>
        </p:txBody>
      </p:sp>
      <p:sp>
        <p:nvSpPr>
          <p:cNvPr id="32" name="box-296-392">
            <a:extLst>
              <a:ext uri="{FF2B5EF4-FFF2-40B4-BE49-F238E27FC236}">
                <a16:creationId xmlns:a16="http://schemas.microsoft.com/office/drawing/2014/main" id="{AE98BEAB-3F58-415B-8278-159C84F9BB01}"/>
              </a:ext>
            </a:extLst>
          </p:cNvPr>
          <p:cNvSpPr>
            <a:spLocks noGrp="1"/>
          </p:cNvSpPr>
          <p:nvPr/>
        </p:nvSpPr>
        <p:spPr>
          <a:xfrm>
            <a:off x="2819400" y="373380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1B3C61"/>
          </a:solidFill>
          <a:ln w="11430">
            <a:solidFill>
              <a:srgbClr val="42698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 pins</a:t>
            </a:r>
          </a:p>
        </p:txBody>
      </p:sp>
      <p:sp>
        <p:nvSpPr>
          <p:cNvPr id="33" name="box-480-392">
            <a:extLst>
              <a:ext uri="{FF2B5EF4-FFF2-40B4-BE49-F238E27FC236}">
                <a16:creationId xmlns:a16="http://schemas.microsoft.com/office/drawing/2014/main" id="{35E9C420-B5B9-4AEF-95B5-5229D415E0AB}"/>
              </a:ext>
            </a:extLst>
          </p:cNvPr>
          <p:cNvSpPr>
            <a:spLocks noGrp="1"/>
          </p:cNvSpPr>
          <p:nvPr/>
        </p:nvSpPr>
        <p:spPr>
          <a:xfrm>
            <a:off x="4572000" y="373380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1B3C61"/>
          </a:solidFill>
          <a:ln w="11430">
            <a:solidFill>
              <a:srgbClr val="42698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 pin(s)</a:t>
            </a:r>
          </a:p>
        </p:txBody>
      </p:sp>
      <p:sp>
        <p:nvSpPr>
          <p:cNvPr id="34" name="box-664-392">
            <a:extLst>
              <a:ext uri="{FF2B5EF4-FFF2-40B4-BE49-F238E27FC236}">
                <a16:creationId xmlns:a16="http://schemas.microsoft.com/office/drawing/2014/main" id="{097ACABF-DE76-4759-915E-B6E76889F191}"/>
              </a:ext>
            </a:extLst>
          </p:cNvPr>
          <p:cNvSpPr>
            <a:spLocks noGrp="1"/>
          </p:cNvSpPr>
          <p:nvPr/>
        </p:nvSpPr>
        <p:spPr>
          <a:xfrm>
            <a:off x="6324600" y="373380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1B3C61"/>
          </a:solidFill>
          <a:ln w="11430">
            <a:solidFill>
              <a:srgbClr val="42698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 + policy</a:t>
            </a:r>
          </a:p>
        </p:txBody>
      </p:sp>
      <p:sp>
        <p:nvSpPr>
          <p:cNvPr id="35" name="box-848-392">
            <a:extLst>
              <a:ext uri="{FF2B5EF4-FFF2-40B4-BE49-F238E27FC236}">
                <a16:creationId xmlns:a16="http://schemas.microsoft.com/office/drawing/2014/main" id="{99543A30-9E4F-4C80-B440-57B686672C5B}"/>
              </a:ext>
            </a:extLst>
          </p:cNvPr>
          <p:cNvSpPr>
            <a:spLocks noGrp="1"/>
          </p:cNvSpPr>
          <p:nvPr/>
        </p:nvSpPr>
        <p:spPr>
          <a:xfrm>
            <a:off x="8077200" y="373380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1B3C61"/>
          </a:solidFill>
          <a:ln w="11430">
            <a:solidFill>
              <a:srgbClr val="42698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 digests</a:t>
            </a:r>
          </a:p>
        </p:txBody>
      </p:sp>
      <p:sp>
        <p:nvSpPr>
          <p:cNvPr id="36" name="text-1038-404-→">
            <a:extLst>
              <a:ext uri="{FF2B5EF4-FFF2-40B4-BE49-F238E27FC236}">
                <a16:creationId xmlns:a16="http://schemas.microsoft.com/office/drawing/2014/main" id="{43A94F35-AE9F-4BFB-A1E3-8C56746FC849}"/>
              </a:ext>
            </a:extLst>
          </p:cNvPr>
          <p:cNvSpPr>
            <a:spLocks noGrp="1"/>
          </p:cNvSpPr>
          <p:nvPr/>
        </p:nvSpPr>
        <p:spPr>
          <a:xfrm>
            <a:off x="9886950" y="38481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box-1090-386">
            <a:extLst>
              <a:ext uri="{FF2B5EF4-FFF2-40B4-BE49-F238E27FC236}">
                <a16:creationId xmlns:a16="http://schemas.microsoft.com/office/drawing/2014/main" id="{4D30DEA2-D2A4-4776-B432-248376E3C9C9}"/>
              </a:ext>
            </a:extLst>
          </p:cNvPr>
          <p:cNvSpPr>
            <a:spLocks noGrp="1"/>
          </p:cNvSpPr>
          <p:nvPr/>
        </p:nvSpPr>
        <p:spPr>
          <a:xfrm>
            <a:off x="10382250" y="3676650"/>
            <a:ext cx="10668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Controlled</a:t>
            </a:r>
          </a:p>
          <a:p>
            <a:pPr algn="ctr">
              <a:defRPr sz="11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38" name="line-82-500">
            <a:extLst>
              <a:ext uri="{FF2B5EF4-FFF2-40B4-BE49-F238E27FC236}">
                <a16:creationId xmlns:a16="http://schemas.microsoft.com/office/drawing/2014/main" id="{E81F383E-7461-4B64-B005-7F96BB4C901A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0668000" cy="19050"/>
          </a:xfrm>
          <a:prstGeom prst="rect">
            <a:avLst/>
          </a:prstGeom>
          <a:solidFill>
            <a:srgbClr val="315377"/>
          </a:solidFill>
          <a:ln w="0">
            <a:solidFill>
              <a:srgbClr val="315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-84-518-Vài tháng sau">
            <a:extLst>
              <a:ext uri="{FF2B5EF4-FFF2-40B4-BE49-F238E27FC236}">
                <a16:creationId xmlns:a16="http://schemas.microsoft.com/office/drawing/2014/main" id="{21F45043-4264-4880-A0F0-8C4D5D4F34BF}"/>
              </a:ext>
            </a:extLst>
          </p:cNvPr>
          <p:cNvSpPr>
            <a:spLocks noGrp="1"/>
          </p:cNvSpPr>
          <p:nvPr/>
        </p:nvSpPr>
        <p:spPr>
          <a:xfrm>
            <a:off x="800100" y="49339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BFD7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D7EA"/>
                </a:solidFill>
                <a:latin typeface="Arial"/>
                <a:ea typeface="Arial"/>
                <a:cs typeface="Arial"/>
              </a:rPr>
              <a:t>Vài tháng sau</a:t>
            </a:r>
          </a:p>
        </p:txBody>
      </p:sp>
      <p:sp>
        <p:nvSpPr>
          <p:cNvPr id="40" name="text-252-513-→">
            <a:extLst>
              <a:ext uri="{FF2B5EF4-FFF2-40B4-BE49-F238E27FC236}">
                <a16:creationId xmlns:a16="http://schemas.microsoft.com/office/drawing/2014/main" id="{8452BDF8-1073-4C9C-8238-DD53E18E48D4}"/>
              </a:ext>
            </a:extLst>
          </p:cNvPr>
          <p:cNvSpPr>
            <a:spLocks noGrp="1"/>
          </p:cNvSpPr>
          <p:nvPr/>
        </p:nvSpPr>
        <p:spPr>
          <a:xfrm>
            <a:off x="2400300" y="4886325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" name="text-300-514-Retrieve R24">
            <a:extLst>
              <a:ext uri="{FF2B5EF4-FFF2-40B4-BE49-F238E27FC236}">
                <a16:creationId xmlns:a16="http://schemas.microsoft.com/office/drawing/2014/main" id="{6FDC2975-BEFC-41CC-801A-367B9DC47C06}"/>
              </a:ext>
            </a:extLst>
          </p:cNvPr>
          <p:cNvSpPr>
            <a:spLocks noGrp="1"/>
          </p:cNvSpPr>
          <p:nvPr/>
        </p:nvSpPr>
        <p:spPr>
          <a:xfrm>
            <a:off x="2857500" y="48958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 R24</a:t>
            </a:r>
          </a:p>
        </p:txBody>
      </p:sp>
      <p:sp>
        <p:nvSpPr>
          <p:cNvPr id="42" name="text-468-513-→">
            <a:extLst>
              <a:ext uri="{FF2B5EF4-FFF2-40B4-BE49-F238E27FC236}">
                <a16:creationId xmlns:a16="http://schemas.microsoft.com/office/drawing/2014/main" id="{E98989C7-7633-4F54-B456-E3E4A5BA4E99}"/>
              </a:ext>
            </a:extLst>
          </p:cNvPr>
          <p:cNvSpPr>
            <a:spLocks noGrp="1"/>
          </p:cNvSpPr>
          <p:nvPr/>
        </p:nvSpPr>
        <p:spPr>
          <a:xfrm>
            <a:off x="4457700" y="4886325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8EC7E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EC7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text-520-512-Đúng cùng Genera">
            <a:extLst>
              <a:ext uri="{FF2B5EF4-FFF2-40B4-BE49-F238E27FC236}">
                <a16:creationId xmlns:a16="http://schemas.microsoft.com/office/drawing/2014/main" id="{8B3DCE75-F758-4B2A-AA46-AEFA736DA17A}"/>
              </a:ext>
            </a:extLst>
          </p:cNvPr>
          <p:cNvSpPr>
            <a:spLocks noGrp="1"/>
          </p:cNvSpPr>
          <p:nvPr/>
        </p:nvSpPr>
        <p:spPr>
          <a:xfrm>
            <a:off x="4953000" y="487680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Đúng cùng Generation + Structure Snapshot + controlled artifacts</a:t>
            </a:r>
          </a:p>
        </p:txBody>
      </p:sp>
      <p:sp>
        <p:nvSpPr>
          <p:cNvPr id="44" name="text-126-614-Release không lấ">
            <a:extLst>
              <a:ext uri="{FF2B5EF4-FFF2-40B4-BE49-F238E27FC236}">
                <a16:creationId xmlns:a16="http://schemas.microsoft.com/office/drawing/2014/main" id="{65F53429-5BFF-428C-B6DD-495095F0148D}"/>
              </a:ext>
            </a:extLst>
          </p:cNvPr>
          <p:cNvSpPr>
            <a:spLocks noGrp="1"/>
          </p:cNvSpPr>
          <p:nvPr/>
        </p:nvSpPr>
        <p:spPr>
          <a:xfrm>
            <a:off x="1200150" y="5848350"/>
            <a:ext cx="9791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Release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không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lấy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file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mới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nhất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. Release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ghim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một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baseline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đã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duyệt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và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tái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tạo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02744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650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9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ox-0-0">
            <a:extLst>
              <a:ext uri="{FF2B5EF4-FFF2-40B4-BE49-F238E27FC236}">
                <a16:creationId xmlns:a16="http://schemas.microsoft.com/office/drawing/2014/main" id="{7D5B8E26-D4EE-4D0B-8A98-E4F571AF09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FB10B048-1764-4228-9007-91D53C4B753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Correctne">
            <a:extLst>
              <a:ext uri="{FF2B5EF4-FFF2-40B4-BE49-F238E27FC236}">
                <a16:creationId xmlns:a16="http://schemas.microsoft.com/office/drawing/2014/main" id="{8836F149-ED45-4758-861F-299BCF190AB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Correctness phải giữ được cả khi có lỗi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E9617032-03D0-4A27-B72D-2FBF1BDD169C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DO">
            <a:extLst>
              <a:ext uri="{FF2B5EF4-FFF2-40B4-BE49-F238E27FC236}">
                <a16:creationId xmlns:a16="http://schemas.microsoft.com/office/drawing/2014/main" id="{BBFF58C4-167A-4AF2-908A-F21BDACC1C52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DOC-05@0.20 · DOC-06@0.16</a:t>
            </a:r>
          </a:p>
        </p:txBody>
      </p:sp>
      <p:sp>
        <p:nvSpPr>
          <p:cNvPr id="6" name="text-1170-680-10">
            <a:extLst>
              <a:ext uri="{FF2B5EF4-FFF2-40B4-BE49-F238E27FC236}">
                <a16:creationId xmlns:a16="http://schemas.microsoft.com/office/drawing/2014/main" id="{AA91B0D4-2F06-446A-962F-81203D4E604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diagram-source-10">
            <a:extLst>
              <a:ext uri="{FF2B5EF4-FFF2-40B4-BE49-F238E27FC236}">
                <a16:creationId xmlns:a16="http://schemas.microsoft.com/office/drawing/2014/main" id="{2F2E3C29-9F60-4B3B-AE7B-D3BEFC9732AC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Sources: ARCH-VIEW-RBAC-001 · DATA-VIEW-AUTH-001</a:t>
            </a:r>
          </a:p>
        </p:txBody>
      </p:sp>
      <p:sp>
        <p:nvSpPr>
          <p:cNvPr id="8" name="source-link-10-DATA-VIEW-AUTH-001">
            <a:hlinkClick r:id="rId3"/>
            <a:extLst>
              <a:ext uri="{FF2B5EF4-FFF2-40B4-BE49-F238E27FC236}">
                <a16:creationId xmlns:a16="http://schemas.microsoft.com/office/drawing/2014/main" id="{456FC433-ACD1-4669-A1AA-C4C541BBDD12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DATA-VIEW-AUTH-001 · Authorization data ↗</a:t>
            </a:r>
          </a:p>
        </p:txBody>
      </p:sp>
      <p:sp>
        <p:nvSpPr>
          <p:cNvPr id="9" name="box-58-150">
            <a:extLst>
              <a:ext uri="{FF2B5EF4-FFF2-40B4-BE49-F238E27FC236}">
                <a16:creationId xmlns:a16="http://schemas.microsoft.com/office/drawing/2014/main" id="{205E12E7-040D-453C-8A48-7476CF97BDD1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5448300" cy="2038350"/>
          </a:xfrm>
          <a:prstGeom prst="roundRect">
            <a:avLst>
              <a:gd name="adj" fmla="val 3738"/>
            </a:avLst>
          </a:prstGeom>
          <a:solidFill>
            <a:srgbClr val="EAF3F9"/>
          </a:solidFill>
          <a:ln w="14288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-76-166">
            <a:extLst>
              <a:ext uri="{FF2B5EF4-FFF2-40B4-BE49-F238E27FC236}">
                <a16:creationId xmlns:a16="http://schemas.microsoft.com/office/drawing/2014/main" id="{E4D4334D-6863-4598-BC78-38E4D030552B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2169A8"/>
          </a:solidFill>
          <a:ln w="762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· AUTHORIZATION</a:t>
            </a:r>
          </a:p>
        </p:txBody>
      </p:sp>
      <p:sp>
        <p:nvSpPr>
          <p:cNvPr id="11" name="box-80-225">
            <a:extLst>
              <a:ext uri="{FF2B5EF4-FFF2-40B4-BE49-F238E27FC236}">
                <a16:creationId xmlns:a16="http://schemas.microsoft.com/office/drawing/2014/main" id="{BFDF6D9C-B6CA-42F4-8FD6-E597957BA46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47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863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Current</a:t>
            </a:r>
          </a:p>
          <a:p>
            <a:pPr algn="ctr">
              <a:defRPr sz="863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Principal</a:t>
            </a:r>
          </a:p>
        </p:txBody>
      </p:sp>
      <p:sp>
        <p:nvSpPr>
          <p:cNvPr id="12" name="box-208-225">
            <a:extLst>
              <a:ext uri="{FF2B5EF4-FFF2-40B4-BE49-F238E27FC236}">
                <a16:creationId xmlns:a16="http://schemas.microsoft.com/office/drawing/2014/main" id="{55F6C711-9777-4D0A-A2D3-CA656FC2EB1B}"/>
              </a:ext>
            </a:extLst>
          </p:cNvPr>
          <p:cNvSpPr>
            <a:spLocks noGrp="1"/>
          </p:cNvSpPr>
          <p:nvPr/>
        </p:nvSpPr>
        <p:spPr>
          <a:xfrm>
            <a:off x="1981200" y="2143125"/>
            <a:ext cx="1238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863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Role Definition</a:t>
            </a:r>
          </a:p>
          <a:p>
            <a:pPr algn="ctr">
              <a:defRPr sz="863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Version (exact)</a:t>
            </a:r>
          </a:p>
        </p:txBody>
      </p:sp>
      <p:sp>
        <p:nvSpPr>
          <p:cNvPr id="13" name="box-354-225">
            <a:extLst>
              <a:ext uri="{FF2B5EF4-FFF2-40B4-BE49-F238E27FC236}">
                <a16:creationId xmlns:a16="http://schemas.microsoft.com/office/drawing/2014/main" id="{5D8E5D00-3A9B-43FF-A74B-D55F01749529}"/>
              </a:ext>
            </a:extLst>
          </p:cNvPr>
          <p:cNvSpPr>
            <a:spLocks noGrp="1"/>
          </p:cNvSpPr>
          <p:nvPr/>
        </p:nvSpPr>
        <p:spPr>
          <a:xfrm>
            <a:off x="3371850" y="2143125"/>
            <a:ext cx="1047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863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Authorization</a:t>
            </a:r>
          </a:p>
          <a:p>
            <a:pPr algn="ctr">
              <a:defRPr sz="863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4" name="text-190-240-+">
            <a:extLst>
              <a:ext uri="{FF2B5EF4-FFF2-40B4-BE49-F238E27FC236}">
                <a16:creationId xmlns:a16="http://schemas.microsoft.com/office/drawing/2014/main" id="{67EEA755-87DB-4B6E-A513-524E40B395CC}"/>
              </a:ext>
            </a:extLst>
          </p:cNvPr>
          <p:cNvSpPr>
            <a:spLocks noGrp="1"/>
          </p:cNvSpPr>
          <p:nvPr/>
        </p:nvSpPr>
        <p:spPr>
          <a:xfrm>
            <a:off x="1809750" y="2286000"/>
            <a:ext cx="171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text-336-240-+">
            <a:extLst>
              <a:ext uri="{FF2B5EF4-FFF2-40B4-BE49-F238E27FC236}">
                <a16:creationId xmlns:a16="http://schemas.microsoft.com/office/drawing/2014/main" id="{5E0B4FFC-3406-4BC2-94AE-504712AA9C68}"/>
              </a:ext>
            </a:extLst>
          </p:cNvPr>
          <p:cNvSpPr>
            <a:spLocks noGrp="1"/>
          </p:cNvSpPr>
          <p:nvPr/>
        </p:nvSpPr>
        <p:spPr>
          <a:xfrm>
            <a:off x="3200400" y="2286000"/>
            <a:ext cx="171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text-466-237-→">
            <a:extLst>
              <a:ext uri="{FF2B5EF4-FFF2-40B4-BE49-F238E27FC236}">
                <a16:creationId xmlns:a16="http://schemas.microsoft.com/office/drawing/2014/main" id="{523658CB-08BB-48B1-A0EA-B6987B7FE8E7}"/>
              </a:ext>
            </a:extLst>
          </p:cNvPr>
          <p:cNvSpPr>
            <a:spLocks noGrp="1"/>
          </p:cNvSpPr>
          <p:nvPr/>
        </p:nvSpPr>
        <p:spPr>
          <a:xfrm>
            <a:off x="4438650" y="225742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box-496-225">
            <a:extLst>
              <a:ext uri="{FF2B5EF4-FFF2-40B4-BE49-F238E27FC236}">
                <a16:creationId xmlns:a16="http://schemas.microsoft.com/office/drawing/2014/main" id="{55A2DA90-6BD0-4016-82F2-182D983BD2F6}"/>
              </a:ext>
            </a:extLst>
          </p:cNvPr>
          <p:cNvSpPr>
            <a:spLocks noGrp="1"/>
          </p:cNvSpPr>
          <p:nvPr/>
        </p:nvSpPr>
        <p:spPr>
          <a:xfrm>
            <a:off x="4724400" y="2143125"/>
            <a:ext cx="1047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Role</a:t>
            </a:r>
          </a:p>
          <a:p>
            <a:pPr algn="ctr">
              <a:defRPr sz="9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18" name="text-82-307-Server tìm assig">
            <a:extLst>
              <a:ext uri="{FF2B5EF4-FFF2-40B4-BE49-F238E27FC236}">
                <a16:creationId xmlns:a16="http://schemas.microsoft.com/office/drawing/2014/main" id="{43BA89FF-C564-43F9-9612-18C5712EE610}"/>
              </a:ext>
            </a:extLst>
          </p:cNvPr>
          <p:cNvSpPr>
            <a:spLocks noGrp="1"/>
          </p:cNvSpPr>
          <p:nvPr/>
        </p:nvSpPr>
        <p:spPr>
          <a:xfrm>
            <a:off x="781050" y="2924175"/>
            <a:ext cx="49720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Server tìm assignment phù hợp rồi mới áp dụng Permission và business gates.</a:t>
            </a:r>
          </a:p>
        </p:txBody>
      </p:sp>
      <p:sp>
        <p:nvSpPr>
          <p:cNvPr id="19" name="box-650-150">
            <a:extLst>
              <a:ext uri="{FF2B5EF4-FFF2-40B4-BE49-F238E27FC236}">
                <a16:creationId xmlns:a16="http://schemas.microsoft.com/office/drawing/2014/main" id="{CDE9F7F1-1473-4110-B3A7-F8FBCEB5A6A8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448300" cy="2038350"/>
          </a:xfrm>
          <a:prstGeom prst="roundRect">
            <a:avLst>
              <a:gd name="adj" fmla="val 3738"/>
            </a:avLst>
          </a:prstGeom>
          <a:solidFill>
            <a:srgbClr val="FFF4DD"/>
          </a:solidFill>
          <a:ln w="14288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ox-668-166">
            <a:extLst>
              <a:ext uri="{FF2B5EF4-FFF2-40B4-BE49-F238E27FC236}">
                <a16:creationId xmlns:a16="http://schemas.microsoft.com/office/drawing/2014/main" id="{8DDDFB19-C966-4BE5-8578-D67572832F2D}"/>
              </a:ext>
            </a:extLst>
          </p:cNvPr>
          <p:cNvSpPr>
            <a:spLocks noGrp="1"/>
          </p:cNvSpPr>
          <p:nvPr/>
        </p:nvSpPr>
        <p:spPr>
          <a:xfrm>
            <a:off x="6362700" y="15811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C58A1E"/>
          </a:solidFill>
          <a:ln w="762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· STALE / CONFLICT</a:t>
            </a:r>
          </a:p>
        </p:txBody>
      </p:sp>
      <p:sp>
        <p:nvSpPr>
          <p:cNvPr id="21" name="box-674-225">
            <a:extLst>
              <a:ext uri="{FF2B5EF4-FFF2-40B4-BE49-F238E27FC236}">
                <a16:creationId xmlns:a16="http://schemas.microsoft.com/office/drawing/2014/main" id="{AC80EB8C-CED8-474A-B369-FA082DAB47A3}"/>
              </a:ext>
            </a:extLst>
          </p:cNvPr>
          <p:cNvSpPr>
            <a:spLocks noGrp="1"/>
          </p:cNvSpPr>
          <p:nvPr/>
        </p:nvSpPr>
        <p:spPr>
          <a:xfrm>
            <a:off x="6419850" y="214312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Local baseline G005</a:t>
            </a:r>
          </a:p>
        </p:txBody>
      </p:sp>
      <p:sp>
        <p:nvSpPr>
          <p:cNvPr id="22" name="text-787-236-→">
            <a:extLst>
              <a:ext uri="{FF2B5EF4-FFF2-40B4-BE49-F238E27FC236}">
                <a16:creationId xmlns:a16="http://schemas.microsoft.com/office/drawing/2014/main" id="{36DAC6F8-E25D-42E6-B4B2-9B7C2B2E3132}"/>
              </a:ext>
            </a:extLst>
          </p:cNvPr>
          <p:cNvSpPr>
            <a:spLocks noGrp="1"/>
          </p:cNvSpPr>
          <p:nvPr/>
        </p:nvSpPr>
        <p:spPr>
          <a:xfrm>
            <a:off x="7496175" y="22479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C58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58A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box-806-225">
            <a:extLst>
              <a:ext uri="{FF2B5EF4-FFF2-40B4-BE49-F238E27FC236}">
                <a16:creationId xmlns:a16="http://schemas.microsoft.com/office/drawing/2014/main" id="{77989C27-54D4-468C-B86A-C30DF668826A}"/>
              </a:ext>
            </a:extLst>
          </p:cNvPr>
          <p:cNvSpPr>
            <a:spLocks noGrp="1"/>
          </p:cNvSpPr>
          <p:nvPr/>
        </p:nvSpPr>
        <p:spPr>
          <a:xfrm>
            <a:off x="7677150" y="214312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Server current G006</a:t>
            </a:r>
          </a:p>
        </p:txBody>
      </p:sp>
      <p:sp>
        <p:nvSpPr>
          <p:cNvPr id="24" name="text-919-236-→">
            <a:extLst>
              <a:ext uri="{FF2B5EF4-FFF2-40B4-BE49-F238E27FC236}">
                <a16:creationId xmlns:a16="http://schemas.microsoft.com/office/drawing/2014/main" id="{8680CBCF-3420-4C1A-B7F2-EDB92CC6C623}"/>
              </a:ext>
            </a:extLst>
          </p:cNvPr>
          <p:cNvSpPr>
            <a:spLocks noGrp="1"/>
          </p:cNvSpPr>
          <p:nvPr/>
        </p:nvSpPr>
        <p:spPr>
          <a:xfrm>
            <a:off x="8753475" y="22479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C58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58A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box-938-225">
            <a:extLst>
              <a:ext uri="{FF2B5EF4-FFF2-40B4-BE49-F238E27FC236}">
                <a16:creationId xmlns:a16="http://schemas.microsoft.com/office/drawing/2014/main" id="{D613A4D3-4BE7-4594-B271-4849B057BA1F}"/>
              </a:ext>
            </a:extLst>
          </p:cNvPr>
          <p:cNvSpPr>
            <a:spLocks noGrp="1"/>
          </p:cNvSpPr>
          <p:nvPr/>
        </p:nvSpPr>
        <p:spPr>
          <a:xfrm>
            <a:off x="8934450" y="214312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Chặn ghi không an toàn</a:t>
            </a:r>
          </a:p>
        </p:txBody>
      </p:sp>
      <p:sp>
        <p:nvSpPr>
          <p:cNvPr id="26" name="text-1051-236-→">
            <a:extLst>
              <a:ext uri="{FF2B5EF4-FFF2-40B4-BE49-F238E27FC236}">
                <a16:creationId xmlns:a16="http://schemas.microsoft.com/office/drawing/2014/main" id="{853C9781-8472-40B9-A4B5-0D3629251564}"/>
              </a:ext>
            </a:extLst>
          </p:cNvPr>
          <p:cNvSpPr>
            <a:spLocks noGrp="1"/>
          </p:cNvSpPr>
          <p:nvPr/>
        </p:nvSpPr>
        <p:spPr>
          <a:xfrm>
            <a:off x="10010775" y="22479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C58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58A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box-1070-225">
            <a:extLst>
              <a:ext uri="{FF2B5EF4-FFF2-40B4-BE49-F238E27FC236}">
                <a16:creationId xmlns:a16="http://schemas.microsoft.com/office/drawing/2014/main" id="{76A30EDE-BDE7-4D46-8EE7-79E77B4DE171}"/>
              </a:ext>
            </a:extLst>
          </p:cNvPr>
          <p:cNvSpPr>
            <a:spLocks noGrp="1"/>
          </p:cNvSpPr>
          <p:nvPr/>
        </p:nvSpPr>
        <p:spPr>
          <a:xfrm>
            <a:off x="10191750" y="214312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Giữ local work</a:t>
            </a:r>
          </a:p>
        </p:txBody>
      </p:sp>
      <p:sp>
        <p:nvSpPr>
          <p:cNvPr id="28" name="text-674-307-Không tự merge n">
            <a:extLst>
              <a:ext uri="{FF2B5EF4-FFF2-40B4-BE49-F238E27FC236}">
                <a16:creationId xmlns:a16="http://schemas.microsoft.com/office/drawing/2014/main" id="{4A425927-6D1A-4462-B46B-3991E60F3E1E}"/>
              </a:ext>
            </a:extLst>
          </p:cNvPr>
          <p:cNvSpPr>
            <a:spLocks noGrp="1"/>
          </p:cNvSpPr>
          <p:nvPr/>
        </p:nvSpPr>
        <p:spPr>
          <a:xfrm>
            <a:off x="6419850" y="2924175"/>
            <a:ext cx="49720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Không tự merge nội dung CAD / Office.</a:t>
            </a:r>
          </a:p>
        </p:txBody>
      </p:sp>
      <p:sp>
        <p:nvSpPr>
          <p:cNvPr id="29" name="box-58-400">
            <a:extLst>
              <a:ext uri="{FF2B5EF4-FFF2-40B4-BE49-F238E27FC236}">
                <a16:creationId xmlns:a16="http://schemas.microsoft.com/office/drawing/2014/main" id="{4462ADA8-692C-4CAB-8543-6C019BA8015A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5448300" cy="2038350"/>
          </a:xfrm>
          <a:prstGeom prst="roundRect">
            <a:avLst>
              <a:gd name="adj" fmla="val 3738"/>
            </a:avLst>
          </a:prstGeom>
          <a:solidFill>
            <a:srgbClr val="F0EDFA"/>
          </a:solidFill>
          <a:ln w="14288">
            <a:solidFill>
              <a:srgbClr val="6C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ox-76-416">
            <a:extLst>
              <a:ext uri="{FF2B5EF4-FFF2-40B4-BE49-F238E27FC236}">
                <a16:creationId xmlns:a16="http://schemas.microsoft.com/office/drawing/2014/main" id="{A7AD97F7-A481-4713-8B09-5927ECE3FDDC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6C5AA8"/>
          </a:solidFill>
          <a:ln w="7620">
            <a:solidFill>
              <a:srgbClr val="6C5A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 · RETRY / PARTIAL FAILURE</a:t>
            </a:r>
          </a:p>
        </p:txBody>
      </p:sp>
      <p:sp>
        <p:nvSpPr>
          <p:cNvPr id="31" name="box-82-475">
            <a:extLst>
              <a:ext uri="{FF2B5EF4-FFF2-40B4-BE49-F238E27FC236}">
                <a16:creationId xmlns:a16="http://schemas.microsoft.com/office/drawing/2014/main" id="{9870978F-028F-463C-9362-7EECE7A65803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Mất mạng / mất response</a:t>
            </a:r>
          </a:p>
        </p:txBody>
      </p:sp>
      <p:sp>
        <p:nvSpPr>
          <p:cNvPr id="32" name="text-195-486-→">
            <a:extLst>
              <a:ext uri="{FF2B5EF4-FFF2-40B4-BE49-F238E27FC236}">
                <a16:creationId xmlns:a16="http://schemas.microsoft.com/office/drawing/2014/main" id="{460371E5-8D0C-4D02-A715-482AACDE3ABF}"/>
              </a:ext>
            </a:extLst>
          </p:cNvPr>
          <p:cNvSpPr>
            <a:spLocks noGrp="1"/>
          </p:cNvSpPr>
          <p:nvPr/>
        </p:nvSpPr>
        <p:spPr>
          <a:xfrm>
            <a:off x="1857375" y="4629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box-214-475">
            <a:extLst>
              <a:ext uri="{FF2B5EF4-FFF2-40B4-BE49-F238E27FC236}">
                <a16:creationId xmlns:a16="http://schemas.microsoft.com/office/drawing/2014/main" id="{77949028-3078-452D-BAB2-339C12B38BBA}"/>
              </a:ext>
            </a:extLst>
          </p:cNvPr>
          <p:cNvSpPr>
            <a:spLocks noGrp="1"/>
          </p:cNvSpPr>
          <p:nvPr/>
        </p:nvSpPr>
        <p:spPr>
          <a:xfrm>
            <a:off x="20383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Worker lỗi</a:t>
            </a:r>
          </a:p>
        </p:txBody>
      </p:sp>
      <p:sp>
        <p:nvSpPr>
          <p:cNvPr id="34" name="text-327-486-→">
            <a:extLst>
              <a:ext uri="{FF2B5EF4-FFF2-40B4-BE49-F238E27FC236}">
                <a16:creationId xmlns:a16="http://schemas.microsoft.com/office/drawing/2014/main" id="{9CF90722-92BC-4CA8-AAAF-B6ECE1F01394}"/>
              </a:ext>
            </a:extLst>
          </p:cNvPr>
          <p:cNvSpPr>
            <a:spLocks noGrp="1"/>
          </p:cNvSpPr>
          <p:nvPr/>
        </p:nvSpPr>
        <p:spPr>
          <a:xfrm>
            <a:off x="3114675" y="4629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box-346-475">
            <a:extLst>
              <a:ext uri="{FF2B5EF4-FFF2-40B4-BE49-F238E27FC236}">
                <a16:creationId xmlns:a16="http://schemas.microsoft.com/office/drawing/2014/main" id="{3CCF2C45-BF7E-4121-AE9A-EFA693449D48}"/>
              </a:ext>
            </a:extLst>
          </p:cNvPr>
          <p:cNvSpPr>
            <a:spLocks noGrp="1"/>
          </p:cNvSpPr>
          <p:nvPr/>
        </p:nvSpPr>
        <p:spPr>
          <a:xfrm>
            <a:off x="32956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Gửi lại cùng OperationId</a:t>
            </a:r>
          </a:p>
        </p:txBody>
      </p:sp>
      <p:sp>
        <p:nvSpPr>
          <p:cNvPr id="36" name="text-459-486-→">
            <a:extLst>
              <a:ext uri="{FF2B5EF4-FFF2-40B4-BE49-F238E27FC236}">
                <a16:creationId xmlns:a16="http://schemas.microsoft.com/office/drawing/2014/main" id="{24972248-D1F1-41EC-B135-0B8A6A03099E}"/>
              </a:ext>
            </a:extLst>
          </p:cNvPr>
          <p:cNvSpPr>
            <a:spLocks noGrp="1"/>
          </p:cNvSpPr>
          <p:nvPr/>
        </p:nvSpPr>
        <p:spPr>
          <a:xfrm>
            <a:off x="4371975" y="4629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box-478-475">
            <a:extLst>
              <a:ext uri="{FF2B5EF4-FFF2-40B4-BE49-F238E27FC236}">
                <a16:creationId xmlns:a16="http://schemas.microsoft.com/office/drawing/2014/main" id="{AC5D3772-113C-4353-B05E-A875EF630A41}"/>
              </a:ext>
            </a:extLst>
          </p:cNvPr>
          <p:cNvSpPr>
            <a:spLocks noGrp="1"/>
          </p:cNvSpPr>
          <p:nvPr/>
        </p:nvSpPr>
        <p:spPr>
          <a:xfrm>
            <a:off x="45529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Không nhân đôi kết quả</a:t>
            </a:r>
          </a:p>
        </p:txBody>
      </p:sp>
      <p:sp>
        <p:nvSpPr>
          <p:cNvPr id="38" name="text-82-557-Retry phải idemp">
            <a:extLst>
              <a:ext uri="{FF2B5EF4-FFF2-40B4-BE49-F238E27FC236}">
                <a16:creationId xmlns:a16="http://schemas.microsoft.com/office/drawing/2014/main" id="{81917EE2-86B8-434C-8E60-0A51624A2D92}"/>
              </a:ext>
            </a:extLst>
          </p:cNvPr>
          <p:cNvSpPr>
            <a:spLocks noGrp="1"/>
          </p:cNvSpPr>
          <p:nvPr/>
        </p:nvSpPr>
        <p:spPr>
          <a:xfrm>
            <a:off x="781050" y="5305425"/>
            <a:ext cx="49720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Retry phải idempotent và có thể tra trạng thái.</a:t>
            </a:r>
          </a:p>
        </p:txBody>
      </p:sp>
      <p:sp>
        <p:nvSpPr>
          <p:cNvPr id="39" name="box-650-400">
            <a:extLst>
              <a:ext uri="{FF2B5EF4-FFF2-40B4-BE49-F238E27FC236}">
                <a16:creationId xmlns:a16="http://schemas.microsoft.com/office/drawing/2014/main" id="{7017902D-A97E-4812-A27B-E694472B1F86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5448300" cy="2038350"/>
          </a:xfrm>
          <a:prstGeom prst="roundRect">
            <a:avLst>
              <a:gd name="adj" fmla="val 3738"/>
            </a:avLst>
          </a:prstGeom>
          <a:solidFill>
            <a:srgbClr val="E7F5EE"/>
          </a:solidFill>
          <a:ln w="14288">
            <a:solidFill>
              <a:srgbClr val="2D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box-668-416">
            <a:extLst>
              <a:ext uri="{FF2B5EF4-FFF2-40B4-BE49-F238E27FC236}">
                <a16:creationId xmlns:a16="http://schemas.microsoft.com/office/drawing/2014/main" id="{508F6A7C-C84B-473E-B1D2-F9CA1DE6FB1D}"/>
              </a:ext>
            </a:extLst>
          </p:cNvPr>
          <p:cNvSpPr>
            <a:spLocks noGrp="1"/>
          </p:cNvSpPr>
          <p:nvPr/>
        </p:nvSpPr>
        <p:spPr>
          <a:xfrm>
            <a:off x="6362700" y="396240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2D8A62"/>
          </a:solidFill>
          <a:ln w="762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 · AUDIT / RECOVERY</a:t>
            </a:r>
          </a:p>
        </p:txBody>
      </p:sp>
      <p:sp>
        <p:nvSpPr>
          <p:cNvPr id="41" name="box-674-475">
            <a:extLst>
              <a:ext uri="{FF2B5EF4-FFF2-40B4-BE49-F238E27FC236}">
                <a16:creationId xmlns:a16="http://schemas.microsoft.com/office/drawing/2014/main" id="{3CB1F412-32CA-4DCD-835C-B8849B1163B8}"/>
              </a:ext>
            </a:extLst>
          </p:cNvPr>
          <p:cNvSpPr>
            <a:spLocks noGrp="1"/>
          </p:cNvSpPr>
          <p:nvPr/>
        </p:nvSpPr>
        <p:spPr>
          <a:xfrm>
            <a:off x="64198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WHO + WHAT</a:t>
            </a:r>
          </a:p>
        </p:txBody>
      </p:sp>
      <p:sp>
        <p:nvSpPr>
          <p:cNvPr id="42" name="text-787-486-→">
            <a:extLst>
              <a:ext uri="{FF2B5EF4-FFF2-40B4-BE49-F238E27FC236}">
                <a16:creationId xmlns:a16="http://schemas.microsoft.com/office/drawing/2014/main" id="{FCA75DD0-D82D-4D02-BB3A-7D959669F951}"/>
              </a:ext>
            </a:extLst>
          </p:cNvPr>
          <p:cNvSpPr>
            <a:spLocks noGrp="1"/>
          </p:cNvSpPr>
          <p:nvPr/>
        </p:nvSpPr>
        <p:spPr>
          <a:xfrm>
            <a:off x="7496175" y="4629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box-806-475">
            <a:extLst>
              <a:ext uri="{FF2B5EF4-FFF2-40B4-BE49-F238E27FC236}">
                <a16:creationId xmlns:a16="http://schemas.microsoft.com/office/drawing/2014/main" id="{0C3236F7-7D11-4908-A945-72A68BECA555}"/>
              </a:ext>
            </a:extLst>
          </p:cNvPr>
          <p:cNvSpPr>
            <a:spLocks noGrp="1"/>
          </p:cNvSpPr>
          <p:nvPr/>
        </p:nvSpPr>
        <p:spPr>
          <a:xfrm>
            <a:off x="76771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WHICH baseline + WHEN</a:t>
            </a:r>
          </a:p>
        </p:txBody>
      </p:sp>
      <p:sp>
        <p:nvSpPr>
          <p:cNvPr id="44" name="text-919-486-→">
            <a:extLst>
              <a:ext uri="{FF2B5EF4-FFF2-40B4-BE49-F238E27FC236}">
                <a16:creationId xmlns:a16="http://schemas.microsoft.com/office/drawing/2014/main" id="{92123C7D-8CB6-43F9-876D-C322BD152FC2}"/>
              </a:ext>
            </a:extLst>
          </p:cNvPr>
          <p:cNvSpPr>
            <a:spLocks noGrp="1"/>
          </p:cNvSpPr>
          <p:nvPr/>
        </p:nvSpPr>
        <p:spPr>
          <a:xfrm>
            <a:off x="8753475" y="4629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5" name="box-938-475">
            <a:extLst>
              <a:ext uri="{FF2B5EF4-FFF2-40B4-BE49-F238E27FC236}">
                <a16:creationId xmlns:a16="http://schemas.microsoft.com/office/drawing/2014/main" id="{59E89515-5F81-4596-AA81-E1CFFA774DE2}"/>
              </a:ext>
            </a:extLst>
          </p:cNvPr>
          <p:cNvSpPr>
            <a:spLocks noGrp="1"/>
          </p:cNvSpPr>
          <p:nvPr/>
        </p:nvSpPr>
        <p:spPr>
          <a:xfrm>
            <a:off x="89344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WHICH policy</a:t>
            </a:r>
          </a:p>
        </p:txBody>
      </p:sp>
      <p:sp>
        <p:nvSpPr>
          <p:cNvPr id="46" name="text-1051-486-→">
            <a:extLst>
              <a:ext uri="{FF2B5EF4-FFF2-40B4-BE49-F238E27FC236}">
                <a16:creationId xmlns:a16="http://schemas.microsoft.com/office/drawing/2014/main" id="{DD812ABA-D893-4A5E-A425-07665BF783F9}"/>
              </a:ext>
            </a:extLst>
          </p:cNvPr>
          <p:cNvSpPr>
            <a:spLocks noGrp="1"/>
          </p:cNvSpPr>
          <p:nvPr/>
        </p:nvSpPr>
        <p:spPr>
          <a:xfrm>
            <a:off x="10010775" y="4629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D8A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A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box-1070-475">
            <a:extLst>
              <a:ext uri="{FF2B5EF4-FFF2-40B4-BE49-F238E27FC236}">
                <a16:creationId xmlns:a16="http://schemas.microsoft.com/office/drawing/2014/main" id="{9321C312-482B-4B22-9A4A-8EDBD84D6D14}"/>
              </a:ext>
            </a:extLst>
          </p:cNvPr>
          <p:cNvSpPr>
            <a:spLocks noGrp="1"/>
          </p:cNvSpPr>
          <p:nvPr/>
        </p:nvSpPr>
        <p:spPr>
          <a:xfrm>
            <a:off x="10191750" y="4524375"/>
            <a:ext cx="1066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WHAT outcome</a:t>
            </a:r>
          </a:p>
        </p:txBody>
      </p:sp>
      <p:sp>
        <p:nvSpPr>
          <p:cNvPr id="48" name="text-674-557-Audit ghi kết qu">
            <a:extLst>
              <a:ext uri="{FF2B5EF4-FFF2-40B4-BE49-F238E27FC236}">
                <a16:creationId xmlns:a16="http://schemas.microsoft.com/office/drawing/2014/main" id="{5FBB1A8D-4EDF-4C36-9B69-73A37AEFDD27}"/>
              </a:ext>
            </a:extLst>
          </p:cNvPr>
          <p:cNvSpPr>
            <a:spLocks noGrp="1"/>
          </p:cNvSpPr>
          <p:nvPr/>
        </p:nvSpPr>
        <p:spPr>
          <a:xfrm>
            <a:off x="6419850" y="5305425"/>
            <a:ext cx="49720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Audit ghi kết quả và bằng chứng, không thay quyết định.</a:t>
            </a:r>
          </a:p>
        </p:txBody>
      </p:sp>
      <p:sp>
        <p:nvSpPr>
          <p:cNvPr id="49" name="box-398-635">
            <a:extLst>
              <a:ext uri="{FF2B5EF4-FFF2-40B4-BE49-F238E27FC236}">
                <a16:creationId xmlns:a16="http://schemas.microsoft.com/office/drawing/2014/main" id="{758A194D-792E-45D8-AB0C-CE2D62460913}"/>
              </a:ext>
            </a:extLst>
          </p:cNvPr>
          <p:cNvSpPr>
            <a:spLocks noGrp="1"/>
          </p:cNvSpPr>
          <p:nvPr/>
        </p:nvSpPr>
        <p:spPr>
          <a:xfrm>
            <a:off x="3790950" y="6048375"/>
            <a:ext cx="4610100" cy="381000"/>
          </a:xfrm>
          <a:prstGeom prst="roundRect">
            <a:avLst>
              <a:gd name="adj" fmla="val 20000"/>
            </a:avLst>
          </a:prstGeom>
          <a:solidFill>
            <a:srgbClr val="102744"/>
          </a:solidFill>
          <a:ln w="762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phải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xử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lý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đúng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lỗi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retry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recovery</a:t>
            </a:r>
          </a:p>
        </p:txBody>
      </p:sp>
    </p:spTree>
    <p:extLst>
      <p:ext uri="{BB962C8B-B14F-4D97-AF65-F5344CB8AC3E}">
        <p14:creationId xmlns:p14="http://schemas.microsoft.com/office/powerpoint/2010/main" val="49269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ox-0-0">
            <a:extLst>
              <a:ext uri="{FF2B5EF4-FFF2-40B4-BE49-F238E27FC236}">
                <a16:creationId xmlns:a16="http://schemas.microsoft.com/office/drawing/2014/main" id="{1168FB21-ADFB-4C4B-B093-AD6BCAA3FF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169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SPEC">
            <a:extLst>
              <a:ext uri="{FF2B5EF4-FFF2-40B4-BE49-F238E27FC236}">
                <a16:creationId xmlns:a16="http://schemas.microsoft.com/office/drawing/2014/main" id="{42A43291-B0A7-4DC7-852A-036F43EBDAD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3" name="text-54-56-Spec — Requireme">
            <a:extLst>
              <a:ext uri="{FF2B5EF4-FFF2-40B4-BE49-F238E27FC236}">
                <a16:creationId xmlns:a16="http://schemas.microsoft.com/office/drawing/2014/main" id="{B7BF23C3-4F3A-4DA8-89D5-664D95A8840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— Requirement chỉ hoàn chỉnh khi kiểm chứng được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E1CC4596-01E3-4592-B96B-0EAF6853F4EE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4@0.13 · VV">
            <a:extLst>
              <a:ext uri="{FF2B5EF4-FFF2-40B4-BE49-F238E27FC236}">
                <a16:creationId xmlns:a16="http://schemas.microsoft.com/office/drawing/2014/main" id="{61D0C3AE-40C7-408C-ADFC-6D4D84B9270A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DOC-04@0.13 · VVP@0.16</a:t>
            </a:r>
          </a:p>
        </p:txBody>
      </p:sp>
      <p:sp>
        <p:nvSpPr>
          <p:cNvPr id="6" name="text-1170-680-11">
            <a:extLst>
              <a:ext uri="{FF2B5EF4-FFF2-40B4-BE49-F238E27FC236}">
                <a16:creationId xmlns:a16="http://schemas.microsoft.com/office/drawing/2014/main" id="{C5D7BB60-7AEB-407F-B50D-16A132C8265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diagram-source-11">
            <a:extLst>
              <a:ext uri="{FF2B5EF4-FFF2-40B4-BE49-F238E27FC236}">
                <a16:creationId xmlns:a16="http://schemas.microsoft.com/office/drawing/2014/main" id="{BA53A0D5-C086-47E8-BE9B-C295FC1313DC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Based on DOC-04 + VVP</a:t>
            </a:r>
          </a:p>
        </p:txBody>
      </p:sp>
      <p:sp>
        <p:nvSpPr>
          <p:cNvPr id="8" name="box-58-160">
            <a:extLst>
              <a:ext uri="{FF2B5EF4-FFF2-40B4-BE49-F238E27FC236}">
                <a16:creationId xmlns:a16="http://schemas.microsoft.com/office/drawing/2014/main" id="{A4B03674-1F88-485D-A408-85BF1B76FED7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1600200" cy="742950"/>
          </a:xfrm>
          <a:prstGeom prst="roundRect">
            <a:avLst>
              <a:gd name="adj" fmla="val 10256"/>
            </a:avLst>
          </a:prstGeom>
          <a:solidFill>
            <a:srgbClr val="E8F7F9"/>
          </a:solidFill>
          <a:ln w="11430">
            <a:solidFill>
              <a:srgbClr val="2F8FC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Nhu cầu / Rule</a:t>
            </a:r>
          </a:p>
        </p:txBody>
      </p:sp>
      <p:sp>
        <p:nvSpPr>
          <p:cNvPr id="9" name="text-226-177-→">
            <a:extLst>
              <a:ext uri="{FF2B5EF4-FFF2-40B4-BE49-F238E27FC236}">
                <a16:creationId xmlns:a16="http://schemas.microsoft.com/office/drawing/2014/main" id="{8AE1F669-C7D1-4B22-B4B0-E46DC83294E3}"/>
              </a:ext>
            </a:extLst>
          </p:cNvPr>
          <p:cNvSpPr>
            <a:spLocks noGrp="1"/>
          </p:cNvSpPr>
          <p:nvPr/>
        </p:nvSpPr>
        <p:spPr>
          <a:xfrm>
            <a:off x="2152650" y="16859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box-255-160">
            <a:extLst>
              <a:ext uri="{FF2B5EF4-FFF2-40B4-BE49-F238E27FC236}">
                <a16:creationId xmlns:a16="http://schemas.microsoft.com/office/drawing/2014/main" id="{A8C2EB36-280A-4312-A943-9491C09FF3E1}"/>
              </a:ext>
            </a:extLst>
          </p:cNvPr>
          <p:cNvSpPr>
            <a:spLocks noGrp="1"/>
          </p:cNvSpPr>
          <p:nvPr/>
        </p:nvSpPr>
        <p:spPr>
          <a:xfrm>
            <a:off x="2428875" y="1524000"/>
            <a:ext cx="1600200" cy="742950"/>
          </a:xfrm>
          <a:prstGeom prst="roundRect">
            <a:avLst>
              <a:gd name="adj" fmla="val 10256"/>
            </a:avLst>
          </a:prstGeom>
          <a:solidFill>
            <a:srgbClr val="EAF3F9"/>
          </a:solidFill>
          <a:ln w="1143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REQ-xxx</a:t>
            </a:r>
          </a:p>
        </p:txBody>
      </p:sp>
      <p:sp>
        <p:nvSpPr>
          <p:cNvPr id="11" name="text-423-177-→">
            <a:extLst>
              <a:ext uri="{FF2B5EF4-FFF2-40B4-BE49-F238E27FC236}">
                <a16:creationId xmlns:a16="http://schemas.microsoft.com/office/drawing/2014/main" id="{470F8EB5-8E11-4D8D-BAC3-22AD641592F0}"/>
              </a:ext>
            </a:extLst>
          </p:cNvPr>
          <p:cNvSpPr>
            <a:spLocks noGrp="1"/>
          </p:cNvSpPr>
          <p:nvPr/>
        </p:nvSpPr>
        <p:spPr>
          <a:xfrm>
            <a:off x="4029075" y="16859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box-452-160">
            <a:extLst>
              <a:ext uri="{FF2B5EF4-FFF2-40B4-BE49-F238E27FC236}">
                <a16:creationId xmlns:a16="http://schemas.microsoft.com/office/drawing/2014/main" id="{47467F4B-A9B9-45BB-A181-6F9B53059397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1600200" cy="742950"/>
          </a:xfrm>
          <a:prstGeom prst="roundRect">
            <a:avLst>
              <a:gd name="adj" fmla="val 10256"/>
            </a:avLst>
          </a:prstGeom>
          <a:solidFill>
            <a:srgbClr val="EAF3F9"/>
          </a:solidFill>
          <a:ln w="1143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13" name="text-620-177-→">
            <a:extLst>
              <a:ext uri="{FF2B5EF4-FFF2-40B4-BE49-F238E27FC236}">
                <a16:creationId xmlns:a16="http://schemas.microsoft.com/office/drawing/2014/main" id="{406EC744-7126-4B72-82E6-7081C65B028E}"/>
              </a:ext>
            </a:extLst>
          </p:cNvPr>
          <p:cNvSpPr>
            <a:spLocks noGrp="1"/>
          </p:cNvSpPr>
          <p:nvPr/>
        </p:nvSpPr>
        <p:spPr>
          <a:xfrm>
            <a:off x="5905500" y="16859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box-649-160">
            <a:extLst>
              <a:ext uri="{FF2B5EF4-FFF2-40B4-BE49-F238E27FC236}">
                <a16:creationId xmlns:a16="http://schemas.microsoft.com/office/drawing/2014/main" id="{2FB75198-AA9A-4524-9E01-414370580251}"/>
              </a:ext>
            </a:extLst>
          </p:cNvPr>
          <p:cNvSpPr>
            <a:spLocks noGrp="1"/>
          </p:cNvSpPr>
          <p:nvPr/>
        </p:nvSpPr>
        <p:spPr>
          <a:xfrm>
            <a:off x="6181725" y="1524000"/>
            <a:ext cx="1600200" cy="742950"/>
          </a:xfrm>
          <a:prstGeom prst="roundRect">
            <a:avLst>
              <a:gd name="adj" fmla="val 10256"/>
            </a:avLst>
          </a:prstGeom>
          <a:solidFill>
            <a:srgbClr val="F0EDFA"/>
          </a:solidFill>
          <a:ln w="11430">
            <a:solidFill>
              <a:srgbClr val="6C5A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5" name="text-817-177-→">
            <a:extLst>
              <a:ext uri="{FF2B5EF4-FFF2-40B4-BE49-F238E27FC236}">
                <a16:creationId xmlns:a16="http://schemas.microsoft.com/office/drawing/2014/main" id="{D4B58621-849C-4DCD-939E-21BF2FED8350}"/>
              </a:ext>
            </a:extLst>
          </p:cNvPr>
          <p:cNvSpPr>
            <a:spLocks noGrp="1"/>
          </p:cNvSpPr>
          <p:nvPr/>
        </p:nvSpPr>
        <p:spPr>
          <a:xfrm>
            <a:off x="7781925" y="16859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box-846-160">
            <a:extLst>
              <a:ext uri="{FF2B5EF4-FFF2-40B4-BE49-F238E27FC236}">
                <a16:creationId xmlns:a16="http://schemas.microsoft.com/office/drawing/2014/main" id="{4AEB51A4-1965-4639-9C61-16C254109A7E}"/>
              </a:ext>
            </a:extLst>
          </p:cNvPr>
          <p:cNvSpPr>
            <a:spLocks noGrp="1"/>
          </p:cNvSpPr>
          <p:nvPr/>
        </p:nvSpPr>
        <p:spPr>
          <a:xfrm>
            <a:off x="8058150" y="1524000"/>
            <a:ext cx="1600200" cy="742950"/>
          </a:xfrm>
          <a:prstGeom prst="roundRect">
            <a:avLst>
              <a:gd name="adj" fmla="val 10256"/>
            </a:avLst>
          </a:prstGeom>
          <a:solidFill>
            <a:srgbClr val="FFF4DD"/>
          </a:solidFill>
          <a:ln w="1143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Executed Evidence</a:t>
            </a:r>
          </a:p>
        </p:txBody>
      </p:sp>
      <p:sp>
        <p:nvSpPr>
          <p:cNvPr id="17" name="text-1014-177-→">
            <a:extLst>
              <a:ext uri="{FF2B5EF4-FFF2-40B4-BE49-F238E27FC236}">
                <a16:creationId xmlns:a16="http://schemas.microsoft.com/office/drawing/2014/main" id="{13ED8495-847F-4C4B-8CC5-DCDE3D03DD59}"/>
              </a:ext>
            </a:extLst>
          </p:cNvPr>
          <p:cNvSpPr>
            <a:spLocks noGrp="1"/>
          </p:cNvSpPr>
          <p:nvPr/>
        </p:nvSpPr>
        <p:spPr>
          <a:xfrm>
            <a:off x="9658350" y="16859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box-1043-160">
            <a:extLst>
              <a:ext uri="{FF2B5EF4-FFF2-40B4-BE49-F238E27FC236}">
                <a16:creationId xmlns:a16="http://schemas.microsoft.com/office/drawing/2014/main" id="{6B04E400-801D-4DB2-AAF4-A5802C9723FB}"/>
              </a:ext>
            </a:extLst>
          </p:cNvPr>
          <p:cNvSpPr>
            <a:spLocks noGrp="1"/>
          </p:cNvSpPr>
          <p:nvPr/>
        </p:nvSpPr>
        <p:spPr>
          <a:xfrm>
            <a:off x="9934575" y="1524000"/>
            <a:ext cx="1600200" cy="742950"/>
          </a:xfrm>
          <a:prstGeom prst="roundRect">
            <a:avLst>
              <a:gd name="adj" fmla="val 10256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PASS / FAIL / BLOCKED</a:t>
            </a:r>
          </a:p>
        </p:txBody>
      </p:sp>
      <p:sp>
        <p:nvSpPr>
          <p:cNvPr id="19" name="box-58-286">
            <a:extLst>
              <a:ext uri="{FF2B5EF4-FFF2-40B4-BE49-F238E27FC236}">
                <a16:creationId xmlns:a16="http://schemas.microsoft.com/office/drawing/2014/main" id="{584EC875-212B-4E10-9EC0-78743D231381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1087100" cy="2914650"/>
          </a:xfrm>
          <a:prstGeom prst="roundRect">
            <a:avLst>
              <a:gd name="adj" fmla="val 2614"/>
            </a:avLst>
          </a:prstGeom>
          <a:solidFill>
            <a:srgbClr val="F4F7FA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ox-84-310">
            <a:extLst>
              <a:ext uri="{FF2B5EF4-FFF2-40B4-BE49-F238E27FC236}">
                <a16:creationId xmlns:a16="http://schemas.microsoft.com/office/drawing/2014/main" id="{101C0F04-6B62-4F44-8F65-66460941E617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102744"/>
          </a:solidFill>
          <a:ln w="762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VÍ DỤ: REPRODUCE RELEASE CŨ</a:t>
            </a:r>
          </a:p>
        </p:txBody>
      </p:sp>
      <p:sp>
        <p:nvSpPr>
          <p:cNvPr id="21" name="text-86-374-Requirement">
            <a:extLst>
              <a:ext uri="{FF2B5EF4-FFF2-40B4-BE49-F238E27FC236}">
                <a16:creationId xmlns:a16="http://schemas.microsoft.com/office/drawing/2014/main" id="{9A270945-B164-44EB-BB6F-9A07895B1091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22" name="text-250-370-Released baselin">
            <a:extLst>
              <a:ext uri="{FF2B5EF4-FFF2-40B4-BE49-F238E27FC236}">
                <a16:creationId xmlns:a16="http://schemas.microsoft.com/office/drawing/2014/main" id="{24BC411B-9B59-43DA-B5FA-785D1138D496}"/>
              </a:ext>
            </a:extLst>
          </p:cNvPr>
          <p:cNvSpPr>
            <a:spLocks noGrp="1"/>
          </p:cNvSpPr>
          <p:nvPr/>
        </p:nvSpPr>
        <p:spPr>
          <a:xfrm>
            <a:off x="2381250" y="35242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Released baseline phải tái tạo chính xác.</a:t>
            </a:r>
          </a:p>
        </p:txBody>
      </p:sp>
      <p:sp>
        <p:nvSpPr>
          <p:cNvPr id="23" name="text-86-430-Acceptance">
            <a:extLst>
              <a:ext uri="{FF2B5EF4-FFF2-40B4-BE49-F238E27FC236}">
                <a16:creationId xmlns:a16="http://schemas.microsoft.com/office/drawing/2014/main" id="{3E32EB8D-A5DD-467A-B7D1-4183569DAE8D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24" name="text-250-420-Retrieve Release">
            <a:extLst>
              <a:ext uri="{FF2B5EF4-FFF2-40B4-BE49-F238E27FC236}">
                <a16:creationId xmlns:a16="http://schemas.microsoft.com/office/drawing/2014/main" id="{6C637A85-3271-4FDB-8116-2E9B77DB377C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819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Retrieve Release Record cũ trả đúng Generation, Structure Snapshot và Artifact pins.</a:t>
            </a:r>
          </a:p>
        </p:txBody>
      </p:sp>
      <p:sp>
        <p:nvSpPr>
          <p:cNvPr id="25" name="text-86-496-Verification">
            <a:extLst>
              <a:ext uri="{FF2B5EF4-FFF2-40B4-BE49-F238E27FC236}">
                <a16:creationId xmlns:a16="http://schemas.microsoft.com/office/drawing/2014/main" id="{068E544C-1A92-4288-A5B2-A96EFBF4A5B1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6" name="box-250-486">
            <a:extLst>
              <a:ext uri="{FF2B5EF4-FFF2-40B4-BE49-F238E27FC236}">
                <a16:creationId xmlns:a16="http://schemas.microsoft.com/office/drawing/2014/main" id="{EABA905E-5EBB-4529-9E29-66337B985E35}"/>
              </a:ext>
            </a:extLst>
          </p:cNvPr>
          <p:cNvSpPr>
            <a:spLocks noGrp="1"/>
          </p:cNvSpPr>
          <p:nvPr/>
        </p:nvSpPr>
        <p:spPr>
          <a:xfrm>
            <a:off x="2381250" y="4629150"/>
            <a:ext cx="19240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1. Tạo release</a:t>
            </a:r>
          </a:p>
        </p:txBody>
      </p:sp>
      <p:sp>
        <p:nvSpPr>
          <p:cNvPr id="27" name="text-452-500-→">
            <a:extLst>
              <a:ext uri="{FF2B5EF4-FFF2-40B4-BE49-F238E27FC236}">
                <a16:creationId xmlns:a16="http://schemas.microsoft.com/office/drawing/2014/main" id="{5EB2AF7E-349C-459E-9AF4-7C3D1EF3152D}"/>
              </a:ext>
            </a:extLst>
          </p:cNvPr>
          <p:cNvSpPr>
            <a:spLocks noGrp="1"/>
          </p:cNvSpPr>
          <p:nvPr/>
        </p:nvSpPr>
        <p:spPr>
          <a:xfrm>
            <a:off x="4305300" y="47625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box-474-486">
            <a:extLst>
              <a:ext uri="{FF2B5EF4-FFF2-40B4-BE49-F238E27FC236}">
                <a16:creationId xmlns:a16="http://schemas.microsoft.com/office/drawing/2014/main" id="{C56CA7D8-7233-4905-8CA2-CB09A8F23F13}"/>
              </a:ext>
            </a:extLst>
          </p:cNvPr>
          <p:cNvSpPr>
            <a:spLocks noGrp="1"/>
          </p:cNvSpPr>
          <p:nvPr/>
        </p:nvSpPr>
        <p:spPr>
          <a:xfrm>
            <a:off x="4514850" y="4629150"/>
            <a:ext cx="19240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2. Tạo Generation mới</a:t>
            </a:r>
          </a:p>
        </p:txBody>
      </p:sp>
      <p:sp>
        <p:nvSpPr>
          <p:cNvPr id="29" name="text-676-500-→">
            <a:extLst>
              <a:ext uri="{FF2B5EF4-FFF2-40B4-BE49-F238E27FC236}">
                <a16:creationId xmlns:a16="http://schemas.microsoft.com/office/drawing/2014/main" id="{E8DF9F15-0ECF-41B7-B617-0A3B45F2055F}"/>
              </a:ext>
            </a:extLst>
          </p:cNvPr>
          <p:cNvSpPr>
            <a:spLocks noGrp="1"/>
          </p:cNvSpPr>
          <p:nvPr/>
        </p:nvSpPr>
        <p:spPr>
          <a:xfrm>
            <a:off x="6438900" y="47625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box-698-486">
            <a:extLst>
              <a:ext uri="{FF2B5EF4-FFF2-40B4-BE49-F238E27FC236}">
                <a16:creationId xmlns:a16="http://schemas.microsoft.com/office/drawing/2014/main" id="{78C23620-18EC-4761-8451-9008ED8936B1}"/>
              </a:ext>
            </a:extLst>
          </p:cNvPr>
          <p:cNvSpPr>
            <a:spLocks noGrp="1"/>
          </p:cNvSpPr>
          <p:nvPr/>
        </p:nvSpPr>
        <p:spPr>
          <a:xfrm>
            <a:off x="6648450" y="4629150"/>
            <a:ext cx="19240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3. Retrieve release cũ</a:t>
            </a:r>
          </a:p>
        </p:txBody>
      </p:sp>
      <p:sp>
        <p:nvSpPr>
          <p:cNvPr id="31" name="text-900-500-→">
            <a:extLst>
              <a:ext uri="{FF2B5EF4-FFF2-40B4-BE49-F238E27FC236}">
                <a16:creationId xmlns:a16="http://schemas.microsoft.com/office/drawing/2014/main" id="{DB8B5D61-DBEF-46CF-88A2-A82E337B19FF}"/>
              </a:ext>
            </a:extLst>
          </p:cNvPr>
          <p:cNvSpPr>
            <a:spLocks noGrp="1"/>
          </p:cNvSpPr>
          <p:nvPr/>
        </p:nvSpPr>
        <p:spPr>
          <a:xfrm>
            <a:off x="8572500" y="47625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box-922-486">
            <a:extLst>
              <a:ext uri="{FF2B5EF4-FFF2-40B4-BE49-F238E27FC236}">
                <a16:creationId xmlns:a16="http://schemas.microsoft.com/office/drawing/2014/main" id="{206E7113-36A6-4883-8A6A-6B898BBDEE21}"/>
              </a:ext>
            </a:extLst>
          </p:cNvPr>
          <p:cNvSpPr>
            <a:spLocks noGrp="1"/>
          </p:cNvSpPr>
          <p:nvPr/>
        </p:nvSpPr>
        <p:spPr>
          <a:xfrm>
            <a:off x="8782050" y="4629150"/>
            <a:ext cx="19240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4. So manifest + identity + hash</a:t>
            </a:r>
          </a:p>
        </p:txBody>
      </p:sp>
      <p:sp>
        <p:nvSpPr>
          <p:cNvPr id="33" name="text-122-620-Spec tạo điều ki">
            <a:extLst>
              <a:ext uri="{FF2B5EF4-FFF2-40B4-BE49-F238E27FC236}">
                <a16:creationId xmlns:a16="http://schemas.microsoft.com/office/drawing/2014/main" id="{FE37E64B-4D8B-410F-BD02-C31ACC721F63}"/>
              </a:ext>
            </a:extLst>
          </p:cNvPr>
          <p:cNvSpPr>
            <a:spLocks noGrp="1"/>
          </p:cNvSpPr>
          <p:nvPr/>
        </p:nvSpPr>
        <p:spPr>
          <a:xfrm>
            <a:off x="1162050" y="5905500"/>
            <a:ext cx="98679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Spec tạo điều kiện để chứng minh implementation đúng hay sai, không chỉ mô tả mong muốn.</a:t>
            </a:r>
          </a:p>
        </p:txBody>
      </p:sp>
    </p:spTree>
    <p:extLst>
      <p:ext uri="{BB962C8B-B14F-4D97-AF65-F5344CB8AC3E}">
        <p14:creationId xmlns:p14="http://schemas.microsoft.com/office/powerpoint/2010/main" val="762709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x-0-0">
            <a:extLst>
              <a:ext uri="{FF2B5EF4-FFF2-40B4-BE49-F238E27FC236}">
                <a16:creationId xmlns:a16="http://schemas.microsoft.com/office/drawing/2014/main" id="{9753E766-F69B-4FD2-823B-A1BA625417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6C5A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TECH">
            <a:extLst>
              <a:ext uri="{FF2B5EF4-FFF2-40B4-BE49-F238E27FC236}">
                <a16:creationId xmlns:a16="http://schemas.microsoft.com/office/drawing/2014/main" id="{08E80086-4653-4282-A5ED-F8750B1BDF8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3" name="text-54-56-Tech — Engineeri">
            <a:extLst>
              <a:ext uri="{FF2B5EF4-FFF2-40B4-BE49-F238E27FC236}">
                <a16:creationId xmlns:a16="http://schemas.microsoft.com/office/drawing/2014/main" id="{3EA5AF54-14C2-44E5-B8C7-08E2D330BBF3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Tech — Engineering hiện thực Spec bằng kiến trúc nào?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FA3182ED-0386-4187-97D0-06869FC971F4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5@0.20 · TE">
            <a:extLst>
              <a:ext uri="{FF2B5EF4-FFF2-40B4-BE49-F238E27FC236}">
                <a16:creationId xmlns:a16="http://schemas.microsoft.com/office/drawing/2014/main" id="{24205E26-CFA8-40CE-944E-27C154D4B943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DOC-05@0.20 · TECH-001@0.14 · TECH-VIEWS@0.2</a:t>
            </a:r>
          </a:p>
        </p:txBody>
      </p:sp>
      <p:sp>
        <p:nvSpPr>
          <p:cNvPr id="6" name="text-1170-680-12">
            <a:extLst>
              <a:ext uri="{FF2B5EF4-FFF2-40B4-BE49-F238E27FC236}">
                <a16:creationId xmlns:a16="http://schemas.microsoft.com/office/drawing/2014/main" id="{4BEC6DD2-6FBA-41A5-990C-44A789B3A65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diagram-source-12">
            <a:extLst>
              <a:ext uri="{FF2B5EF4-FFF2-40B4-BE49-F238E27FC236}">
                <a16:creationId xmlns:a16="http://schemas.microsoft.com/office/drawing/2014/main" id="{608C5A21-F8BB-4037-B8EA-648DCBD9B102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Simplified from TECH-D01 + TECH-D05</a:t>
            </a:r>
          </a:p>
        </p:txBody>
      </p:sp>
      <p:sp>
        <p:nvSpPr>
          <p:cNvPr id="8" name="source-link-12-TECH-D01">
            <a:hlinkClick r:id="rId3"/>
            <a:extLst>
              <a:ext uri="{FF2B5EF4-FFF2-40B4-BE49-F238E27FC236}">
                <a16:creationId xmlns:a16="http://schemas.microsoft.com/office/drawing/2014/main" id="{8DFE3DCB-5755-470D-9515-2EAAA7A32768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TECH-D01 · Technology Stack ↗</a:t>
            </a:r>
          </a:p>
        </p:txBody>
      </p:sp>
      <p:sp>
        <p:nvSpPr>
          <p:cNvPr id="9" name="box-58-150">
            <a:extLst>
              <a:ext uri="{FF2B5EF4-FFF2-40B4-BE49-F238E27FC236}">
                <a16:creationId xmlns:a16="http://schemas.microsoft.com/office/drawing/2014/main" id="{9E05925F-86EB-431B-9CAA-F4335154F66F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3524250" cy="4476750"/>
          </a:xfrm>
          <a:prstGeom prst="roundRect">
            <a:avLst>
              <a:gd name="adj" fmla="val 2162"/>
            </a:avLst>
          </a:prstGeom>
          <a:solidFill>
            <a:srgbClr val="EAF3F9"/>
          </a:solidFill>
          <a:ln w="14288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-94-170">
            <a:extLst>
              <a:ext uri="{FF2B5EF4-FFF2-40B4-BE49-F238E27FC236}">
                <a16:creationId xmlns:a16="http://schemas.microsoft.com/office/drawing/2014/main" id="{9D444542-3828-4C9F-8AE2-9EA65E2EA595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2838450" cy="323850"/>
          </a:xfrm>
          <a:prstGeom prst="roundRect">
            <a:avLst>
              <a:gd name="adj" fmla="val 23529"/>
            </a:avLst>
          </a:prstGeom>
          <a:solidFill>
            <a:srgbClr val="2169A8"/>
          </a:solidFill>
          <a:ln w="762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WINDOWS ENGINEERING PC</a:t>
            </a:r>
          </a:p>
        </p:txBody>
      </p:sp>
      <p:sp>
        <p:nvSpPr>
          <p:cNvPr id="11" name="box-92-232">
            <a:extLst>
              <a:ext uri="{FF2B5EF4-FFF2-40B4-BE49-F238E27FC236}">
                <a16:creationId xmlns:a16="http://schemas.microsoft.com/office/drawing/2014/main" id="{D448964A-4947-47A9-8939-C78305893D20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2876550" cy="609600"/>
          </a:xfrm>
          <a:prstGeom prst="roundRect">
            <a:avLst>
              <a:gd name="adj" fmla="val 12500"/>
            </a:avLst>
          </a:prstGeom>
          <a:solidFill>
            <a:srgbClr val="F9FCFE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React business UI</a:t>
            </a:r>
          </a:p>
        </p:txBody>
      </p:sp>
      <p:sp>
        <p:nvSpPr>
          <p:cNvPr id="12" name="text-104-268-Dùng chung cho B">
            <a:extLst>
              <a:ext uri="{FF2B5EF4-FFF2-40B4-BE49-F238E27FC236}">
                <a16:creationId xmlns:a16="http://schemas.microsoft.com/office/drawing/2014/main" id="{3E08AEE1-7434-48ED-B172-97A2DFF29D35}"/>
              </a:ext>
            </a:extLst>
          </p:cNvPr>
          <p:cNvSpPr>
            <a:spLocks noGrp="1"/>
          </p:cNvSpPr>
          <p:nvPr/>
        </p:nvSpPr>
        <p:spPr>
          <a:xfrm>
            <a:off x="990600" y="2552700"/>
            <a:ext cx="26479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Dùng chung cho Browser và Desktop</a:t>
            </a:r>
          </a:p>
        </p:txBody>
      </p:sp>
      <p:sp>
        <p:nvSpPr>
          <p:cNvPr id="13" name="text-220-296-↓">
            <a:extLst>
              <a:ext uri="{FF2B5EF4-FFF2-40B4-BE49-F238E27FC236}">
                <a16:creationId xmlns:a16="http://schemas.microsoft.com/office/drawing/2014/main" id="{F45565D0-9A18-4593-B472-408A39C263FF}"/>
              </a:ext>
            </a:extLst>
          </p:cNvPr>
          <p:cNvSpPr>
            <a:spLocks noGrp="1"/>
          </p:cNvSpPr>
          <p:nvPr/>
        </p:nvSpPr>
        <p:spPr>
          <a:xfrm>
            <a:off x="2095500" y="28194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4" name="box-92-318">
            <a:extLst>
              <a:ext uri="{FF2B5EF4-FFF2-40B4-BE49-F238E27FC236}">
                <a16:creationId xmlns:a16="http://schemas.microsoft.com/office/drawing/2014/main" id="{121DD0BE-2992-467F-9A06-B713536838DB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2876550" cy="609600"/>
          </a:xfrm>
          <a:prstGeom prst="roundRect">
            <a:avLst>
              <a:gd name="adj" fmla="val 12500"/>
            </a:avLst>
          </a:prstGeom>
          <a:solidFill>
            <a:srgbClr val="F9FCFE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WPF / WebView2</a:t>
            </a:r>
          </a:p>
        </p:txBody>
      </p:sp>
      <p:sp>
        <p:nvSpPr>
          <p:cNvPr id="15" name="text-104-354-Desktop shell hẹ">
            <a:extLst>
              <a:ext uri="{FF2B5EF4-FFF2-40B4-BE49-F238E27FC236}">
                <a16:creationId xmlns:a16="http://schemas.microsoft.com/office/drawing/2014/main" id="{8D9D838C-A8BC-46ED-8410-7EF11ACF65F3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26479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Desktop shell hẹp</a:t>
            </a:r>
          </a:p>
        </p:txBody>
      </p:sp>
      <p:sp>
        <p:nvSpPr>
          <p:cNvPr id="16" name="text-220-382-↓">
            <a:extLst>
              <a:ext uri="{FF2B5EF4-FFF2-40B4-BE49-F238E27FC236}">
                <a16:creationId xmlns:a16="http://schemas.microsoft.com/office/drawing/2014/main" id="{B81FE923-57D2-4356-9D64-D10A2429E50B}"/>
              </a:ext>
            </a:extLst>
          </p:cNvPr>
          <p:cNvSpPr>
            <a:spLocks noGrp="1"/>
          </p:cNvSpPr>
          <p:nvPr/>
        </p:nvSpPr>
        <p:spPr>
          <a:xfrm>
            <a:off x="2095500" y="36385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box-92-404">
            <a:extLst>
              <a:ext uri="{FF2B5EF4-FFF2-40B4-BE49-F238E27FC236}">
                <a16:creationId xmlns:a16="http://schemas.microsoft.com/office/drawing/2014/main" id="{C3EDC918-7263-4197-866B-5C3DD54EABB2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2876550" cy="609600"/>
          </a:xfrm>
          <a:prstGeom prst="roundRect">
            <a:avLst>
              <a:gd name="adj" fmla="val 12500"/>
            </a:avLst>
          </a:prstGeom>
          <a:solidFill>
            <a:srgbClr val="F9FCFE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.NET 10 Workspace</a:t>
            </a:r>
          </a:p>
        </p:txBody>
      </p:sp>
      <p:sp>
        <p:nvSpPr>
          <p:cNvPr id="18" name="text-104-440-Local files, jou">
            <a:extLst>
              <a:ext uri="{FF2B5EF4-FFF2-40B4-BE49-F238E27FC236}">
                <a16:creationId xmlns:a16="http://schemas.microsoft.com/office/drawing/2014/main" id="{1AB857F2-1555-4A58-97A0-39A5C21F6574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26479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Local files, journal, resume, CAD/Office</a:t>
            </a:r>
          </a:p>
        </p:txBody>
      </p:sp>
      <p:sp>
        <p:nvSpPr>
          <p:cNvPr id="19" name="text-220-468-↓">
            <a:extLst>
              <a:ext uri="{FF2B5EF4-FFF2-40B4-BE49-F238E27FC236}">
                <a16:creationId xmlns:a16="http://schemas.microsoft.com/office/drawing/2014/main" id="{9BFBEB1F-26DC-4984-AE3B-DF80F97301F3}"/>
              </a:ext>
            </a:extLst>
          </p:cNvPr>
          <p:cNvSpPr>
            <a:spLocks noGrp="1"/>
          </p:cNvSpPr>
          <p:nvPr/>
        </p:nvSpPr>
        <p:spPr>
          <a:xfrm>
            <a:off x="2095500" y="44577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box-92-490">
            <a:extLst>
              <a:ext uri="{FF2B5EF4-FFF2-40B4-BE49-F238E27FC236}">
                <a16:creationId xmlns:a16="http://schemas.microsoft.com/office/drawing/2014/main" id="{D5FC9285-2766-489B-A5B6-A3164B2A5A5C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28765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7890A6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IRONCAD / Office / Files</a:t>
            </a:r>
          </a:p>
        </p:txBody>
      </p:sp>
      <p:sp>
        <p:nvSpPr>
          <p:cNvPr id="21" name="text-104-526-Công cụ thiết kế">
            <a:extLst>
              <a:ext uri="{FF2B5EF4-FFF2-40B4-BE49-F238E27FC236}">
                <a16:creationId xmlns:a16="http://schemas.microsoft.com/office/drawing/2014/main" id="{A7D254B2-A408-41CE-8262-28A52C1996FE}"/>
              </a:ext>
            </a:extLst>
          </p:cNvPr>
          <p:cNvSpPr>
            <a:spLocks noGrp="1"/>
          </p:cNvSpPr>
          <p:nvPr/>
        </p:nvSpPr>
        <p:spPr>
          <a:xfrm>
            <a:off x="990600" y="5010150"/>
            <a:ext cx="264795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Công cụ thiết kế bên ngoài IDEA</a:t>
            </a:r>
          </a:p>
        </p:txBody>
      </p:sp>
      <p:sp>
        <p:nvSpPr>
          <p:cNvPr id="22" name="text-432-326-HTTPS / JSON  →">
            <a:extLst>
              <a:ext uri="{FF2B5EF4-FFF2-40B4-BE49-F238E27FC236}">
                <a16:creationId xmlns:a16="http://schemas.microsoft.com/office/drawing/2014/main" id="{5EB22DD3-A17E-49AA-8DE2-A0CD5D3EBA06}"/>
              </a:ext>
            </a:extLst>
          </p:cNvPr>
          <p:cNvSpPr>
            <a:spLocks noGrp="1"/>
          </p:cNvSpPr>
          <p:nvPr/>
        </p:nvSpPr>
        <p:spPr>
          <a:xfrm>
            <a:off x="4114800" y="3105150"/>
            <a:ext cx="13525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HTTPS / JSON  →</a:t>
            </a:r>
          </a:p>
        </p:txBody>
      </p:sp>
      <p:sp>
        <p:nvSpPr>
          <p:cNvPr id="23" name="box-574-150">
            <a:extLst>
              <a:ext uri="{FF2B5EF4-FFF2-40B4-BE49-F238E27FC236}">
                <a16:creationId xmlns:a16="http://schemas.microsoft.com/office/drawing/2014/main" id="{FB17F7C7-1764-4423-AED2-7E97EA63EBA5}"/>
              </a:ext>
            </a:extLst>
          </p:cNvPr>
          <p:cNvSpPr>
            <a:spLocks noGrp="1"/>
          </p:cNvSpPr>
          <p:nvPr/>
        </p:nvSpPr>
        <p:spPr>
          <a:xfrm>
            <a:off x="5467350" y="1428750"/>
            <a:ext cx="3848100" cy="4476750"/>
          </a:xfrm>
          <a:prstGeom prst="roundRect">
            <a:avLst>
              <a:gd name="adj" fmla="val 1980"/>
            </a:avLst>
          </a:prstGeom>
          <a:solidFill>
            <a:srgbClr val="F4F7FA"/>
          </a:solidFill>
          <a:ln w="17145">
            <a:solidFill>
              <a:srgbClr val="10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-682-170">
            <a:extLst>
              <a:ext uri="{FF2B5EF4-FFF2-40B4-BE49-F238E27FC236}">
                <a16:creationId xmlns:a16="http://schemas.microsoft.com/office/drawing/2014/main" id="{B5339DC8-6DB0-4EA7-8E23-258DF1EA1BFA}"/>
              </a:ext>
            </a:extLst>
          </p:cNvPr>
          <p:cNvSpPr>
            <a:spLocks noGrp="1"/>
          </p:cNvSpPr>
          <p:nvPr/>
        </p:nvSpPr>
        <p:spPr>
          <a:xfrm>
            <a:off x="6496050" y="1619250"/>
            <a:ext cx="1790700" cy="323850"/>
          </a:xfrm>
          <a:prstGeom prst="roundRect">
            <a:avLst>
              <a:gd name="adj" fmla="val 23529"/>
            </a:avLst>
          </a:prstGeom>
          <a:solidFill>
            <a:srgbClr val="102744"/>
          </a:solidFill>
          <a:ln w="762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LINUX SERVER</a:t>
            </a:r>
          </a:p>
        </p:txBody>
      </p:sp>
      <p:sp>
        <p:nvSpPr>
          <p:cNvPr id="25" name="box-614-230">
            <a:extLst>
              <a:ext uri="{FF2B5EF4-FFF2-40B4-BE49-F238E27FC236}">
                <a16:creationId xmlns:a16="http://schemas.microsoft.com/office/drawing/2014/main" id="{CB2EE5ED-0063-44AB-BA30-341653DFDFB3}"/>
              </a:ext>
            </a:extLst>
          </p:cNvPr>
          <p:cNvSpPr>
            <a:spLocks noGrp="1"/>
          </p:cNvSpPr>
          <p:nvPr/>
        </p:nvSpPr>
        <p:spPr>
          <a:xfrm>
            <a:off x="5848350" y="2190750"/>
            <a:ext cx="30861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102744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Java 25 / Spring Boot</a:t>
            </a:r>
          </a:p>
          <a:p>
            <a:pPr algn="ctr">
              <a:defRPr sz="157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Spring Modulith</a:t>
            </a:r>
          </a:p>
        </p:txBody>
      </p:sp>
      <p:sp>
        <p:nvSpPr>
          <p:cNvPr id="26" name="text-628-326-Core product aut">
            <a:extLst>
              <a:ext uri="{FF2B5EF4-FFF2-40B4-BE49-F238E27FC236}">
                <a16:creationId xmlns:a16="http://schemas.microsoft.com/office/drawing/2014/main" id="{8BCF2772-D031-4B9A-B59D-F0D1CF8A87E9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2819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Core product authority + modular monolith</a:t>
            </a:r>
          </a:p>
        </p:txBody>
      </p:sp>
      <p:sp>
        <p:nvSpPr>
          <p:cNvPr id="27" name="box-614-388">
            <a:extLst>
              <a:ext uri="{FF2B5EF4-FFF2-40B4-BE49-F238E27FC236}">
                <a16:creationId xmlns:a16="http://schemas.microsoft.com/office/drawing/2014/main" id="{DDD28FED-F158-459E-B781-7C549FF96B9C}"/>
              </a:ext>
            </a:extLst>
          </p:cNvPr>
          <p:cNvSpPr>
            <a:spLocks noGrp="1"/>
          </p:cNvSpPr>
          <p:nvPr/>
        </p:nvSpPr>
        <p:spPr>
          <a:xfrm>
            <a:off x="5848350" y="36957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E7F5EE"/>
          </a:solidFill>
          <a:ln w="1143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PostgreSQL 18</a:t>
            </a:r>
          </a:p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Metadata + state</a:t>
            </a:r>
          </a:p>
        </p:txBody>
      </p:sp>
      <p:sp>
        <p:nvSpPr>
          <p:cNvPr id="28" name="box-796-388">
            <a:extLst>
              <a:ext uri="{FF2B5EF4-FFF2-40B4-BE49-F238E27FC236}">
                <a16:creationId xmlns:a16="http://schemas.microsoft.com/office/drawing/2014/main" id="{A23988A3-588B-4683-91DA-4E0D22D17F10}"/>
              </a:ext>
            </a:extLst>
          </p:cNvPr>
          <p:cNvSpPr>
            <a:spLocks noGrp="1"/>
          </p:cNvSpPr>
          <p:nvPr/>
        </p:nvSpPr>
        <p:spPr>
          <a:xfrm>
            <a:off x="7581900" y="36957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4DD"/>
          </a:solidFill>
          <a:ln w="11430">
            <a:solidFill>
              <a:srgbClr val="C58A1E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Artifact Store</a:t>
            </a:r>
          </a:p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Immutable bytes</a:t>
            </a:r>
          </a:p>
        </p:txBody>
      </p:sp>
      <p:sp>
        <p:nvSpPr>
          <p:cNvPr id="29" name="box-646-530">
            <a:extLst>
              <a:ext uri="{FF2B5EF4-FFF2-40B4-BE49-F238E27FC236}">
                <a16:creationId xmlns:a16="http://schemas.microsoft.com/office/drawing/2014/main" id="{9263AD7C-724B-4D97-821F-27A87335F4AA}"/>
              </a:ext>
            </a:extLst>
          </p:cNvPr>
          <p:cNvSpPr>
            <a:spLocks noGrp="1"/>
          </p:cNvSpPr>
          <p:nvPr/>
        </p:nvSpPr>
        <p:spPr>
          <a:xfrm>
            <a:off x="6153150" y="50482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Transactional outbox + observability</a:t>
            </a:r>
          </a:p>
        </p:txBody>
      </p:sp>
      <p:sp>
        <p:nvSpPr>
          <p:cNvPr id="30" name="text-988-326-→">
            <a:extLst>
              <a:ext uri="{FF2B5EF4-FFF2-40B4-BE49-F238E27FC236}">
                <a16:creationId xmlns:a16="http://schemas.microsoft.com/office/drawing/2014/main" id="{73262CF6-A28C-40C2-91FC-9645F0F48378}"/>
              </a:ext>
            </a:extLst>
          </p:cNvPr>
          <p:cNvSpPr>
            <a:spLocks noGrp="1"/>
          </p:cNvSpPr>
          <p:nvPr/>
        </p:nvSpPr>
        <p:spPr>
          <a:xfrm>
            <a:off x="9410700" y="3105150"/>
            <a:ext cx="4191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box-1032-202">
            <a:extLst>
              <a:ext uri="{FF2B5EF4-FFF2-40B4-BE49-F238E27FC236}">
                <a16:creationId xmlns:a16="http://schemas.microsoft.com/office/drawing/2014/main" id="{1469F5D9-47FA-421E-B725-C8D5E416F7E7}"/>
              </a:ext>
            </a:extLst>
          </p:cNvPr>
          <p:cNvSpPr>
            <a:spLocks noGrp="1"/>
          </p:cNvSpPr>
          <p:nvPr/>
        </p:nvSpPr>
        <p:spPr>
          <a:xfrm>
            <a:off x="9829800" y="1924050"/>
            <a:ext cx="1809750" cy="2762250"/>
          </a:xfrm>
          <a:prstGeom prst="roundRect">
            <a:avLst>
              <a:gd name="adj" fmla="val 4211"/>
            </a:avLst>
          </a:prstGeom>
          <a:solidFill>
            <a:srgbClr val="F0EDFA"/>
          </a:solidFill>
          <a:ln w="14288">
            <a:solidFill>
              <a:srgbClr val="6C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box-1048-220">
            <a:extLst>
              <a:ext uri="{FF2B5EF4-FFF2-40B4-BE49-F238E27FC236}">
                <a16:creationId xmlns:a16="http://schemas.microsoft.com/office/drawing/2014/main" id="{3C4E5286-A35F-4B77-B4E9-33252D110DB3}"/>
              </a:ext>
            </a:extLst>
          </p:cNvPr>
          <p:cNvSpPr>
            <a:spLocks noGrp="1"/>
          </p:cNvSpPr>
          <p:nvPr/>
        </p:nvSpPr>
        <p:spPr>
          <a:xfrm>
            <a:off x="9982200" y="2095500"/>
            <a:ext cx="1504950" cy="381000"/>
          </a:xfrm>
          <a:prstGeom prst="roundRect">
            <a:avLst>
              <a:gd name="adj" fmla="val 20000"/>
            </a:avLst>
          </a:prstGeom>
          <a:solidFill>
            <a:srgbClr val="6C5AA8"/>
          </a:solidFill>
          <a:ln w="7620">
            <a:solidFill>
              <a:srgbClr val="6C5A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WINDOWS FORMAT WORKER</a:t>
            </a:r>
          </a:p>
        </p:txBody>
      </p:sp>
      <p:sp>
        <p:nvSpPr>
          <p:cNvPr id="33" name="text-1056-290-Boundary đã chọn">
            <a:extLst>
              <a:ext uri="{FF2B5EF4-FFF2-40B4-BE49-F238E27FC236}">
                <a16:creationId xmlns:a16="http://schemas.microsoft.com/office/drawing/2014/main" id="{DB470992-6B74-451F-949F-B2557774823A}"/>
              </a:ext>
            </a:extLst>
          </p:cNvPr>
          <p:cNvSpPr>
            <a:spLocks noGrp="1"/>
          </p:cNvSpPr>
          <p:nvPr/>
        </p:nvSpPr>
        <p:spPr>
          <a:xfrm>
            <a:off x="10058400" y="2762250"/>
            <a:ext cx="1352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6C5A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-1052-336-Chỉ dùng khi CAD">
            <a:extLst>
              <a:ext uri="{FF2B5EF4-FFF2-40B4-BE49-F238E27FC236}">
                <a16:creationId xmlns:a16="http://schemas.microsoft.com/office/drawing/2014/main" id="{3B2BA99C-25F0-4B1F-AA9C-6C8F1104072E}"/>
              </a:ext>
            </a:extLst>
          </p:cNvPr>
          <p:cNvSpPr>
            <a:spLocks noGrp="1"/>
          </p:cNvSpPr>
          <p:nvPr/>
        </p:nvSpPr>
        <p:spPr>
          <a:xfrm>
            <a:off x="10020300" y="3200400"/>
            <a:ext cx="14287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2638"/>
                </a:solidFill>
                <a:latin typeface="Arial"/>
                <a:ea typeface="Arial"/>
                <a:cs typeface="Arial"/>
              </a:rPr>
              <a:t>Chỉ dùng khi CAD / Office / license yêu cầu xử lý riêng</a:t>
            </a:r>
          </a:p>
        </p:txBody>
      </p:sp>
      <p:sp>
        <p:nvSpPr>
          <p:cNvPr id="35" name="text-1046-424-Runtime / toolch">
            <a:extLst>
              <a:ext uri="{FF2B5EF4-FFF2-40B4-BE49-F238E27FC236}">
                <a16:creationId xmlns:a16="http://schemas.microsoft.com/office/drawing/2014/main" id="{5CA36473-9581-405E-AC21-48671878404A}"/>
              </a:ext>
            </a:extLst>
          </p:cNvPr>
          <p:cNvSpPr>
            <a:spLocks noGrp="1"/>
          </p:cNvSpPr>
          <p:nvPr/>
        </p:nvSpPr>
        <p:spPr>
          <a:xfrm>
            <a:off x="9963150" y="4038600"/>
            <a:ext cx="1543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63" b="1">
                <a:solidFill>
                  <a:srgbClr val="B94A55"/>
                </a:solidFill>
                <a:latin typeface="Arial"/>
                <a:ea typeface="Arial"/>
                <a:cs typeface="Arial"/>
              </a:defRPr>
            </a:pPr>
            <a:endParaRPr sz="863" b="1" dirty="0">
              <a:solidFill>
                <a:srgbClr val="B94A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box-1032-520">
            <a:extLst>
              <a:ext uri="{FF2B5EF4-FFF2-40B4-BE49-F238E27FC236}">
                <a16:creationId xmlns:a16="http://schemas.microsoft.com/office/drawing/2014/main" id="{0C4B345C-C281-4BC6-9907-BA7CC20764FD}"/>
              </a:ext>
            </a:extLst>
          </p:cNvPr>
          <p:cNvSpPr>
            <a:spLocks noGrp="1"/>
          </p:cNvSpPr>
          <p:nvPr/>
        </p:nvSpPr>
        <p:spPr>
          <a:xfrm>
            <a:off x="9829800" y="4953000"/>
            <a:ext cx="1809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CBD8E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Candidate output</a:t>
            </a:r>
          </a:p>
          <a:p>
            <a:pPr algn="ctr">
              <a:defRPr sz="97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Server quyết định nhận hay từ chối</a:t>
            </a:r>
          </a:p>
        </p:txBody>
      </p:sp>
      <p:sp>
        <p:nvSpPr>
          <p:cNvPr id="37" name="text-224-642-Core Server giữ ">
            <a:extLst>
              <a:ext uri="{FF2B5EF4-FFF2-40B4-BE49-F238E27FC236}">
                <a16:creationId xmlns:a16="http://schemas.microsoft.com/office/drawing/2014/main" id="{6D870EB0-D8AF-4E35-9F48-5F5C4A8514AD}"/>
              </a:ext>
            </a:extLst>
          </p:cNvPr>
          <p:cNvSpPr>
            <a:spLocks noGrp="1"/>
          </p:cNvSpPr>
          <p:nvPr/>
        </p:nvSpPr>
        <p:spPr>
          <a:xfrm>
            <a:off x="2133600" y="6115050"/>
            <a:ext cx="79819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Core Server </a:t>
            </a:r>
            <a:r>
              <a:rPr sz="975" b="0" dirty="0" err="1">
                <a:solidFill>
                  <a:srgbClr val="7890A6"/>
                </a:solidFill>
                <a:latin typeface="Arial"/>
                <a:ea typeface="Arial"/>
                <a:cs typeface="Arial"/>
              </a:rPr>
              <a:t>giữ</a:t>
            </a: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 product authority. Windows boundary </a:t>
            </a:r>
            <a:r>
              <a:rPr sz="975" b="0" dirty="0" err="1">
                <a:solidFill>
                  <a:srgbClr val="7890A6"/>
                </a:solidFill>
                <a:latin typeface="Arial"/>
                <a:ea typeface="Arial"/>
                <a:cs typeface="Arial"/>
              </a:rPr>
              <a:t>xử</a:t>
            </a: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 </a:t>
            </a:r>
            <a:r>
              <a:rPr sz="975" b="0" dirty="0" err="1">
                <a:solidFill>
                  <a:srgbClr val="7890A6"/>
                </a:solidFill>
                <a:latin typeface="Arial"/>
                <a:ea typeface="Arial"/>
                <a:cs typeface="Arial"/>
              </a:rPr>
              <a:t>lý</a:t>
            </a: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 file </a:t>
            </a:r>
            <a:r>
              <a:rPr sz="975" b="0" dirty="0" err="1">
                <a:solidFill>
                  <a:srgbClr val="7890A6"/>
                </a:solidFill>
                <a:latin typeface="Arial"/>
                <a:ea typeface="Arial"/>
                <a:cs typeface="Arial"/>
              </a:rPr>
              <a:t>và</a:t>
            </a: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 format </a:t>
            </a:r>
            <a:r>
              <a:rPr sz="975" b="0" dirty="0" err="1">
                <a:solidFill>
                  <a:srgbClr val="7890A6"/>
                </a:solidFill>
                <a:latin typeface="Arial"/>
                <a:ea typeface="Arial"/>
                <a:cs typeface="Arial"/>
              </a:rPr>
              <a:t>khi</a:t>
            </a: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 </a:t>
            </a:r>
            <a:r>
              <a:rPr sz="975" b="0" dirty="0" err="1">
                <a:solidFill>
                  <a:srgbClr val="7890A6"/>
                </a:solidFill>
                <a:latin typeface="Arial"/>
                <a:ea typeface="Arial"/>
                <a:cs typeface="Arial"/>
              </a:rPr>
              <a:t>cần</a:t>
            </a:r>
            <a:r>
              <a:rPr sz="975" b="0" dirty="0">
                <a:solidFill>
                  <a:srgbClr val="7890A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25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x-0-0">
            <a:extLst>
              <a:ext uri="{FF2B5EF4-FFF2-40B4-BE49-F238E27FC236}">
                <a16:creationId xmlns:a16="http://schemas.microsoft.com/office/drawing/2014/main" id="{CBC6088D-F7A1-4E36-8DE5-B1B14299C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6C5A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TECH">
            <a:extLst>
              <a:ext uri="{FF2B5EF4-FFF2-40B4-BE49-F238E27FC236}">
                <a16:creationId xmlns:a16="http://schemas.microsoft.com/office/drawing/2014/main" id="{92DF25C2-3B5F-4373-BF29-8D8DE9D0484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3" name="text-54-56-Tech — Công nghệ">
            <a:extLst>
              <a:ext uri="{FF2B5EF4-FFF2-40B4-BE49-F238E27FC236}">
                <a16:creationId xmlns:a16="http://schemas.microsoft.com/office/drawing/2014/main" id="{99167FA5-2ACB-496F-84F6-56B714DE7577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Tech — Công nghệ nào chịu trách nhiệm gì?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59109D10-997E-4B41-864F-D0B4BBC276C5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TECH-001@0.14 · ">
            <a:extLst>
              <a:ext uri="{FF2B5EF4-FFF2-40B4-BE49-F238E27FC236}">
                <a16:creationId xmlns:a16="http://schemas.microsoft.com/office/drawing/2014/main" id="{52FDC727-4853-4BC5-8DBF-D05E8B97DAB0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TECH-001@0.14 · TECH-MATRIX@0.6</a:t>
            </a:r>
          </a:p>
        </p:txBody>
      </p:sp>
      <p:sp>
        <p:nvSpPr>
          <p:cNvPr id="6" name="text-1170-680-13">
            <a:extLst>
              <a:ext uri="{FF2B5EF4-FFF2-40B4-BE49-F238E27FC236}">
                <a16:creationId xmlns:a16="http://schemas.microsoft.com/office/drawing/2014/main" id="{7E115872-D4CA-45D1-BD98-6C65EDACC69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source-link-13-TECH-D03">
            <a:hlinkClick r:id="rId3"/>
            <a:extLst>
              <a:ext uri="{FF2B5EF4-FFF2-40B4-BE49-F238E27FC236}">
                <a16:creationId xmlns:a16="http://schemas.microsoft.com/office/drawing/2014/main" id="{52D50AEE-CE24-42F4-A2ED-E74933511802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 dirty="0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TECH-D03 · Technology Layers ↗</a:t>
            </a:r>
          </a:p>
        </p:txBody>
      </p:sp>
      <p:sp>
        <p:nvSpPr>
          <p:cNvPr id="9" name="text-66-147-TRÁCH NHIỆM">
            <a:extLst>
              <a:ext uri="{FF2B5EF4-FFF2-40B4-BE49-F238E27FC236}">
                <a16:creationId xmlns:a16="http://schemas.microsoft.com/office/drawing/2014/main" id="{C004E44E-EEBD-4040-B4FE-C8D385A09D05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63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TRÁCH NHIỆM</a:t>
            </a:r>
          </a:p>
        </p:txBody>
      </p:sp>
      <p:sp>
        <p:nvSpPr>
          <p:cNvPr id="10" name="text-346-147-CÔNG NGHỆ">
            <a:extLst>
              <a:ext uri="{FF2B5EF4-FFF2-40B4-BE49-F238E27FC236}">
                <a16:creationId xmlns:a16="http://schemas.microsoft.com/office/drawing/2014/main" id="{551D050E-97D1-4545-B543-5E7E4A69FA11}"/>
              </a:ext>
            </a:extLst>
          </p:cNvPr>
          <p:cNvSpPr>
            <a:spLocks noGrp="1"/>
          </p:cNvSpPr>
          <p:nvPr/>
        </p:nvSpPr>
        <p:spPr>
          <a:xfrm>
            <a:off x="3295650" y="1400175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63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11" name="text-700-147-RANH GIỚI CÔNG V">
            <a:extLst>
              <a:ext uri="{FF2B5EF4-FFF2-40B4-BE49-F238E27FC236}">
                <a16:creationId xmlns:a16="http://schemas.microsoft.com/office/drawing/2014/main" id="{2373508C-7F80-4EE0-A796-B718B0811627}"/>
              </a:ext>
            </a:extLst>
          </p:cNvPr>
          <p:cNvSpPr>
            <a:spLocks noGrp="1"/>
          </p:cNvSpPr>
          <p:nvPr/>
        </p:nvSpPr>
        <p:spPr>
          <a:xfrm>
            <a:off x="6667500" y="14001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63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RANH GIỚI CÔNG VIỆC</a:t>
            </a:r>
          </a:p>
        </p:txBody>
      </p:sp>
      <p:sp>
        <p:nvSpPr>
          <p:cNvPr id="12" name="box-58-166">
            <a:extLst>
              <a:ext uri="{FF2B5EF4-FFF2-40B4-BE49-F238E27FC236}">
                <a16:creationId xmlns:a16="http://schemas.microsoft.com/office/drawing/2014/main" id="{40BD3BF9-25B5-4E42-BB58-C198C61FFD7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E8F7F9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-58-166">
            <a:extLst>
              <a:ext uri="{FF2B5EF4-FFF2-40B4-BE49-F238E27FC236}">
                <a16:creationId xmlns:a16="http://schemas.microsoft.com/office/drawing/2014/main" id="{0DB46610-BE47-4F01-B976-63E45E6BB2FF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95250" cy="495300"/>
          </a:xfrm>
          <a:prstGeom prst="rect">
            <a:avLst/>
          </a:prstGeom>
          <a:solidFill>
            <a:srgbClr val="2F8FC2"/>
          </a:solidFill>
          <a:ln w="0">
            <a:solidFill>
              <a:srgbClr val="2F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82-178-Business UI">
            <a:extLst>
              <a:ext uri="{FF2B5EF4-FFF2-40B4-BE49-F238E27FC236}">
                <a16:creationId xmlns:a16="http://schemas.microsoft.com/office/drawing/2014/main" id="{0158C347-4715-4D15-84D5-2911DAE39D2D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 dirty="0">
                <a:solidFill>
                  <a:srgbClr val="102744"/>
                </a:solidFill>
                <a:latin typeface="Arial"/>
                <a:ea typeface="Arial"/>
                <a:cs typeface="Arial"/>
              </a:rPr>
              <a:t>Business UI</a:t>
            </a:r>
          </a:p>
        </p:txBody>
      </p:sp>
      <p:sp>
        <p:nvSpPr>
          <p:cNvPr id="15" name="text-346-178-React + TypeScri">
            <a:extLst>
              <a:ext uri="{FF2B5EF4-FFF2-40B4-BE49-F238E27FC236}">
                <a16:creationId xmlns:a16="http://schemas.microsoft.com/office/drawing/2014/main" id="{210D8F2B-89C2-4D7F-B877-9ED9493CB783}"/>
              </a:ext>
            </a:extLst>
          </p:cNvPr>
          <p:cNvSpPr>
            <a:spLocks noGrp="1"/>
          </p:cNvSpPr>
          <p:nvPr/>
        </p:nvSpPr>
        <p:spPr>
          <a:xfrm>
            <a:off x="3295650" y="16954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16" name="text-700-173-Tìm kiếm, duyệt,">
            <a:extLst>
              <a:ext uri="{FF2B5EF4-FFF2-40B4-BE49-F238E27FC236}">
                <a16:creationId xmlns:a16="http://schemas.microsoft.com/office/drawing/2014/main" id="{1463F769-7573-4855-88E6-109294477621}"/>
              </a:ext>
            </a:extLst>
          </p:cNvPr>
          <p:cNvSpPr>
            <a:spLocks noGrp="1"/>
          </p:cNvSpPr>
          <p:nvPr/>
        </p:nvSpPr>
        <p:spPr>
          <a:xfrm>
            <a:off x="6667500" y="164782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Tìm kiếm, duyệt, review và quản trị trên Web lẫn Desktop</a:t>
            </a:r>
          </a:p>
        </p:txBody>
      </p:sp>
      <p:sp>
        <p:nvSpPr>
          <p:cNvPr id="17" name="box-58-224">
            <a:extLst>
              <a:ext uri="{FF2B5EF4-FFF2-40B4-BE49-F238E27FC236}">
                <a16:creationId xmlns:a16="http://schemas.microsoft.com/office/drawing/2014/main" id="{63EFF69B-61BC-4244-878E-E89020EB0212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EAF3F9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-58-224">
            <a:extLst>
              <a:ext uri="{FF2B5EF4-FFF2-40B4-BE49-F238E27FC236}">
                <a16:creationId xmlns:a16="http://schemas.microsoft.com/office/drawing/2014/main" id="{8C3ECAA2-EB25-41A3-AFAB-8728D1234F77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95250" cy="495300"/>
          </a:xfrm>
          <a:prstGeom prst="rect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82-236-Windows shell">
            <a:extLst>
              <a:ext uri="{FF2B5EF4-FFF2-40B4-BE49-F238E27FC236}">
                <a16:creationId xmlns:a16="http://schemas.microsoft.com/office/drawing/2014/main" id="{04C79B81-571C-4CDE-8AA8-AFC4C0BEF09A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Windows shell</a:t>
            </a:r>
          </a:p>
        </p:txBody>
      </p:sp>
      <p:sp>
        <p:nvSpPr>
          <p:cNvPr id="20" name="text-346-236-WPF + WebView2">
            <a:extLst>
              <a:ext uri="{FF2B5EF4-FFF2-40B4-BE49-F238E27FC236}">
                <a16:creationId xmlns:a16="http://schemas.microsoft.com/office/drawing/2014/main" id="{7045A8ED-C42F-4E93-99ED-78F44771CC9E}"/>
              </a:ext>
            </a:extLst>
          </p:cNvPr>
          <p:cNvSpPr>
            <a:spLocks noGrp="1"/>
          </p:cNvSpPr>
          <p:nvPr/>
        </p:nvSpPr>
        <p:spPr>
          <a:xfrm>
            <a:off x="3295650" y="22479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WPF + WebView2</a:t>
            </a:r>
          </a:p>
        </p:txBody>
      </p:sp>
      <p:sp>
        <p:nvSpPr>
          <p:cNvPr id="21" name="text-700-231-Bề mặt Desktop h">
            <a:extLst>
              <a:ext uri="{FF2B5EF4-FFF2-40B4-BE49-F238E27FC236}">
                <a16:creationId xmlns:a16="http://schemas.microsoft.com/office/drawing/2014/main" id="{B6B7F65F-5883-4895-BEDB-2E2DE0376689}"/>
              </a:ext>
            </a:extLst>
          </p:cNvPr>
          <p:cNvSpPr>
            <a:spLocks noGrp="1"/>
          </p:cNvSpPr>
          <p:nvPr/>
        </p:nvSpPr>
        <p:spPr>
          <a:xfrm>
            <a:off x="6667500" y="220027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Bề mặt Desktop hẹp; tái sử dụng business UI</a:t>
            </a:r>
          </a:p>
        </p:txBody>
      </p:sp>
      <p:sp>
        <p:nvSpPr>
          <p:cNvPr id="22" name="box-58-282">
            <a:extLst>
              <a:ext uri="{FF2B5EF4-FFF2-40B4-BE49-F238E27FC236}">
                <a16:creationId xmlns:a16="http://schemas.microsoft.com/office/drawing/2014/main" id="{DD40526C-1838-41EB-9EE9-A9F7F9F4097F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EAF3F9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-58-282">
            <a:extLst>
              <a:ext uri="{FF2B5EF4-FFF2-40B4-BE49-F238E27FC236}">
                <a16:creationId xmlns:a16="http://schemas.microsoft.com/office/drawing/2014/main" id="{1E6FAA5D-4256-4015-9B15-4E05E32E2F88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95250" cy="495300"/>
          </a:xfrm>
          <a:prstGeom prst="rect">
            <a:avLst/>
          </a:prstGeom>
          <a:solidFill>
            <a:srgbClr val="2169A8"/>
          </a:solidFill>
          <a:ln w="0">
            <a:solidFill>
              <a:srgbClr val="216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82-294-Local engineerin">
            <a:extLst>
              <a:ext uri="{FF2B5EF4-FFF2-40B4-BE49-F238E27FC236}">
                <a16:creationId xmlns:a16="http://schemas.microsoft.com/office/drawing/2014/main" id="{7BFDC1B4-094C-4017-AED8-C458C701D1F8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Local engineering boundary</a:t>
            </a:r>
          </a:p>
        </p:txBody>
      </p:sp>
      <p:sp>
        <p:nvSpPr>
          <p:cNvPr id="25" name="text-346-294-.NET 10 Workspac">
            <a:extLst>
              <a:ext uri="{FF2B5EF4-FFF2-40B4-BE49-F238E27FC236}">
                <a16:creationId xmlns:a16="http://schemas.microsoft.com/office/drawing/2014/main" id="{8158CFDC-A9CB-4D11-8D37-8D74FC0BD88F}"/>
              </a:ext>
            </a:extLst>
          </p:cNvPr>
          <p:cNvSpPr>
            <a:spLocks noGrp="1"/>
          </p:cNvSpPr>
          <p:nvPr/>
        </p:nvSpPr>
        <p:spPr>
          <a:xfrm>
            <a:off x="3295650" y="28003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.NET 10 Workspace </a:t>
            </a:r>
          </a:p>
        </p:txBody>
      </p:sp>
      <p:sp>
        <p:nvSpPr>
          <p:cNvPr id="26" name="text-700-289-File cục bộ, man">
            <a:extLst>
              <a:ext uri="{FF2B5EF4-FFF2-40B4-BE49-F238E27FC236}">
                <a16:creationId xmlns:a16="http://schemas.microsoft.com/office/drawing/2014/main" id="{4384CDE0-22D9-4D95-995F-167EE36DE0A1}"/>
              </a:ext>
            </a:extLst>
          </p:cNvPr>
          <p:cNvSpPr>
            <a:spLocks noGrp="1"/>
          </p:cNvSpPr>
          <p:nvPr/>
        </p:nvSpPr>
        <p:spPr>
          <a:xfrm>
            <a:off x="6667500" y="275272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File cục bộ, manifest, resume, CAD/Office và IPC có xác thực</a:t>
            </a:r>
          </a:p>
        </p:txBody>
      </p:sp>
      <p:sp>
        <p:nvSpPr>
          <p:cNvPr id="27" name="box-58-340">
            <a:extLst>
              <a:ext uri="{FF2B5EF4-FFF2-40B4-BE49-F238E27FC236}">
                <a16:creationId xmlns:a16="http://schemas.microsoft.com/office/drawing/2014/main" id="{EC699C0D-5661-46FA-8BA0-8BD63DB57BF5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E8F7F9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-58-340">
            <a:extLst>
              <a:ext uri="{FF2B5EF4-FFF2-40B4-BE49-F238E27FC236}">
                <a16:creationId xmlns:a16="http://schemas.microsoft.com/office/drawing/2014/main" id="{C093B45A-EAD3-487F-B7E7-B569C08A720C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95250" cy="495300"/>
          </a:xfrm>
          <a:prstGeom prst="rect">
            <a:avLst/>
          </a:prstGeom>
          <a:solidFill>
            <a:srgbClr val="2F8FC2"/>
          </a:solidFill>
          <a:ln w="0">
            <a:solidFill>
              <a:srgbClr val="2F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82-352-Remote contract">
            <a:extLst>
              <a:ext uri="{FF2B5EF4-FFF2-40B4-BE49-F238E27FC236}">
                <a16:creationId xmlns:a16="http://schemas.microsoft.com/office/drawing/2014/main" id="{58D4912A-19D5-4813-8CCA-E314ED0A7039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Remote contract</a:t>
            </a:r>
          </a:p>
        </p:txBody>
      </p:sp>
      <p:sp>
        <p:nvSpPr>
          <p:cNvPr id="30" name="text-346-352-HTTPS / JSON RES">
            <a:extLst>
              <a:ext uri="{FF2B5EF4-FFF2-40B4-BE49-F238E27FC236}">
                <a16:creationId xmlns:a16="http://schemas.microsoft.com/office/drawing/2014/main" id="{ABC55DA1-2A55-4B81-A667-CA883C159187}"/>
              </a:ext>
            </a:extLst>
          </p:cNvPr>
          <p:cNvSpPr>
            <a:spLocks noGrp="1"/>
          </p:cNvSpPr>
          <p:nvPr/>
        </p:nvSpPr>
        <p:spPr>
          <a:xfrm>
            <a:off x="3295650" y="33528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HTTPS / JSON REST / </a:t>
            </a:r>
            <a:r>
              <a:rPr sz="1125" b="1" dirty="0" err="1">
                <a:solidFill>
                  <a:srgbClr val="162638"/>
                </a:solidFill>
                <a:latin typeface="Arial"/>
                <a:ea typeface="Arial"/>
                <a:cs typeface="Arial"/>
              </a:rPr>
              <a:t>OpenAPI</a:t>
            </a:r>
            <a:r>
              <a:rPr sz="1125" b="1" dirty="0">
                <a:solidFill>
                  <a:srgbClr val="162638"/>
                </a:solidFill>
                <a:latin typeface="Arial"/>
                <a:ea typeface="Arial"/>
                <a:cs typeface="Arial"/>
              </a:rPr>
              <a:t> 3.1</a:t>
            </a:r>
          </a:p>
        </p:txBody>
      </p:sp>
      <p:sp>
        <p:nvSpPr>
          <p:cNvPr id="31" name="text-700-347-Hợp đồng version">
            <a:extLst>
              <a:ext uri="{FF2B5EF4-FFF2-40B4-BE49-F238E27FC236}">
                <a16:creationId xmlns:a16="http://schemas.microsoft.com/office/drawing/2014/main" id="{F8259B41-48FC-4609-8123-D8CEB827425B}"/>
              </a:ext>
            </a:extLst>
          </p:cNvPr>
          <p:cNvSpPr>
            <a:spLocks noGrp="1"/>
          </p:cNvSpPr>
          <p:nvPr/>
        </p:nvSpPr>
        <p:spPr>
          <a:xfrm>
            <a:off x="6667500" y="330517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lang="en-US" sz="1013" dirty="0">
                <a:solidFill>
                  <a:srgbClr val="4B6075"/>
                </a:solidFill>
                <a:latin typeface="Arial"/>
                <a:ea typeface="Arial"/>
                <a:cs typeface="Arial"/>
              </a:rPr>
              <a:t>Liên </a:t>
            </a:r>
            <a:r>
              <a:rPr lang="en-US" sz="1013" dirty="0" err="1">
                <a:solidFill>
                  <a:srgbClr val="4B6075"/>
                </a:solidFill>
                <a:latin typeface="Arial"/>
                <a:ea typeface="Arial"/>
                <a:cs typeface="Arial"/>
              </a:rPr>
              <a:t>hệ</a:t>
            </a:r>
            <a:r>
              <a:rPr sz="1013" b="0" dirty="0">
                <a:solidFill>
                  <a:srgbClr val="4B6075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4B6075"/>
                </a:solidFill>
                <a:latin typeface="Arial"/>
                <a:ea typeface="Arial"/>
                <a:cs typeface="Arial"/>
              </a:rPr>
              <a:t>giữa</a:t>
            </a:r>
            <a:r>
              <a:rPr sz="1013" b="0" dirty="0">
                <a:solidFill>
                  <a:srgbClr val="4B6075"/>
                </a:solidFill>
                <a:latin typeface="Arial"/>
                <a:ea typeface="Arial"/>
                <a:cs typeface="Arial"/>
              </a:rPr>
              <a:t> Client, Workspace </a:t>
            </a:r>
            <a:r>
              <a:rPr sz="1013" b="0" dirty="0" err="1">
                <a:solidFill>
                  <a:srgbClr val="4B6075"/>
                </a:solidFill>
                <a:latin typeface="Arial"/>
                <a:ea typeface="Arial"/>
                <a:cs typeface="Arial"/>
              </a:rPr>
              <a:t>và</a:t>
            </a:r>
            <a:r>
              <a:rPr sz="1013" b="0" dirty="0">
                <a:solidFill>
                  <a:srgbClr val="4B6075"/>
                </a:solidFill>
                <a:latin typeface="Arial"/>
                <a:ea typeface="Arial"/>
                <a:cs typeface="Arial"/>
              </a:rPr>
              <a:t> Server</a:t>
            </a:r>
          </a:p>
        </p:txBody>
      </p:sp>
      <p:sp>
        <p:nvSpPr>
          <p:cNvPr id="32" name="box-58-398">
            <a:extLst>
              <a:ext uri="{FF2B5EF4-FFF2-40B4-BE49-F238E27FC236}">
                <a16:creationId xmlns:a16="http://schemas.microsoft.com/office/drawing/2014/main" id="{1FA67087-C032-4FC2-920F-AF0EA9BDA77C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F0EDFA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-58-398">
            <a:extLst>
              <a:ext uri="{FF2B5EF4-FFF2-40B4-BE49-F238E27FC236}">
                <a16:creationId xmlns:a16="http://schemas.microsoft.com/office/drawing/2014/main" id="{2116AD15-5F42-4E50-9B65-22B99205EA0C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95250" cy="495300"/>
          </a:xfrm>
          <a:prstGeom prst="rect">
            <a:avLst/>
          </a:prstGeom>
          <a:solidFill>
            <a:srgbClr val="6C5AA8"/>
          </a:solidFill>
          <a:ln w="0">
            <a:solidFill>
              <a:srgbClr val="6C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82-410-Core Server">
            <a:extLst>
              <a:ext uri="{FF2B5EF4-FFF2-40B4-BE49-F238E27FC236}">
                <a16:creationId xmlns:a16="http://schemas.microsoft.com/office/drawing/2014/main" id="{3E11446D-E4D3-4466-B944-A13ABF8D3079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Core Server</a:t>
            </a:r>
          </a:p>
        </p:txBody>
      </p:sp>
      <p:sp>
        <p:nvSpPr>
          <p:cNvPr id="35" name="text-346-410-Java 25 + Spring">
            <a:extLst>
              <a:ext uri="{FF2B5EF4-FFF2-40B4-BE49-F238E27FC236}">
                <a16:creationId xmlns:a16="http://schemas.microsoft.com/office/drawing/2014/main" id="{F03747C8-B77E-491F-9067-EECBA952E88A}"/>
              </a:ext>
            </a:extLst>
          </p:cNvPr>
          <p:cNvSpPr>
            <a:spLocks noGrp="1"/>
          </p:cNvSpPr>
          <p:nvPr/>
        </p:nvSpPr>
        <p:spPr>
          <a:xfrm>
            <a:off x="3295650" y="39052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Java 25 + Spring Boot + Modulith</a:t>
            </a:r>
          </a:p>
        </p:txBody>
      </p:sp>
      <p:sp>
        <p:nvSpPr>
          <p:cNvPr id="36" name="text-700-405-Product authorit">
            <a:extLst>
              <a:ext uri="{FF2B5EF4-FFF2-40B4-BE49-F238E27FC236}">
                <a16:creationId xmlns:a16="http://schemas.microsoft.com/office/drawing/2014/main" id="{F06E89DD-8B88-4E10-AD00-BD2FB00E62F2}"/>
              </a:ext>
            </a:extLst>
          </p:cNvPr>
          <p:cNvSpPr>
            <a:spLocks noGrp="1"/>
          </p:cNvSpPr>
          <p:nvPr/>
        </p:nvSpPr>
        <p:spPr>
          <a:xfrm>
            <a:off x="6667500" y="385762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Product authority, transaction, policy, workflow, release và API</a:t>
            </a:r>
          </a:p>
        </p:txBody>
      </p:sp>
      <p:sp>
        <p:nvSpPr>
          <p:cNvPr id="37" name="box-58-456">
            <a:extLst>
              <a:ext uri="{FF2B5EF4-FFF2-40B4-BE49-F238E27FC236}">
                <a16:creationId xmlns:a16="http://schemas.microsoft.com/office/drawing/2014/main" id="{0539A2D8-B432-4A33-8D14-7BDEA0BC36E2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F0EDFA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box-58-456">
            <a:extLst>
              <a:ext uri="{FF2B5EF4-FFF2-40B4-BE49-F238E27FC236}">
                <a16:creationId xmlns:a16="http://schemas.microsoft.com/office/drawing/2014/main" id="{C0837E1F-A3D0-4796-B0E9-96D546C926A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95250" cy="495300"/>
          </a:xfrm>
          <a:prstGeom prst="rect">
            <a:avLst/>
          </a:prstGeom>
          <a:solidFill>
            <a:srgbClr val="6C5AA8"/>
          </a:solidFill>
          <a:ln w="0">
            <a:solidFill>
              <a:srgbClr val="6C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-82-468-Server platform">
            <a:extLst>
              <a:ext uri="{FF2B5EF4-FFF2-40B4-BE49-F238E27FC236}">
                <a16:creationId xmlns:a16="http://schemas.microsoft.com/office/drawing/2014/main" id="{8EAD76C1-EC1A-49E7-882E-7CB331D31CAD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Server platform</a:t>
            </a:r>
          </a:p>
        </p:txBody>
      </p:sp>
      <p:sp>
        <p:nvSpPr>
          <p:cNvPr id="40" name="text-346-468-Ubuntu Server 26">
            <a:extLst>
              <a:ext uri="{FF2B5EF4-FFF2-40B4-BE49-F238E27FC236}">
                <a16:creationId xmlns:a16="http://schemas.microsoft.com/office/drawing/2014/main" id="{41D53F96-D4F2-4C17-A6BB-BA7AD90C0FB6}"/>
              </a:ext>
            </a:extLst>
          </p:cNvPr>
          <p:cNvSpPr>
            <a:spLocks noGrp="1"/>
          </p:cNvSpPr>
          <p:nvPr/>
        </p:nvSpPr>
        <p:spPr>
          <a:xfrm>
            <a:off x="3295650" y="44577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Ubuntu Server 26.04 LTS</a:t>
            </a:r>
          </a:p>
        </p:txBody>
      </p:sp>
      <p:sp>
        <p:nvSpPr>
          <p:cNvPr id="41" name="text-700-463-Platform directi">
            <a:extLst>
              <a:ext uri="{FF2B5EF4-FFF2-40B4-BE49-F238E27FC236}">
                <a16:creationId xmlns:a16="http://schemas.microsoft.com/office/drawing/2014/main" id="{09222696-699D-4C95-8044-0C09AF2139DC}"/>
              </a:ext>
            </a:extLst>
          </p:cNvPr>
          <p:cNvSpPr>
            <a:spLocks noGrp="1"/>
          </p:cNvSpPr>
          <p:nvPr/>
        </p:nvSpPr>
        <p:spPr>
          <a:xfrm>
            <a:off x="6667500" y="441007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4B6075"/>
                </a:solidFill>
                <a:latin typeface="Arial"/>
                <a:ea typeface="Arial"/>
                <a:cs typeface="Arial"/>
              </a:rPr>
              <a:t>Platform direction; exact operational build </a:t>
            </a:r>
          </a:p>
        </p:txBody>
      </p:sp>
      <p:sp>
        <p:nvSpPr>
          <p:cNvPr id="42" name="box-58-514">
            <a:extLst>
              <a:ext uri="{FF2B5EF4-FFF2-40B4-BE49-F238E27FC236}">
                <a16:creationId xmlns:a16="http://schemas.microsoft.com/office/drawing/2014/main" id="{A004E065-48BA-4B6E-BEBF-86F6733DA8DC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E7F5EE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box-58-514">
            <a:extLst>
              <a:ext uri="{FF2B5EF4-FFF2-40B4-BE49-F238E27FC236}">
                <a16:creationId xmlns:a16="http://schemas.microsoft.com/office/drawing/2014/main" id="{E74A5F20-17BD-45B2-9B5A-A450016665A6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95250" cy="495300"/>
          </a:xfrm>
          <a:prstGeom prst="rect">
            <a:avLst/>
          </a:prstGeom>
          <a:solidFill>
            <a:srgbClr val="2D8A62"/>
          </a:solidFill>
          <a:ln w="0">
            <a:solidFill>
              <a:srgbClr val="2D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-82-526-Authoritative da">
            <a:extLst>
              <a:ext uri="{FF2B5EF4-FFF2-40B4-BE49-F238E27FC236}">
                <a16:creationId xmlns:a16="http://schemas.microsoft.com/office/drawing/2014/main" id="{A251665C-B374-418F-BA64-2620161EE4FC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Authoritative data</a:t>
            </a:r>
          </a:p>
        </p:txBody>
      </p:sp>
      <p:sp>
        <p:nvSpPr>
          <p:cNvPr id="45" name="text-346-526-PostgreSQL 18 + ">
            <a:extLst>
              <a:ext uri="{FF2B5EF4-FFF2-40B4-BE49-F238E27FC236}">
                <a16:creationId xmlns:a16="http://schemas.microsoft.com/office/drawing/2014/main" id="{6F0A4209-BEEA-4BD8-8A73-EFB501163C43}"/>
              </a:ext>
            </a:extLst>
          </p:cNvPr>
          <p:cNvSpPr>
            <a:spLocks noGrp="1"/>
          </p:cNvSpPr>
          <p:nvPr/>
        </p:nvSpPr>
        <p:spPr>
          <a:xfrm>
            <a:off x="3295650" y="50101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PostgreSQL 18 + Artifact Store</a:t>
            </a:r>
          </a:p>
        </p:txBody>
      </p:sp>
      <p:sp>
        <p:nvSpPr>
          <p:cNvPr id="46" name="text-700-521-Metadata/state c">
            <a:extLst>
              <a:ext uri="{FF2B5EF4-FFF2-40B4-BE49-F238E27FC236}">
                <a16:creationId xmlns:a16="http://schemas.microsoft.com/office/drawing/2014/main" id="{922D5436-FECE-4B77-A56A-F12B5BFAEB63}"/>
              </a:ext>
            </a:extLst>
          </p:cNvPr>
          <p:cNvSpPr>
            <a:spLocks noGrp="1"/>
          </p:cNvSpPr>
          <p:nvPr/>
        </p:nvSpPr>
        <p:spPr>
          <a:xfrm>
            <a:off x="6667500" y="496252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Metadata/state có giao dịch + binary bất biến</a:t>
            </a:r>
          </a:p>
        </p:txBody>
      </p:sp>
      <p:sp>
        <p:nvSpPr>
          <p:cNvPr id="47" name="box-58-572">
            <a:extLst>
              <a:ext uri="{FF2B5EF4-FFF2-40B4-BE49-F238E27FC236}">
                <a16:creationId xmlns:a16="http://schemas.microsoft.com/office/drawing/2014/main" id="{81F64021-619E-409B-B58D-EA3DD5C5FC37}"/>
              </a:ext>
            </a:extLst>
          </p:cNvPr>
          <p:cNvSpPr>
            <a:spLocks noGrp="1"/>
          </p:cNvSpPr>
          <p:nvPr/>
        </p:nvSpPr>
        <p:spPr>
          <a:xfrm>
            <a:off x="552450" y="544830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FFF4DD"/>
          </a:solidFill>
          <a:ln w="9525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box-58-572">
            <a:extLst>
              <a:ext uri="{FF2B5EF4-FFF2-40B4-BE49-F238E27FC236}">
                <a16:creationId xmlns:a16="http://schemas.microsoft.com/office/drawing/2014/main" id="{7C080974-D3A9-402A-B914-74EAF744D59C}"/>
              </a:ext>
            </a:extLst>
          </p:cNvPr>
          <p:cNvSpPr>
            <a:spLocks noGrp="1"/>
          </p:cNvSpPr>
          <p:nvPr/>
        </p:nvSpPr>
        <p:spPr>
          <a:xfrm>
            <a:off x="552450" y="5448300"/>
            <a:ext cx="95250" cy="495300"/>
          </a:xfrm>
          <a:prstGeom prst="rect">
            <a:avLst/>
          </a:prstGeom>
          <a:solidFill>
            <a:srgbClr val="C58A1E"/>
          </a:solidFill>
          <a:ln w="0">
            <a:solidFill>
              <a:srgbClr val="C5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-82-584-Format processin">
            <a:extLst>
              <a:ext uri="{FF2B5EF4-FFF2-40B4-BE49-F238E27FC236}">
                <a16:creationId xmlns:a16="http://schemas.microsoft.com/office/drawing/2014/main" id="{4C521FCD-C015-49EC-A50C-980C4B21B592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8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Format processing</a:t>
            </a:r>
          </a:p>
        </p:txBody>
      </p:sp>
      <p:sp>
        <p:nvSpPr>
          <p:cNvPr id="50" name="text-346-584-Windows Format W">
            <a:extLst>
              <a:ext uri="{FF2B5EF4-FFF2-40B4-BE49-F238E27FC236}">
                <a16:creationId xmlns:a16="http://schemas.microsoft.com/office/drawing/2014/main" id="{B4CAE6D7-493C-4580-BE57-FF5C86D84958}"/>
              </a:ext>
            </a:extLst>
          </p:cNvPr>
          <p:cNvSpPr>
            <a:spLocks noGrp="1"/>
          </p:cNvSpPr>
          <p:nvPr/>
        </p:nvSpPr>
        <p:spPr>
          <a:xfrm>
            <a:off x="3295650" y="55626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Windows Format Worker</a:t>
            </a:r>
          </a:p>
        </p:txBody>
      </p:sp>
      <p:sp>
        <p:nvSpPr>
          <p:cNvPr id="51" name="text-700-579-Boundary đã chọn">
            <a:extLst>
              <a:ext uri="{FF2B5EF4-FFF2-40B4-BE49-F238E27FC236}">
                <a16:creationId xmlns:a16="http://schemas.microsoft.com/office/drawing/2014/main" id="{9FB95E86-C464-440D-B39B-5A9F36C910BC}"/>
              </a:ext>
            </a:extLst>
          </p:cNvPr>
          <p:cNvSpPr>
            <a:spLocks noGrp="1"/>
          </p:cNvSpPr>
          <p:nvPr/>
        </p:nvSpPr>
        <p:spPr>
          <a:xfrm>
            <a:off x="6667500" y="551497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3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Boundary đã chọn; exact runtime/toolchain chưa được chọn</a:t>
            </a:r>
          </a:p>
        </p:txBody>
      </p:sp>
    </p:spTree>
    <p:extLst>
      <p:ext uri="{BB962C8B-B14F-4D97-AF65-F5344CB8AC3E}">
        <p14:creationId xmlns:p14="http://schemas.microsoft.com/office/powerpoint/2010/main" val="300444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ox-0-0">
            <a:extLst>
              <a:ext uri="{FF2B5EF4-FFF2-40B4-BE49-F238E27FC236}">
                <a16:creationId xmlns:a16="http://schemas.microsoft.com/office/drawing/2014/main" id="{7F4E7C7D-CE55-4474-87AD-5237FF463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6C5A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TECH">
            <a:extLst>
              <a:ext uri="{FF2B5EF4-FFF2-40B4-BE49-F238E27FC236}">
                <a16:creationId xmlns:a16="http://schemas.microsoft.com/office/drawing/2014/main" id="{1FC2D000-9891-44E0-9B9A-C8BB0115FC0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6C5A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C5AA8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3" name="text-54-56-Tech — Các phươn">
            <a:extLst>
              <a:ext uri="{FF2B5EF4-FFF2-40B4-BE49-F238E27FC236}">
                <a16:creationId xmlns:a16="http://schemas.microsoft.com/office/drawing/2014/main" id="{0FEB0738-4E6F-4EA4-AA54-F4AD1BEED198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Tech — Các phương án đã được xem xét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24937EF7-6017-448E-B3CB-C3B66FF5D618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TECH-001@0.14 · ">
            <a:extLst>
              <a:ext uri="{FF2B5EF4-FFF2-40B4-BE49-F238E27FC236}">
                <a16:creationId xmlns:a16="http://schemas.microsoft.com/office/drawing/2014/main" id="{0F9B27C9-276B-4593-9693-30A34A3A0487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TECH-001@0.14 · TECH-MATRIX@0.6 · TECH-VIEWS@0.2</a:t>
            </a:r>
          </a:p>
        </p:txBody>
      </p:sp>
      <p:sp>
        <p:nvSpPr>
          <p:cNvPr id="6" name="text-1170-680-14">
            <a:extLst>
              <a:ext uri="{FF2B5EF4-FFF2-40B4-BE49-F238E27FC236}">
                <a16:creationId xmlns:a16="http://schemas.microsoft.com/office/drawing/2014/main" id="{A702C8F6-0AD6-4C1B-BDD2-44EC5283F5E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diagram-source-14">
            <a:extLst>
              <a:ext uri="{FF2B5EF4-FFF2-40B4-BE49-F238E27FC236}">
                <a16:creationId xmlns:a16="http://schemas.microsoft.com/office/drawing/2014/main" id="{DB875525-F7C7-4C0E-A093-19332FDFB8B2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Simplified from TECH-D08</a:t>
            </a:r>
          </a:p>
        </p:txBody>
      </p:sp>
      <p:sp>
        <p:nvSpPr>
          <p:cNvPr id="8" name="source-link-14-TECH-D08">
            <a:hlinkClick r:id="rId3"/>
            <a:extLst>
              <a:ext uri="{FF2B5EF4-FFF2-40B4-BE49-F238E27FC236}">
                <a16:creationId xmlns:a16="http://schemas.microsoft.com/office/drawing/2014/main" id="{88F7AFEA-DAD5-430E-A9A7-66FEEC5321FD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TECH-D08 · Decision Reopen Map ↗</a:t>
            </a:r>
          </a:p>
        </p:txBody>
      </p:sp>
      <p:sp>
        <p:nvSpPr>
          <p:cNvPr id="9" name="box-56-150">
            <a:extLst>
              <a:ext uri="{FF2B5EF4-FFF2-40B4-BE49-F238E27FC236}">
                <a16:creationId xmlns:a16="http://schemas.microsoft.com/office/drawing/2014/main" id="{A0E33571-6611-421A-B74A-C7A636DF7FFA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11125200" cy="1352550"/>
          </a:xfrm>
          <a:prstGeom prst="roundRect">
            <a:avLst>
              <a:gd name="adj" fmla="val 5634"/>
            </a:avLst>
          </a:prstGeom>
          <a:solidFill>
            <a:srgbClr val="F0EDFA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-76-168">
            <a:extLst>
              <a:ext uri="{FF2B5EF4-FFF2-40B4-BE49-F238E27FC236}">
                <a16:creationId xmlns:a16="http://schemas.microsoft.com/office/drawing/2014/main" id="{8BD84552-F092-4EC8-B5F2-E85E678A529F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6C5AA8"/>
          </a:solidFill>
          <a:ln w="7620">
            <a:solidFill>
              <a:srgbClr val="6C5A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1" name="text-230-167-BASELINE ENGINEE">
            <a:extLst>
              <a:ext uri="{FF2B5EF4-FFF2-40B4-BE49-F238E27FC236}">
                <a16:creationId xmlns:a16="http://schemas.microsoft.com/office/drawing/2014/main" id="{16982EE2-AB85-47B8-B690-435CF3CAA022}"/>
              </a:ext>
            </a:extLst>
          </p:cNvPr>
          <p:cNvSpPr>
            <a:spLocks noGrp="1"/>
          </p:cNvSpPr>
          <p:nvPr/>
        </p:nvSpPr>
        <p:spPr>
          <a:xfrm>
            <a:off x="2190750" y="1590675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BASELINE ENGINEERING</a:t>
            </a:r>
          </a:p>
        </p:txBody>
      </p:sp>
      <p:sp>
        <p:nvSpPr>
          <p:cNvPr id="12" name="text-230-193-Java 25 + Spring">
            <a:extLst>
              <a:ext uri="{FF2B5EF4-FFF2-40B4-BE49-F238E27FC236}">
                <a16:creationId xmlns:a16="http://schemas.microsoft.com/office/drawing/2014/main" id="{AD0924CA-F7B9-4CD0-9619-F6B5565791E7}"/>
              </a:ext>
            </a:extLst>
          </p:cNvPr>
          <p:cNvSpPr>
            <a:spLocks noGrp="1"/>
          </p:cNvSpPr>
          <p:nvPr/>
        </p:nvSpPr>
        <p:spPr>
          <a:xfrm>
            <a:off x="2190750" y="183832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Java 25 + Spring Boot / Modulith</a:t>
            </a:r>
          </a:p>
        </p:txBody>
      </p:sp>
      <p:sp>
        <p:nvSpPr>
          <p:cNvPr id="13" name="text-590-167-ALTERNATIVE">
            <a:extLst>
              <a:ext uri="{FF2B5EF4-FFF2-40B4-BE49-F238E27FC236}">
                <a16:creationId xmlns:a16="http://schemas.microsoft.com/office/drawing/2014/main" id="{A4336E3C-C2B4-4F72-81FE-4C212E6D5989}"/>
              </a:ext>
            </a:extLst>
          </p:cNvPr>
          <p:cNvSpPr>
            <a:spLocks noGrp="1"/>
          </p:cNvSpPr>
          <p:nvPr/>
        </p:nvSpPr>
        <p:spPr>
          <a:xfrm>
            <a:off x="5619750" y="1590675"/>
            <a:ext cx="1562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ALTERNATIVE</a:t>
            </a:r>
          </a:p>
        </p:txBody>
      </p:sp>
      <p:sp>
        <p:nvSpPr>
          <p:cNvPr id="14" name="text-590-193-.NET 10 + ASP.NE">
            <a:extLst>
              <a:ext uri="{FF2B5EF4-FFF2-40B4-BE49-F238E27FC236}">
                <a16:creationId xmlns:a16="http://schemas.microsoft.com/office/drawing/2014/main" id="{71803FF6-EDB2-429F-A091-297970EF5BAB}"/>
              </a:ext>
            </a:extLst>
          </p:cNvPr>
          <p:cNvSpPr>
            <a:spLocks noGrp="1"/>
          </p:cNvSpPr>
          <p:nvPr/>
        </p:nvSpPr>
        <p:spPr>
          <a:xfrm>
            <a:off x="5619750" y="18383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.NET 10 + ASP.NET Core</a:t>
            </a:r>
          </a:p>
        </p:txBody>
      </p:sp>
      <p:sp>
        <p:nvSpPr>
          <p:cNvPr id="15" name="text-230-244-Chọn hẹp vì fit ">
            <a:extLst>
              <a:ext uri="{FF2B5EF4-FFF2-40B4-BE49-F238E27FC236}">
                <a16:creationId xmlns:a16="http://schemas.microsoft.com/office/drawing/2014/main" id="{8D3DFE6D-ECBB-4601-B09C-464101D8C703}"/>
              </a:ext>
            </a:extLst>
          </p:cNvPr>
          <p:cNvSpPr>
            <a:spLocks noGrp="1"/>
          </p:cNvSpPr>
          <p:nvPr/>
        </p:nvSpPr>
        <p:spPr>
          <a:xfrm>
            <a:off x="2190750" y="232410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Chọn hẹp vì fit với modular-monolith verification/tooling. .NET vẫn là alternative nghiêm túc.</a:t>
            </a:r>
          </a:p>
        </p:txBody>
      </p:sp>
      <p:sp>
        <p:nvSpPr>
          <p:cNvPr id="21" name="box-56-318">
            <a:extLst>
              <a:ext uri="{FF2B5EF4-FFF2-40B4-BE49-F238E27FC236}">
                <a16:creationId xmlns:a16="http://schemas.microsoft.com/office/drawing/2014/main" id="{1F00138C-A892-4862-B3C2-400781FA96B7}"/>
              </a:ext>
            </a:extLst>
          </p:cNvPr>
          <p:cNvSpPr>
            <a:spLocks noGrp="1"/>
          </p:cNvSpPr>
          <p:nvPr/>
        </p:nvSpPr>
        <p:spPr>
          <a:xfrm>
            <a:off x="533400" y="3028950"/>
            <a:ext cx="11125200" cy="1352550"/>
          </a:xfrm>
          <a:prstGeom prst="roundRect">
            <a:avLst>
              <a:gd name="adj" fmla="val 5634"/>
            </a:avLst>
          </a:prstGeom>
          <a:solidFill>
            <a:srgbClr val="EAF3F9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-76-336">
            <a:extLst>
              <a:ext uri="{FF2B5EF4-FFF2-40B4-BE49-F238E27FC236}">
                <a16:creationId xmlns:a16="http://schemas.microsoft.com/office/drawing/2014/main" id="{C7A7D375-A2C7-4FE0-BECC-E1C316FD5F94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2169A8"/>
          </a:solidFill>
          <a:ln w="7620">
            <a:solidFill>
              <a:srgbClr val="2169A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23" name="text-230-335-BASELINE ENGINEE">
            <a:extLst>
              <a:ext uri="{FF2B5EF4-FFF2-40B4-BE49-F238E27FC236}">
                <a16:creationId xmlns:a16="http://schemas.microsoft.com/office/drawing/2014/main" id="{D46F49A9-9355-44A2-BBEF-95C2AE5369FA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BASELINE ENGINEERING</a:t>
            </a:r>
          </a:p>
        </p:txBody>
      </p:sp>
      <p:sp>
        <p:nvSpPr>
          <p:cNvPr id="24" name="text-230-361-React + WPF / We">
            <a:extLst>
              <a:ext uri="{FF2B5EF4-FFF2-40B4-BE49-F238E27FC236}">
                <a16:creationId xmlns:a16="http://schemas.microsoft.com/office/drawing/2014/main" id="{68DF07F6-C2E4-4EE9-A9FC-2E99743F1975}"/>
              </a:ext>
            </a:extLst>
          </p:cNvPr>
          <p:cNvSpPr>
            <a:spLocks noGrp="1"/>
          </p:cNvSpPr>
          <p:nvPr/>
        </p:nvSpPr>
        <p:spPr>
          <a:xfrm>
            <a:off x="2190750" y="343852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React + WPF / WebView2 + .NET Workspace</a:t>
            </a:r>
          </a:p>
        </p:txBody>
      </p:sp>
      <p:sp>
        <p:nvSpPr>
          <p:cNvPr id="25" name="text-590-335-ALTERNATIVE">
            <a:extLst>
              <a:ext uri="{FF2B5EF4-FFF2-40B4-BE49-F238E27FC236}">
                <a16:creationId xmlns:a16="http://schemas.microsoft.com/office/drawing/2014/main" id="{C6B06CAB-4D8A-4B4B-A6EC-FDC6BBF6CAC2}"/>
              </a:ext>
            </a:extLst>
          </p:cNvPr>
          <p:cNvSpPr>
            <a:spLocks noGrp="1"/>
          </p:cNvSpPr>
          <p:nvPr/>
        </p:nvSpPr>
        <p:spPr>
          <a:xfrm>
            <a:off x="5619750" y="3190875"/>
            <a:ext cx="1562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ALTERNATIVE</a:t>
            </a:r>
          </a:p>
        </p:txBody>
      </p:sp>
      <p:sp>
        <p:nvSpPr>
          <p:cNvPr id="26" name="text-590-361-Flutter Web + Wi">
            <a:extLst>
              <a:ext uri="{FF2B5EF4-FFF2-40B4-BE49-F238E27FC236}">
                <a16:creationId xmlns:a16="http://schemas.microsoft.com/office/drawing/2014/main" id="{93F53A7C-08D3-4648-BE35-6767DDB2148D}"/>
              </a:ext>
            </a:extLst>
          </p:cNvPr>
          <p:cNvSpPr>
            <a:spLocks noGrp="1"/>
          </p:cNvSpPr>
          <p:nvPr/>
        </p:nvSpPr>
        <p:spPr>
          <a:xfrm>
            <a:off x="5619750" y="3438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Flutter Web + Windows + .NET Workspace</a:t>
            </a:r>
          </a:p>
        </p:txBody>
      </p:sp>
      <p:sp>
        <p:nvSpPr>
          <p:cNvPr id="27" name="text-230-412-Core v0 cần Web ">
            <a:extLst>
              <a:ext uri="{FF2B5EF4-FFF2-40B4-BE49-F238E27FC236}">
                <a16:creationId xmlns:a16="http://schemas.microsoft.com/office/drawing/2014/main" id="{4AFE7ECD-A583-4FF9-B30E-0005E18D0EB0}"/>
              </a:ext>
            </a:extLst>
          </p:cNvPr>
          <p:cNvSpPr>
            <a:spLocks noGrp="1"/>
          </p:cNvSpPr>
          <p:nvPr/>
        </p:nvSpPr>
        <p:spPr>
          <a:xfrm>
            <a:off x="2190750" y="392430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Core v0 cần Web + Windows, tái sử dụng UI và tận dụng Workspace .NET hiện tại.</a:t>
            </a:r>
          </a:p>
        </p:txBody>
      </p:sp>
      <p:sp>
        <p:nvSpPr>
          <p:cNvPr id="33" name="box-56-486">
            <a:extLst>
              <a:ext uri="{FF2B5EF4-FFF2-40B4-BE49-F238E27FC236}">
                <a16:creationId xmlns:a16="http://schemas.microsoft.com/office/drawing/2014/main" id="{40DC3CAE-B587-4300-9B89-71ED474F4D6E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11125200" cy="1352550"/>
          </a:xfrm>
          <a:prstGeom prst="roundRect">
            <a:avLst>
              <a:gd name="adj" fmla="val 5634"/>
            </a:avLst>
          </a:prstGeom>
          <a:solidFill>
            <a:srgbClr val="E7F5EE"/>
          </a:solidFill>
          <a:ln w="1143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box-76-504">
            <a:extLst>
              <a:ext uri="{FF2B5EF4-FFF2-40B4-BE49-F238E27FC236}">
                <a16:creationId xmlns:a16="http://schemas.microsoft.com/office/drawing/2014/main" id="{5A1A8448-2A52-4A60-BA83-ABE38BBF6C9B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2D8A62"/>
          </a:solidFill>
          <a:ln w="7620">
            <a:solidFill>
              <a:srgbClr val="2D8A62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5" name="text-230-503-BASELINE ENGINEE">
            <a:extLst>
              <a:ext uri="{FF2B5EF4-FFF2-40B4-BE49-F238E27FC236}">
                <a16:creationId xmlns:a16="http://schemas.microsoft.com/office/drawing/2014/main" id="{B10D936F-FCD4-4FE2-9FD5-77D436584EA5}"/>
              </a:ext>
            </a:extLst>
          </p:cNvPr>
          <p:cNvSpPr>
            <a:spLocks noGrp="1"/>
          </p:cNvSpPr>
          <p:nvPr/>
        </p:nvSpPr>
        <p:spPr>
          <a:xfrm>
            <a:off x="2190750" y="4791075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BASELINE ENGINEERING</a:t>
            </a:r>
          </a:p>
        </p:txBody>
      </p:sp>
      <p:sp>
        <p:nvSpPr>
          <p:cNvPr id="36" name="text-230-529-Modular Monolith">
            <a:extLst>
              <a:ext uri="{FF2B5EF4-FFF2-40B4-BE49-F238E27FC236}">
                <a16:creationId xmlns:a16="http://schemas.microsoft.com/office/drawing/2014/main" id="{7D16DDF5-ED5A-401A-9719-59A0E7B7FFAB}"/>
              </a:ext>
            </a:extLst>
          </p:cNvPr>
          <p:cNvSpPr>
            <a:spLocks noGrp="1"/>
          </p:cNvSpPr>
          <p:nvPr/>
        </p:nvSpPr>
        <p:spPr>
          <a:xfrm>
            <a:off x="2190750" y="503872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Modular Monolith</a:t>
            </a:r>
          </a:p>
        </p:txBody>
      </p:sp>
      <p:sp>
        <p:nvSpPr>
          <p:cNvPr id="37" name="text-590-503-ALTERNATIVE">
            <a:extLst>
              <a:ext uri="{FF2B5EF4-FFF2-40B4-BE49-F238E27FC236}">
                <a16:creationId xmlns:a16="http://schemas.microsoft.com/office/drawing/2014/main" id="{876439C9-B877-4711-B15F-41FB34FB6835}"/>
              </a:ext>
            </a:extLst>
          </p:cNvPr>
          <p:cNvSpPr>
            <a:spLocks noGrp="1"/>
          </p:cNvSpPr>
          <p:nvPr/>
        </p:nvSpPr>
        <p:spPr>
          <a:xfrm>
            <a:off x="5619750" y="4791075"/>
            <a:ext cx="1562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ALTERNATIVE</a:t>
            </a:r>
          </a:p>
        </p:txBody>
      </p:sp>
      <p:sp>
        <p:nvSpPr>
          <p:cNvPr id="38" name="text-590-529-Microservices">
            <a:extLst>
              <a:ext uri="{FF2B5EF4-FFF2-40B4-BE49-F238E27FC236}">
                <a16:creationId xmlns:a16="http://schemas.microsoft.com/office/drawing/2014/main" id="{FBB97DB0-F0D5-4DCC-A970-EA106644DE1B}"/>
              </a:ext>
            </a:extLst>
          </p:cNvPr>
          <p:cNvSpPr>
            <a:spLocks noGrp="1"/>
          </p:cNvSpPr>
          <p:nvPr/>
        </p:nvSpPr>
        <p:spPr>
          <a:xfrm>
            <a:off x="5619750" y="50387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1626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638"/>
                </a:solidFill>
                <a:latin typeface="Arial"/>
                <a:ea typeface="Arial"/>
                <a:cs typeface="Arial"/>
              </a:rPr>
              <a:t>Microservices</a:t>
            </a:r>
          </a:p>
        </p:txBody>
      </p:sp>
      <p:sp>
        <p:nvSpPr>
          <p:cNvPr id="39" name="text-230-580-Transaction, tri">
            <a:extLst>
              <a:ext uri="{FF2B5EF4-FFF2-40B4-BE49-F238E27FC236}">
                <a16:creationId xmlns:a16="http://schemas.microsoft.com/office/drawing/2014/main" id="{EF656FBC-E41A-492F-8A5E-A6ECE16FB1FC}"/>
              </a:ext>
            </a:extLst>
          </p:cNvPr>
          <p:cNvSpPr>
            <a:spLocks noGrp="1"/>
          </p:cNvSpPr>
          <p:nvPr/>
        </p:nvSpPr>
        <p:spPr>
          <a:xfrm>
            <a:off x="2190750" y="552450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Transaction, triển khai, debug và backup đơn giản hơn cho quy mô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813003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ox-0-0">
            <a:extLst>
              <a:ext uri="{FF2B5EF4-FFF2-40B4-BE49-F238E27FC236}">
                <a16:creationId xmlns:a16="http://schemas.microsoft.com/office/drawing/2014/main" id="{069FD197-A425-4D98-A2E7-8ACB4167B6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027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APPENDIX">
            <a:extLst>
              <a:ext uri="{FF2B5EF4-FFF2-40B4-BE49-F238E27FC236}">
                <a16:creationId xmlns:a16="http://schemas.microsoft.com/office/drawing/2014/main" id="{B09627B8-4652-41AA-B849-AA1006B6842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text-54-56-ARCH-VIEW-RBAC-0">
            <a:extLst>
              <a:ext uri="{FF2B5EF4-FFF2-40B4-BE49-F238E27FC236}">
                <a16:creationId xmlns:a16="http://schemas.microsoft.com/office/drawing/2014/main" id="{BB364219-F842-4C6B-A37A-8ECFAA312CA4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ARCH-VIEW-RBAC-001 — Principal-role-scope authorization model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9CC9BF1F-6156-4CA8-A6CA-A8AB2F21D173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DOC-05@0.20 · AR">
            <a:extLst>
              <a:ext uri="{FF2B5EF4-FFF2-40B4-BE49-F238E27FC236}">
                <a16:creationId xmlns:a16="http://schemas.microsoft.com/office/drawing/2014/main" id="{BBC5D8F8-63C5-4189-B3FD-3F1D09224704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DOC-05@0.20 · ARCH-VIEW-RBAC-001</a:t>
            </a:r>
          </a:p>
        </p:txBody>
      </p:sp>
      <p:sp>
        <p:nvSpPr>
          <p:cNvPr id="6" name="text-1170-680-16">
            <a:extLst>
              <a:ext uri="{FF2B5EF4-FFF2-40B4-BE49-F238E27FC236}">
                <a16:creationId xmlns:a16="http://schemas.microsoft.com/office/drawing/2014/main" id="{72FFF30A-DD4C-4BC7-B089-00DDD8AA544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diagram-source-16">
            <a:extLst>
              <a:ext uri="{FF2B5EF4-FFF2-40B4-BE49-F238E27FC236}">
                <a16:creationId xmlns:a16="http://schemas.microsoft.com/office/drawing/2014/main" id="{C6C475F0-2EE3-48CD-9138-A5F6EF57CF82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Controlled view ARCH-VIEW-RBAC-001</a:t>
            </a:r>
          </a:p>
        </p:txBody>
      </p:sp>
      <p:sp>
        <p:nvSpPr>
          <p:cNvPr id="8" name="source-link-16-ARCH-VIEW-RBAC-001">
            <a:hlinkClick r:id="rId3"/>
            <a:extLst>
              <a:ext uri="{FF2B5EF4-FFF2-40B4-BE49-F238E27FC236}">
                <a16:creationId xmlns:a16="http://schemas.microsoft.com/office/drawing/2014/main" id="{3256F967-ABC5-4FBE-99B4-9B8A10D61EB1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ARCH-VIEW-RBAC-001 · RBAC domain ↗</a:t>
            </a:r>
          </a:p>
        </p:txBody>
      </p:sp>
      <p:sp>
        <p:nvSpPr>
          <p:cNvPr id="9" name="box-54-154">
            <a:extLst>
              <a:ext uri="{FF2B5EF4-FFF2-40B4-BE49-F238E27FC236}">
                <a16:creationId xmlns:a16="http://schemas.microsoft.com/office/drawing/2014/main" id="{757F64C7-E263-49E8-9655-CBC34A5CCDBC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1114425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478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evidence-ARCH-VIEW-RBAC-00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75398" y="1543050"/>
            <a:ext cx="7622153" cy="4476750"/>
          </a:xfrm>
          <a:prstGeom prst="rect">
            <a:avLst/>
          </a:prstGeom>
        </p:spPr>
      </p:pic>
      <p:sp>
        <p:nvSpPr>
          <p:cNvPr id="11" name="text-86-646-Mở controlled vi">
            <a:extLst>
              <a:ext uri="{FF2B5EF4-FFF2-40B4-BE49-F238E27FC236}">
                <a16:creationId xmlns:a16="http://schemas.microsoft.com/office/drawing/2014/main" id="{4B5330AC-FC60-4B06-AFD8-6EA17652E3DD}"/>
              </a:ext>
            </a:extLst>
          </p:cNvPr>
          <p:cNvSpPr>
            <a:spLocks noGrp="1"/>
          </p:cNvSpPr>
          <p:nvPr/>
        </p:nvSpPr>
        <p:spPr>
          <a:xfrm>
            <a:off x="819150" y="6153150"/>
            <a:ext cx="105537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Mở controlled view toàn độ phân giải bằng liên kết phía trên.</a:t>
            </a:r>
          </a:p>
        </p:txBody>
      </p:sp>
    </p:spTree>
    <p:extLst>
      <p:ext uri="{BB962C8B-B14F-4D97-AF65-F5344CB8AC3E}">
        <p14:creationId xmlns:p14="http://schemas.microsoft.com/office/powerpoint/2010/main" val="1850560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ox-0-0">
            <a:extLst>
              <a:ext uri="{FF2B5EF4-FFF2-40B4-BE49-F238E27FC236}">
                <a16:creationId xmlns:a16="http://schemas.microsoft.com/office/drawing/2014/main" id="{F5C548CF-18FF-4E1C-9C1F-6B2E3A661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027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APPENDIX">
            <a:extLst>
              <a:ext uri="{FF2B5EF4-FFF2-40B4-BE49-F238E27FC236}">
                <a16:creationId xmlns:a16="http://schemas.microsoft.com/office/drawing/2014/main" id="{2DEB8AF5-1F37-4429-B2DC-53A80CAA2E9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text-54-56-TECH-D04 — Runti">
            <a:extLst>
              <a:ext uri="{FF2B5EF4-FFF2-40B4-BE49-F238E27FC236}">
                <a16:creationId xmlns:a16="http://schemas.microsoft.com/office/drawing/2014/main" id="{AADC3C4A-7E18-489B-A2F8-C6E6081D60B9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TECH-D04 — Runtime &amp; Protocol View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4F5FA938-03AA-4193-B11A-85BD3899328B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TECH-VIEWS@0.2 ·">
            <a:extLst>
              <a:ext uri="{FF2B5EF4-FFF2-40B4-BE49-F238E27FC236}">
                <a16:creationId xmlns:a16="http://schemas.microsoft.com/office/drawing/2014/main" id="{EABFDB39-76AB-4583-9406-339D0128C30E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TECH-VIEWS@0.2 · TECH-D04</a:t>
            </a:r>
          </a:p>
        </p:txBody>
      </p:sp>
      <p:sp>
        <p:nvSpPr>
          <p:cNvPr id="6" name="text-1170-680-17">
            <a:extLst>
              <a:ext uri="{FF2B5EF4-FFF2-40B4-BE49-F238E27FC236}">
                <a16:creationId xmlns:a16="http://schemas.microsoft.com/office/drawing/2014/main" id="{8F1E4C29-7582-4CDE-BB11-D14A537E7D1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diagram-source-17">
            <a:extLst>
              <a:ext uri="{FF2B5EF4-FFF2-40B4-BE49-F238E27FC236}">
                <a16:creationId xmlns:a16="http://schemas.microsoft.com/office/drawing/2014/main" id="{1B876286-2CD7-4E29-B4E2-41657C02C384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Controlled view TECH-D04</a:t>
            </a:r>
          </a:p>
        </p:txBody>
      </p:sp>
      <p:sp>
        <p:nvSpPr>
          <p:cNvPr id="8" name="source-link-17-TECH-D04">
            <a:hlinkClick r:id="rId3"/>
            <a:extLst>
              <a:ext uri="{FF2B5EF4-FFF2-40B4-BE49-F238E27FC236}">
                <a16:creationId xmlns:a16="http://schemas.microsoft.com/office/drawing/2014/main" id="{0A85E824-27B1-432B-82BF-6F9A69A1DDCC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TECH-D04 · Runtime &amp; Protocol ↗</a:t>
            </a:r>
          </a:p>
        </p:txBody>
      </p:sp>
      <p:sp>
        <p:nvSpPr>
          <p:cNvPr id="9" name="box-54-154">
            <a:extLst>
              <a:ext uri="{FF2B5EF4-FFF2-40B4-BE49-F238E27FC236}">
                <a16:creationId xmlns:a16="http://schemas.microsoft.com/office/drawing/2014/main" id="{033A31E8-177D-42B3-9D90-A74EFA559095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1114425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478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evidence-TECH-D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88579" y="1543050"/>
            <a:ext cx="5795792" cy="4476750"/>
          </a:xfrm>
          <a:prstGeom prst="rect">
            <a:avLst/>
          </a:prstGeom>
        </p:spPr>
      </p:pic>
      <p:sp>
        <p:nvSpPr>
          <p:cNvPr id="11" name="text-86-646-Mở controlled vi">
            <a:extLst>
              <a:ext uri="{FF2B5EF4-FFF2-40B4-BE49-F238E27FC236}">
                <a16:creationId xmlns:a16="http://schemas.microsoft.com/office/drawing/2014/main" id="{4FEACADD-5E2F-4AAE-B2CC-7B1D69DADBBC}"/>
              </a:ext>
            </a:extLst>
          </p:cNvPr>
          <p:cNvSpPr>
            <a:spLocks noGrp="1"/>
          </p:cNvSpPr>
          <p:nvPr/>
        </p:nvSpPr>
        <p:spPr>
          <a:xfrm>
            <a:off x="819150" y="6153150"/>
            <a:ext cx="105537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Mở controlled view toàn độ phân giải bằng liên kết phía trên.</a:t>
            </a:r>
          </a:p>
        </p:txBody>
      </p:sp>
    </p:spTree>
    <p:extLst>
      <p:ext uri="{BB962C8B-B14F-4D97-AF65-F5344CB8AC3E}">
        <p14:creationId xmlns:p14="http://schemas.microsoft.com/office/powerpoint/2010/main" val="124564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ox-0-0">
            <a:extLst>
              <a:ext uri="{FF2B5EF4-FFF2-40B4-BE49-F238E27FC236}">
                <a16:creationId xmlns:a16="http://schemas.microsoft.com/office/drawing/2014/main" id="{83C71E21-D000-42E4-8B2E-10B243C6E8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0274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4-28-APPENDIX">
            <a:extLst>
              <a:ext uri="{FF2B5EF4-FFF2-40B4-BE49-F238E27FC236}">
                <a16:creationId xmlns:a16="http://schemas.microsoft.com/office/drawing/2014/main" id="{9F60F372-B728-44BF-B576-2E031A14E46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text-54-56-TECH-D05 — Deplo">
            <a:extLst>
              <a:ext uri="{FF2B5EF4-FFF2-40B4-BE49-F238E27FC236}">
                <a16:creationId xmlns:a16="http://schemas.microsoft.com/office/drawing/2014/main" id="{854068EA-6C83-41DD-B9F6-C555775A93F3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027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744"/>
                </a:solidFill>
                <a:latin typeface="Arial"/>
                <a:ea typeface="Arial"/>
                <a:cs typeface="Arial"/>
              </a:rPr>
              <a:t>TECH-D05 — Deployment View</a:t>
            </a:r>
          </a:p>
        </p:txBody>
      </p:sp>
      <p:sp>
        <p:nvSpPr>
          <p:cNvPr id="4" name="line-54-116">
            <a:extLst>
              <a:ext uri="{FF2B5EF4-FFF2-40B4-BE49-F238E27FC236}">
                <a16:creationId xmlns:a16="http://schemas.microsoft.com/office/drawing/2014/main" id="{2777CDFD-C0CB-46CF-AD29-9A2858073C97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19050"/>
          </a:xfrm>
          <a:prstGeom prst="rect">
            <a:avLst/>
          </a:prstGeom>
          <a:solidFill>
            <a:srgbClr val="CBD8E3"/>
          </a:solidFill>
          <a:ln w="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4-683-TECH-VIEWS@0.2 ·">
            <a:extLst>
              <a:ext uri="{FF2B5EF4-FFF2-40B4-BE49-F238E27FC236}">
                <a16:creationId xmlns:a16="http://schemas.microsoft.com/office/drawing/2014/main" id="{5709D645-904E-4CE5-A5DB-F65D433CBA1B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25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TECH-VIEWS@0.2 · TECH-D05</a:t>
            </a:r>
          </a:p>
        </p:txBody>
      </p:sp>
      <p:sp>
        <p:nvSpPr>
          <p:cNvPr id="6" name="text-1170-680-18">
            <a:extLst>
              <a:ext uri="{FF2B5EF4-FFF2-40B4-BE49-F238E27FC236}">
                <a16:creationId xmlns:a16="http://schemas.microsoft.com/office/drawing/2014/main" id="{FC213D8F-661A-4DBB-B710-9A04F317AA5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1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0A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diagram-source-18">
            <a:extLst>
              <a:ext uri="{FF2B5EF4-FFF2-40B4-BE49-F238E27FC236}">
                <a16:creationId xmlns:a16="http://schemas.microsoft.com/office/drawing/2014/main" id="{F8DF08CA-42DC-4A6C-94F4-FF2A7148CF8D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6953250" cy="142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" b="0">
                <a:solidFill>
                  <a:srgbClr val="7890A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7890A6"/>
                </a:solidFill>
                <a:latin typeface="Arial"/>
                <a:ea typeface="Arial"/>
                <a:cs typeface="Arial"/>
              </a:rPr>
              <a:t>Controlled view TECH-D05</a:t>
            </a:r>
          </a:p>
        </p:txBody>
      </p:sp>
      <p:sp>
        <p:nvSpPr>
          <p:cNvPr id="8" name="source-link-18-TECH-D05">
            <a:hlinkClick r:id="rId3"/>
            <a:extLst>
              <a:ext uri="{FF2B5EF4-FFF2-40B4-BE49-F238E27FC236}">
                <a16:creationId xmlns:a16="http://schemas.microsoft.com/office/drawing/2014/main" id="{83620610-1A2E-4E73-919D-00B77131EF80}"/>
              </a:ext>
            </a:extLst>
          </p:cNvPr>
          <p:cNvSpPr>
            <a:spLocks noGrp="1"/>
          </p:cNvSpPr>
          <p:nvPr/>
        </p:nvSpPr>
        <p:spPr>
          <a:xfrm>
            <a:off x="7600950" y="119062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13" b="1">
                <a:solidFill>
                  <a:srgbClr val="2169A8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169A8"/>
                </a:solidFill>
                <a:latin typeface="Arial"/>
                <a:ea typeface="Arial"/>
                <a:cs typeface="Arial"/>
              </a:rPr>
              <a:t>TECH-D05 · Deployment ↗</a:t>
            </a:r>
          </a:p>
        </p:txBody>
      </p:sp>
      <p:sp>
        <p:nvSpPr>
          <p:cNvPr id="9" name="box-54-154">
            <a:extLst>
              <a:ext uri="{FF2B5EF4-FFF2-40B4-BE49-F238E27FC236}">
                <a16:creationId xmlns:a16="http://schemas.microsoft.com/office/drawing/2014/main" id="{129B8374-4EC7-4DC4-A3B2-F953ED733664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1114425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478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evidence-TECH-D0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29189" y="1543050"/>
            <a:ext cx="7914573" cy="4476750"/>
          </a:xfrm>
          <a:prstGeom prst="rect">
            <a:avLst/>
          </a:prstGeom>
        </p:spPr>
      </p:pic>
      <p:sp>
        <p:nvSpPr>
          <p:cNvPr id="11" name="text-86-646-Mở controlled vi">
            <a:extLst>
              <a:ext uri="{FF2B5EF4-FFF2-40B4-BE49-F238E27FC236}">
                <a16:creationId xmlns:a16="http://schemas.microsoft.com/office/drawing/2014/main" id="{99B4E976-FC94-44E7-8D17-63C94CBC3E30}"/>
              </a:ext>
            </a:extLst>
          </p:cNvPr>
          <p:cNvSpPr>
            <a:spLocks noGrp="1"/>
          </p:cNvSpPr>
          <p:nvPr/>
        </p:nvSpPr>
        <p:spPr>
          <a:xfrm>
            <a:off x="819150" y="6153150"/>
            <a:ext cx="105537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0">
                <a:solidFill>
                  <a:srgbClr val="4B60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6075"/>
                </a:solidFill>
                <a:latin typeface="Arial"/>
                <a:ea typeface="Arial"/>
                <a:cs typeface="Arial"/>
              </a:rPr>
              <a:t>Mở controlled view toàn độ phân giải bằng liên kết phía trên.</a:t>
            </a:r>
          </a:p>
        </p:txBody>
      </p:sp>
    </p:spTree>
    <p:extLst>
      <p:ext uri="{BB962C8B-B14F-4D97-AF65-F5344CB8AC3E}">
        <p14:creationId xmlns:p14="http://schemas.microsoft.com/office/powerpoint/2010/main" val="1469656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3310</Words>
  <Application>Microsoft Office PowerPoint</Application>
  <DocSecurity>0</DocSecurity>
  <PresentationFormat>Widescreen</PresentationFormat>
  <Paragraphs>575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IDEA_Product Development (Lam)</cp:lastModifiedBy>
  <cp:revision>3</cp:revision>
  <dcterms:created xsi:type="dcterms:W3CDTF">2026-09-16T05:12:35Z</dcterms:created>
  <dcterms:modified xsi:type="dcterms:W3CDTF">2026-09-16T05:31:02Z</dcterms:modified>
</cp:coreProperties>
</file>